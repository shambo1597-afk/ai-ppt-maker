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elegraf Medium" charset="1" panose="00000600000000000000"/>
      <p:regular r:id="rId16"/>
    </p:embeddedFont>
    <p:embeddedFont>
      <p:font typeface="Telegraf" charset="1" panose="00000500000000000000"/>
      <p:regular r:id="rId17"/>
    </p:embeddedFont>
    <p:embeddedFont>
      <p:font typeface="Telegraf Bold" charset="1" panose="00000800000000000000"/>
      <p:regular r:id="rId18"/>
    </p:embeddedFont>
    <p:embeddedFont>
      <p:font typeface="Telegraf Extra-Light" charset="1" panose="000003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 Id="rId8" Target="../media/image1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jpeg" Type="http://schemas.openxmlformats.org/officeDocument/2006/relationships/image"/><Relationship Id="rId7" Target="../media/image1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9.jpeg" Type="http://schemas.openxmlformats.org/officeDocument/2006/relationships/image"/><Relationship Id="rId7" Target="../media/image20.jpeg" Type="http://schemas.openxmlformats.org/officeDocument/2006/relationships/image"/><Relationship Id="rId8" Target="../media/image21.jpeg" Type="http://schemas.openxmlformats.org/officeDocument/2006/relationships/image"/><Relationship Id="rId9" Target="../media/image2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3.jpeg" Type="http://schemas.openxmlformats.org/officeDocument/2006/relationships/image"/><Relationship Id="rId7" Target="../media/image2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5.jpe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12" Target="../media/image35.svg" Type="http://schemas.openxmlformats.org/officeDocument/2006/relationships/image"/><Relationship Id="rId2" Target="../media/image29.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7F4"/>
        </a:solidFill>
      </p:bgPr>
    </p:bg>
    <p:spTree>
      <p:nvGrpSpPr>
        <p:cNvPr id="1" name=""/>
        <p:cNvGrpSpPr/>
        <p:nvPr/>
      </p:nvGrpSpPr>
      <p:grpSpPr>
        <a:xfrm>
          <a:off x="0" y="0"/>
          <a:ext cx="0" cy="0"/>
          <a:chOff x="0" y="0"/>
          <a:chExt cx="0" cy="0"/>
        </a:xfrm>
      </p:grpSpPr>
      <p:grpSp>
        <p:nvGrpSpPr>
          <p:cNvPr name="Group 2" id="2"/>
          <p:cNvGrpSpPr/>
          <p:nvPr/>
        </p:nvGrpSpPr>
        <p:grpSpPr>
          <a:xfrm rot="0">
            <a:off x="13820254" y="0"/>
            <a:ext cx="3284011" cy="11468399"/>
            <a:chOff x="0" y="0"/>
            <a:chExt cx="864925" cy="3020484"/>
          </a:xfrm>
        </p:grpSpPr>
        <p:sp>
          <p:nvSpPr>
            <p:cNvPr name="Freeform 3" id="3"/>
            <p:cNvSpPr/>
            <p:nvPr/>
          </p:nvSpPr>
          <p:spPr>
            <a:xfrm flipH="false" flipV="false" rot="0">
              <a:off x="0" y="0"/>
              <a:ext cx="864925" cy="3020484"/>
            </a:xfrm>
            <a:custGeom>
              <a:avLst/>
              <a:gdLst/>
              <a:ahLst/>
              <a:cxnLst/>
              <a:rect r="r" b="b" t="t" l="l"/>
              <a:pathLst>
                <a:path h="3020484" w="864925">
                  <a:moveTo>
                    <a:pt x="235746" y="0"/>
                  </a:moveTo>
                  <a:lnTo>
                    <a:pt x="629179" y="0"/>
                  </a:lnTo>
                  <a:cubicBezTo>
                    <a:pt x="759378" y="0"/>
                    <a:pt x="864925" y="105547"/>
                    <a:pt x="864925" y="235746"/>
                  </a:cubicBezTo>
                  <a:lnTo>
                    <a:pt x="864925" y="2784738"/>
                  </a:lnTo>
                  <a:cubicBezTo>
                    <a:pt x="864925" y="2914937"/>
                    <a:pt x="759378" y="3020484"/>
                    <a:pt x="629179" y="3020484"/>
                  </a:cubicBezTo>
                  <a:lnTo>
                    <a:pt x="235746" y="3020484"/>
                  </a:lnTo>
                  <a:cubicBezTo>
                    <a:pt x="173222" y="3020484"/>
                    <a:pt x="113259" y="2995646"/>
                    <a:pt x="69048" y="2951435"/>
                  </a:cubicBezTo>
                  <a:cubicBezTo>
                    <a:pt x="24837" y="2907224"/>
                    <a:pt x="0" y="2847261"/>
                    <a:pt x="0" y="2784738"/>
                  </a:cubicBezTo>
                  <a:lnTo>
                    <a:pt x="0" y="235746"/>
                  </a:lnTo>
                  <a:cubicBezTo>
                    <a:pt x="0" y="173222"/>
                    <a:pt x="24837" y="113259"/>
                    <a:pt x="69048" y="69048"/>
                  </a:cubicBezTo>
                  <a:cubicBezTo>
                    <a:pt x="113259" y="24837"/>
                    <a:pt x="173222" y="0"/>
                    <a:pt x="235746" y="0"/>
                  </a:cubicBezTo>
                  <a:close/>
                </a:path>
              </a:pathLst>
            </a:custGeom>
            <a:solidFill>
              <a:srgbClr val="203330"/>
            </a:solidFill>
          </p:spPr>
        </p:sp>
        <p:sp>
          <p:nvSpPr>
            <p:cNvPr name="TextBox 4" id="4"/>
            <p:cNvSpPr txBox="true"/>
            <p:nvPr/>
          </p:nvSpPr>
          <p:spPr>
            <a:xfrm>
              <a:off x="0" y="-38100"/>
              <a:ext cx="864925" cy="30585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238914" y="0"/>
            <a:ext cx="17903895" cy="11468399"/>
            <a:chOff x="0" y="0"/>
            <a:chExt cx="1414629" cy="906145"/>
          </a:xfrm>
        </p:grpSpPr>
        <p:sp>
          <p:nvSpPr>
            <p:cNvPr name="Freeform 6" id="6"/>
            <p:cNvSpPr/>
            <p:nvPr/>
          </p:nvSpPr>
          <p:spPr>
            <a:xfrm flipH="false" flipV="false" rot="0">
              <a:off x="0" y="0"/>
              <a:ext cx="1414629" cy="906145"/>
            </a:xfrm>
            <a:custGeom>
              <a:avLst/>
              <a:gdLst/>
              <a:ahLst/>
              <a:cxnLst/>
              <a:rect r="r" b="b" t="t" l="l"/>
              <a:pathLst>
                <a:path h="906145" w="1414629">
                  <a:moveTo>
                    <a:pt x="43242" y="0"/>
                  </a:moveTo>
                  <a:lnTo>
                    <a:pt x="1371387" y="0"/>
                  </a:lnTo>
                  <a:cubicBezTo>
                    <a:pt x="1395269" y="0"/>
                    <a:pt x="1414629" y="19360"/>
                    <a:pt x="1414629" y="43242"/>
                  </a:cubicBezTo>
                  <a:lnTo>
                    <a:pt x="1414629" y="862904"/>
                  </a:lnTo>
                  <a:cubicBezTo>
                    <a:pt x="1414629" y="886785"/>
                    <a:pt x="1395269" y="906145"/>
                    <a:pt x="1371387" y="906145"/>
                  </a:cubicBezTo>
                  <a:lnTo>
                    <a:pt x="43242" y="906145"/>
                  </a:lnTo>
                  <a:cubicBezTo>
                    <a:pt x="31773" y="906145"/>
                    <a:pt x="20775" y="901589"/>
                    <a:pt x="12665" y="893480"/>
                  </a:cubicBezTo>
                  <a:cubicBezTo>
                    <a:pt x="4556" y="885371"/>
                    <a:pt x="0" y="874372"/>
                    <a:pt x="0" y="862904"/>
                  </a:cubicBezTo>
                  <a:lnTo>
                    <a:pt x="0" y="43242"/>
                  </a:lnTo>
                  <a:cubicBezTo>
                    <a:pt x="0" y="19360"/>
                    <a:pt x="19360" y="0"/>
                    <a:pt x="43242" y="0"/>
                  </a:cubicBezTo>
                  <a:close/>
                </a:path>
              </a:pathLst>
            </a:custGeom>
            <a:blipFill>
              <a:blip r:embed="rId2"/>
              <a:stretch>
                <a:fillRect l="0" t="-8472" r="0" b="-8472"/>
              </a:stretch>
            </a:blipFill>
          </p:spPr>
        </p:sp>
      </p:grpSp>
      <p:sp>
        <p:nvSpPr>
          <p:cNvPr name="Freeform 7" id="7"/>
          <p:cNvSpPr/>
          <p:nvPr/>
        </p:nvSpPr>
        <p:spPr>
          <a:xfrm flipH="false" flipV="false" rot="0">
            <a:off x="674078" y="693030"/>
            <a:ext cx="13864283" cy="11167050"/>
          </a:xfrm>
          <a:custGeom>
            <a:avLst/>
            <a:gdLst/>
            <a:ahLst/>
            <a:cxnLst/>
            <a:rect r="r" b="b" t="t" l="l"/>
            <a:pathLst>
              <a:path h="11167050" w="13864283">
                <a:moveTo>
                  <a:pt x="0" y="0"/>
                </a:moveTo>
                <a:lnTo>
                  <a:pt x="13864283" y="0"/>
                </a:lnTo>
                <a:lnTo>
                  <a:pt x="13864283" y="11167050"/>
                </a:lnTo>
                <a:lnTo>
                  <a:pt x="0" y="111670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74398" y="1491686"/>
            <a:ext cx="607020" cy="607020"/>
          </a:xfrm>
          <a:custGeom>
            <a:avLst/>
            <a:gdLst/>
            <a:ahLst/>
            <a:cxnLst/>
            <a:rect r="r" b="b" t="t" l="l"/>
            <a:pathLst>
              <a:path h="607020" w="607020">
                <a:moveTo>
                  <a:pt x="0" y="0"/>
                </a:moveTo>
                <a:lnTo>
                  <a:pt x="607020" y="0"/>
                </a:lnTo>
                <a:lnTo>
                  <a:pt x="607020" y="607019"/>
                </a:lnTo>
                <a:lnTo>
                  <a:pt x="0" y="6070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627732" y="1544561"/>
            <a:ext cx="2845611" cy="463169"/>
          </a:xfrm>
          <a:prstGeom prst="rect">
            <a:avLst/>
          </a:prstGeom>
        </p:spPr>
        <p:txBody>
          <a:bodyPr anchor="t" rtlCol="false" tIns="0" lIns="0" bIns="0" rIns="0">
            <a:spAutoFit/>
          </a:bodyPr>
          <a:lstStyle/>
          <a:p>
            <a:pPr algn="l">
              <a:lnSpc>
                <a:spcPts val="3387"/>
              </a:lnSpc>
            </a:pPr>
            <a:r>
              <a:rPr lang="en-US" sz="2799" b="true">
                <a:solidFill>
                  <a:srgbClr val="202121"/>
                </a:solidFill>
                <a:latin typeface="Telegraf Medium"/>
                <a:ea typeface="Telegraf Medium"/>
                <a:cs typeface="Telegraf Medium"/>
                <a:sym typeface="Telegraf Medium"/>
              </a:rPr>
              <a:t>Wardiere Inc.</a:t>
            </a:r>
          </a:p>
        </p:txBody>
      </p:sp>
      <p:sp>
        <p:nvSpPr>
          <p:cNvPr name="TextBox 10" id="10"/>
          <p:cNvSpPr txBox="true"/>
          <p:nvPr/>
        </p:nvSpPr>
        <p:spPr>
          <a:xfrm rot="0">
            <a:off x="1680779" y="3482911"/>
            <a:ext cx="5865715" cy="1019810"/>
          </a:xfrm>
          <a:prstGeom prst="rect">
            <a:avLst/>
          </a:prstGeom>
        </p:spPr>
        <p:txBody>
          <a:bodyPr anchor="t" rtlCol="false" tIns="0" lIns="0" bIns="0" rIns="0">
            <a:spAutoFit/>
          </a:bodyPr>
          <a:lstStyle/>
          <a:p>
            <a:pPr algn="l">
              <a:lnSpc>
                <a:spcPts val="7840"/>
              </a:lnSpc>
            </a:pPr>
            <a:r>
              <a:rPr lang="en-US" sz="5600">
                <a:solidFill>
                  <a:srgbClr val="202121"/>
                </a:solidFill>
                <a:latin typeface="Telegraf"/>
                <a:ea typeface="Telegraf"/>
                <a:cs typeface="Telegraf"/>
                <a:sym typeface="Telegraf"/>
              </a:rPr>
              <a:t>Introduction to</a:t>
            </a:r>
          </a:p>
        </p:txBody>
      </p:sp>
      <p:sp>
        <p:nvSpPr>
          <p:cNvPr name="TextBox 11" id="11"/>
          <p:cNvSpPr txBox="true"/>
          <p:nvPr/>
        </p:nvSpPr>
        <p:spPr>
          <a:xfrm rot="0">
            <a:off x="1680779" y="6727276"/>
            <a:ext cx="6595254" cy="891794"/>
          </a:xfrm>
          <a:prstGeom prst="rect">
            <a:avLst/>
          </a:prstGeom>
        </p:spPr>
        <p:txBody>
          <a:bodyPr anchor="t" rtlCol="false" tIns="0" lIns="0" bIns="0" rIns="0">
            <a:spAutoFit/>
          </a:bodyPr>
          <a:lstStyle/>
          <a:p>
            <a:pPr algn="l">
              <a:lnSpc>
                <a:spcPts val="3387"/>
              </a:lnSpc>
            </a:pPr>
            <a:r>
              <a:rPr lang="en-US" sz="2799">
                <a:solidFill>
                  <a:srgbClr val="737373"/>
                </a:solidFill>
                <a:latin typeface="Telegraf"/>
                <a:ea typeface="Telegraf"/>
                <a:cs typeface="Telegraf"/>
                <a:sym typeface="Telegraf"/>
              </a:rPr>
              <a:t>Exploring Science and Innovation That Transform Life and Industry</a:t>
            </a:r>
          </a:p>
        </p:txBody>
      </p:sp>
      <p:sp>
        <p:nvSpPr>
          <p:cNvPr name="TextBox 12" id="12"/>
          <p:cNvSpPr txBox="true"/>
          <p:nvPr/>
        </p:nvSpPr>
        <p:spPr>
          <a:xfrm rot="0">
            <a:off x="1617667" y="3935141"/>
            <a:ext cx="12034526" cy="2477182"/>
          </a:xfrm>
          <a:prstGeom prst="rect">
            <a:avLst/>
          </a:prstGeom>
        </p:spPr>
        <p:txBody>
          <a:bodyPr anchor="t" rtlCol="false" tIns="0" lIns="0" bIns="0" rIns="0">
            <a:spAutoFit/>
          </a:bodyPr>
          <a:lstStyle/>
          <a:p>
            <a:pPr algn="l">
              <a:lnSpc>
                <a:spcPts val="19147"/>
              </a:lnSpc>
            </a:pPr>
            <a:r>
              <a:rPr lang="en-US" b="true" sz="13676" spc="-410">
                <a:solidFill>
                  <a:srgbClr val="149941"/>
                </a:solidFill>
                <a:latin typeface="Telegraf Bold"/>
                <a:ea typeface="Telegraf Bold"/>
                <a:cs typeface="Telegraf Bold"/>
                <a:sym typeface="Telegraf Bold"/>
              </a:rPr>
              <a:t>Biotechnology</a:t>
            </a:r>
          </a:p>
        </p:txBody>
      </p:sp>
      <p:sp>
        <p:nvSpPr>
          <p:cNvPr name="TextBox 13" id="13"/>
          <p:cNvSpPr txBox="true"/>
          <p:nvPr/>
        </p:nvSpPr>
        <p:spPr>
          <a:xfrm rot="0">
            <a:off x="1680779" y="8408962"/>
            <a:ext cx="3792564" cy="340360"/>
          </a:xfrm>
          <a:prstGeom prst="rect">
            <a:avLst/>
          </a:prstGeom>
        </p:spPr>
        <p:txBody>
          <a:bodyPr anchor="t" rtlCol="false" tIns="0" lIns="0" bIns="0" rIns="0">
            <a:spAutoFit/>
          </a:bodyPr>
          <a:lstStyle/>
          <a:p>
            <a:pPr algn="l">
              <a:lnSpc>
                <a:spcPts val="2420"/>
              </a:lnSpc>
            </a:pPr>
            <a:r>
              <a:rPr lang="en-US" sz="2000">
                <a:solidFill>
                  <a:srgbClr val="737373"/>
                </a:solidFill>
                <a:latin typeface="Telegraf"/>
                <a:ea typeface="Telegraf"/>
                <a:cs typeface="Telegraf"/>
                <a:sym typeface="Telegraf"/>
              </a:rPr>
              <a:t>Presented by</a:t>
            </a:r>
          </a:p>
        </p:txBody>
      </p:sp>
      <p:sp>
        <p:nvSpPr>
          <p:cNvPr name="TextBox 14" id="14"/>
          <p:cNvSpPr txBox="true"/>
          <p:nvPr/>
        </p:nvSpPr>
        <p:spPr>
          <a:xfrm rot="0">
            <a:off x="6951605" y="8408962"/>
            <a:ext cx="3792564" cy="340360"/>
          </a:xfrm>
          <a:prstGeom prst="rect">
            <a:avLst/>
          </a:prstGeom>
        </p:spPr>
        <p:txBody>
          <a:bodyPr anchor="t" rtlCol="false" tIns="0" lIns="0" bIns="0" rIns="0">
            <a:spAutoFit/>
          </a:bodyPr>
          <a:lstStyle/>
          <a:p>
            <a:pPr algn="l">
              <a:lnSpc>
                <a:spcPts val="2420"/>
              </a:lnSpc>
            </a:pPr>
            <a:r>
              <a:rPr lang="en-US" sz="2000">
                <a:solidFill>
                  <a:srgbClr val="737373"/>
                </a:solidFill>
                <a:latin typeface="Telegraf"/>
                <a:ea typeface="Telegraf"/>
                <a:cs typeface="Telegraf"/>
                <a:sym typeface="Telegraf"/>
              </a:rPr>
              <a:t>Date</a:t>
            </a:r>
          </a:p>
        </p:txBody>
      </p:sp>
      <p:sp>
        <p:nvSpPr>
          <p:cNvPr name="TextBox 15" id="15"/>
          <p:cNvSpPr txBox="true"/>
          <p:nvPr/>
        </p:nvSpPr>
        <p:spPr>
          <a:xfrm rot="0">
            <a:off x="1680779" y="8795131"/>
            <a:ext cx="3792564" cy="463169"/>
          </a:xfrm>
          <a:prstGeom prst="rect">
            <a:avLst/>
          </a:prstGeom>
        </p:spPr>
        <p:txBody>
          <a:bodyPr anchor="t" rtlCol="false" tIns="0" lIns="0" bIns="0" rIns="0">
            <a:spAutoFit/>
          </a:bodyPr>
          <a:lstStyle/>
          <a:p>
            <a:pPr algn="l">
              <a:lnSpc>
                <a:spcPts val="3387"/>
              </a:lnSpc>
            </a:pPr>
            <a:r>
              <a:rPr lang="en-US" sz="2799" b="true">
                <a:solidFill>
                  <a:srgbClr val="202121"/>
                </a:solidFill>
                <a:latin typeface="Telegraf Medium"/>
                <a:ea typeface="Telegraf Medium"/>
                <a:cs typeface="Telegraf Medium"/>
                <a:sym typeface="Telegraf Medium"/>
              </a:rPr>
              <a:t>Avery Davis</a:t>
            </a:r>
          </a:p>
        </p:txBody>
      </p:sp>
      <p:sp>
        <p:nvSpPr>
          <p:cNvPr name="TextBox 16" id="16"/>
          <p:cNvSpPr txBox="true"/>
          <p:nvPr/>
        </p:nvSpPr>
        <p:spPr>
          <a:xfrm rot="0">
            <a:off x="6951605" y="8795131"/>
            <a:ext cx="3792564" cy="463169"/>
          </a:xfrm>
          <a:prstGeom prst="rect">
            <a:avLst/>
          </a:prstGeom>
        </p:spPr>
        <p:txBody>
          <a:bodyPr anchor="t" rtlCol="false" tIns="0" lIns="0" bIns="0" rIns="0">
            <a:spAutoFit/>
          </a:bodyPr>
          <a:lstStyle/>
          <a:p>
            <a:pPr algn="l">
              <a:lnSpc>
                <a:spcPts val="3387"/>
              </a:lnSpc>
            </a:pPr>
            <a:r>
              <a:rPr lang="en-US" sz="2799" b="true">
                <a:solidFill>
                  <a:srgbClr val="202121"/>
                </a:solidFill>
                <a:latin typeface="Telegraf Medium"/>
                <a:ea typeface="Telegraf Medium"/>
                <a:cs typeface="Telegraf Medium"/>
                <a:sym typeface="Telegraf Medium"/>
              </a:rPr>
              <a:t>03 April,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03330"/>
        </a:solidFill>
      </p:bgPr>
    </p:bg>
    <p:spTree>
      <p:nvGrpSpPr>
        <p:cNvPr id="1" name=""/>
        <p:cNvGrpSpPr/>
        <p:nvPr/>
      </p:nvGrpSpPr>
      <p:grpSpPr>
        <a:xfrm>
          <a:off x="0" y="0"/>
          <a:ext cx="0" cy="0"/>
          <a:chOff x="0" y="0"/>
          <a:chExt cx="0" cy="0"/>
        </a:xfrm>
      </p:grpSpPr>
      <p:grpSp>
        <p:nvGrpSpPr>
          <p:cNvPr name="Group 2" id="2"/>
          <p:cNvGrpSpPr/>
          <p:nvPr/>
        </p:nvGrpSpPr>
        <p:grpSpPr>
          <a:xfrm rot="0">
            <a:off x="-1283979" y="502978"/>
            <a:ext cx="20855959" cy="9784022"/>
            <a:chOff x="0" y="0"/>
            <a:chExt cx="27807945" cy="13045362"/>
          </a:xfrm>
        </p:grpSpPr>
        <p:sp>
          <p:nvSpPr>
            <p:cNvPr name="Freeform 3" id="3"/>
            <p:cNvSpPr/>
            <p:nvPr/>
          </p:nvSpPr>
          <p:spPr>
            <a:xfrm flipH="false" flipV="false" rot="0">
              <a:off x="0" y="0"/>
              <a:ext cx="15169026" cy="13045362"/>
            </a:xfrm>
            <a:custGeom>
              <a:avLst/>
              <a:gdLst/>
              <a:ahLst/>
              <a:cxnLst/>
              <a:rect r="r" b="b" t="t" l="l"/>
              <a:pathLst>
                <a:path h="13045362" w="15169026">
                  <a:moveTo>
                    <a:pt x="0" y="0"/>
                  </a:moveTo>
                  <a:lnTo>
                    <a:pt x="15169026" y="0"/>
                  </a:lnTo>
                  <a:lnTo>
                    <a:pt x="15169026" y="13045362"/>
                  </a:lnTo>
                  <a:lnTo>
                    <a:pt x="0" y="13045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192916" y="1763364"/>
              <a:ext cx="17615029" cy="11281999"/>
              <a:chOff x="0" y="0"/>
              <a:chExt cx="3479512" cy="2228543"/>
            </a:xfrm>
          </p:grpSpPr>
          <p:sp>
            <p:nvSpPr>
              <p:cNvPr name="Freeform 5" id="5"/>
              <p:cNvSpPr/>
              <p:nvPr/>
            </p:nvSpPr>
            <p:spPr>
              <a:xfrm flipH="false" flipV="false" rot="0">
                <a:off x="0" y="0"/>
                <a:ext cx="3479512" cy="2228543"/>
              </a:xfrm>
              <a:custGeom>
                <a:avLst/>
                <a:gdLst/>
                <a:ahLst/>
                <a:cxnLst/>
                <a:rect r="r" b="b" t="t" l="l"/>
                <a:pathLst>
                  <a:path h="2228543" w="3479512">
                    <a:moveTo>
                      <a:pt x="0" y="0"/>
                    </a:moveTo>
                    <a:lnTo>
                      <a:pt x="3479512" y="0"/>
                    </a:lnTo>
                    <a:lnTo>
                      <a:pt x="3479512" y="2228543"/>
                    </a:lnTo>
                    <a:lnTo>
                      <a:pt x="0" y="2228543"/>
                    </a:lnTo>
                    <a:close/>
                  </a:path>
                </a:pathLst>
              </a:custGeom>
              <a:solidFill>
                <a:srgbClr val="F9F7F4"/>
              </a:solidFill>
            </p:spPr>
          </p:sp>
          <p:sp>
            <p:nvSpPr>
              <p:cNvPr name="TextBox 6" id="6"/>
              <p:cNvSpPr txBox="true"/>
              <p:nvPr/>
            </p:nvSpPr>
            <p:spPr>
              <a:xfrm>
                <a:off x="0" y="-38100"/>
                <a:ext cx="3479512" cy="2266643"/>
              </a:xfrm>
              <a:prstGeom prst="rect">
                <a:avLst/>
              </a:prstGeom>
            </p:spPr>
            <p:txBody>
              <a:bodyPr anchor="ctr" rtlCol="false" tIns="50800" lIns="50800" bIns="50800" rIns="50800"/>
              <a:lstStyle/>
              <a:p>
                <a:pPr algn="ctr">
                  <a:lnSpc>
                    <a:spcPts val="2659"/>
                  </a:lnSpc>
                </a:pPr>
              </a:p>
            </p:txBody>
          </p:sp>
        </p:grpSp>
      </p:grpSp>
      <p:sp>
        <p:nvSpPr>
          <p:cNvPr name="AutoShape 7" id="7"/>
          <p:cNvSpPr/>
          <p:nvPr/>
        </p:nvSpPr>
        <p:spPr>
          <a:xfrm flipV="true">
            <a:off x="0" y="9725067"/>
            <a:ext cx="19109209" cy="0"/>
          </a:xfrm>
          <a:prstGeom prst="line">
            <a:avLst/>
          </a:prstGeom>
          <a:ln cap="flat" w="38100">
            <a:solidFill>
              <a:srgbClr val="B4B4B4"/>
            </a:solidFill>
            <a:prstDash val="solid"/>
            <a:headEnd type="none" len="sm" w="sm"/>
            <a:tailEnd type="none" len="sm" w="sm"/>
          </a:ln>
        </p:spPr>
      </p:sp>
      <p:sp>
        <p:nvSpPr>
          <p:cNvPr name="Freeform 8" id="8"/>
          <p:cNvSpPr/>
          <p:nvPr/>
        </p:nvSpPr>
        <p:spPr>
          <a:xfrm flipH="false" flipV="false" rot="0">
            <a:off x="14216646" y="502978"/>
            <a:ext cx="607020" cy="607020"/>
          </a:xfrm>
          <a:custGeom>
            <a:avLst/>
            <a:gdLst/>
            <a:ahLst/>
            <a:cxnLst/>
            <a:rect r="r" b="b" t="t" l="l"/>
            <a:pathLst>
              <a:path h="607020" w="607020">
                <a:moveTo>
                  <a:pt x="0" y="0"/>
                </a:moveTo>
                <a:lnTo>
                  <a:pt x="607020" y="0"/>
                </a:lnTo>
                <a:lnTo>
                  <a:pt x="607020" y="607020"/>
                </a:lnTo>
                <a:lnTo>
                  <a:pt x="0" y="6070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069980" y="555854"/>
            <a:ext cx="2845611" cy="463169"/>
          </a:xfrm>
          <a:prstGeom prst="rect">
            <a:avLst/>
          </a:prstGeom>
        </p:spPr>
        <p:txBody>
          <a:bodyPr anchor="t" rtlCol="false" tIns="0" lIns="0" bIns="0" rIns="0">
            <a:spAutoFit/>
          </a:bodyPr>
          <a:lstStyle/>
          <a:p>
            <a:pPr algn="l">
              <a:lnSpc>
                <a:spcPts val="3387"/>
              </a:lnSpc>
            </a:pPr>
            <a:r>
              <a:rPr lang="en-US" sz="2799" b="true">
                <a:solidFill>
                  <a:srgbClr val="F9F7F4"/>
                </a:solidFill>
                <a:latin typeface="Telegraf Medium"/>
                <a:ea typeface="Telegraf Medium"/>
                <a:cs typeface="Telegraf Medium"/>
                <a:sym typeface="Telegraf Medium"/>
              </a:rPr>
              <a:t>Wardiere Inc.</a:t>
            </a:r>
          </a:p>
        </p:txBody>
      </p:sp>
      <p:grpSp>
        <p:nvGrpSpPr>
          <p:cNvPr name="Group 10" id="10"/>
          <p:cNvGrpSpPr/>
          <p:nvPr/>
        </p:nvGrpSpPr>
        <p:grpSpPr>
          <a:xfrm rot="0">
            <a:off x="11809748" y="2789491"/>
            <a:ext cx="5449552" cy="5916400"/>
            <a:chOff x="0" y="0"/>
            <a:chExt cx="1040651" cy="1129801"/>
          </a:xfrm>
        </p:grpSpPr>
        <p:sp>
          <p:nvSpPr>
            <p:cNvPr name="Freeform 11" id="11"/>
            <p:cNvSpPr/>
            <p:nvPr/>
          </p:nvSpPr>
          <p:spPr>
            <a:xfrm flipH="false" flipV="false" rot="0">
              <a:off x="0" y="0"/>
              <a:ext cx="1040651" cy="1129801"/>
            </a:xfrm>
            <a:custGeom>
              <a:avLst/>
              <a:gdLst/>
              <a:ahLst/>
              <a:cxnLst/>
              <a:rect r="r" b="b" t="t" l="l"/>
              <a:pathLst>
                <a:path h="1129801" w="1040651">
                  <a:moveTo>
                    <a:pt x="83819" y="0"/>
                  </a:moveTo>
                  <a:lnTo>
                    <a:pt x="956832" y="0"/>
                  </a:lnTo>
                  <a:cubicBezTo>
                    <a:pt x="1003124" y="0"/>
                    <a:pt x="1040651" y="37527"/>
                    <a:pt x="1040651" y="83819"/>
                  </a:cubicBezTo>
                  <a:lnTo>
                    <a:pt x="1040651" y="1045982"/>
                  </a:lnTo>
                  <a:cubicBezTo>
                    <a:pt x="1040651" y="1092274"/>
                    <a:pt x="1003124" y="1129801"/>
                    <a:pt x="956832" y="1129801"/>
                  </a:cubicBezTo>
                  <a:lnTo>
                    <a:pt x="83819" y="1129801"/>
                  </a:lnTo>
                  <a:cubicBezTo>
                    <a:pt x="37527" y="1129801"/>
                    <a:pt x="0" y="1092274"/>
                    <a:pt x="0" y="1045982"/>
                  </a:cubicBezTo>
                  <a:lnTo>
                    <a:pt x="0" y="83819"/>
                  </a:lnTo>
                  <a:cubicBezTo>
                    <a:pt x="0" y="37527"/>
                    <a:pt x="37527" y="0"/>
                    <a:pt x="83819" y="0"/>
                  </a:cubicBezTo>
                  <a:close/>
                </a:path>
              </a:pathLst>
            </a:custGeom>
            <a:blipFill>
              <a:blip r:embed="rId6"/>
              <a:stretch>
                <a:fillRect l="-42028" t="0" r="-21118" b="0"/>
              </a:stretch>
            </a:blipFill>
          </p:spPr>
        </p:sp>
      </p:grpSp>
      <p:grpSp>
        <p:nvGrpSpPr>
          <p:cNvPr name="Group 12" id="12"/>
          <p:cNvGrpSpPr/>
          <p:nvPr/>
        </p:nvGrpSpPr>
        <p:grpSpPr>
          <a:xfrm rot="0">
            <a:off x="11809748" y="8801622"/>
            <a:ext cx="5449552" cy="3086100"/>
            <a:chOff x="0" y="0"/>
            <a:chExt cx="1435273" cy="812800"/>
          </a:xfrm>
        </p:grpSpPr>
        <p:sp>
          <p:nvSpPr>
            <p:cNvPr name="Freeform 13" id="13"/>
            <p:cNvSpPr/>
            <p:nvPr/>
          </p:nvSpPr>
          <p:spPr>
            <a:xfrm flipH="false" flipV="false" rot="0">
              <a:off x="0" y="0"/>
              <a:ext cx="1435273" cy="812800"/>
            </a:xfrm>
            <a:custGeom>
              <a:avLst/>
              <a:gdLst/>
              <a:ahLst/>
              <a:cxnLst/>
              <a:rect r="r" b="b" t="t" l="l"/>
              <a:pathLst>
                <a:path h="812800" w="1435273">
                  <a:moveTo>
                    <a:pt x="93763" y="0"/>
                  </a:moveTo>
                  <a:lnTo>
                    <a:pt x="1341510" y="0"/>
                  </a:lnTo>
                  <a:cubicBezTo>
                    <a:pt x="1393294" y="0"/>
                    <a:pt x="1435273" y="41979"/>
                    <a:pt x="1435273" y="93763"/>
                  </a:cubicBezTo>
                  <a:lnTo>
                    <a:pt x="1435273" y="719037"/>
                  </a:lnTo>
                  <a:cubicBezTo>
                    <a:pt x="1435273" y="770821"/>
                    <a:pt x="1393294" y="812800"/>
                    <a:pt x="1341510" y="812800"/>
                  </a:cubicBezTo>
                  <a:lnTo>
                    <a:pt x="93763" y="812800"/>
                  </a:lnTo>
                  <a:cubicBezTo>
                    <a:pt x="41979" y="812800"/>
                    <a:pt x="0" y="770821"/>
                    <a:pt x="0" y="719037"/>
                  </a:cubicBezTo>
                  <a:lnTo>
                    <a:pt x="0" y="93763"/>
                  </a:lnTo>
                  <a:cubicBezTo>
                    <a:pt x="0" y="41979"/>
                    <a:pt x="41979" y="0"/>
                    <a:pt x="93763" y="0"/>
                  </a:cubicBezTo>
                  <a:close/>
                </a:path>
              </a:pathLst>
            </a:custGeom>
            <a:solidFill>
              <a:srgbClr val="149941"/>
            </a:solidFill>
          </p:spPr>
        </p:sp>
        <p:sp>
          <p:nvSpPr>
            <p:cNvPr name="TextBox 14" id="14"/>
            <p:cNvSpPr txBox="true"/>
            <p:nvPr/>
          </p:nvSpPr>
          <p:spPr>
            <a:xfrm>
              <a:off x="0" y="-38100"/>
              <a:ext cx="1435273" cy="85090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028700" y="3376549"/>
            <a:ext cx="9147601" cy="1889887"/>
          </a:xfrm>
          <a:prstGeom prst="rect">
            <a:avLst/>
          </a:prstGeom>
        </p:spPr>
        <p:txBody>
          <a:bodyPr anchor="t" rtlCol="false" tIns="0" lIns="0" bIns="0" rIns="0">
            <a:spAutoFit/>
          </a:bodyPr>
          <a:lstStyle/>
          <a:p>
            <a:pPr algn="l">
              <a:lnSpc>
                <a:spcPts val="7004"/>
              </a:lnSpc>
            </a:pPr>
            <a:r>
              <a:rPr lang="en-US" b="true" sz="6800" spc="102">
                <a:solidFill>
                  <a:srgbClr val="149941"/>
                </a:solidFill>
                <a:latin typeface="Telegraf Bold"/>
                <a:ea typeface="Telegraf Bold"/>
                <a:cs typeface="Telegraf Bold"/>
                <a:sym typeface="Telegraf Bold"/>
              </a:rPr>
              <a:t>The Core Concept of Biotechnology</a:t>
            </a:r>
          </a:p>
        </p:txBody>
      </p:sp>
      <p:sp>
        <p:nvSpPr>
          <p:cNvPr name="TextBox 16" id="16"/>
          <p:cNvSpPr txBox="true"/>
          <p:nvPr/>
        </p:nvSpPr>
        <p:spPr>
          <a:xfrm rot="0">
            <a:off x="1028700" y="2694241"/>
            <a:ext cx="4955969" cy="575945"/>
          </a:xfrm>
          <a:prstGeom prst="rect">
            <a:avLst/>
          </a:prstGeom>
        </p:spPr>
        <p:txBody>
          <a:bodyPr anchor="t" rtlCol="false" tIns="0" lIns="0" bIns="0" rIns="0">
            <a:spAutoFit/>
          </a:bodyPr>
          <a:lstStyle/>
          <a:p>
            <a:pPr algn="l">
              <a:lnSpc>
                <a:spcPts val="4480"/>
              </a:lnSpc>
            </a:pPr>
            <a:r>
              <a:rPr lang="en-US" sz="3200" spc="832">
                <a:solidFill>
                  <a:srgbClr val="202121"/>
                </a:solidFill>
                <a:latin typeface="Telegraf"/>
                <a:ea typeface="Telegraf"/>
                <a:cs typeface="Telegraf"/>
                <a:sym typeface="Telegraf"/>
              </a:rPr>
              <a:t>UNDERSTANDING</a:t>
            </a:r>
          </a:p>
        </p:txBody>
      </p:sp>
      <p:sp>
        <p:nvSpPr>
          <p:cNvPr name="TextBox 17" id="17"/>
          <p:cNvSpPr txBox="true"/>
          <p:nvPr/>
        </p:nvSpPr>
        <p:spPr>
          <a:xfrm rot="0">
            <a:off x="1028700" y="6231932"/>
            <a:ext cx="5102782" cy="2473960"/>
          </a:xfrm>
          <a:prstGeom prst="rect">
            <a:avLst/>
          </a:prstGeom>
        </p:spPr>
        <p:txBody>
          <a:bodyPr anchor="t" rtlCol="false" tIns="0" lIns="0" bIns="0" rIns="0">
            <a:spAutoFit/>
          </a:bodyPr>
          <a:lstStyle/>
          <a:p>
            <a:pPr algn="just">
              <a:lnSpc>
                <a:spcPts val="2420"/>
              </a:lnSpc>
            </a:pPr>
            <a:r>
              <a:rPr lang="en-US" sz="2000" spc="154">
                <a:solidFill>
                  <a:srgbClr val="737373"/>
                </a:solidFill>
                <a:latin typeface="Telegraf"/>
                <a:ea typeface="Telegraf"/>
                <a:cs typeface="Telegraf"/>
                <a:sym typeface="Telegraf"/>
              </a:rPr>
              <a:t>Biotechnology refers to the use of living organisms, cells, and biological systems to create products and technologies that improve human life. This interdisciplinary field integrates biology, chemistry, genetics, and engineering to develop innovative solutions across multiple industries. </a:t>
            </a:r>
          </a:p>
        </p:txBody>
      </p:sp>
      <p:sp>
        <p:nvSpPr>
          <p:cNvPr name="TextBox 18" id="18"/>
          <p:cNvSpPr txBox="true"/>
          <p:nvPr/>
        </p:nvSpPr>
        <p:spPr>
          <a:xfrm rot="0">
            <a:off x="6419224" y="6231932"/>
            <a:ext cx="3757077" cy="2169160"/>
          </a:xfrm>
          <a:prstGeom prst="rect">
            <a:avLst/>
          </a:prstGeom>
        </p:spPr>
        <p:txBody>
          <a:bodyPr anchor="t" rtlCol="false" tIns="0" lIns="0" bIns="0" rIns="0">
            <a:spAutoFit/>
          </a:bodyPr>
          <a:lstStyle/>
          <a:p>
            <a:pPr algn="just">
              <a:lnSpc>
                <a:spcPts val="2420"/>
              </a:lnSpc>
            </a:pPr>
            <a:r>
              <a:rPr lang="en-US" sz="2000" spc="154">
                <a:solidFill>
                  <a:srgbClr val="737373"/>
                </a:solidFill>
                <a:latin typeface="Telegraf"/>
                <a:ea typeface="Telegraf"/>
                <a:cs typeface="Telegraf"/>
                <a:sym typeface="Telegraf"/>
              </a:rPr>
              <a:t>From developing vaccines to improving crop yields, biotechnology plays a crucial role in addressing global challenges and advancing scientific progress.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9941"/>
        </a:solidFill>
      </p:bgPr>
    </p:bg>
    <p:spTree>
      <p:nvGrpSpPr>
        <p:cNvPr id="1" name=""/>
        <p:cNvGrpSpPr/>
        <p:nvPr/>
      </p:nvGrpSpPr>
      <p:grpSpPr>
        <a:xfrm>
          <a:off x="0" y="0"/>
          <a:ext cx="0" cy="0"/>
          <a:chOff x="0" y="0"/>
          <a:chExt cx="0" cy="0"/>
        </a:xfrm>
      </p:grpSpPr>
      <p:grpSp>
        <p:nvGrpSpPr>
          <p:cNvPr name="Group 2" id="2"/>
          <p:cNvGrpSpPr/>
          <p:nvPr/>
        </p:nvGrpSpPr>
        <p:grpSpPr>
          <a:xfrm rot="0">
            <a:off x="724840" y="4320312"/>
            <a:ext cx="16838321" cy="5425040"/>
            <a:chOff x="0" y="0"/>
            <a:chExt cx="22451094" cy="7233386"/>
          </a:xfrm>
        </p:grpSpPr>
        <p:sp>
          <p:nvSpPr>
            <p:cNvPr name="Freeform 3" id="3"/>
            <p:cNvSpPr/>
            <p:nvPr/>
          </p:nvSpPr>
          <p:spPr>
            <a:xfrm flipH="true" flipV="false" rot="0">
              <a:off x="14040180" y="0"/>
              <a:ext cx="8410915" cy="7233386"/>
            </a:xfrm>
            <a:custGeom>
              <a:avLst/>
              <a:gdLst/>
              <a:ahLst/>
              <a:cxnLst/>
              <a:rect r="r" b="b" t="t" l="l"/>
              <a:pathLst>
                <a:path h="7233386" w="8410915">
                  <a:moveTo>
                    <a:pt x="8410914" y="0"/>
                  </a:moveTo>
                  <a:lnTo>
                    <a:pt x="0" y="0"/>
                  </a:lnTo>
                  <a:lnTo>
                    <a:pt x="0" y="7233386"/>
                  </a:lnTo>
                  <a:lnTo>
                    <a:pt x="8410914" y="7233386"/>
                  </a:lnTo>
                  <a:lnTo>
                    <a:pt x="841091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977749"/>
              <a:ext cx="16937647" cy="6255637"/>
              <a:chOff x="0" y="0"/>
              <a:chExt cx="6033961" cy="2228543"/>
            </a:xfrm>
          </p:grpSpPr>
          <p:sp>
            <p:nvSpPr>
              <p:cNvPr name="Freeform 5" id="5"/>
              <p:cNvSpPr/>
              <p:nvPr/>
            </p:nvSpPr>
            <p:spPr>
              <a:xfrm flipH="false" flipV="false" rot="0">
                <a:off x="0" y="0"/>
                <a:ext cx="6033961" cy="2228543"/>
              </a:xfrm>
              <a:custGeom>
                <a:avLst/>
                <a:gdLst/>
                <a:ahLst/>
                <a:cxnLst/>
                <a:rect r="r" b="b" t="t" l="l"/>
                <a:pathLst>
                  <a:path h="2228543" w="6033961">
                    <a:moveTo>
                      <a:pt x="33792" y="0"/>
                    </a:moveTo>
                    <a:lnTo>
                      <a:pt x="6000169" y="0"/>
                    </a:lnTo>
                    <a:cubicBezTo>
                      <a:pt x="6009131" y="0"/>
                      <a:pt x="6017726" y="3560"/>
                      <a:pt x="6024064" y="9898"/>
                    </a:cubicBezTo>
                    <a:cubicBezTo>
                      <a:pt x="6030401" y="16235"/>
                      <a:pt x="6033961" y="24830"/>
                      <a:pt x="6033961" y="33792"/>
                    </a:cubicBezTo>
                    <a:lnTo>
                      <a:pt x="6033961" y="2194751"/>
                    </a:lnTo>
                    <a:cubicBezTo>
                      <a:pt x="6033961" y="2203713"/>
                      <a:pt x="6030401" y="2212308"/>
                      <a:pt x="6024064" y="2218645"/>
                    </a:cubicBezTo>
                    <a:cubicBezTo>
                      <a:pt x="6017726" y="2224983"/>
                      <a:pt x="6009131" y="2228543"/>
                      <a:pt x="6000169" y="2228543"/>
                    </a:cubicBezTo>
                    <a:lnTo>
                      <a:pt x="33792" y="2228543"/>
                    </a:lnTo>
                    <a:cubicBezTo>
                      <a:pt x="24830" y="2228543"/>
                      <a:pt x="16235" y="2224983"/>
                      <a:pt x="9898" y="2218645"/>
                    </a:cubicBezTo>
                    <a:cubicBezTo>
                      <a:pt x="3560" y="2212308"/>
                      <a:pt x="0" y="2203713"/>
                      <a:pt x="0" y="2194751"/>
                    </a:cubicBezTo>
                    <a:lnTo>
                      <a:pt x="0" y="33792"/>
                    </a:lnTo>
                    <a:cubicBezTo>
                      <a:pt x="0" y="24830"/>
                      <a:pt x="3560" y="16235"/>
                      <a:pt x="9898" y="9898"/>
                    </a:cubicBezTo>
                    <a:cubicBezTo>
                      <a:pt x="16235" y="3560"/>
                      <a:pt x="24830" y="0"/>
                      <a:pt x="33792" y="0"/>
                    </a:cubicBezTo>
                    <a:close/>
                  </a:path>
                </a:pathLst>
              </a:custGeom>
              <a:solidFill>
                <a:srgbClr val="F9F7F4"/>
              </a:solidFill>
            </p:spPr>
          </p:sp>
          <p:sp>
            <p:nvSpPr>
              <p:cNvPr name="TextBox 6" id="6"/>
              <p:cNvSpPr txBox="true"/>
              <p:nvPr/>
            </p:nvSpPr>
            <p:spPr>
              <a:xfrm>
                <a:off x="0" y="-38100"/>
                <a:ext cx="6033961" cy="2266643"/>
              </a:xfrm>
              <a:prstGeom prst="rect">
                <a:avLst/>
              </a:prstGeom>
            </p:spPr>
            <p:txBody>
              <a:bodyPr anchor="ctr" rtlCol="false" tIns="50800" lIns="50800" bIns="50800" rIns="50800"/>
              <a:lstStyle/>
              <a:p>
                <a:pPr algn="ctr">
                  <a:lnSpc>
                    <a:spcPts val="2660"/>
                  </a:lnSpc>
                </a:pPr>
              </a:p>
            </p:txBody>
          </p:sp>
        </p:grpSp>
      </p:grpSp>
      <p:sp>
        <p:nvSpPr>
          <p:cNvPr name="TextBox 7" id="7"/>
          <p:cNvSpPr txBox="true"/>
          <p:nvPr/>
        </p:nvSpPr>
        <p:spPr>
          <a:xfrm rot="0">
            <a:off x="1028700" y="1057275"/>
            <a:ext cx="12737296" cy="1004062"/>
          </a:xfrm>
          <a:prstGeom prst="rect">
            <a:avLst/>
          </a:prstGeom>
        </p:spPr>
        <p:txBody>
          <a:bodyPr anchor="t" rtlCol="false" tIns="0" lIns="0" bIns="0" rIns="0">
            <a:spAutoFit/>
          </a:bodyPr>
          <a:lstStyle/>
          <a:p>
            <a:pPr algn="l">
              <a:lnSpc>
                <a:spcPts val="7004"/>
              </a:lnSpc>
            </a:pPr>
            <a:r>
              <a:rPr lang="en-US" b="true" sz="6800" spc="102">
                <a:solidFill>
                  <a:srgbClr val="F9F7F4"/>
                </a:solidFill>
                <a:latin typeface="Telegraf Bold"/>
                <a:ea typeface="Telegraf Bold"/>
                <a:cs typeface="Telegraf Bold"/>
                <a:sym typeface="Telegraf Bold"/>
              </a:rPr>
              <a:t>Biotechnology Innovation</a:t>
            </a:r>
          </a:p>
        </p:txBody>
      </p:sp>
      <p:sp>
        <p:nvSpPr>
          <p:cNvPr name="TextBox 8" id="8"/>
          <p:cNvSpPr txBox="true"/>
          <p:nvPr/>
        </p:nvSpPr>
        <p:spPr>
          <a:xfrm rot="0">
            <a:off x="1028700" y="2023237"/>
            <a:ext cx="10184949" cy="463169"/>
          </a:xfrm>
          <a:prstGeom prst="rect">
            <a:avLst/>
          </a:prstGeom>
        </p:spPr>
        <p:txBody>
          <a:bodyPr anchor="t" rtlCol="false" tIns="0" lIns="0" bIns="0" rIns="0">
            <a:spAutoFit/>
          </a:bodyPr>
          <a:lstStyle/>
          <a:p>
            <a:pPr algn="l">
              <a:lnSpc>
                <a:spcPts val="3387"/>
              </a:lnSpc>
            </a:pPr>
            <a:r>
              <a:rPr lang="en-US" sz="2799">
                <a:solidFill>
                  <a:srgbClr val="F9F7F4"/>
                </a:solidFill>
                <a:latin typeface="Telegraf"/>
                <a:ea typeface="Telegraf"/>
                <a:cs typeface="Telegraf"/>
                <a:sym typeface="Telegraf"/>
              </a:rPr>
              <a:t>Breakthrough Technologies Transforming the Future</a:t>
            </a:r>
          </a:p>
        </p:txBody>
      </p:sp>
      <p:sp>
        <p:nvSpPr>
          <p:cNvPr name="Freeform 9" id="9"/>
          <p:cNvSpPr/>
          <p:nvPr/>
        </p:nvSpPr>
        <p:spPr>
          <a:xfrm flipH="false" flipV="false" rot="0">
            <a:off x="14086579" y="1028700"/>
            <a:ext cx="607020" cy="607020"/>
          </a:xfrm>
          <a:custGeom>
            <a:avLst/>
            <a:gdLst/>
            <a:ahLst/>
            <a:cxnLst/>
            <a:rect r="r" b="b" t="t" l="l"/>
            <a:pathLst>
              <a:path h="607020" w="607020">
                <a:moveTo>
                  <a:pt x="0" y="0"/>
                </a:moveTo>
                <a:lnTo>
                  <a:pt x="607019" y="0"/>
                </a:lnTo>
                <a:lnTo>
                  <a:pt x="607019" y="607020"/>
                </a:lnTo>
                <a:lnTo>
                  <a:pt x="0" y="6070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4939913" y="1081575"/>
            <a:ext cx="2845611" cy="463169"/>
          </a:xfrm>
          <a:prstGeom prst="rect">
            <a:avLst/>
          </a:prstGeom>
        </p:spPr>
        <p:txBody>
          <a:bodyPr anchor="t" rtlCol="false" tIns="0" lIns="0" bIns="0" rIns="0">
            <a:spAutoFit/>
          </a:bodyPr>
          <a:lstStyle/>
          <a:p>
            <a:pPr algn="l">
              <a:lnSpc>
                <a:spcPts val="3387"/>
              </a:lnSpc>
            </a:pPr>
            <a:r>
              <a:rPr lang="en-US" sz="2799" b="true">
                <a:solidFill>
                  <a:srgbClr val="F9F7F4"/>
                </a:solidFill>
                <a:latin typeface="Telegraf Medium"/>
                <a:ea typeface="Telegraf Medium"/>
                <a:cs typeface="Telegraf Medium"/>
                <a:sym typeface="Telegraf Medium"/>
              </a:rPr>
              <a:t>Wardiere Inc.</a:t>
            </a:r>
          </a:p>
        </p:txBody>
      </p:sp>
      <p:sp>
        <p:nvSpPr>
          <p:cNvPr name="TextBox 11" id="11"/>
          <p:cNvSpPr txBox="true"/>
          <p:nvPr/>
        </p:nvSpPr>
        <p:spPr>
          <a:xfrm rot="0">
            <a:off x="1028700" y="2825169"/>
            <a:ext cx="12531274" cy="1254760"/>
          </a:xfrm>
          <a:prstGeom prst="rect">
            <a:avLst/>
          </a:prstGeom>
        </p:spPr>
        <p:txBody>
          <a:bodyPr anchor="t" rtlCol="false" tIns="0" lIns="0" bIns="0" rIns="0">
            <a:spAutoFit/>
          </a:bodyPr>
          <a:lstStyle/>
          <a:p>
            <a:pPr algn="just">
              <a:lnSpc>
                <a:spcPts val="2420"/>
              </a:lnSpc>
            </a:pPr>
            <a:r>
              <a:rPr lang="en-US" sz="2000" spc="154">
                <a:solidFill>
                  <a:srgbClr val="F9F7F4"/>
                </a:solidFill>
                <a:latin typeface="Telegraf"/>
                <a:ea typeface="Telegraf"/>
                <a:cs typeface="Telegraf"/>
                <a:sym typeface="Telegraf"/>
              </a:rPr>
              <a:t>Biotechnology innovation continues to transform industries by introducing advanced technologies that improve healthcare, agriculture, and environmental sustainability. These breakthroughs enable scientists and researchers to develop more efficient solutions, enhance productivity, and address complex global challenges. </a:t>
            </a:r>
          </a:p>
        </p:txBody>
      </p:sp>
      <p:grpSp>
        <p:nvGrpSpPr>
          <p:cNvPr name="Group 12" id="12"/>
          <p:cNvGrpSpPr/>
          <p:nvPr/>
        </p:nvGrpSpPr>
        <p:grpSpPr>
          <a:xfrm rot="0">
            <a:off x="1028700" y="5383002"/>
            <a:ext cx="5291433" cy="3875298"/>
            <a:chOff x="0" y="0"/>
            <a:chExt cx="1010456" cy="740030"/>
          </a:xfrm>
        </p:grpSpPr>
        <p:sp>
          <p:nvSpPr>
            <p:cNvPr name="Freeform 13" id="13"/>
            <p:cNvSpPr/>
            <p:nvPr/>
          </p:nvSpPr>
          <p:spPr>
            <a:xfrm flipH="false" flipV="false" rot="0">
              <a:off x="0" y="0"/>
              <a:ext cx="1010456" cy="740030"/>
            </a:xfrm>
            <a:custGeom>
              <a:avLst/>
              <a:gdLst/>
              <a:ahLst/>
              <a:cxnLst/>
              <a:rect r="r" b="b" t="t" l="l"/>
              <a:pathLst>
                <a:path h="740030" w="1010456">
                  <a:moveTo>
                    <a:pt x="99491" y="0"/>
                  </a:moveTo>
                  <a:lnTo>
                    <a:pt x="910965" y="0"/>
                  </a:lnTo>
                  <a:cubicBezTo>
                    <a:pt x="965913" y="0"/>
                    <a:pt x="1010456" y="44544"/>
                    <a:pt x="1010456" y="99491"/>
                  </a:cubicBezTo>
                  <a:lnTo>
                    <a:pt x="1010456" y="640539"/>
                  </a:lnTo>
                  <a:cubicBezTo>
                    <a:pt x="1010456" y="666926"/>
                    <a:pt x="999974" y="692232"/>
                    <a:pt x="981316" y="710890"/>
                  </a:cubicBezTo>
                  <a:cubicBezTo>
                    <a:pt x="962658" y="729548"/>
                    <a:pt x="937352" y="740030"/>
                    <a:pt x="910965" y="740030"/>
                  </a:cubicBezTo>
                  <a:lnTo>
                    <a:pt x="99491" y="740030"/>
                  </a:lnTo>
                  <a:cubicBezTo>
                    <a:pt x="44544" y="740030"/>
                    <a:pt x="0" y="695486"/>
                    <a:pt x="0" y="640539"/>
                  </a:cubicBezTo>
                  <a:lnTo>
                    <a:pt x="0" y="99491"/>
                  </a:lnTo>
                  <a:cubicBezTo>
                    <a:pt x="0" y="44544"/>
                    <a:pt x="44544" y="0"/>
                    <a:pt x="99491" y="0"/>
                  </a:cubicBezTo>
                  <a:close/>
                </a:path>
              </a:pathLst>
            </a:custGeom>
            <a:blipFill>
              <a:blip r:embed="rId6"/>
              <a:stretch>
                <a:fillRect l="0" t="-52313" r="0" b="-52313"/>
              </a:stretch>
            </a:blipFill>
          </p:spPr>
        </p:sp>
      </p:grpSp>
      <p:grpSp>
        <p:nvGrpSpPr>
          <p:cNvPr name="Group 14" id="14"/>
          <p:cNvGrpSpPr/>
          <p:nvPr/>
        </p:nvGrpSpPr>
        <p:grpSpPr>
          <a:xfrm rot="0">
            <a:off x="6498607" y="5383002"/>
            <a:ext cx="5291433" cy="3875298"/>
            <a:chOff x="0" y="0"/>
            <a:chExt cx="1010456" cy="740030"/>
          </a:xfrm>
        </p:grpSpPr>
        <p:sp>
          <p:nvSpPr>
            <p:cNvPr name="Freeform 15" id="15"/>
            <p:cNvSpPr/>
            <p:nvPr/>
          </p:nvSpPr>
          <p:spPr>
            <a:xfrm flipH="false" flipV="false" rot="0">
              <a:off x="0" y="0"/>
              <a:ext cx="1010456" cy="740030"/>
            </a:xfrm>
            <a:custGeom>
              <a:avLst/>
              <a:gdLst/>
              <a:ahLst/>
              <a:cxnLst/>
              <a:rect r="r" b="b" t="t" l="l"/>
              <a:pathLst>
                <a:path h="740030" w="1010456">
                  <a:moveTo>
                    <a:pt x="99491" y="0"/>
                  </a:moveTo>
                  <a:lnTo>
                    <a:pt x="910965" y="0"/>
                  </a:lnTo>
                  <a:cubicBezTo>
                    <a:pt x="965913" y="0"/>
                    <a:pt x="1010456" y="44544"/>
                    <a:pt x="1010456" y="99491"/>
                  </a:cubicBezTo>
                  <a:lnTo>
                    <a:pt x="1010456" y="640539"/>
                  </a:lnTo>
                  <a:cubicBezTo>
                    <a:pt x="1010456" y="666926"/>
                    <a:pt x="999974" y="692232"/>
                    <a:pt x="981316" y="710890"/>
                  </a:cubicBezTo>
                  <a:cubicBezTo>
                    <a:pt x="962658" y="729548"/>
                    <a:pt x="937352" y="740030"/>
                    <a:pt x="910965" y="740030"/>
                  </a:cubicBezTo>
                  <a:lnTo>
                    <a:pt x="99491" y="740030"/>
                  </a:lnTo>
                  <a:cubicBezTo>
                    <a:pt x="44544" y="740030"/>
                    <a:pt x="0" y="695486"/>
                    <a:pt x="0" y="640539"/>
                  </a:cubicBezTo>
                  <a:lnTo>
                    <a:pt x="0" y="99491"/>
                  </a:lnTo>
                  <a:cubicBezTo>
                    <a:pt x="0" y="44544"/>
                    <a:pt x="44544" y="0"/>
                    <a:pt x="99491" y="0"/>
                  </a:cubicBezTo>
                  <a:close/>
                </a:path>
              </a:pathLst>
            </a:custGeom>
            <a:blipFill>
              <a:blip r:embed="rId7"/>
              <a:stretch>
                <a:fillRect l="0" t="-52313" r="0" b="-52313"/>
              </a:stretch>
            </a:blipFill>
          </p:spPr>
        </p:sp>
      </p:grpSp>
      <p:grpSp>
        <p:nvGrpSpPr>
          <p:cNvPr name="Group 16" id="16"/>
          <p:cNvGrpSpPr/>
          <p:nvPr/>
        </p:nvGrpSpPr>
        <p:grpSpPr>
          <a:xfrm rot="0">
            <a:off x="11967867" y="5383002"/>
            <a:ext cx="5291433" cy="3875298"/>
            <a:chOff x="0" y="0"/>
            <a:chExt cx="1010456" cy="740030"/>
          </a:xfrm>
        </p:grpSpPr>
        <p:sp>
          <p:nvSpPr>
            <p:cNvPr name="Freeform 17" id="17"/>
            <p:cNvSpPr/>
            <p:nvPr/>
          </p:nvSpPr>
          <p:spPr>
            <a:xfrm flipH="false" flipV="false" rot="0">
              <a:off x="0" y="0"/>
              <a:ext cx="1010456" cy="740030"/>
            </a:xfrm>
            <a:custGeom>
              <a:avLst/>
              <a:gdLst/>
              <a:ahLst/>
              <a:cxnLst/>
              <a:rect r="r" b="b" t="t" l="l"/>
              <a:pathLst>
                <a:path h="740030" w="1010456">
                  <a:moveTo>
                    <a:pt x="99491" y="0"/>
                  </a:moveTo>
                  <a:lnTo>
                    <a:pt x="910965" y="0"/>
                  </a:lnTo>
                  <a:cubicBezTo>
                    <a:pt x="965913" y="0"/>
                    <a:pt x="1010456" y="44544"/>
                    <a:pt x="1010456" y="99491"/>
                  </a:cubicBezTo>
                  <a:lnTo>
                    <a:pt x="1010456" y="640539"/>
                  </a:lnTo>
                  <a:cubicBezTo>
                    <a:pt x="1010456" y="666926"/>
                    <a:pt x="999974" y="692232"/>
                    <a:pt x="981316" y="710890"/>
                  </a:cubicBezTo>
                  <a:cubicBezTo>
                    <a:pt x="962658" y="729548"/>
                    <a:pt x="937352" y="740030"/>
                    <a:pt x="910965" y="740030"/>
                  </a:cubicBezTo>
                  <a:lnTo>
                    <a:pt x="99491" y="740030"/>
                  </a:lnTo>
                  <a:cubicBezTo>
                    <a:pt x="44544" y="740030"/>
                    <a:pt x="0" y="695486"/>
                    <a:pt x="0" y="640539"/>
                  </a:cubicBezTo>
                  <a:lnTo>
                    <a:pt x="0" y="99491"/>
                  </a:lnTo>
                  <a:cubicBezTo>
                    <a:pt x="0" y="44544"/>
                    <a:pt x="44544" y="0"/>
                    <a:pt x="99491" y="0"/>
                  </a:cubicBezTo>
                  <a:close/>
                </a:path>
              </a:pathLst>
            </a:custGeom>
            <a:blipFill>
              <a:blip r:embed="rId8"/>
              <a:stretch>
                <a:fillRect l="-4878" t="0" r="-4878"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9150" t="-20974" r="-6379" b="-16073"/>
            </a:stretch>
          </a:blipFill>
        </p:spPr>
      </p:sp>
      <p:grpSp>
        <p:nvGrpSpPr>
          <p:cNvPr name="Group 3" id="3"/>
          <p:cNvGrpSpPr/>
          <p:nvPr/>
        </p:nvGrpSpPr>
        <p:grpSpPr>
          <a:xfrm rot="0">
            <a:off x="593703" y="251489"/>
            <a:ext cx="17100594" cy="9784022"/>
            <a:chOff x="0" y="0"/>
            <a:chExt cx="22800792" cy="13045362"/>
          </a:xfrm>
        </p:grpSpPr>
        <p:sp>
          <p:nvSpPr>
            <p:cNvPr name="Freeform 4" id="4"/>
            <p:cNvSpPr/>
            <p:nvPr/>
          </p:nvSpPr>
          <p:spPr>
            <a:xfrm flipH="true" flipV="false" rot="0">
              <a:off x="7631766" y="0"/>
              <a:ext cx="15169026" cy="13045362"/>
            </a:xfrm>
            <a:custGeom>
              <a:avLst/>
              <a:gdLst/>
              <a:ahLst/>
              <a:cxnLst/>
              <a:rect r="r" b="b" t="t" l="l"/>
              <a:pathLst>
                <a:path h="13045362" w="15169026">
                  <a:moveTo>
                    <a:pt x="15169026" y="0"/>
                  </a:moveTo>
                  <a:lnTo>
                    <a:pt x="0" y="0"/>
                  </a:lnTo>
                  <a:lnTo>
                    <a:pt x="0" y="13045362"/>
                  </a:lnTo>
                  <a:lnTo>
                    <a:pt x="15169026" y="13045362"/>
                  </a:lnTo>
                  <a:lnTo>
                    <a:pt x="15169026"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0" y="1763364"/>
              <a:ext cx="10837996" cy="11281999"/>
              <a:chOff x="0" y="0"/>
              <a:chExt cx="2140839" cy="2228543"/>
            </a:xfrm>
          </p:grpSpPr>
          <p:sp>
            <p:nvSpPr>
              <p:cNvPr name="Freeform 6" id="6"/>
              <p:cNvSpPr/>
              <p:nvPr/>
            </p:nvSpPr>
            <p:spPr>
              <a:xfrm flipH="false" flipV="false" rot="0">
                <a:off x="0" y="0"/>
                <a:ext cx="2140839" cy="2228543"/>
              </a:xfrm>
              <a:custGeom>
                <a:avLst/>
                <a:gdLst/>
                <a:ahLst/>
                <a:cxnLst/>
                <a:rect r="r" b="b" t="t" l="l"/>
                <a:pathLst>
                  <a:path h="2228543" w="2140839">
                    <a:moveTo>
                      <a:pt x="95244" y="0"/>
                    </a:moveTo>
                    <a:lnTo>
                      <a:pt x="2045595" y="0"/>
                    </a:lnTo>
                    <a:cubicBezTo>
                      <a:pt x="2070855" y="0"/>
                      <a:pt x="2095081" y="10035"/>
                      <a:pt x="2112942" y="27896"/>
                    </a:cubicBezTo>
                    <a:cubicBezTo>
                      <a:pt x="2130804" y="45758"/>
                      <a:pt x="2140839" y="69984"/>
                      <a:pt x="2140839" y="95244"/>
                    </a:cubicBezTo>
                    <a:lnTo>
                      <a:pt x="2140839" y="2133299"/>
                    </a:lnTo>
                    <a:cubicBezTo>
                      <a:pt x="2140839" y="2185901"/>
                      <a:pt x="2098196" y="2228543"/>
                      <a:pt x="2045595" y="2228543"/>
                    </a:cubicBezTo>
                    <a:lnTo>
                      <a:pt x="95244" y="2228543"/>
                    </a:lnTo>
                    <a:cubicBezTo>
                      <a:pt x="42642" y="2228543"/>
                      <a:pt x="0" y="2185901"/>
                      <a:pt x="0" y="2133299"/>
                    </a:cubicBezTo>
                    <a:lnTo>
                      <a:pt x="0" y="95244"/>
                    </a:lnTo>
                    <a:cubicBezTo>
                      <a:pt x="0" y="69984"/>
                      <a:pt x="10035" y="45758"/>
                      <a:pt x="27896" y="27896"/>
                    </a:cubicBezTo>
                    <a:cubicBezTo>
                      <a:pt x="45758" y="10035"/>
                      <a:pt x="69984" y="0"/>
                      <a:pt x="95244" y="0"/>
                    </a:cubicBezTo>
                    <a:close/>
                  </a:path>
                </a:pathLst>
              </a:custGeom>
              <a:solidFill>
                <a:srgbClr val="F9F7F4"/>
              </a:solidFill>
            </p:spPr>
          </p:sp>
          <p:sp>
            <p:nvSpPr>
              <p:cNvPr name="TextBox 7" id="7"/>
              <p:cNvSpPr txBox="true"/>
              <p:nvPr/>
            </p:nvSpPr>
            <p:spPr>
              <a:xfrm>
                <a:off x="0" y="-38100"/>
                <a:ext cx="2140839" cy="2266643"/>
              </a:xfrm>
              <a:prstGeom prst="rect">
                <a:avLst/>
              </a:prstGeom>
            </p:spPr>
            <p:txBody>
              <a:bodyPr anchor="ctr" rtlCol="false" tIns="50800" lIns="50800" bIns="50800" rIns="50800"/>
              <a:lstStyle/>
              <a:p>
                <a:pPr algn="ctr">
                  <a:lnSpc>
                    <a:spcPts val="2659"/>
                  </a:lnSpc>
                </a:pPr>
              </a:p>
            </p:txBody>
          </p:sp>
        </p:grpSp>
      </p:grpSp>
      <p:sp>
        <p:nvSpPr>
          <p:cNvPr name="Freeform 8" id="8"/>
          <p:cNvSpPr/>
          <p:nvPr/>
        </p:nvSpPr>
        <p:spPr>
          <a:xfrm flipH="false" flipV="false" rot="0">
            <a:off x="13559974" y="1028700"/>
            <a:ext cx="607020" cy="607020"/>
          </a:xfrm>
          <a:custGeom>
            <a:avLst/>
            <a:gdLst/>
            <a:ahLst/>
            <a:cxnLst/>
            <a:rect r="r" b="b" t="t" l="l"/>
            <a:pathLst>
              <a:path h="607020" w="607020">
                <a:moveTo>
                  <a:pt x="0" y="0"/>
                </a:moveTo>
                <a:lnTo>
                  <a:pt x="607020" y="0"/>
                </a:lnTo>
                <a:lnTo>
                  <a:pt x="607020" y="607020"/>
                </a:lnTo>
                <a:lnTo>
                  <a:pt x="0" y="6070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4413309" y="1081575"/>
            <a:ext cx="2845611" cy="463169"/>
          </a:xfrm>
          <a:prstGeom prst="rect">
            <a:avLst/>
          </a:prstGeom>
        </p:spPr>
        <p:txBody>
          <a:bodyPr anchor="t" rtlCol="false" tIns="0" lIns="0" bIns="0" rIns="0">
            <a:spAutoFit/>
          </a:bodyPr>
          <a:lstStyle/>
          <a:p>
            <a:pPr algn="l">
              <a:lnSpc>
                <a:spcPts val="3387"/>
              </a:lnSpc>
            </a:pPr>
            <a:r>
              <a:rPr lang="en-US" sz="2799" b="true">
                <a:solidFill>
                  <a:srgbClr val="000000"/>
                </a:solidFill>
                <a:latin typeface="Telegraf Medium"/>
                <a:ea typeface="Telegraf Medium"/>
                <a:cs typeface="Telegraf Medium"/>
                <a:sym typeface="Telegraf Medium"/>
              </a:rPr>
              <a:t>Wardiere Inc.</a:t>
            </a:r>
          </a:p>
        </p:txBody>
      </p:sp>
      <p:grpSp>
        <p:nvGrpSpPr>
          <p:cNvPr name="Group 10" id="10"/>
          <p:cNvGrpSpPr/>
          <p:nvPr/>
        </p:nvGrpSpPr>
        <p:grpSpPr>
          <a:xfrm rot="0">
            <a:off x="7171535" y="2566386"/>
            <a:ext cx="6081862" cy="6691914"/>
            <a:chOff x="0" y="0"/>
            <a:chExt cx="1601807" cy="1762479"/>
          </a:xfrm>
        </p:grpSpPr>
        <p:sp>
          <p:nvSpPr>
            <p:cNvPr name="Freeform 11" id="11"/>
            <p:cNvSpPr/>
            <p:nvPr/>
          </p:nvSpPr>
          <p:spPr>
            <a:xfrm flipH="false" flipV="false" rot="0">
              <a:off x="0" y="0"/>
              <a:ext cx="1601807" cy="1762479"/>
            </a:xfrm>
            <a:custGeom>
              <a:avLst/>
              <a:gdLst/>
              <a:ahLst/>
              <a:cxnLst/>
              <a:rect r="r" b="b" t="t" l="l"/>
              <a:pathLst>
                <a:path h="1762479" w="1601807">
                  <a:moveTo>
                    <a:pt x="127295" y="0"/>
                  </a:moveTo>
                  <a:lnTo>
                    <a:pt x="1474512" y="0"/>
                  </a:lnTo>
                  <a:cubicBezTo>
                    <a:pt x="1508273" y="0"/>
                    <a:pt x="1540651" y="13411"/>
                    <a:pt x="1564523" y="37284"/>
                  </a:cubicBezTo>
                  <a:cubicBezTo>
                    <a:pt x="1588396" y="61156"/>
                    <a:pt x="1601807" y="93534"/>
                    <a:pt x="1601807" y="127295"/>
                  </a:cubicBezTo>
                  <a:lnTo>
                    <a:pt x="1601807" y="1635184"/>
                  </a:lnTo>
                  <a:cubicBezTo>
                    <a:pt x="1601807" y="1705487"/>
                    <a:pt x="1544815" y="1762479"/>
                    <a:pt x="1474512" y="1762479"/>
                  </a:cubicBezTo>
                  <a:lnTo>
                    <a:pt x="127295" y="1762479"/>
                  </a:lnTo>
                  <a:cubicBezTo>
                    <a:pt x="56992" y="1762479"/>
                    <a:pt x="0" y="1705487"/>
                    <a:pt x="0" y="1635184"/>
                  </a:cubicBezTo>
                  <a:lnTo>
                    <a:pt x="0" y="127295"/>
                  </a:lnTo>
                  <a:cubicBezTo>
                    <a:pt x="0" y="56992"/>
                    <a:pt x="56992" y="0"/>
                    <a:pt x="127295" y="0"/>
                  </a:cubicBezTo>
                  <a:close/>
                </a:path>
              </a:pathLst>
            </a:custGeom>
            <a:solidFill>
              <a:srgbClr val="203330"/>
            </a:solidFill>
          </p:spPr>
        </p:sp>
        <p:sp>
          <p:nvSpPr>
            <p:cNvPr name="TextBox 12" id="12"/>
            <p:cNvSpPr txBox="true"/>
            <p:nvPr/>
          </p:nvSpPr>
          <p:spPr>
            <a:xfrm>
              <a:off x="0" y="-38100"/>
              <a:ext cx="1601807" cy="1800579"/>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917506" y="2566386"/>
            <a:ext cx="6186109" cy="6691914"/>
            <a:chOff x="0" y="0"/>
            <a:chExt cx="1629263" cy="1762479"/>
          </a:xfrm>
        </p:grpSpPr>
        <p:sp>
          <p:nvSpPr>
            <p:cNvPr name="Freeform 14" id="14"/>
            <p:cNvSpPr/>
            <p:nvPr/>
          </p:nvSpPr>
          <p:spPr>
            <a:xfrm flipH="false" flipV="false" rot="0">
              <a:off x="0" y="0"/>
              <a:ext cx="1629263" cy="1762479"/>
            </a:xfrm>
            <a:custGeom>
              <a:avLst/>
              <a:gdLst/>
              <a:ahLst/>
              <a:cxnLst/>
              <a:rect r="r" b="b" t="t" l="l"/>
              <a:pathLst>
                <a:path h="1762479" w="1629263">
                  <a:moveTo>
                    <a:pt x="125150" y="0"/>
                  </a:moveTo>
                  <a:lnTo>
                    <a:pt x="1504113" y="0"/>
                  </a:lnTo>
                  <a:cubicBezTo>
                    <a:pt x="1537305" y="0"/>
                    <a:pt x="1569138" y="13185"/>
                    <a:pt x="1592608" y="36656"/>
                  </a:cubicBezTo>
                  <a:cubicBezTo>
                    <a:pt x="1616078" y="60126"/>
                    <a:pt x="1629263" y="91958"/>
                    <a:pt x="1629263" y="125150"/>
                  </a:cubicBezTo>
                  <a:lnTo>
                    <a:pt x="1629263" y="1637329"/>
                  </a:lnTo>
                  <a:cubicBezTo>
                    <a:pt x="1629263" y="1670521"/>
                    <a:pt x="1616078" y="1702354"/>
                    <a:pt x="1592608" y="1725824"/>
                  </a:cubicBezTo>
                  <a:cubicBezTo>
                    <a:pt x="1569138" y="1749294"/>
                    <a:pt x="1537305" y="1762479"/>
                    <a:pt x="1504113" y="1762479"/>
                  </a:cubicBezTo>
                  <a:lnTo>
                    <a:pt x="125150" y="1762479"/>
                  </a:lnTo>
                  <a:cubicBezTo>
                    <a:pt x="91958" y="1762479"/>
                    <a:pt x="60126" y="1749294"/>
                    <a:pt x="36656" y="1725824"/>
                  </a:cubicBezTo>
                  <a:cubicBezTo>
                    <a:pt x="13185" y="1702354"/>
                    <a:pt x="0" y="1670521"/>
                    <a:pt x="0" y="1637329"/>
                  </a:cubicBezTo>
                  <a:lnTo>
                    <a:pt x="0" y="125150"/>
                  </a:lnTo>
                  <a:cubicBezTo>
                    <a:pt x="0" y="91958"/>
                    <a:pt x="13185" y="60126"/>
                    <a:pt x="36656" y="36656"/>
                  </a:cubicBezTo>
                  <a:cubicBezTo>
                    <a:pt x="60126" y="13185"/>
                    <a:pt x="91958" y="0"/>
                    <a:pt x="125150" y="0"/>
                  </a:cubicBezTo>
                  <a:close/>
                </a:path>
              </a:pathLst>
            </a:custGeom>
            <a:solidFill>
              <a:srgbClr val="0D5726"/>
            </a:solidFill>
          </p:spPr>
        </p:sp>
        <p:sp>
          <p:nvSpPr>
            <p:cNvPr name="TextBox 15" id="15"/>
            <p:cNvSpPr txBox="true"/>
            <p:nvPr/>
          </p:nvSpPr>
          <p:spPr>
            <a:xfrm>
              <a:off x="0" y="-38100"/>
              <a:ext cx="1629263" cy="1800579"/>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2663476" y="2566386"/>
            <a:ext cx="5703968" cy="6691914"/>
            <a:chOff x="0" y="0"/>
            <a:chExt cx="1502280" cy="1762479"/>
          </a:xfrm>
        </p:grpSpPr>
        <p:sp>
          <p:nvSpPr>
            <p:cNvPr name="Freeform 17" id="17"/>
            <p:cNvSpPr/>
            <p:nvPr/>
          </p:nvSpPr>
          <p:spPr>
            <a:xfrm flipH="false" flipV="false" rot="0">
              <a:off x="0" y="0"/>
              <a:ext cx="1502280" cy="1762479"/>
            </a:xfrm>
            <a:custGeom>
              <a:avLst/>
              <a:gdLst/>
              <a:ahLst/>
              <a:cxnLst/>
              <a:rect r="r" b="b" t="t" l="l"/>
              <a:pathLst>
                <a:path h="1762479" w="1502280">
                  <a:moveTo>
                    <a:pt x="135729" y="0"/>
                  </a:moveTo>
                  <a:lnTo>
                    <a:pt x="1366551" y="0"/>
                  </a:lnTo>
                  <a:cubicBezTo>
                    <a:pt x="1402548" y="0"/>
                    <a:pt x="1437072" y="14300"/>
                    <a:pt x="1462526" y="39754"/>
                  </a:cubicBezTo>
                  <a:cubicBezTo>
                    <a:pt x="1487980" y="65208"/>
                    <a:pt x="1502280" y="99731"/>
                    <a:pt x="1502280" y="135729"/>
                  </a:cubicBezTo>
                  <a:lnTo>
                    <a:pt x="1502280" y="1626751"/>
                  </a:lnTo>
                  <a:cubicBezTo>
                    <a:pt x="1502280" y="1662748"/>
                    <a:pt x="1487980" y="1697271"/>
                    <a:pt x="1462526" y="1722725"/>
                  </a:cubicBezTo>
                  <a:cubicBezTo>
                    <a:pt x="1437072" y="1748180"/>
                    <a:pt x="1402548" y="1762479"/>
                    <a:pt x="1366551" y="1762479"/>
                  </a:cubicBezTo>
                  <a:lnTo>
                    <a:pt x="135729" y="1762479"/>
                  </a:lnTo>
                  <a:cubicBezTo>
                    <a:pt x="99731" y="1762479"/>
                    <a:pt x="65208" y="1748180"/>
                    <a:pt x="39754" y="1722725"/>
                  </a:cubicBezTo>
                  <a:cubicBezTo>
                    <a:pt x="14300" y="1697271"/>
                    <a:pt x="0" y="1662748"/>
                    <a:pt x="0" y="1626751"/>
                  </a:cubicBezTo>
                  <a:lnTo>
                    <a:pt x="0" y="135729"/>
                  </a:lnTo>
                  <a:cubicBezTo>
                    <a:pt x="0" y="99731"/>
                    <a:pt x="14300" y="65208"/>
                    <a:pt x="39754" y="39754"/>
                  </a:cubicBezTo>
                  <a:cubicBezTo>
                    <a:pt x="65208" y="14300"/>
                    <a:pt x="99731" y="0"/>
                    <a:pt x="135729" y="0"/>
                  </a:cubicBezTo>
                  <a:close/>
                </a:path>
              </a:pathLst>
            </a:custGeom>
            <a:solidFill>
              <a:srgbClr val="127D36"/>
            </a:solidFill>
          </p:spPr>
        </p:sp>
        <p:sp>
          <p:nvSpPr>
            <p:cNvPr name="TextBox 18" id="18"/>
            <p:cNvSpPr txBox="true"/>
            <p:nvPr/>
          </p:nvSpPr>
          <p:spPr>
            <a:xfrm>
              <a:off x="0" y="-38100"/>
              <a:ext cx="1502280" cy="1800579"/>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5409447" y="2566386"/>
            <a:ext cx="4609379" cy="6691914"/>
            <a:chOff x="0" y="0"/>
            <a:chExt cx="1213993" cy="1762479"/>
          </a:xfrm>
        </p:grpSpPr>
        <p:sp>
          <p:nvSpPr>
            <p:cNvPr name="Freeform 20" id="20"/>
            <p:cNvSpPr/>
            <p:nvPr/>
          </p:nvSpPr>
          <p:spPr>
            <a:xfrm flipH="false" flipV="false" rot="0">
              <a:off x="0" y="0"/>
              <a:ext cx="1213993" cy="1762479"/>
            </a:xfrm>
            <a:custGeom>
              <a:avLst/>
              <a:gdLst/>
              <a:ahLst/>
              <a:cxnLst/>
              <a:rect r="r" b="b" t="t" l="l"/>
              <a:pathLst>
                <a:path h="1762479" w="1213993">
                  <a:moveTo>
                    <a:pt x="167960" y="0"/>
                  </a:moveTo>
                  <a:lnTo>
                    <a:pt x="1046033" y="0"/>
                  </a:lnTo>
                  <a:cubicBezTo>
                    <a:pt x="1090578" y="0"/>
                    <a:pt x="1133300" y="17696"/>
                    <a:pt x="1164798" y="49194"/>
                  </a:cubicBezTo>
                  <a:cubicBezTo>
                    <a:pt x="1196297" y="80693"/>
                    <a:pt x="1213993" y="123414"/>
                    <a:pt x="1213993" y="167960"/>
                  </a:cubicBezTo>
                  <a:lnTo>
                    <a:pt x="1213993" y="1594519"/>
                  </a:lnTo>
                  <a:cubicBezTo>
                    <a:pt x="1213993" y="1639065"/>
                    <a:pt x="1196297" y="1681786"/>
                    <a:pt x="1164798" y="1713285"/>
                  </a:cubicBezTo>
                  <a:cubicBezTo>
                    <a:pt x="1133300" y="1744784"/>
                    <a:pt x="1090578" y="1762479"/>
                    <a:pt x="1046033" y="1762479"/>
                  </a:cubicBezTo>
                  <a:lnTo>
                    <a:pt x="167960" y="1762479"/>
                  </a:lnTo>
                  <a:cubicBezTo>
                    <a:pt x="123414" y="1762479"/>
                    <a:pt x="80693" y="1744784"/>
                    <a:pt x="49194" y="1713285"/>
                  </a:cubicBezTo>
                  <a:cubicBezTo>
                    <a:pt x="17696" y="1681786"/>
                    <a:pt x="0" y="1639065"/>
                    <a:pt x="0" y="1594519"/>
                  </a:cubicBezTo>
                  <a:lnTo>
                    <a:pt x="0" y="167960"/>
                  </a:lnTo>
                  <a:cubicBezTo>
                    <a:pt x="0" y="123414"/>
                    <a:pt x="17696" y="80693"/>
                    <a:pt x="49194" y="49194"/>
                  </a:cubicBezTo>
                  <a:cubicBezTo>
                    <a:pt x="80693" y="17696"/>
                    <a:pt x="123414" y="0"/>
                    <a:pt x="167960" y="0"/>
                  </a:cubicBezTo>
                  <a:close/>
                </a:path>
              </a:pathLst>
            </a:custGeom>
            <a:solidFill>
              <a:srgbClr val="9CEDB8"/>
            </a:solidFill>
          </p:spPr>
        </p:sp>
        <p:sp>
          <p:nvSpPr>
            <p:cNvPr name="TextBox 21" id="21"/>
            <p:cNvSpPr txBox="true"/>
            <p:nvPr/>
          </p:nvSpPr>
          <p:spPr>
            <a:xfrm>
              <a:off x="0" y="-38100"/>
              <a:ext cx="1213993" cy="1800579"/>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8161925" y="3185162"/>
            <a:ext cx="723456" cy="72345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8161925" y="3267934"/>
            <a:ext cx="723456" cy="519811"/>
          </a:xfrm>
          <a:prstGeom prst="rect">
            <a:avLst/>
          </a:prstGeom>
        </p:spPr>
        <p:txBody>
          <a:bodyPr anchor="t" rtlCol="false" tIns="0" lIns="0" bIns="0" rIns="0">
            <a:spAutoFit/>
          </a:bodyPr>
          <a:lstStyle/>
          <a:p>
            <a:pPr algn="ctr">
              <a:lnSpc>
                <a:spcPts val="3871"/>
              </a:lnSpc>
            </a:pPr>
            <a:r>
              <a:rPr lang="en-US" sz="3199" b="true">
                <a:solidFill>
                  <a:srgbClr val="202121"/>
                </a:solidFill>
                <a:latin typeface="Telegraf Bold"/>
                <a:ea typeface="Telegraf Bold"/>
                <a:cs typeface="Telegraf Bold"/>
                <a:sym typeface="Telegraf Bold"/>
              </a:rPr>
              <a:t>1</a:t>
            </a:r>
          </a:p>
        </p:txBody>
      </p:sp>
      <p:sp>
        <p:nvSpPr>
          <p:cNvPr name="TextBox 26" id="26"/>
          <p:cNvSpPr txBox="true"/>
          <p:nvPr/>
        </p:nvSpPr>
        <p:spPr>
          <a:xfrm rot="0">
            <a:off x="7477289" y="6935739"/>
            <a:ext cx="2092728" cy="1445768"/>
          </a:xfrm>
          <a:prstGeom prst="rect">
            <a:avLst/>
          </a:prstGeom>
        </p:spPr>
        <p:txBody>
          <a:bodyPr anchor="t" rtlCol="false" tIns="0" lIns="0" bIns="0" rIns="0">
            <a:spAutoFit/>
          </a:bodyPr>
          <a:lstStyle/>
          <a:p>
            <a:pPr algn="ctr">
              <a:lnSpc>
                <a:spcPts val="1935"/>
              </a:lnSpc>
            </a:pPr>
            <a:r>
              <a:rPr lang="en-US" sz="1599" spc="123">
                <a:solidFill>
                  <a:srgbClr val="F9F7F4"/>
                </a:solidFill>
                <a:latin typeface="Telegraf Extra-Light"/>
                <a:ea typeface="Telegraf Extra-Light"/>
                <a:cs typeface="Telegraf Extra-Light"/>
                <a:sym typeface="Telegraf Extra-Light"/>
              </a:rPr>
              <a:t>Focuses on developing vaccines, drugs, and therapies to improve healthcare outcomes.</a:t>
            </a:r>
          </a:p>
        </p:txBody>
      </p:sp>
      <p:sp>
        <p:nvSpPr>
          <p:cNvPr name="TextBox 27" id="27"/>
          <p:cNvSpPr txBox="true"/>
          <p:nvPr/>
        </p:nvSpPr>
        <p:spPr>
          <a:xfrm rot="0">
            <a:off x="7378822" y="6099247"/>
            <a:ext cx="2289663" cy="645160"/>
          </a:xfrm>
          <a:prstGeom prst="rect">
            <a:avLst/>
          </a:prstGeom>
        </p:spPr>
        <p:txBody>
          <a:bodyPr anchor="t" rtlCol="false" tIns="0" lIns="0" bIns="0" rIns="0">
            <a:spAutoFit/>
          </a:bodyPr>
          <a:lstStyle/>
          <a:p>
            <a:pPr algn="ctr">
              <a:lnSpc>
                <a:spcPts val="2420"/>
              </a:lnSpc>
            </a:pPr>
            <a:r>
              <a:rPr lang="en-US" sz="2000" b="true">
                <a:solidFill>
                  <a:srgbClr val="F9F7F4"/>
                </a:solidFill>
                <a:latin typeface="Telegraf Medium"/>
                <a:ea typeface="Telegraf Medium"/>
                <a:cs typeface="Telegraf Medium"/>
                <a:sym typeface="Telegraf Medium"/>
              </a:rPr>
              <a:t>M</a:t>
            </a:r>
            <a:r>
              <a:rPr lang="en-US" b="true" sz="2000">
                <a:solidFill>
                  <a:srgbClr val="F9F7F4"/>
                </a:solidFill>
                <a:latin typeface="Telegraf Medium"/>
                <a:ea typeface="Telegraf Medium"/>
                <a:cs typeface="Telegraf Medium"/>
                <a:sym typeface="Telegraf Medium"/>
              </a:rPr>
              <a:t>edical Biotechnology</a:t>
            </a:r>
          </a:p>
        </p:txBody>
      </p:sp>
      <p:grpSp>
        <p:nvGrpSpPr>
          <p:cNvPr name="Group 28" id="28"/>
          <p:cNvGrpSpPr/>
          <p:nvPr/>
        </p:nvGrpSpPr>
        <p:grpSpPr>
          <a:xfrm rot="0">
            <a:off x="10895590" y="3185162"/>
            <a:ext cx="723456" cy="72345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10895590" y="3267934"/>
            <a:ext cx="723456" cy="519811"/>
          </a:xfrm>
          <a:prstGeom prst="rect">
            <a:avLst/>
          </a:prstGeom>
        </p:spPr>
        <p:txBody>
          <a:bodyPr anchor="t" rtlCol="false" tIns="0" lIns="0" bIns="0" rIns="0">
            <a:spAutoFit/>
          </a:bodyPr>
          <a:lstStyle/>
          <a:p>
            <a:pPr algn="ctr">
              <a:lnSpc>
                <a:spcPts val="3871"/>
              </a:lnSpc>
            </a:pPr>
            <a:r>
              <a:rPr lang="en-US" sz="3199" b="true">
                <a:solidFill>
                  <a:srgbClr val="202121"/>
                </a:solidFill>
                <a:latin typeface="Telegraf Bold"/>
                <a:ea typeface="Telegraf Bold"/>
                <a:cs typeface="Telegraf Bold"/>
                <a:sym typeface="Telegraf Bold"/>
              </a:rPr>
              <a:t>2</a:t>
            </a:r>
          </a:p>
        </p:txBody>
      </p:sp>
      <p:sp>
        <p:nvSpPr>
          <p:cNvPr name="TextBox 32" id="32"/>
          <p:cNvSpPr txBox="true"/>
          <p:nvPr/>
        </p:nvSpPr>
        <p:spPr>
          <a:xfrm rot="0">
            <a:off x="10210953" y="6935739"/>
            <a:ext cx="2092728" cy="1445768"/>
          </a:xfrm>
          <a:prstGeom prst="rect">
            <a:avLst/>
          </a:prstGeom>
        </p:spPr>
        <p:txBody>
          <a:bodyPr anchor="t" rtlCol="false" tIns="0" lIns="0" bIns="0" rIns="0">
            <a:spAutoFit/>
          </a:bodyPr>
          <a:lstStyle/>
          <a:p>
            <a:pPr algn="ctr">
              <a:lnSpc>
                <a:spcPts val="1935"/>
              </a:lnSpc>
            </a:pPr>
            <a:r>
              <a:rPr lang="en-US" sz="1599" spc="123">
                <a:solidFill>
                  <a:srgbClr val="F9F7F4"/>
                </a:solidFill>
                <a:latin typeface="Telegraf Extra-Light"/>
                <a:ea typeface="Telegraf Extra-Light"/>
                <a:cs typeface="Telegraf Extra-Light"/>
                <a:sym typeface="Telegraf Extra-Light"/>
              </a:rPr>
              <a:t>Enhances crop productivity, pest resistance, and food quality using biological techniques.</a:t>
            </a:r>
          </a:p>
        </p:txBody>
      </p:sp>
      <p:sp>
        <p:nvSpPr>
          <p:cNvPr name="TextBox 33" id="33"/>
          <p:cNvSpPr txBox="true"/>
          <p:nvPr/>
        </p:nvSpPr>
        <p:spPr>
          <a:xfrm rot="0">
            <a:off x="10112486" y="6099247"/>
            <a:ext cx="2289663" cy="645160"/>
          </a:xfrm>
          <a:prstGeom prst="rect">
            <a:avLst/>
          </a:prstGeom>
        </p:spPr>
        <p:txBody>
          <a:bodyPr anchor="t" rtlCol="false" tIns="0" lIns="0" bIns="0" rIns="0">
            <a:spAutoFit/>
          </a:bodyPr>
          <a:lstStyle/>
          <a:p>
            <a:pPr algn="ctr">
              <a:lnSpc>
                <a:spcPts val="2420"/>
              </a:lnSpc>
            </a:pPr>
            <a:r>
              <a:rPr lang="en-US" sz="2000" b="true">
                <a:solidFill>
                  <a:srgbClr val="F9F7F4"/>
                </a:solidFill>
                <a:latin typeface="Telegraf Medium"/>
                <a:ea typeface="Telegraf Medium"/>
                <a:cs typeface="Telegraf Medium"/>
                <a:sym typeface="Telegraf Medium"/>
              </a:rPr>
              <a:t>Agricultural </a:t>
            </a:r>
            <a:r>
              <a:rPr lang="en-US" b="true" sz="2000">
                <a:solidFill>
                  <a:srgbClr val="F9F7F4"/>
                </a:solidFill>
                <a:latin typeface="Telegraf Medium"/>
                <a:ea typeface="Telegraf Medium"/>
                <a:cs typeface="Telegraf Medium"/>
                <a:sym typeface="Telegraf Medium"/>
              </a:rPr>
              <a:t>Biotechnology</a:t>
            </a:r>
          </a:p>
        </p:txBody>
      </p:sp>
      <p:grpSp>
        <p:nvGrpSpPr>
          <p:cNvPr name="Group 34" id="34"/>
          <p:cNvGrpSpPr/>
          <p:nvPr/>
        </p:nvGrpSpPr>
        <p:grpSpPr>
          <a:xfrm rot="0">
            <a:off x="13629254" y="3185162"/>
            <a:ext cx="723456" cy="72345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13629254" y="3267934"/>
            <a:ext cx="723456" cy="519811"/>
          </a:xfrm>
          <a:prstGeom prst="rect">
            <a:avLst/>
          </a:prstGeom>
        </p:spPr>
        <p:txBody>
          <a:bodyPr anchor="t" rtlCol="false" tIns="0" lIns="0" bIns="0" rIns="0">
            <a:spAutoFit/>
          </a:bodyPr>
          <a:lstStyle/>
          <a:p>
            <a:pPr algn="ctr">
              <a:lnSpc>
                <a:spcPts val="3871"/>
              </a:lnSpc>
            </a:pPr>
            <a:r>
              <a:rPr lang="en-US" sz="3199" b="true">
                <a:solidFill>
                  <a:srgbClr val="202121"/>
                </a:solidFill>
                <a:latin typeface="Telegraf Bold"/>
                <a:ea typeface="Telegraf Bold"/>
                <a:cs typeface="Telegraf Bold"/>
                <a:sym typeface="Telegraf Bold"/>
              </a:rPr>
              <a:t>3</a:t>
            </a:r>
          </a:p>
        </p:txBody>
      </p:sp>
      <p:sp>
        <p:nvSpPr>
          <p:cNvPr name="TextBox 38" id="38"/>
          <p:cNvSpPr txBox="true"/>
          <p:nvPr/>
        </p:nvSpPr>
        <p:spPr>
          <a:xfrm rot="0">
            <a:off x="12944618" y="6935739"/>
            <a:ext cx="2092728" cy="1445768"/>
          </a:xfrm>
          <a:prstGeom prst="rect">
            <a:avLst/>
          </a:prstGeom>
        </p:spPr>
        <p:txBody>
          <a:bodyPr anchor="t" rtlCol="false" tIns="0" lIns="0" bIns="0" rIns="0">
            <a:spAutoFit/>
          </a:bodyPr>
          <a:lstStyle/>
          <a:p>
            <a:pPr algn="ctr">
              <a:lnSpc>
                <a:spcPts val="1935"/>
              </a:lnSpc>
            </a:pPr>
            <a:r>
              <a:rPr lang="en-US" sz="1599" spc="123">
                <a:solidFill>
                  <a:srgbClr val="F9F7F4"/>
                </a:solidFill>
                <a:latin typeface="Telegraf Extra-Light"/>
                <a:ea typeface="Telegraf Extra-Light"/>
                <a:cs typeface="Telegraf Extra-Light"/>
                <a:sym typeface="Telegraf Extra-Light"/>
              </a:rPr>
              <a:t>Uses microorganisms and enzymes for sustainable industrial production.</a:t>
            </a:r>
          </a:p>
        </p:txBody>
      </p:sp>
      <p:sp>
        <p:nvSpPr>
          <p:cNvPr name="TextBox 39" id="39"/>
          <p:cNvSpPr txBox="true"/>
          <p:nvPr/>
        </p:nvSpPr>
        <p:spPr>
          <a:xfrm rot="0">
            <a:off x="12846151" y="6099247"/>
            <a:ext cx="2289663" cy="645160"/>
          </a:xfrm>
          <a:prstGeom prst="rect">
            <a:avLst/>
          </a:prstGeom>
        </p:spPr>
        <p:txBody>
          <a:bodyPr anchor="t" rtlCol="false" tIns="0" lIns="0" bIns="0" rIns="0">
            <a:spAutoFit/>
          </a:bodyPr>
          <a:lstStyle/>
          <a:p>
            <a:pPr algn="ctr">
              <a:lnSpc>
                <a:spcPts val="2420"/>
              </a:lnSpc>
            </a:pPr>
            <a:r>
              <a:rPr lang="en-US" sz="2000" b="true">
                <a:solidFill>
                  <a:srgbClr val="F9F7F4"/>
                </a:solidFill>
                <a:latin typeface="Telegraf Medium"/>
                <a:ea typeface="Telegraf Medium"/>
                <a:cs typeface="Telegraf Medium"/>
                <a:sym typeface="Telegraf Medium"/>
              </a:rPr>
              <a:t>Industrial </a:t>
            </a:r>
            <a:r>
              <a:rPr lang="en-US" b="true" sz="2000">
                <a:solidFill>
                  <a:srgbClr val="F9F7F4"/>
                </a:solidFill>
                <a:latin typeface="Telegraf Medium"/>
                <a:ea typeface="Telegraf Medium"/>
                <a:cs typeface="Telegraf Medium"/>
                <a:sym typeface="Telegraf Medium"/>
              </a:rPr>
              <a:t>Biotechnology</a:t>
            </a:r>
          </a:p>
        </p:txBody>
      </p:sp>
      <p:grpSp>
        <p:nvGrpSpPr>
          <p:cNvPr name="Group 40" id="40"/>
          <p:cNvGrpSpPr/>
          <p:nvPr/>
        </p:nvGrpSpPr>
        <p:grpSpPr>
          <a:xfrm rot="0">
            <a:off x="16362919" y="3185162"/>
            <a:ext cx="723456" cy="723456"/>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3330"/>
            </a:soli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16362919" y="3267934"/>
            <a:ext cx="723456" cy="519811"/>
          </a:xfrm>
          <a:prstGeom prst="rect">
            <a:avLst/>
          </a:prstGeom>
        </p:spPr>
        <p:txBody>
          <a:bodyPr anchor="t" rtlCol="false" tIns="0" lIns="0" bIns="0" rIns="0">
            <a:spAutoFit/>
          </a:bodyPr>
          <a:lstStyle/>
          <a:p>
            <a:pPr algn="ctr">
              <a:lnSpc>
                <a:spcPts val="3871"/>
              </a:lnSpc>
            </a:pPr>
            <a:r>
              <a:rPr lang="en-US" b="true" sz="3199">
                <a:solidFill>
                  <a:srgbClr val="F9F7F4"/>
                </a:solidFill>
                <a:latin typeface="Telegraf Bold"/>
                <a:ea typeface="Telegraf Bold"/>
                <a:cs typeface="Telegraf Bold"/>
                <a:sym typeface="Telegraf Bold"/>
              </a:rPr>
              <a:t>4</a:t>
            </a:r>
          </a:p>
        </p:txBody>
      </p:sp>
      <p:sp>
        <p:nvSpPr>
          <p:cNvPr name="TextBox 44" id="44"/>
          <p:cNvSpPr txBox="true"/>
          <p:nvPr/>
        </p:nvSpPr>
        <p:spPr>
          <a:xfrm rot="0">
            <a:off x="15769405" y="6935739"/>
            <a:ext cx="1910484" cy="1207643"/>
          </a:xfrm>
          <a:prstGeom prst="rect">
            <a:avLst/>
          </a:prstGeom>
        </p:spPr>
        <p:txBody>
          <a:bodyPr anchor="t" rtlCol="false" tIns="0" lIns="0" bIns="0" rIns="0">
            <a:spAutoFit/>
          </a:bodyPr>
          <a:lstStyle/>
          <a:p>
            <a:pPr algn="ctr">
              <a:lnSpc>
                <a:spcPts val="1935"/>
              </a:lnSpc>
            </a:pPr>
            <a:r>
              <a:rPr lang="en-US" sz="1599" spc="123">
                <a:solidFill>
                  <a:srgbClr val="203330"/>
                </a:solidFill>
                <a:latin typeface="Telegraf Extra-Light"/>
                <a:ea typeface="Telegraf Extra-Light"/>
                <a:cs typeface="Telegraf Extra-Light"/>
                <a:sym typeface="Telegraf Extra-Light"/>
              </a:rPr>
              <a:t>Applies biological processes to manage waste and protect ecosystems.</a:t>
            </a:r>
          </a:p>
        </p:txBody>
      </p:sp>
      <p:sp>
        <p:nvSpPr>
          <p:cNvPr name="TextBox 45" id="45"/>
          <p:cNvSpPr txBox="true"/>
          <p:nvPr/>
        </p:nvSpPr>
        <p:spPr>
          <a:xfrm rot="0">
            <a:off x="15579815" y="6099247"/>
            <a:ext cx="2289663" cy="645160"/>
          </a:xfrm>
          <a:prstGeom prst="rect">
            <a:avLst/>
          </a:prstGeom>
        </p:spPr>
        <p:txBody>
          <a:bodyPr anchor="t" rtlCol="false" tIns="0" lIns="0" bIns="0" rIns="0">
            <a:spAutoFit/>
          </a:bodyPr>
          <a:lstStyle/>
          <a:p>
            <a:pPr algn="ctr">
              <a:lnSpc>
                <a:spcPts val="2420"/>
              </a:lnSpc>
            </a:pPr>
            <a:r>
              <a:rPr lang="en-US" b="true" sz="2000">
                <a:solidFill>
                  <a:srgbClr val="203330"/>
                </a:solidFill>
                <a:latin typeface="Telegraf Medium"/>
                <a:ea typeface="Telegraf Medium"/>
                <a:cs typeface="Telegraf Medium"/>
                <a:sym typeface="Telegraf Medium"/>
              </a:rPr>
              <a:t>Enviromental Biotechnology</a:t>
            </a:r>
          </a:p>
        </p:txBody>
      </p:sp>
      <p:sp>
        <p:nvSpPr>
          <p:cNvPr name="TextBox 46" id="46"/>
          <p:cNvSpPr txBox="true"/>
          <p:nvPr/>
        </p:nvSpPr>
        <p:spPr>
          <a:xfrm rot="0">
            <a:off x="1388084" y="3204212"/>
            <a:ext cx="5507226" cy="1941957"/>
          </a:xfrm>
          <a:prstGeom prst="rect">
            <a:avLst/>
          </a:prstGeom>
        </p:spPr>
        <p:txBody>
          <a:bodyPr anchor="t" rtlCol="false" tIns="0" lIns="0" bIns="0" rIns="0">
            <a:spAutoFit/>
          </a:bodyPr>
          <a:lstStyle/>
          <a:p>
            <a:pPr algn="l">
              <a:lnSpc>
                <a:spcPts val="4944"/>
              </a:lnSpc>
            </a:pPr>
            <a:r>
              <a:rPr lang="en-US" b="true" sz="4800" spc="72">
                <a:solidFill>
                  <a:srgbClr val="149941"/>
                </a:solidFill>
                <a:latin typeface="Telegraf Bold"/>
                <a:ea typeface="Telegraf Bold"/>
                <a:cs typeface="Telegraf Bold"/>
                <a:sym typeface="Telegraf Bold"/>
              </a:rPr>
              <a:t>Different Fields of Biotechnology Applications</a:t>
            </a:r>
          </a:p>
        </p:txBody>
      </p:sp>
      <p:sp>
        <p:nvSpPr>
          <p:cNvPr name="TextBox 47" id="47"/>
          <p:cNvSpPr txBox="true"/>
          <p:nvPr/>
        </p:nvSpPr>
        <p:spPr>
          <a:xfrm rot="0">
            <a:off x="1388084" y="5439666"/>
            <a:ext cx="5102782" cy="1864360"/>
          </a:xfrm>
          <a:prstGeom prst="rect">
            <a:avLst/>
          </a:prstGeom>
        </p:spPr>
        <p:txBody>
          <a:bodyPr anchor="t" rtlCol="false" tIns="0" lIns="0" bIns="0" rIns="0">
            <a:spAutoFit/>
          </a:bodyPr>
          <a:lstStyle/>
          <a:p>
            <a:pPr algn="l">
              <a:lnSpc>
                <a:spcPts val="2420"/>
              </a:lnSpc>
            </a:pPr>
            <a:r>
              <a:rPr lang="en-US" sz="2000" spc="154">
                <a:solidFill>
                  <a:srgbClr val="737373"/>
                </a:solidFill>
                <a:latin typeface="Telegraf"/>
                <a:ea typeface="Telegraf"/>
                <a:cs typeface="Telegraf"/>
                <a:sym typeface="Telegraf"/>
              </a:rPr>
              <a:t>Biotechnology is divided into several categories based on application areas. Each type focuses on solving specific challenges using biological systems and technological innovation.</a:t>
            </a:r>
          </a:p>
        </p:txBody>
      </p:sp>
      <p:sp>
        <p:nvSpPr>
          <p:cNvPr name="TextBox 48" id="48"/>
          <p:cNvSpPr txBox="true"/>
          <p:nvPr/>
        </p:nvSpPr>
        <p:spPr>
          <a:xfrm rot="0">
            <a:off x="1388084" y="7599301"/>
            <a:ext cx="5102782" cy="949960"/>
          </a:xfrm>
          <a:prstGeom prst="rect">
            <a:avLst/>
          </a:prstGeom>
        </p:spPr>
        <p:txBody>
          <a:bodyPr anchor="t" rtlCol="false" tIns="0" lIns="0" bIns="0" rIns="0">
            <a:spAutoFit/>
          </a:bodyPr>
          <a:lstStyle/>
          <a:p>
            <a:pPr algn="l">
              <a:lnSpc>
                <a:spcPts val="2420"/>
              </a:lnSpc>
            </a:pPr>
            <a:r>
              <a:rPr lang="en-US" sz="2000" spc="154">
                <a:solidFill>
                  <a:srgbClr val="737373"/>
                </a:solidFill>
                <a:latin typeface="Telegraf"/>
                <a:ea typeface="Telegraf"/>
                <a:cs typeface="Telegraf"/>
                <a:sym typeface="Telegraf"/>
              </a:rPr>
              <a:t>These classifications help organize research and development across industries.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7F4"/>
        </a:solidFill>
      </p:bgPr>
    </p:bg>
    <p:spTree>
      <p:nvGrpSpPr>
        <p:cNvPr id="1" name=""/>
        <p:cNvGrpSpPr/>
        <p:nvPr/>
      </p:nvGrpSpPr>
      <p:grpSpPr>
        <a:xfrm>
          <a:off x="0" y="0"/>
          <a:ext cx="0" cy="0"/>
          <a:chOff x="0" y="0"/>
          <a:chExt cx="0" cy="0"/>
        </a:xfrm>
      </p:grpSpPr>
      <p:sp>
        <p:nvSpPr>
          <p:cNvPr name="Freeform 2" id="2"/>
          <p:cNvSpPr/>
          <p:nvPr/>
        </p:nvSpPr>
        <p:spPr>
          <a:xfrm flipH="false" flipV="false" rot="0">
            <a:off x="575813" y="514350"/>
            <a:ext cx="10765465" cy="9258300"/>
          </a:xfrm>
          <a:custGeom>
            <a:avLst/>
            <a:gdLst/>
            <a:ahLst/>
            <a:cxnLst/>
            <a:rect r="r" b="b" t="t" l="l"/>
            <a:pathLst>
              <a:path h="9258300" w="10765465">
                <a:moveTo>
                  <a:pt x="0" y="0"/>
                </a:moveTo>
                <a:lnTo>
                  <a:pt x="10765465" y="0"/>
                </a:lnTo>
                <a:lnTo>
                  <a:pt x="10765465" y="9258300"/>
                </a:lnTo>
                <a:lnTo>
                  <a:pt x="0" y="9258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61803" y="2841745"/>
            <a:ext cx="9147601" cy="1889887"/>
          </a:xfrm>
          <a:prstGeom prst="rect">
            <a:avLst/>
          </a:prstGeom>
        </p:spPr>
        <p:txBody>
          <a:bodyPr anchor="t" rtlCol="false" tIns="0" lIns="0" bIns="0" rIns="0">
            <a:spAutoFit/>
          </a:bodyPr>
          <a:lstStyle/>
          <a:p>
            <a:pPr algn="l">
              <a:lnSpc>
                <a:spcPts val="7004"/>
              </a:lnSpc>
            </a:pPr>
            <a:r>
              <a:rPr lang="en-US" b="true" sz="6800" spc="102">
                <a:solidFill>
                  <a:srgbClr val="9CEDB8"/>
                </a:solidFill>
                <a:latin typeface="Telegraf Bold"/>
                <a:ea typeface="Telegraf Bold"/>
                <a:cs typeface="Telegraf Bold"/>
                <a:sym typeface="Telegraf Bold"/>
              </a:rPr>
              <a:t>Benefits of Biotechnology</a:t>
            </a:r>
          </a:p>
        </p:txBody>
      </p:sp>
      <p:sp>
        <p:nvSpPr>
          <p:cNvPr name="TextBox 4" id="4"/>
          <p:cNvSpPr txBox="true"/>
          <p:nvPr/>
        </p:nvSpPr>
        <p:spPr>
          <a:xfrm rot="0">
            <a:off x="1561803" y="4693532"/>
            <a:ext cx="6595254" cy="463169"/>
          </a:xfrm>
          <a:prstGeom prst="rect">
            <a:avLst/>
          </a:prstGeom>
        </p:spPr>
        <p:txBody>
          <a:bodyPr anchor="t" rtlCol="false" tIns="0" lIns="0" bIns="0" rIns="0">
            <a:spAutoFit/>
          </a:bodyPr>
          <a:lstStyle/>
          <a:p>
            <a:pPr algn="l">
              <a:lnSpc>
                <a:spcPts val="3387"/>
              </a:lnSpc>
            </a:pPr>
            <a:r>
              <a:rPr lang="en-US" sz="2799">
                <a:solidFill>
                  <a:srgbClr val="149941"/>
                </a:solidFill>
                <a:latin typeface="Telegraf"/>
                <a:ea typeface="Telegraf"/>
                <a:cs typeface="Telegraf"/>
                <a:sym typeface="Telegraf"/>
              </a:rPr>
              <a:t>Positive Impact Across Industries</a:t>
            </a:r>
          </a:p>
        </p:txBody>
      </p:sp>
      <p:sp>
        <p:nvSpPr>
          <p:cNvPr name="TextBox 5" id="5"/>
          <p:cNvSpPr txBox="true"/>
          <p:nvPr/>
        </p:nvSpPr>
        <p:spPr>
          <a:xfrm rot="0">
            <a:off x="1561803" y="5438427"/>
            <a:ext cx="7132888" cy="949960"/>
          </a:xfrm>
          <a:prstGeom prst="rect">
            <a:avLst/>
          </a:prstGeom>
        </p:spPr>
        <p:txBody>
          <a:bodyPr anchor="t" rtlCol="false" tIns="0" lIns="0" bIns="0" rIns="0">
            <a:spAutoFit/>
          </a:bodyPr>
          <a:lstStyle/>
          <a:p>
            <a:pPr algn="l">
              <a:lnSpc>
                <a:spcPts val="2420"/>
              </a:lnSpc>
            </a:pPr>
            <a:r>
              <a:rPr lang="en-US" sz="2000" spc="154">
                <a:solidFill>
                  <a:srgbClr val="F9F7F4"/>
                </a:solidFill>
                <a:latin typeface="Telegraf"/>
                <a:ea typeface="Telegraf"/>
                <a:cs typeface="Telegraf"/>
                <a:sym typeface="Telegraf"/>
              </a:rPr>
              <a:t>Biotechnology provides solutions to global challenges by improving healthcare, food production, and sustainability.</a:t>
            </a:r>
          </a:p>
        </p:txBody>
      </p:sp>
      <p:grpSp>
        <p:nvGrpSpPr>
          <p:cNvPr name="Group 6" id="6"/>
          <p:cNvGrpSpPr/>
          <p:nvPr/>
        </p:nvGrpSpPr>
        <p:grpSpPr>
          <a:xfrm rot="0">
            <a:off x="1649687" y="7010808"/>
            <a:ext cx="547688" cy="547918"/>
            <a:chOff x="0" y="0"/>
            <a:chExt cx="615325" cy="615584"/>
          </a:xfrm>
        </p:grpSpPr>
        <p:sp>
          <p:nvSpPr>
            <p:cNvPr name="Freeform 7" id="7"/>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8" id="8"/>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561803" y="7067216"/>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1</a:t>
            </a:r>
          </a:p>
        </p:txBody>
      </p:sp>
      <p:sp>
        <p:nvSpPr>
          <p:cNvPr name="TextBox 10" id="10"/>
          <p:cNvSpPr txBox="true"/>
          <p:nvPr/>
        </p:nvSpPr>
        <p:spPr>
          <a:xfrm rot="0">
            <a:off x="2362337" y="7095537"/>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Enviromental Biotechnology</a:t>
            </a:r>
          </a:p>
        </p:txBody>
      </p:sp>
      <p:grpSp>
        <p:nvGrpSpPr>
          <p:cNvPr name="Group 11" id="11"/>
          <p:cNvGrpSpPr/>
          <p:nvPr/>
        </p:nvGrpSpPr>
        <p:grpSpPr>
          <a:xfrm rot="0">
            <a:off x="6495675" y="7010808"/>
            <a:ext cx="547688" cy="547918"/>
            <a:chOff x="0" y="0"/>
            <a:chExt cx="615325" cy="615584"/>
          </a:xfrm>
        </p:grpSpPr>
        <p:sp>
          <p:nvSpPr>
            <p:cNvPr name="Freeform 12" id="1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13" id="1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407790" y="7067216"/>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3</a:t>
            </a:r>
          </a:p>
        </p:txBody>
      </p:sp>
      <p:sp>
        <p:nvSpPr>
          <p:cNvPr name="TextBox 15" id="15"/>
          <p:cNvSpPr txBox="true"/>
          <p:nvPr/>
        </p:nvSpPr>
        <p:spPr>
          <a:xfrm rot="0">
            <a:off x="7208325" y="7095537"/>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Environmental Protection</a:t>
            </a:r>
          </a:p>
        </p:txBody>
      </p:sp>
      <p:grpSp>
        <p:nvGrpSpPr>
          <p:cNvPr name="Group 16" id="16"/>
          <p:cNvGrpSpPr/>
          <p:nvPr/>
        </p:nvGrpSpPr>
        <p:grpSpPr>
          <a:xfrm rot="0">
            <a:off x="1649687" y="7772494"/>
            <a:ext cx="547688" cy="547918"/>
            <a:chOff x="0" y="0"/>
            <a:chExt cx="615325" cy="615584"/>
          </a:xfrm>
        </p:grpSpPr>
        <p:sp>
          <p:nvSpPr>
            <p:cNvPr name="Freeform 17" id="17"/>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18" id="18"/>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561803" y="7828902"/>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2</a:t>
            </a:r>
          </a:p>
        </p:txBody>
      </p:sp>
      <p:sp>
        <p:nvSpPr>
          <p:cNvPr name="TextBox 20" id="20"/>
          <p:cNvSpPr txBox="true"/>
          <p:nvPr/>
        </p:nvSpPr>
        <p:spPr>
          <a:xfrm rot="0">
            <a:off x="2362337" y="7857223"/>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Food Security</a:t>
            </a:r>
          </a:p>
        </p:txBody>
      </p:sp>
      <p:grpSp>
        <p:nvGrpSpPr>
          <p:cNvPr name="Group 21" id="21"/>
          <p:cNvGrpSpPr/>
          <p:nvPr/>
        </p:nvGrpSpPr>
        <p:grpSpPr>
          <a:xfrm rot="0">
            <a:off x="6495675" y="7772494"/>
            <a:ext cx="547688" cy="547918"/>
            <a:chOff x="0" y="0"/>
            <a:chExt cx="615325" cy="615584"/>
          </a:xfrm>
        </p:grpSpPr>
        <p:sp>
          <p:nvSpPr>
            <p:cNvPr name="Freeform 22" id="2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23" id="2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6407790" y="7828902"/>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4</a:t>
            </a:r>
          </a:p>
        </p:txBody>
      </p:sp>
      <p:sp>
        <p:nvSpPr>
          <p:cNvPr name="TextBox 25" id="25"/>
          <p:cNvSpPr txBox="true"/>
          <p:nvPr/>
        </p:nvSpPr>
        <p:spPr>
          <a:xfrm rot="0">
            <a:off x="7208325" y="7857223"/>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Industrial Efficiency</a:t>
            </a:r>
          </a:p>
        </p:txBody>
      </p:sp>
      <p:sp>
        <p:nvSpPr>
          <p:cNvPr name="Freeform 26" id="26"/>
          <p:cNvSpPr/>
          <p:nvPr/>
        </p:nvSpPr>
        <p:spPr>
          <a:xfrm flipH="false" flipV="false" rot="0">
            <a:off x="1561803" y="1028700"/>
            <a:ext cx="607020" cy="607020"/>
          </a:xfrm>
          <a:custGeom>
            <a:avLst/>
            <a:gdLst/>
            <a:ahLst/>
            <a:cxnLst/>
            <a:rect r="r" b="b" t="t" l="l"/>
            <a:pathLst>
              <a:path h="607020" w="607020">
                <a:moveTo>
                  <a:pt x="0" y="0"/>
                </a:moveTo>
                <a:lnTo>
                  <a:pt x="607019" y="0"/>
                </a:lnTo>
                <a:lnTo>
                  <a:pt x="607019" y="607020"/>
                </a:lnTo>
                <a:lnTo>
                  <a:pt x="0" y="6070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0">
            <a:off x="2415137" y="1081575"/>
            <a:ext cx="2845611" cy="463169"/>
          </a:xfrm>
          <a:prstGeom prst="rect">
            <a:avLst/>
          </a:prstGeom>
        </p:spPr>
        <p:txBody>
          <a:bodyPr anchor="t" rtlCol="false" tIns="0" lIns="0" bIns="0" rIns="0">
            <a:spAutoFit/>
          </a:bodyPr>
          <a:lstStyle/>
          <a:p>
            <a:pPr algn="l">
              <a:lnSpc>
                <a:spcPts val="3387"/>
              </a:lnSpc>
            </a:pPr>
            <a:r>
              <a:rPr lang="en-US" sz="2799" b="true">
                <a:solidFill>
                  <a:srgbClr val="F9F7F4"/>
                </a:solidFill>
                <a:latin typeface="Telegraf Medium"/>
                <a:ea typeface="Telegraf Medium"/>
                <a:cs typeface="Telegraf Medium"/>
                <a:sym typeface="Telegraf Medium"/>
              </a:rPr>
              <a:t>Wardiere Inc.</a:t>
            </a:r>
          </a:p>
        </p:txBody>
      </p:sp>
      <p:grpSp>
        <p:nvGrpSpPr>
          <p:cNvPr name="Group 28" id="28"/>
          <p:cNvGrpSpPr/>
          <p:nvPr/>
        </p:nvGrpSpPr>
        <p:grpSpPr>
          <a:xfrm rot="0">
            <a:off x="11474540" y="1759237"/>
            <a:ext cx="6237647" cy="8013413"/>
            <a:chOff x="0" y="0"/>
            <a:chExt cx="1376191" cy="1767973"/>
          </a:xfrm>
        </p:grpSpPr>
        <p:sp>
          <p:nvSpPr>
            <p:cNvPr name="Freeform 29" id="29"/>
            <p:cNvSpPr/>
            <p:nvPr/>
          </p:nvSpPr>
          <p:spPr>
            <a:xfrm flipH="false" flipV="false" rot="0">
              <a:off x="0" y="0"/>
              <a:ext cx="1376191" cy="1767973"/>
            </a:xfrm>
            <a:custGeom>
              <a:avLst/>
              <a:gdLst/>
              <a:ahLst/>
              <a:cxnLst/>
              <a:rect r="r" b="b" t="t" l="l"/>
              <a:pathLst>
                <a:path h="1767973" w="1376191">
                  <a:moveTo>
                    <a:pt x="124116" y="0"/>
                  </a:moveTo>
                  <a:lnTo>
                    <a:pt x="1252075" y="0"/>
                  </a:lnTo>
                  <a:cubicBezTo>
                    <a:pt x="1320623" y="0"/>
                    <a:pt x="1376191" y="55569"/>
                    <a:pt x="1376191" y="124116"/>
                  </a:cubicBezTo>
                  <a:lnTo>
                    <a:pt x="1376191" y="1643857"/>
                  </a:lnTo>
                  <a:cubicBezTo>
                    <a:pt x="1376191" y="1712404"/>
                    <a:pt x="1320623" y="1767973"/>
                    <a:pt x="1252075" y="1767973"/>
                  </a:cubicBezTo>
                  <a:lnTo>
                    <a:pt x="124116" y="1767973"/>
                  </a:lnTo>
                  <a:cubicBezTo>
                    <a:pt x="55569" y="1767973"/>
                    <a:pt x="0" y="1712404"/>
                    <a:pt x="0" y="1643857"/>
                  </a:cubicBezTo>
                  <a:lnTo>
                    <a:pt x="0" y="124116"/>
                  </a:lnTo>
                  <a:cubicBezTo>
                    <a:pt x="0" y="55569"/>
                    <a:pt x="55569" y="0"/>
                    <a:pt x="124116" y="0"/>
                  </a:cubicBezTo>
                  <a:close/>
                </a:path>
              </a:pathLst>
            </a:custGeom>
            <a:blipFill>
              <a:blip r:embed="rId6"/>
              <a:stretch>
                <a:fillRect l="-46263" t="0" r="-46263" b="0"/>
              </a:stretch>
            </a:blipFill>
          </p:spPr>
        </p:sp>
      </p:grpSp>
      <p:grpSp>
        <p:nvGrpSpPr>
          <p:cNvPr name="Group 30" id="30"/>
          <p:cNvGrpSpPr/>
          <p:nvPr/>
        </p:nvGrpSpPr>
        <p:grpSpPr>
          <a:xfrm rot="0">
            <a:off x="8880085" y="514350"/>
            <a:ext cx="5188910" cy="4962177"/>
            <a:chOff x="0" y="0"/>
            <a:chExt cx="1144812" cy="1094789"/>
          </a:xfrm>
        </p:grpSpPr>
        <p:sp>
          <p:nvSpPr>
            <p:cNvPr name="Freeform 31" id="31"/>
            <p:cNvSpPr/>
            <p:nvPr/>
          </p:nvSpPr>
          <p:spPr>
            <a:xfrm flipH="false" flipV="false" rot="0">
              <a:off x="0" y="0"/>
              <a:ext cx="1144812" cy="1094789"/>
            </a:xfrm>
            <a:custGeom>
              <a:avLst/>
              <a:gdLst/>
              <a:ahLst/>
              <a:cxnLst/>
              <a:rect r="r" b="b" t="t" l="l"/>
              <a:pathLst>
                <a:path h="1094789" w="1144812">
                  <a:moveTo>
                    <a:pt x="149201" y="0"/>
                  </a:moveTo>
                  <a:lnTo>
                    <a:pt x="995611" y="0"/>
                  </a:lnTo>
                  <a:cubicBezTo>
                    <a:pt x="1078012" y="0"/>
                    <a:pt x="1144812" y="66800"/>
                    <a:pt x="1144812" y="149201"/>
                  </a:cubicBezTo>
                  <a:lnTo>
                    <a:pt x="1144812" y="945587"/>
                  </a:lnTo>
                  <a:cubicBezTo>
                    <a:pt x="1144812" y="1027989"/>
                    <a:pt x="1078012" y="1094789"/>
                    <a:pt x="995611" y="1094789"/>
                  </a:cubicBezTo>
                  <a:lnTo>
                    <a:pt x="149201" y="1094789"/>
                  </a:lnTo>
                  <a:cubicBezTo>
                    <a:pt x="66800" y="1094789"/>
                    <a:pt x="0" y="1027989"/>
                    <a:pt x="0" y="945587"/>
                  </a:cubicBezTo>
                  <a:lnTo>
                    <a:pt x="0" y="149201"/>
                  </a:lnTo>
                  <a:cubicBezTo>
                    <a:pt x="0" y="66800"/>
                    <a:pt x="66800" y="0"/>
                    <a:pt x="149201" y="0"/>
                  </a:cubicBezTo>
                  <a:close/>
                </a:path>
              </a:pathLst>
            </a:custGeom>
            <a:blipFill>
              <a:blip r:embed="rId7"/>
              <a:stretch>
                <a:fillRect l="-38029" t="-11096" r="-45785" b="-17163"/>
              </a:stretch>
            </a:blipFill>
            <a:ln w="133350" cap="rnd">
              <a:solidFill>
                <a:srgbClr val="F9F7F4"/>
              </a:solidFill>
              <a:prstDash val="solid"/>
              <a:round/>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9941"/>
        </a:solidFill>
      </p:bgPr>
    </p:bg>
    <p:spTree>
      <p:nvGrpSpPr>
        <p:cNvPr id="1" name=""/>
        <p:cNvGrpSpPr/>
        <p:nvPr/>
      </p:nvGrpSpPr>
      <p:grpSpPr>
        <a:xfrm>
          <a:off x="0" y="0"/>
          <a:ext cx="0" cy="0"/>
          <a:chOff x="0" y="0"/>
          <a:chExt cx="0" cy="0"/>
        </a:xfrm>
      </p:grpSpPr>
      <p:grpSp>
        <p:nvGrpSpPr>
          <p:cNvPr name="Group 2" id="2"/>
          <p:cNvGrpSpPr/>
          <p:nvPr/>
        </p:nvGrpSpPr>
        <p:grpSpPr>
          <a:xfrm rot="-10800000">
            <a:off x="-502821" y="-482543"/>
            <a:ext cx="19641746" cy="11252086"/>
            <a:chOff x="0" y="0"/>
            <a:chExt cx="26188994" cy="15002781"/>
          </a:xfrm>
        </p:grpSpPr>
        <p:sp>
          <p:nvSpPr>
            <p:cNvPr name="Freeform 3" id="3"/>
            <p:cNvSpPr/>
            <p:nvPr/>
          </p:nvSpPr>
          <p:spPr>
            <a:xfrm flipH="false" flipV="false" rot="0">
              <a:off x="0" y="0"/>
              <a:ext cx="17445094" cy="15002781"/>
            </a:xfrm>
            <a:custGeom>
              <a:avLst/>
              <a:gdLst/>
              <a:ahLst/>
              <a:cxnLst/>
              <a:rect r="r" b="b" t="t" l="l"/>
              <a:pathLst>
                <a:path h="15002781" w="17445094">
                  <a:moveTo>
                    <a:pt x="0" y="0"/>
                  </a:moveTo>
                  <a:lnTo>
                    <a:pt x="17445094" y="0"/>
                  </a:lnTo>
                  <a:lnTo>
                    <a:pt x="17445094" y="15002781"/>
                  </a:lnTo>
                  <a:lnTo>
                    <a:pt x="0" y="150027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3724788" y="2027951"/>
              <a:ext cx="12464206" cy="12974830"/>
              <a:chOff x="0" y="0"/>
              <a:chExt cx="2140839" cy="2228543"/>
            </a:xfrm>
          </p:grpSpPr>
          <p:sp>
            <p:nvSpPr>
              <p:cNvPr name="Freeform 5" id="5"/>
              <p:cNvSpPr/>
              <p:nvPr/>
            </p:nvSpPr>
            <p:spPr>
              <a:xfrm flipH="false" flipV="false" rot="0">
                <a:off x="0" y="0"/>
                <a:ext cx="2140839" cy="2228543"/>
              </a:xfrm>
              <a:custGeom>
                <a:avLst/>
                <a:gdLst/>
                <a:ahLst/>
                <a:cxnLst/>
                <a:rect r="r" b="b" t="t" l="l"/>
                <a:pathLst>
                  <a:path h="2228543" w="2140839">
                    <a:moveTo>
                      <a:pt x="82818" y="0"/>
                    </a:moveTo>
                    <a:lnTo>
                      <a:pt x="2058021" y="0"/>
                    </a:lnTo>
                    <a:cubicBezTo>
                      <a:pt x="2079986" y="0"/>
                      <a:pt x="2101051" y="8725"/>
                      <a:pt x="2116582" y="24257"/>
                    </a:cubicBezTo>
                    <a:cubicBezTo>
                      <a:pt x="2132113" y="39788"/>
                      <a:pt x="2140839" y="60853"/>
                      <a:pt x="2140839" y="82818"/>
                    </a:cubicBezTo>
                    <a:lnTo>
                      <a:pt x="2140839" y="2145725"/>
                    </a:lnTo>
                    <a:cubicBezTo>
                      <a:pt x="2140839" y="2167690"/>
                      <a:pt x="2132113" y="2188755"/>
                      <a:pt x="2116582" y="2204286"/>
                    </a:cubicBezTo>
                    <a:cubicBezTo>
                      <a:pt x="2101051" y="2219818"/>
                      <a:pt x="2079986" y="2228543"/>
                      <a:pt x="2058021" y="2228543"/>
                    </a:cubicBezTo>
                    <a:lnTo>
                      <a:pt x="82818" y="2228543"/>
                    </a:lnTo>
                    <a:cubicBezTo>
                      <a:pt x="60853" y="2228543"/>
                      <a:pt x="39788" y="2219818"/>
                      <a:pt x="24257" y="2204286"/>
                    </a:cubicBezTo>
                    <a:cubicBezTo>
                      <a:pt x="8725" y="2188755"/>
                      <a:pt x="0" y="2167690"/>
                      <a:pt x="0" y="2145725"/>
                    </a:cubicBezTo>
                    <a:lnTo>
                      <a:pt x="0" y="82818"/>
                    </a:lnTo>
                    <a:cubicBezTo>
                      <a:pt x="0" y="60853"/>
                      <a:pt x="8725" y="39788"/>
                      <a:pt x="24257" y="24257"/>
                    </a:cubicBezTo>
                    <a:cubicBezTo>
                      <a:pt x="39788" y="8725"/>
                      <a:pt x="60853" y="0"/>
                      <a:pt x="82818" y="0"/>
                    </a:cubicBezTo>
                    <a:close/>
                  </a:path>
                </a:pathLst>
              </a:custGeom>
              <a:solidFill>
                <a:srgbClr val="F9F7F4"/>
              </a:solidFill>
            </p:spPr>
          </p:sp>
          <p:sp>
            <p:nvSpPr>
              <p:cNvPr name="TextBox 6" id="6"/>
              <p:cNvSpPr txBox="true"/>
              <p:nvPr/>
            </p:nvSpPr>
            <p:spPr>
              <a:xfrm>
                <a:off x="0" y="-38100"/>
                <a:ext cx="2140839" cy="2266643"/>
              </a:xfrm>
              <a:prstGeom prst="rect">
                <a:avLst/>
              </a:prstGeom>
            </p:spPr>
            <p:txBody>
              <a:bodyPr anchor="ctr" rtlCol="false" tIns="58422" lIns="58422" bIns="58422" rIns="58422"/>
              <a:lstStyle/>
              <a:p>
                <a:pPr algn="ctr">
                  <a:lnSpc>
                    <a:spcPts val="2660"/>
                  </a:lnSpc>
                </a:pPr>
              </a:p>
            </p:txBody>
          </p:sp>
        </p:grpSp>
      </p:grpSp>
      <p:sp>
        <p:nvSpPr>
          <p:cNvPr name="TextBox 7" id="7"/>
          <p:cNvSpPr txBox="true"/>
          <p:nvPr/>
        </p:nvSpPr>
        <p:spPr>
          <a:xfrm rot="0">
            <a:off x="1028700" y="1057275"/>
            <a:ext cx="12737296" cy="1004062"/>
          </a:xfrm>
          <a:prstGeom prst="rect">
            <a:avLst/>
          </a:prstGeom>
        </p:spPr>
        <p:txBody>
          <a:bodyPr anchor="t" rtlCol="false" tIns="0" lIns="0" bIns="0" rIns="0">
            <a:spAutoFit/>
          </a:bodyPr>
          <a:lstStyle/>
          <a:p>
            <a:pPr algn="l">
              <a:lnSpc>
                <a:spcPts val="7004"/>
              </a:lnSpc>
            </a:pPr>
            <a:r>
              <a:rPr lang="en-US" b="true" sz="6800" spc="102">
                <a:solidFill>
                  <a:srgbClr val="149941"/>
                </a:solidFill>
                <a:latin typeface="Telegraf Bold"/>
                <a:ea typeface="Telegraf Bold"/>
                <a:cs typeface="Telegraf Bold"/>
                <a:sym typeface="Telegraf Bold"/>
              </a:rPr>
              <a:t>Biotechnology Challenges</a:t>
            </a:r>
          </a:p>
        </p:txBody>
      </p:sp>
      <p:sp>
        <p:nvSpPr>
          <p:cNvPr name="TextBox 8" id="8"/>
          <p:cNvSpPr txBox="true"/>
          <p:nvPr/>
        </p:nvSpPr>
        <p:spPr>
          <a:xfrm rot="0">
            <a:off x="1028700" y="2023237"/>
            <a:ext cx="10184949" cy="463169"/>
          </a:xfrm>
          <a:prstGeom prst="rect">
            <a:avLst/>
          </a:prstGeom>
        </p:spPr>
        <p:txBody>
          <a:bodyPr anchor="t" rtlCol="false" tIns="0" lIns="0" bIns="0" rIns="0">
            <a:spAutoFit/>
          </a:bodyPr>
          <a:lstStyle/>
          <a:p>
            <a:pPr algn="l">
              <a:lnSpc>
                <a:spcPts val="3387"/>
              </a:lnSpc>
            </a:pPr>
            <a:r>
              <a:rPr lang="en-US" sz="2799">
                <a:solidFill>
                  <a:srgbClr val="202121"/>
                </a:solidFill>
                <a:latin typeface="Telegraf"/>
                <a:ea typeface="Telegraf"/>
                <a:cs typeface="Telegraf"/>
                <a:sym typeface="Telegraf"/>
              </a:rPr>
              <a:t>Addres</a:t>
            </a:r>
            <a:r>
              <a:rPr lang="en-US" sz="2799">
                <a:solidFill>
                  <a:srgbClr val="202121"/>
                </a:solidFill>
                <a:latin typeface="Telegraf"/>
                <a:ea typeface="Telegraf"/>
                <a:cs typeface="Telegraf"/>
                <a:sym typeface="Telegraf"/>
              </a:rPr>
              <a:t>sing Ethical and Technical Considerations</a:t>
            </a:r>
          </a:p>
        </p:txBody>
      </p:sp>
      <p:sp>
        <p:nvSpPr>
          <p:cNvPr name="Freeform 9" id="9"/>
          <p:cNvSpPr/>
          <p:nvPr/>
        </p:nvSpPr>
        <p:spPr>
          <a:xfrm flipH="false" flipV="false" rot="0">
            <a:off x="14140174" y="9258300"/>
            <a:ext cx="607020" cy="607020"/>
          </a:xfrm>
          <a:custGeom>
            <a:avLst/>
            <a:gdLst/>
            <a:ahLst/>
            <a:cxnLst/>
            <a:rect r="r" b="b" t="t" l="l"/>
            <a:pathLst>
              <a:path h="607020" w="607020">
                <a:moveTo>
                  <a:pt x="0" y="0"/>
                </a:moveTo>
                <a:lnTo>
                  <a:pt x="607020" y="0"/>
                </a:lnTo>
                <a:lnTo>
                  <a:pt x="607020" y="607020"/>
                </a:lnTo>
                <a:lnTo>
                  <a:pt x="0" y="6070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4993508" y="9311175"/>
            <a:ext cx="2845611" cy="463169"/>
          </a:xfrm>
          <a:prstGeom prst="rect">
            <a:avLst/>
          </a:prstGeom>
        </p:spPr>
        <p:txBody>
          <a:bodyPr anchor="t" rtlCol="false" tIns="0" lIns="0" bIns="0" rIns="0">
            <a:spAutoFit/>
          </a:bodyPr>
          <a:lstStyle/>
          <a:p>
            <a:pPr algn="l">
              <a:lnSpc>
                <a:spcPts val="3387"/>
              </a:lnSpc>
            </a:pPr>
            <a:r>
              <a:rPr lang="en-US" sz="2799" b="true">
                <a:solidFill>
                  <a:srgbClr val="000000"/>
                </a:solidFill>
                <a:latin typeface="Telegraf Medium"/>
                <a:ea typeface="Telegraf Medium"/>
                <a:cs typeface="Telegraf Medium"/>
                <a:sym typeface="Telegraf Medium"/>
              </a:rPr>
              <a:t>Wardiere Inc.</a:t>
            </a:r>
          </a:p>
        </p:txBody>
      </p:sp>
      <p:grpSp>
        <p:nvGrpSpPr>
          <p:cNvPr name="Group 11" id="11"/>
          <p:cNvGrpSpPr/>
          <p:nvPr/>
        </p:nvGrpSpPr>
        <p:grpSpPr>
          <a:xfrm rot="0">
            <a:off x="1028700" y="2898507"/>
            <a:ext cx="6469748" cy="2503189"/>
            <a:chOff x="0" y="0"/>
            <a:chExt cx="1963755" cy="759790"/>
          </a:xfrm>
        </p:grpSpPr>
        <p:sp>
          <p:nvSpPr>
            <p:cNvPr name="Freeform 12" id="12"/>
            <p:cNvSpPr/>
            <p:nvPr/>
          </p:nvSpPr>
          <p:spPr>
            <a:xfrm flipH="false" flipV="false" rot="0">
              <a:off x="0" y="0"/>
              <a:ext cx="1963755" cy="759790"/>
            </a:xfrm>
            <a:custGeom>
              <a:avLst/>
              <a:gdLst/>
              <a:ahLst/>
              <a:cxnLst/>
              <a:rect r="r" b="b" t="t" l="l"/>
              <a:pathLst>
                <a:path h="759790" w="1963755">
                  <a:moveTo>
                    <a:pt x="69405" y="0"/>
                  </a:moveTo>
                  <a:lnTo>
                    <a:pt x="1894350" y="0"/>
                  </a:lnTo>
                  <a:cubicBezTo>
                    <a:pt x="1932681" y="0"/>
                    <a:pt x="1963755" y="31074"/>
                    <a:pt x="1963755" y="69405"/>
                  </a:cubicBezTo>
                  <a:lnTo>
                    <a:pt x="1963755" y="690385"/>
                  </a:lnTo>
                  <a:cubicBezTo>
                    <a:pt x="1963755" y="728716"/>
                    <a:pt x="1932681" y="759790"/>
                    <a:pt x="1894350" y="759790"/>
                  </a:cubicBezTo>
                  <a:lnTo>
                    <a:pt x="69405" y="759790"/>
                  </a:lnTo>
                  <a:cubicBezTo>
                    <a:pt x="31074" y="759790"/>
                    <a:pt x="0" y="728716"/>
                    <a:pt x="0" y="690385"/>
                  </a:cubicBezTo>
                  <a:lnTo>
                    <a:pt x="0" y="69405"/>
                  </a:lnTo>
                  <a:cubicBezTo>
                    <a:pt x="0" y="31074"/>
                    <a:pt x="31074" y="0"/>
                    <a:pt x="69405" y="0"/>
                  </a:cubicBezTo>
                  <a:close/>
                </a:path>
              </a:pathLst>
            </a:custGeom>
            <a:solidFill>
              <a:srgbClr val="B4B4B4">
                <a:alpha val="29804"/>
              </a:srgbClr>
            </a:solidFill>
          </p:spPr>
        </p:sp>
        <p:sp>
          <p:nvSpPr>
            <p:cNvPr name="TextBox 13" id="13"/>
            <p:cNvSpPr txBox="true"/>
            <p:nvPr/>
          </p:nvSpPr>
          <p:spPr>
            <a:xfrm>
              <a:off x="0" y="-38100"/>
              <a:ext cx="1963755" cy="797890"/>
            </a:xfrm>
            <a:prstGeom prst="rect">
              <a:avLst/>
            </a:prstGeom>
          </p:spPr>
          <p:txBody>
            <a:bodyPr anchor="ctr" rtlCol="false" tIns="44080" lIns="44080" bIns="44080" rIns="44080"/>
            <a:lstStyle/>
            <a:p>
              <a:pPr algn="ctr">
                <a:lnSpc>
                  <a:spcPts val="2660"/>
                </a:lnSpc>
              </a:pPr>
            </a:p>
          </p:txBody>
        </p:sp>
      </p:grpSp>
      <p:grpSp>
        <p:nvGrpSpPr>
          <p:cNvPr name="Group 14" id="14"/>
          <p:cNvGrpSpPr/>
          <p:nvPr/>
        </p:nvGrpSpPr>
        <p:grpSpPr>
          <a:xfrm rot="0">
            <a:off x="1150330" y="3000293"/>
            <a:ext cx="2798746" cy="2299617"/>
            <a:chOff x="0" y="0"/>
            <a:chExt cx="615934" cy="506088"/>
          </a:xfrm>
        </p:grpSpPr>
        <p:sp>
          <p:nvSpPr>
            <p:cNvPr name="Freeform 15" id="15"/>
            <p:cNvSpPr/>
            <p:nvPr/>
          </p:nvSpPr>
          <p:spPr>
            <a:xfrm flipH="false" flipV="false" rot="0">
              <a:off x="0" y="0"/>
              <a:ext cx="615934" cy="506088"/>
            </a:xfrm>
            <a:custGeom>
              <a:avLst/>
              <a:gdLst/>
              <a:ahLst/>
              <a:cxnLst/>
              <a:rect r="r" b="b" t="t" l="l"/>
              <a:pathLst>
                <a:path h="506088" w="615934">
                  <a:moveTo>
                    <a:pt x="143843" y="0"/>
                  </a:moveTo>
                  <a:lnTo>
                    <a:pt x="472091" y="0"/>
                  </a:lnTo>
                  <a:cubicBezTo>
                    <a:pt x="510240" y="0"/>
                    <a:pt x="546827" y="15155"/>
                    <a:pt x="573803" y="42131"/>
                  </a:cubicBezTo>
                  <a:cubicBezTo>
                    <a:pt x="600779" y="69106"/>
                    <a:pt x="615934" y="105693"/>
                    <a:pt x="615934" y="143843"/>
                  </a:cubicBezTo>
                  <a:lnTo>
                    <a:pt x="615934" y="362245"/>
                  </a:lnTo>
                  <a:cubicBezTo>
                    <a:pt x="615934" y="400395"/>
                    <a:pt x="600779" y="436982"/>
                    <a:pt x="573803" y="463957"/>
                  </a:cubicBezTo>
                  <a:cubicBezTo>
                    <a:pt x="546827" y="490933"/>
                    <a:pt x="510240" y="506088"/>
                    <a:pt x="472091" y="506088"/>
                  </a:cubicBezTo>
                  <a:lnTo>
                    <a:pt x="143843" y="506088"/>
                  </a:lnTo>
                  <a:cubicBezTo>
                    <a:pt x="105693" y="506088"/>
                    <a:pt x="69106" y="490933"/>
                    <a:pt x="42131" y="463957"/>
                  </a:cubicBezTo>
                  <a:cubicBezTo>
                    <a:pt x="15155" y="436982"/>
                    <a:pt x="0" y="400395"/>
                    <a:pt x="0" y="362245"/>
                  </a:cubicBezTo>
                  <a:lnTo>
                    <a:pt x="0" y="143843"/>
                  </a:lnTo>
                  <a:cubicBezTo>
                    <a:pt x="0" y="105693"/>
                    <a:pt x="15155" y="69106"/>
                    <a:pt x="42131" y="42131"/>
                  </a:cubicBezTo>
                  <a:cubicBezTo>
                    <a:pt x="69106" y="15155"/>
                    <a:pt x="105693" y="0"/>
                    <a:pt x="143843" y="0"/>
                  </a:cubicBezTo>
                  <a:close/>
                </a:path>
              </a:pathLst>
            </a:custGeom>
            <a:blipFill>
              <a:blip r:embed="rId6"/>
              <a:stretch>
                <a:fillRect l="0" t="-41195" r="0" b="-41195"/>
              </a:stretch>
            </a:blipFill>
            <a:ln cap="rnd">
              <a:noFill/>
              <a:prstDash val="solid"/>
              <a:round/>
            </a:ln>
          </p:spPr>
        </p:sp>
      </p:grpSp>
      <p:grpSp>
        <p:nvGrpSpPr>
          <p:cNvPr name="Group 16" id="16"/>
          <p:cNvGrpSpPr/>
          <p:nvPr/>
        </p:nvGrpSpPr>
        <p:grpSpPr>
          <a:xfrm rot="0">
            <a:off x="1307669" y="3170780"/>
            <a:ext cx="548076" cy="532435"/>
            <a:chOff x="0" y="0"/>
            <a:chExt cx="836677" cy="812800"/>
          </a:xfrm>
        </p:grpSpPr>
        <p:sp>
          <p:nvSpPr>
            <p:cNvPr name="Freeform 17" id="17"/>
            <p:cNvSpPr/>
            <p:nvPr/>
          </p:nvSpPr>
          <p:spPr>
            <a:xfrm flipH="false" flipV="false" rot="0">
              <a:off x="0" y="0"/>
              <a:ext cx="836677" cy="812800"/>
            </a:xfrm>
            <a:custGeom>
              <a:avLst/>
              <a:gdLst/>
              <a:ahLst/>
              <a:cxnLst/>
              <a:rect r="r" b="b" t="t" l="l"/>
              <a:pathLst>
                <a:path h="812800" w="836677">
                  <a:moveTo>
                    <a:pt x="418339" y="0"/>
                  </a:moveTo>
                  <a:cubicBezTo>
                    <a:pt x="187297" y="0"/>
                    <a:pt x="0" y="181951"/>
                    <a:pt x="0" y="406400"/>
                  </a:cubicBezTo>
                  <a:cubicBezTo>
                    <a:pt x="0" y="630849"/>
                    <a:pt x="187297" y="812800"/>
                    <a:pt x="418339" y="812800"/>
                  </a:cubicBezTo>
                  <a:cubicBezTo>
                    <a:pt x="649381" y="812800"/>
                    <a:pt x="836677" y="630849"/>
                    <a:pt x="836677" y="406400"/>
                  </a:cubicBezTo>
                  <a:cubicBezTo>
                    <a:pt x="836677" y="181951"/>
                    <a:pt x="649381" y="0"/>
                    <a:pt x="418339" y="0"/>
                  </a:cubicBezTo>
                  <a:close/>
                </a:path>
              </a:pathLst>
            </a:custGeom>
            <a:solidFill>
              <a:srgbClr val="468D5E"/>
            </a:solidFill>
          </p:spPr>
        </p:sp>
        <p:sp>
          <p:nvSpPr>
            <p:cNvPr name="TextBox 18" id="18"/>
            <p:cNvSpPr txBox="true"/>
            <p:nvPr/>
          </p:nvSpPr>
          <p:spPr>
            <a:xfrm>
              <a:off x="78438" y="38100"/>
              <a:ext cx="679800" cy="698500"/>
            </a:xfrm>
            <a:prstGeom prst="rect">
              <a:avLst/>
            </a:prstGeom>
          </p:spPr>
          <p:txBody>
            <a:bodyPr anchor="ctr" rtlCol="false" tIns="44080" lIns="44080" bIns="44080" rIns="44080"/>
            <a:lstStyle/>
            <a:p>
              <a:pPr algn="ctr">
                <a:lnSpc>
                  <a:spcPts val="2660"/>
                </a:lnSpc>
              </a:pPr>
            </a:p>
          </p:txBody>
        </p:sp>
      </p:grpSp>
      <p:sp>
        <p:nvSpPr>
          <p:cNvPr name="TextBox 19" id="19"/>
          <p:cNvSpPr txBox="true"/>
          <p:nvPr/>
        </p:nvSpPr>
        <p:spPr>
          <a:xfrm rot="0">
            <a:off x="1258612" y="3189905"/>
            <a:ext cx="646190" cy="453674"/>
          </a:xfrm>
          <a:prstGeom prst="rect">
            <a:avLst/>
          </a:prstGeom>
        </p:spPr>
        <p:txBody>
          <a:bodyPr anchor="t" rtlCol="false" tIns="0" lIns="0" bIns="0" rIns="0">
            <a:spAutoFit/>
          </a:bodyPr>
          <a:lstStyle/>
          <a:p>
            <a:pPr algn="ctr">
              <a:lnSpc>
                <a:spcPts val="3359"/>
              </a:lnSpc>
            </a:pPr>
            <a:r>
              <a:rPr lang="en-US" sz="2776" b="true">
                <a:solidFill>
                  <a:srgbClr val="F9F7F4"/>
                </a:solidFill>
                <a:latin typeface="Telegraf Bold"/>
                <a:ea typeface="Telegraf Bold"/>
                <a:cs typeface="Telegraf Bold"/>
                <a:sym typeface="Telegraf Bold"/>
              </a:rPr>
              <a:t>1</a:t>
            </a:r>
          </a:p>
        </p:txBody>
      </p:sp>
      <p:sp>
        <p:nvSpPr>
          <p:cNvPr name="TextBox 20" id="20"/>
          <p:cNvSpPr txBox="true"/>
          <p:nvPr/>
        </p:nvSpPr>
        <p:spPr>
          <a:xfrm rot="0">
            <a:off x="4263574" y="3732145"/>
            <a:ext cx="2996931" cy="1059927"/>
          </a:xfrm>
          <a:prstGeom prst="rect">
            <a:avLst/>
          </a:prstGeom>
        </p:spPr>
        <p:txBody>
          <a:bodyPr anchor="t" rtlCol="false" tIns="0" lIns="0" bIns="0" rIns="0">
            <a:spAutoFit/>
          </a:bodyPr>
          <a:lstStyle/>
          <a:p>
            <a:pPr algn="l">
              <a:lnSpc>
                <a:spcPts val="1679"/>
              </a:lnSpc>
            </a:pPr>
            <a:r>
              <a:rPr lang="en-US" sz="1388" spc="106">
                <a:solidFill>
                  <a:srgbClr val="202121"/>
                </a:solidFill>
                <a:latin typeface="Telegraf Extra-Light"/>
                <a:ea typeface="Telegraf Extra-Light"/>
                <a:cs typeface="Telegraf Extra-Light"/>
                <a:sym typeface="Telegraf Extra-Light"/>
              </a:rPr>
              <a:t>Bi</a:t>
            </a:r>
            <a:r>
              <a:rPr lang="en-US" sz="1388" spc="106">
                <a:solidFill>
                  <a:srgbClr val="202121"/>
                </a:solidFill>
                <a:latin typeface="Telegraf Extra-Light"/>
                <a:ea typeface="Telegraf Extra-Light"/>
                <a:cs typeface="Telegraf Extra-Light"/>
                <a:sym typeface="Telegraf Extra-Light"/>
              </a:rPr>
              <a:t>otechnology developments, particularly genetic modification the appropriate boundaries of altering living organisms for human benefit.</a:t>
            </a:r>
          </a:p>
        </p:txBody>
      </p:sp>
      <p:sp>
        <p:nvSpPr>
          <p:cNvPr name="TextBox 21" id="21"/>
          <p:cNvSpPr txBox="true"/>
          <p:nvPr/>
        </p:nvSpPr>
        <p:spPr>
          <a:xfrm rot="0">
            <a:off x="4263574" y="3243186"/>
            <a:ext cx="2584519" cy="349522"/>
          </a:xfrm>
          <a:prstGeom prst="rect">
            <a:avLst/>
          </a:prstGeom>
        </p:spPr>
        <p:txBody>
          <a:bodyPr anchor="t" rtlCol="false" tIns="0" lIns="0" bIns="0" rIns="0">
            <a:spAutoFit/>
          </a:bodyPr>
          <a:lstStyle/>
          <a:p>
            <a:pPr algn="l">
              <a:lnSpc>
                <a:spcPts val="2519"/>
              </a:lnSpc>
            </a:pPr>
            <a:r>
              <a:rPr lang="en-US" sz="2082" b="true">
                <a:solidFill>
                  <a:srgbClr val="468D5E"/>
                </a:solidFill>
                <a:latin typeface="Telegraf Bold"/>
                <a:ea typeface="Telegraf Bold"/>
                <a:cs typeface="Telegraf Bold"/>
                <a:sym typeface="Telegraf Bold"/>
              </a:rPr>
              <a:t>Ethical Concern</a:t>
            </a:r>
          </a:p>
        </p:txBody>
      </p:sp>
      <p:grpSp>
        <p:nvGrpSpPr>
          <p:cNvPr name="Group 22" id="22"/>
          <p:cNvGrpSpPr/>
          <p:nvPr/>
        </p:nvGrpSpPr>
        <p:grpSpPr>
          <a:xfrm rot="0">
            <a:off x="7670426" y="2898507"/>
            <a:ext cx="6469748" cy="2503189"/>
            <a:chOff x="0" y="0"/>
            <a:chExt cx="1963755" cy="759790"/>
          </a:xfrm>
        </p:grpSpPr>
        <p:sp>
          <p:nvSpPr>
            <p:cNvPr name="Freeform 23" id="23"/>
            <p:cNvSpPr/>
            <p:nvPr/>
          </p:nvSpPr>
          <p:spPr>
            <a:xfrm flipH="false" flipV="false" rot="0">
              <a:off x="0" y="0"/>
              <a:ext cx="1963755" cy="759790"/>
            </a:xfrm>
            <a:custGeom>
              <a:avLst/>
              <a:gdLst/>
              <a:ahLst/>
              <a:cxnLst/>
              <a:rect r="r" b="b" t="t" l="l"/>
              <a:pathLst>
                <a:path h="759790" w="1963755">
                  <a:moveTo>
                    <a:pt x="69405" y="0"/>
                  </a:moveTo>
                  <a:lnTo>
                    <a:pt x="1894350" y="0"/>
                  </a:lnTo>
                  <a:cubicBezTo>
                    <a:pt x="1932681" y="0"/>
                    <a:pt x="1963755" y="31074"/>
                    <a:pt x="1963755" y="69405"/>
                  </a:cubicBezTo>
                  <a:lnTo>
                    <a:pt x="1963755" y="690385"/>
                  </a:lnTo>
                  <a:cubicBezTo>
                    <a:pt x="1963755" y="728716"/>
                    <a:pt x="1932681" y="759790"/>
                    <a:pt x="1894350" y="759790"/>
                  </a:cubicBezTo>
                  <a:lnTo>
                    <a:pt x="69405" y="759790"/>
                  </a:lnTo>
                  <a:cubicBezTo>
                    <a:pt x="31074" y="759790"/>
                    <a:pt x="0" y="728716"/>
                    <a:pt x="0" y="690385"/>
                  </a:cubicBezTo>
                  <a:lnTo>
                    <a:pt x="0" y="69405"/>
                  </a:lnTo>
                  <a:cubicBezTo>
                    <a:pt x="0" y="31074"/>
                    <a:pt x="31074" y="0"/>
                    <a:pt x="69405" y="0"/>
                  </a:cubicBezTo>
                  <a:close/>
                </a:path>
              </a:pathLst>
            </a:custGeom>
            <a:solidFill>
              <a:srgbClr val="B4B4B4">
                <a:alpha val="29804"/>
              </a:srgbClr>
            </a:solidFill>
          </p:spPr>
        </p:sp>
        <p:sp>
          <p:nvSpPr>
            <p:cNvPr name="TextBox 24" id="24"/>
            <p:cNvSpPr txBox="true"/>
            <p:nvPr/>
          </p:nvSpPr>
          <p:spPr>
            <a:xfrm>
              <a:off x="0" y="-38100"/>
              <a:ext cx="1963755" cy="797890"/>
            </a:xfrm>
            <a:prstGeom prst="rect">
              <a:avLst/>
            </a:prstGeom>
          </p:spPr>
          <p:txBody>
            <a:bodyPr anchor="ctr" rtlCol="false" tIns="44080" lIns="44080" bIns="44080" rIns="44080"/>
            <a:lstStyle/>
            <a:p>
              <a:pPr algn="ctr">
                <a:lnSpc>
                  <a:spcPts val="2660"/>
                </a:lnSpc>
              </a:pPr>
            </a:p>
          </p:txBody>
        </p:sp>
      </p:grpSp>
      <p:grpSp>
        <p:nvGrpSpPr>
          <p:cNvPr name="Group 25" id="25"/>
          <p:cNvGrpSpPr/>
          <p:nvPr/>
        </p:nvGrpSpPr>
        <p:grpSpPr>
          <a:xfrm rot="0">
            <a:off x="7792056" y="3000293"/>
            <a:ext cx="2798746" cy="2299617"/>
            <a:chOff x="0" y="0"/>
            <a:chExt cx="615934" cy="506088"/>
          </a:xfrm>
        </p:grpSpPr>
        <p:sp>
          <p:nvSpPr>
            <p:cNvPr name="Freeform 26" id="26"/>
            <p:cNvSpPr/>
            <p:nvPr/>
          </p:nvSpPr>
          <p:spPr>
            <a:xfrm flipH="false" flipV="false" rot="0">
              <a:off x="0" y="0"/>
              <a:ext cx="615934" cy="506088"/>
            </a:xfrm>
            <a:custGeom>
              <a:avLst/>
              <a:gdLst/>
              <a:ahLst/>
              <a:cxnLst/>
              <a:rect r="r" b="b" t="t" l="l"/>
              <a:pathLst>
                <a:path h="506088" w="615934">
                  <a:moveTo>
                    <a:pt x="143843" y="0"/>
                  </a:moveTo>
                  <a:lnTo>
                    <a:pt x="472091" y="0"/>
                  </a:lnTo>
                  <a:cubicBezTo>
                    <a:pt x="510240" y="0"/>
                    <a:pt x="546827" y="15155"/>
                    <a:pt x="573803" y="42131"/>
                  </a:cubicBezTo>
                  <a:cubicBezTo>
                    <a:pt x="600779" y="69106"/>
                    <a:pt x="615934" y="105693"/>
                    <a:pt x="615934" y="143843"/>
                  </a:cubicBezTo>
                  <a:lnTo>
                    <a:pt x="615934" y="362245"/>
                  </a:lnTo>
                  <a:cubicBezTo>
                    <a:pt x="615934" y="400395"/>
                    <a:pt x="600779" y="436982"/>
                    <a:pt x="573803" y="463957"/>
                  </a:cubicBezTo>
                  <a:cubicBezTo>
                    <a:pt x="546827" y="490933"/>
                    <a:pt x="510240" y="506088"/>
                    <a:pt x="472091" y="506088"/>
                  </a:cubicBezTo>
                  <a:lnTo>
                    <a:pt x="143843" y="506088"/>
                  </a:lnTo>
                  <a:cubicBezTo>
                    <a:pt x="105693" y="506088"/>
                    <a:pt x="69106" y="490933"/>
                    <a:pt x="42131" y="463957"/>
                  </a:cubicBezTo>
                  <a:cubicBezTo>
                    <a:pt x="15155" y="436982"/>
                    <a:pt x="0" y="400395"/>
                    <a:pt x="0" y="362245"/>
                  </a:cubicBezTo>
                  <a:lnTo>
                    <a:pt x="0" y="143843"/>
                  </a:lnTo>
                  <a:cubicBezTo>
                    <a:pt x="0" y="105693"/>
                    <a:pt x="15155" y="69106"/>
                    <a:pt x="42131" y="42131"/>
                  </a:cubicBezTo>
                  <a:cubicBezTo>
                    <a:pt x="69106" y="15155"/>
                    <a:pt x="105693" y="0"/>
                    <a:pt x="143843" y="0"/>
                  </a:cubicBezTo>
                  <a:close/>
                </a:path>
              </a:pathLst>
            </a:custGeom>
            <a:blipFill>
              <a:blip r:embed="rId7"/>
              <a:stretch>
                <a:fillRect l="-11736" t="0" r="-11736" b="0"/>
              </a:stretch>
            </a:blipFill>
            <a:ln cap="rnd">
              <a:noFill/>
              <a:prstDash val="solid"/>
              <a:round/>
            </a:ln>
          </p:spPr>
        </p:sp>
      </p:grpSp>
      <p:grpSp>
        <p:nvGrpSpPr>
          <p:cNvPr name="Group 27" id="27"/>
          <p:cNvGrpSpPr/>
          <p:nvPr/>
        </p:nvGrpSpPr>
        <p:grpSpPr>
          <a:xfrm rot="0">
            <a:off x="7949395" y="3170780"/>
            <a:ext cx="548076" cy="532435"/>
            <a:chOff x="0" y="0"/>
            <a:chExt cx="836677" cy="812800"/>
          </a:xfrm>
        </p:grpSpPr>
        <p:sp>
          <p:nvSpPr>
            <p:cNvPr name="Freeform 28" id="28"/>
            <p:cNvSpPr/>
            <p:nvPr/>
          </p:nvSpPr>
          <p:spPr>
            <a:xfrm flipH="false" flipV="false" rot="0">
              <a:off x="0" y="0"/>
              <a:ext cx="836677" cy="812800"/>
            </a:xfrm>
            <a:custGeom>
              <a:avLst/>
              <a:gdLst/>
              <a:ahLst/>
              <a:cxnLst/>
              <a:rect r="r" b="b" t="t" l="l"/>
              <a:pathLst>
                <a:path h="812800" w="836677">
                  <a:moveTo>
                    <a:pt x="418339" y="0"/>
                  </a:moveTo>
                  <a:cubicBezTo>
                    <a:pt x="187297" y="0"/>
                    <a:pt x="0" y="181951"/>
                    <a:pt x="0" y="406400"/>
                  </a:cubicBezTo>
                  <a:cubicBezTo>
                    <a:pt x="0" y="630849"/>
                    <a:pt x="187297" y="812800"/>
                    <a:pt x="418339" y="812800"/>
                  </a:cubicBezTo>
                  <a:cubicBezTo>
                    <a:pt x="649381" y="812800"/>
                    <a:pt x="836677" y="630849"/>
                    <a:pt x="836677" y="406400"/>
                  </a:cubicBezTo>
                  <a:cubicBezTo>
                    <a:pt x="836677" y="181951"/>
                    <a:pt x="649381" y="0"/>
                    <a:pt x="418339" y="0"/>
                  </a:cubicBezTo>
                  <a:close/>
                </a:path>
              </a:pathLst>
            </a:custGeom>
            <a:solidFill>
              <a:srgbClr val="468D5E"/>
            </a:solidFill>
          </p:spPr>
        </p:sp>
        <p:sp>
          <p:nvSpPr>
            <p:cNvPr name="TextBox 29" id="29"/>
            <p:cNvSpPr txBox="true"/>
            <p:nvPr/>
          </p:nvSpPr>
          <p:spPr>
            <a:xfrm>
              <a:off x="78438" y="38100"/>
              <a:ext cx="679800" cy="698500"/>
            </a:xfrm>
            <a:prstGeom prst="rect">
              <a:avLst/>
            </a:prstGeom>
          </p:spPr>
          <p:txBody>
            <a:bodyPr anchor="ctr" rtlCol="false" tIns="44080" lIns="44080" bIns="44080" rIns="44080"/>
            <a:lstStyle/>
            <a:p>
              <a:pPr algn="ctr">
                <a:lnSpc>
                  <a:spcPts val="2660"/>
                </a:lnSpc>
              </a:pPr>
            </a:p>
          </p:txBody>
        </p:sp>
      </p:grpSp>
      <p:sp>
        <p:nvSpPr>
          <p:cNvPr name="TextBox 30" id="30"/>
          <p:cNvSpPr txBox="true"/>
          <p:nvPr/>
        </p:nvSpPr>
        <p:spPr>
          <a:xfrm rot="0">
            <a:off x="7900338" y="3189905"/>
            <a:ext cx="646190" cy="453674"/>
          </a:xfrm>
          <a:prstGeom prst="rect">
            <a:avLst/>
          </a:prstGeom>
        </p:spPr>
        <p:txBody>
          <a:bodyPr anchor="t" rtlCol="false" tIns="0" lIns="0" bIns="0" rIns="0">
            <a:spAutoFit/>
          </a:bodyPr>
          <a:lstStyle/>
          <a:p>
            <a:pPr algn="ctr">
              <a:lnSpc>
                <a:spcPts val="3359"/>
              </a:lnSpc>
            </a:pPr>
            <a:r>
              <a:rPr lang="en-US" sz="2776" b="true">
                <a:solidFill>
                  <a:srgbClr val="F9F7F4"/>
                </a:solidFill>
                <a:latin typeface="Telegraf Bold"/>
                <a:ea typeface="Telegraf Bold"/>
                <a:cs typeface="Telegraf Bold"/>
                <a:sym typeface="Telegraf Bold"/>
              </a:rPr>
              <a:t>2</a:t>
            </a:r>
          </a:p>
        </p:txBody>
      </p:sp>
      <p:sp>
        <p:nvSpPr>
          <p:cNvPr name="TextBox 31" id="31"/>
          <p:cNvSpPr txBox="true"/>
          <p:nvPr/>
        </p:nvSpPr>
        <p:spPr>
          <a:xfrm rot="0">
            <a:off x="10905300" y="3732145"/>
            <a:ext cx="2996931" cy="1059927"/>
          </a:xfrm>
          <a:prstGeom prst="rect">
            <a:avLst/>
          </a:prstGeom>
        </p:spPr>
        <p:txBody>
          <a:bodyPr anchor="t" rtlCol="false" tIns="0" lIns="0" bIns="0" rIns="0">
            <a:spAutoFit/>
          </a:bodyPr>
          <a:lstStyle/>
          <a:p>
            <a:pPr algn="l">
              <a:lnSpc>
                <a:spcPts val="1679"/>
              </a:lnSpc>
            </a:pPr>
            <a:r>
              <a:rPr lang="en-US" sz="1388" spc="106">
                <a:solidFill>
                  <a:srgbClr val="202121"/>
                </a:solidFill>
                <a:latin typeface="Telegraf Extra-Light"/>
                <a:ea typeface="Telegraf Extra-Light"/>
                <a:cs typeface="Telegraf Extra-Light"/>
                <a:sym typeface="Telegraf Extra-Light"/>
              </a:rPr>
              <a:t>Bi</a:t>
            </a:r>
            <a:r>
              <a:rPr lang="en-US" sz="1388" spc="106">
                <a:solidFill>
                  <a:srgbClr val="202121"/>
                </a:solidFill>
                <a:latin typeface="Telegraf Extra-Light"/>
                <a:ea typeface="Telegraf Extra-Light"/>
                <a:cs typeface="Telegraf Extra-Light"/>
                <a:sym typeface="Telegraf Extra-Light"/>
              </a:rPr>
              <a:t>otechnology research and development require significant financial investment due to advanced laboratory equipment, skilled professionals, etc.</a:t>
            </a:r>
          </a:p>
        </p:txBody>
      </p:sp>
      <p:sp>
        <p:nvSpPr>
          <p:cNvPr name="TextBox 32" id="32"/>
          <p:cNvSpPr txBox="true"/>
          <p:nvPr/>
        </p:nvSpPr>
        <p:spPr>
          <a:xfrm rot="0">
            <a:off x="10905300" y="3243186"/>
            <a:ext cx="2584519" cy="349522"/>
          </a:xfrm>
          <a:prstGeom prst="rect">
            <a:avLst/>
          </a:prstGeom>
        </p:spPr>
        <p:txBody>
          <a:bodyPr anchor="t" rtlCol="false" tIns="0" lIns="0" bIns="0" rIns="0">
            <a:spAutoFit/>
          </a:bodyPr>
          <a:lstStyle/>
          <a:p>
            <a:pPr algn="l">
              <a:lnSpc>
                <a:spcPts val="2519"/>
              </a:lnSpc>
            </a:pPr>
            <a:r>
              <a:rPr lang="en-US" sz="2082" b="true">
                <a:solidFill>
                  <a:srgbClr val="468D5E"/>
                </a:solidFill>
                <a:latin typeface="Telegraf Bold"/>
                <a:ea typeface="Telegraf Bold"/>
                <a:cs typeface="Telegraf Bold"/>
                <a:sym typeface="Telegraf Bold"/>
              </a:rPr>
              <a:t>Research Costs</a:t>
            </a:r>
          </a:p>
        </p:txBody>
      </p:sp>
      <p:grpSp>
        <p:nvGrpSpPr>
          <p:cNvPr name="Group 33" id="33"/>
          <p:cNvGrpSpPr/>
          <p:nvPr/>
        </p:nvGrpSpPr>
        <p:grpSpPr>
          <a:xfrm rot="0">
            <a:off x="1028700" y="5567156"/>
            <a:ext cx="6469748" cy="2503189"/>
            <a:chOff x="0" y="0"/>
            <a:chExt cx="1963755" cy="759790"/>
          </a:xfrm>
        </p:grpSpPr>
        <p:sp>
          <p:nvSpPr>
            <p:cNvPr name="Freeform 34" id="34"/>
            <p:cNvSpPr/>
            <p:nvPr/>
          </p:nvSpPr>
          <p:spPr>
            <a:xfrm flipH="false" flipV="false" rot="0">
              <a:off x="0" y="0"/>
              <a:ext cx="1963755" cy="759790"/>
            </a:xfrm>
            <a:custGeom>
              <a:avLst/>
              <a:gdLst/>
              <a:ahLst/>
              <a:cxnLst/>
              <a:rect r="r" b="b" t="t" l="l"/>
              <a:pathLst>
                <a:path h="759790" w="1963755">
                  <a:moveTo>
                    <a:pt x="69405" y="0"/>
                  </a:moveTo>
                  <a:lnTo>
                    <a:pt x="1894350" y="0"/>
                  </a:lnTo>
                  <a:cubicBezTo>
                    <a:pt x="1932681" y="0"/>
                    <a:pt x="1963755" y="31074"/>
                    <a:pt x="1963755" y="69405"/>
                  </a:cubicBezTo>
                  <a:lnTo>
                    <a:pt x="1963755" y="690385"/>
                  </a:lnTo>
                  <a:cubicBezTo>
                    <a:pt x="1963755" y="728716"/>
                    <a:pt x="1932681" y="759790"/>
                    <a:pt x="1894350" y="759790"/>
                  </a:cubicBezTo>
                  <a:lnTo>
                    <a:pt x="69405" y="759790"/>
                  </a:lnTo>
                  <a:cubicBezTo>
                    <a:pt x="31074" y="759790"/>
                    <a:pt x="0" y="728716"/>
                    <a:pt x="0" y="690385"/>
                  </a:cubicBezTo>
                  <a:lnTo>
                    <a:pt x="0" y="69405"/>
                  </a:lnTo>
                  <a:cubicBezTo>
                    <a:pt x="0" y="31074"/>
                    <a:pt x="31074" y="0"/>
                    <a:pt x="69405" y="0"/>
                  </a:cubicBezTo>
                  <a:close/>
                </a:path>
              </a:pathLst>
            </a:custGeom>
            <a:solidFill>
              <a:srgbClr val="B4B4B4">
                <a:alpha val="29804"/>
              </a:srgbClr>
            </a:solidFill>
          </p:spPr>
        </p:sp>
        <p:sp>
          <p:nvSpPr>
            <p:cNvPr name="TextBox 35" id="35"/>
            <p:cNvSpPr txBox="true"/>
            <p:nvPr/>
          </p:nvSpPr>
          <p:spPr>
            <a:xfrm>
              <a:off x="0" y="-38100"/>
              <a:ext cx="1963755" cy="797890"/>
            </a:xfrm>
            <a:prstGeom prst="rect">
              <a:avLst/>
            </a:prstGeom>
          </p:spPr>
          <p:txBody>
            <a:bodyPr anchor="ctr" rtlCol="false" tIns="44080" lIns="44080" bIns="44080" rIns="44080"/>
            <a:lstStyle/>
            <a:p>
              <a:pPr algn="ctr">
                <a:lnSpc>
                  <a:spcPts val="2660"/>
                </a:lnSpc>
              </a:pPr>
            </a:p>
          </p:txBody>
        </p:sp>
      </p:grpSp>
      <p:grpSp>
        <p:nvGrpSpPr>
          <p:cNvPr name="Group 36" id="36"/>
          <p:cNvGrpSpPr/>
          <p:nvPr/>
        </p:nvGrpSpPr>
        <p:grpSpPr>
          <a:xfrm rot="0">
            <a:off x="1150330" y="5668942"/>
            <a:ext cx="2798746" cy="2299617"/>
            <a:chOff x="0" y="0"/>
            <a:chExt cx="615934" cy="506088"/>
          </a:xfrm>
        </p:grpSpPr>
        <p:sp>
          <p:nvSpPr>
            <p:cNvPr name="Freeform 37" id="37"/>
            <p:cNvSpPr/>
            <p:nvPr/>
          </p:nvSpPr>
          <p:spPr>
            <a:xfrm flipH="false" flipV="false" rot="0">
              <a:off x="0" y="0"/>
              <a:ext cx="615934" cy="506088"/>
            </a:xfrm>
            <a:custGeom>
              <a:avLst/>
              <a:gdLst/>
              <a:ahLst/>
              <a:cxnLst/>
              <a:rect r="r" b="b" t="t" l="l"/>
              <a:pathLst>
                <a:path h="506088" w="615934">
                  <a:moveTo>
                    <a:pt x="143843" y="0"/>
                  </a:moveTo>
                  <a:lnTo>
                    <a:pt x="472091" y="0"/>
                  </a:lnTo>
                  <a:cubicBezTo>
                    <a:pt x="510240" y="0"/>
                    <a:pt x="546827" y="15155"/>
                    <a:pt x="573803" y="42131"/>
                  </a:cubicBezTo>
                  <a:cubicBezTo>
                    <a:pt x="600779" y="69106"/>
                    <a:pt x="615934" y="105693"/>
                    <a:pt x="615934" y="143843"/>
                  </a:cubicBezTo>
                  <a:lnTo>
                    <a:pt x="615934" y="362245"/>
                  </a:lnTo>
                  <a:cubicBezTo>
                    <a:pt x="615934" y="400395"/>
                    <a:pt x="600779" y="436982"/>
                    <a:pt x="573803" y="463957"/>
                  </a:cubicBezTo>
                  <a:cubicBezTo>
                    <a:pt x="546827" y="490933"/>
                    <a:pt x="510240" y="506088"/>
                    <a:pt x="472091" y="506088"/>
                  </a:cubicBezTo>
                  <a:lnTo>
                    <a:pt x="143843" y="506088"/>
                  </a:lnTo>
                  <a:cubicBezTo>
                    <a:pt x="105693" y="506088"/>
                    <a:pt x="69106" y="490933"/>
                    <a:pt x="42131" y="463957"/>
                  </a:cubicBezTo>
                  <a:cubicBezTo>
                    <a:pt x="15155" y="436982"/>
                    <a:pt x="0" y="400395"/>
                    <a:pt x="0" y="362245"/>
                  </a:cubicBezTo>
                  <a:lnTo>
                    <a:pt x="0" y="143843"/>
                  </a:lnTo>
                  <a:cubicBezTo>
                    <a:pt x="0" y="105693"/>
                    <a:pt x="15155" y="69106"/>
                    <a:pt x="42131" y="42131"/>
                  </a:cubicBezTo>
                  <a:cubicBezTo>
                    <a:pt x="69106" y="15155"/>
                    <a:pt x="105693" y="0"/>
                    <a:pt x="143843" y="0"/>
                  </a:cubicBezTo>
                  <a:close/>
                </a:path>
              </a:pathLst>
            </a:custGeom>
            <a:blipFill>
              <a:blip r:embed="rId8"/>
              <a:stretch>
                <a:fillRect l="-11568" t="0" r="-11568" b="0"/>
              </a:stretch>
            </a:blipFill>
            <a:ln cap="rnd">
              <a:noFill/>
              <a:prstDash val="solid"/>
              <a:round/>
            </a:ln>
          </p:spPr>
        </p:sp>
      </p:grpSp>
      <p:grpSp>
        <p:nvGrpSpPr>
          <p:cNvPr name="Group 38" id="38"/>
          <p:cNvGrpSpPr/>
          <p:nvPr/>
        </p:nvGrpSpPr>
        <p:grpSpPr>
          <a:xfrm rot="0">
            <a:off x="1307669" y="5839428"/>
            <a:ext cx="548076" cy="532435"/>
            <a:chOff x="0" y="0"/>
            <a:chExt cx="836677" cy="812800"/>
          </a:xfrm>
        </p:grpSpPr>
        <p:sp>
          <p:nvSpPr>
            <p:cNvPr name="Freeform 39" id="39"/>
            <p:cNvSpPr/>
            <p:nvPr/>
          </p:nvSpPr>
          <p:spPr>
            <a:xfrm flipH="false" flipV="false" rot="0">
              <a:off x="0" y="0"/>
              <a:ext cx="836677" cy="812800"/>
            </a:xfrm>
            <a:custGeom>
              <a:avLst/>
              <a:gdLst/>
              <a:ahLst/>
              <a:cxnLst/>
              <a:rect r="r" b="b" t="t" l="l"/>
              <a:pathLst>
                <a:path h="812800" w="836677">
                  <a:moveTo>
                    <a:pt x="418339" y="0"/>
                  </a:moveTo>
                  <a:cubicBezTo>
                    <a:pt x="187297" y="0"/>
                    <a:pt x="0" y="181951"/>
                    <a:pt x="0" y="406400"/>
                  </a:cubicBezTo>
                  <a:cubicBezTo>
                    <a:pt x="0" y="630849"/>
                    <a:pt x="187297" y="812800"/>
                    <a:pt x="418339" y="812800"/>
                  </a:cubicBezTo>
                  <a:cubicBezTo>
                    <a:pt x="649381" y="812800"/>
                    <a:pt x="836677" y="630849"/>
                    <a:pt x="836677" y="406400"/>
                  </a:cubicBezTo>
                  <a:cubicBezTo>
                    <a:pt x="836677" y="181951"/>
                    <a:pt x="649381" y="0"/>
                    <a:pt x="418339" y="0"/>
                  </a:cubicBezTo>
                  <a:close/>
                </a:path>
              </a:pathLst>
            </a:custGeom>
            <a:solidFill>
              <a:srgbClr val="468D5E"/>
            </a:solidFill>
          </p:spPr>
        </p:sp>
        <p:sp>
          <p:nvSpPr>
            <p:cNvPr name="TextBox 40" id="40"/>
            <p:cNvSpPr txBox="true"/>
            <p:nvPr/>
          </p:nvSpPr>
          <p:spPr>
            <a:xfrm>
              <a:off x="78438" y="38100"/>
              <a:ext cx="679800" cy="698500"/>
            </a:xfrm>
            <a:prstGeom prst="rect">
              <a:avLst/>
            </a:prstGeom>
          </p:spPr>
          <p:txBody>
            <a:bodyPr anchor="ctr" rtlCol="false" tIns="44080" lIns="44080" bIns="44080" rIns="44080"/>
            <a:lstStyle/>
            <a:p>
              <a:pPr algn="ctr">
                <a:lnSpc>
                  <a:spcPts val="2660"/>
                </a:lnSpc>
              </a:pPr>
            </a:p>
          </p:txBody>
        </p:sp>
      </p:grpSp>
      <p:sp>
        <p:nvSpPr>
          <p:cNvPr name="TextBox 41" id="41"/>
          <p:cNvSpPr txBox="true"/>
          <p:nvPr/>
        </p:nvSpPr>
        <p:spPr>
          <a:xfrm rot="0">
            <a:off x="1258612" y="5858553"/>
            <a:ext cx="646190" cy="453674"/>
          </a:xfrm>
          <a:prstGeom prst="rect">
            <a:avLst/>
          </a:prstGeom>
        </p:spPr>
        <p:txBody>
          <a:bodyPr anchor="t" rtlCol="false" tIns="0" lIns="0" bIns="0" rIns="0">
            <a:spAutoFit/>
          </a:bodyPr>
          <a:lstStyle/>
          <a:p>
            <a:pPr algn="ctr">
              <a:lnSpc>
                <a:spcPts val="3359"/>
              </a:lnSpc>
            </a:pPr>
            <a:r>
              <a:rPr lang="en-US" sz="2776" b="true">
                <a:solidFill>
                  <a:srgbClr val="F9F7F4"/>
                </a:solidFill>
                <a:latin typeface="Telegraf Bold"/>
                <a:ea typeface="Telegraf Bold"/>
                <a:cs typeface="Telegraf Bold"/>
                <a:sym typeface="Telegraf Bold"/>
              </a:rPr>
              <a:t>3</a:t>
            </a:r>
          </a:p>
        </p:txBody>
      </p:sp>
      <p:sp>
        <p:nvSpPr>
          <p:cNvPr name="TextBox 42" id="42"/>
          <p:cNvSpPr txBox="true"/>
          <p:nvPr/>
        </p:nvSpPr>
        <p:spPr>
          <a:xfrm rot="0">
            <a:off x="4263574" y="6632477"/>
            <a:ext cx="2845841" cy="1059927"/>
          </a:xfrm>
          <a:prstGeom prst="rect">
            <a:avLst/>
          </a:prstGeom>
        </p:spPr>
        <p:txBody>
          <a:bodyPr anchor="t" rtlCol="false" tIns="0" lIns="0" bIns="0" rIns="0">
            <a:spAutoFit/>
          </a:bodyPr>
          <a:lstStyle/>
          <a:p>
            <a:pPr algn="l">
              <a:lnSpc>
                <a:spcPts val="1679"/>
              </a:lnSpc>
            </a:pPr>
            <a:r>
              <a:rPr lang="en-US" sz="1388" spc="106">
                <a:solidFill>
                  <a:srgbClr val="202121"/>
                </a:solidFill>
                <a:latin typeface="Telegraf Extra-Light"/>
                <a:ea typeface="Telegraf Extra-Light"/>
                <a:cs typeface="Telegraf Extra-Light"/>
                <a:sym typeface="Telegraf Extra-Light"/>
              </a:rPr>
              <a:t>Bi</a:t>
            </a:r>
            <a:r>
              <a:rPr lang="en-US" sz="1388" spc="106">
                <a:solidFill>
                  <a:srgbClr val="202121"/>
                </a:solidFill>
                <a:latin typeface="Telegraf Extra-Light"/>
                <a:ea typeface="Telegraf Extra-Light"/>
                <a:cs typeface="Telegraf Extra-Light"/>
                <a:sym typeface="Telegraf Extra-Light"/>
              </a:rPr>
              <a:t>otechnology products must undergo complex approval processes to ensure safety with national and international standards.</a:t>
            </a:r>
          </a:p>
        </p:txBody>
      </p:sp>
      <p:sp>
        <p:nvSpPr>
          <p:cNvPr name="TextBox 43" id="43"/>
          <p:cNvSpPr txBox="true"/>
          <p:nvPr/>
        </p:nvSpPr>
        <p:spPr>
          <a:xfrm rot="0">
            <a:off x="4263574" y="5911834"/>
            <a:ext cx="2584519" cy="663589"/>
          </a:xfrm>
          <a:prstGeom prst="rect">
            <a:avLst/>
          </a:prstGeom>
        </p:spPr>
        <p:txBody>
          <a:bodyPr anchor="t" rtlCol="false" tIns="0" lIns="0" bIns="0" rIns="0">
            <a:spAutoFit/>
          </a:bodyPr>
          <a:lstStyle/>
          <a:p>
            <a:pPr algn="l">
              <a:lnSpc>
                <a:spcPts val="2519"/>
              </a:lnSpc>
            </a:pPr>
            <a:r>
              <a:rPr lang="en-US" sz="2082" b="true">
                <a:solidFill>
                  <a:srgbClr val="468D5E"/>
                </a:solidFill>
                <a:latin typeface="Telegraf Bold"/>
                <a:ea typeface="Telegraf Bold"/>
                <a:cs typeface="Telegraf Bold"/>
                <a:sym typeface="Telegraf Bold"/>
              </a:rPr>
              <a:t>Regulatory Requirements</a:t>
            </a:r>
          </a:p>
        </p:txBody>
      </p:sp>
      <p:grpSp>
        <p:nvGrpSpPr>
          <p:cNvPr name="Group 44" id="44"/>
          <p:cNvGrpSpPr/>
          <p:nvPr/>
        </p:nvGrpSpPr>
        <p:grpSpPr>
          <a:xfrm rot="0">
            <a:off x="7670426" y="5567156"/>
            <a:ext cx="6469748" cy="2503189"/>
            <a:chOff x="0" y="0"/>
            <a:chExt cx="1963755" cy="759790"/>
          </a:xfrm>
        </p:grpSpPr>
        <p:sp>
          <p:nvSpPr>
            <p:cNvPr name="Freeform 45" id="45"/>
            <p:cNvSpPr/>
            <p:nvPr/>
          </p:nvSpPr>
          <p:spPr>
            <a:xfrm flipH="false" flipV="false" rot="0">
              <a:off x="0" y="0"/>
              <a:ext cx="1963755" cy="759790"/>
            </a:xfrm>
            <a:custGeom>
              <a:avLst/>
              <a:gdLst/>
              <a:ahLst/>
              <a:cxnLst/>
              <a:rect r="r" b="b" t="t" l="l"/>
              <a:pathLst>
                <a:path h="759790" w="1963755">
                  <a:moveTo>
                    <a:pt x="69405" y="0"/>
                  </a:moveTo>
                  <a:lnTo>
                    <a:pt x="1894350" y="0"/>
                  </a:lnTo>
                  <a:cubicBezTo>
                    <a:pt x="1932681" y="0"/>
                    <a:pt x="1963755" y="31074"/>
                    <a:pt x="1963755" y="69405"/>
                  </a:cubicBezTo>
                  <a:lnTo>
                    <a:pt x="1963755" y="690385"/>
                  </a:lnTo>
                  <a:cubicBezTo>
                    <a:pt x="1963755" y="728716"/>
                    <a:pt x="1932681" y="759790"/>
                    <a:pt x="1894350" y="759790"/>
                  </a:cubicBezTo>
                  <a:lnTo>
                    <a:pt x="69405" y="759790"/>
                  </a:lnTo>
                  <a:cubicBezTo>
                    <a:pt x="31074" y="759790"/>
                    <a:pt x="0" y="728716"/>
                    <a:pt x="0" y="690385"/>
                  </a:cubicBezTo>
                  <a:lnTo>
                    <a:pt x="0" y="69405"/>
                  </a:lnTo>
                  <a:cubicBezTo>
                    <a:pt x="0" y="31074"/>
                    <a:pt x="31074" y="0"/>
                    <a:pt x="69405" y="0"/>
                  </a:cubicBezTo>
                  <a:close/>
                </a:path>
              </a:pathLst>
            </a:custGeom>
            <a:solidFill>
              <a:srgbClr val="B4B4B4">
                <a:alpha val="29804"/>
              </a:srgbClr>
            </a:solidFill>
          </p:spPr>
        </p:sp>
        <p:sp>
          <p:nvSpPr>
            <p:cNvPr name="TextBox 46" id="46"/>
            <p:cNvSpPr txBox="true"/>
            <p:nvPr/>
          </p:nvSpPr>
          <p:spPr>
            <a:xfrm>
              <a:off x="0" y="-38100"/>
              <a:ext cx="1963755" cy="797890"/>
            </a:xfrm>
            <a:prstGeom prst="rect">
              <a:avLst/>
            </a:prstGeom>
          </p:spPr>
          <p:txBody>
            <a:bodyPr anchor="ctr" rtlCol="false" tIns="44080" lIns="44080" bIns="44080" rIns="44080"/>
            <a:lstStyle/>
            <a:p>
              <a:pPr algn="ctr">
                <a:lnSpc>
                  <a:spcPts val="2660"/>
                </a:lnSpc>
              </a:pPr>
            </a:p>
          </p:txBody>
        </p:sp>
      </p:grpSp>
      <p:grpSp>
        <p:nvGrpSpPr>
          <p:cNvPr name="Group 47" id="47"/>
          <p:cNvGrpSpPr/>
          <p:nvPr/>
        </p:nvGrpSpPr>
        <p:grpSpPr>
          <a:xfrm rot="0">
            <a:off x="7792056" y="5668942"/>
            <a:ext cx="2798746" cy="2299617"/>
            <a:chOff x="0" y="0"/>
            <a:chExt cx="615934" cy="506088"/>
          </a:xfrm>
        </p:grpSpPr>
        <p:sp>
          <p:nvSpPr>
            <p:cNvPr name="Freeform 48" id="48"/>
            <p:cNvSpPr/>
            <p:nvPr/>
          </p:nvSpPr>
          <p:spPr>
            <a:xfrm flipH="false" flipV="false" rot="0">
              <a:off x="0" y="0"/>
              <a:ext cx="615934" cy="506088"/>
            </a:xfrm>
            <a:custGeom>
              <a:avLst/>
              <a:gdLst/>
              <a:ahLst/>
              <a:cxnLst/>
              <a:rect r="r" b="b" t="t" l="l"/>
              <a:pathLst>
                <a:path h="506088" w="615934">
                  <a:moveTo>
                    <a:pt x="143843" y="0"/>
                  </a:moveTo>
                  <a:lnTo>
                    <a:pt x="472091" y="0"/>
                  </a:lnTo>
                  <a:cubicBezTo>
                    <a:pt x="510240" y="0"/>
                    <a:pt x="546827" y="15155"/>
                    <a:pt x="573803" y="42131"/>
                  </a:cubicBezTo>
                  <a:cubicBezTo>
                    <a:pt x="600779" y="69106"/>
                    <a:pt x="615934" y="105693"/>
                    <a:pt x="615934" y="143843"/>
                  </a:cubicBezTo>
                  <a:lnTo>
                    <a:pt x="615934" y="362245"/>
                  </a:lnTo>
                  <a:cubicBezTo>
                    <a:pt x="615934" y="400395"/>
                    <a:pt x="600779" y="436982"/>
                    <a:pt x="573803" y="463957"/>
                  </a:cubicBezTo>
                  <a:cubicBezTo>
                    <a:pt x="546827" y="490933"/>
                    <a:pt x="510240" y="506088"/>
                    <a:pt x="472091" y="506088"/>
                  </a:cubicBezTo>
                  <a:lnTo>
                    <a:pt x="143843" y="506088"/>
                  </a:lnTo>
                  <a:cubicBezTo>
                    <a:pt x="105693" y="506088"/>
                    <a:pt x="69106" y="490933"/>
                    <a:pt x="42131" y="463957"/>
                  </a:cubicBezTo>
                  <a:cubicBezTo>
                    <a:pt x="15155" y="436982"/>
                    <a:pt x="0" y="400395"/>
                    <a:pt x="0" y="362245"/>
                  </a:cubicBezTo>
                  <a:lnTo>
                    <a:pt x="0" y="143843"/>
                  </a:lnTo>
                  <a:cubicBezTo>
                    <a:pt x="0" y="105693"/>
                    <a:pt x="15155" y="69106"/>
                    <a:pt x="42131" y="42131"/>
                  </a:cubicBezTo>
                  <a:cubicBezTo>
                    <a:pt x="69106" y="15155"/>
                    <a:pt x="105693" y="0"/>
                    <a:pt x="143843" y="0"/>
                  </a:cubicBezTo>
                  <a:close/>
                </a:path>
              </a:pathLst>
            </a:custGeom>
            <a:blipFill>
              <a:blip r:embed="rId9"/>
              <a:stretch>
                <a:fillRect l="-11568" t="0" r="-11568" b="0"/>
              </a:stretch>
            </a:blipFill>
            <a:ln cap="rnd">
              <a:noFill/>
              <a:prstDash val="solid"/>
              <a:round/>
            </a:ln>
          </p:spPr>
        </p:sp>
      </p:grpSp>
      <p:grpSp>
        <p:nvGrpSpPr>
          <p:cNvPr name="Group 49" id="49"/>
          <p:cNvGrpSpPr/>
          <p:nvPr/>
        </p:nvGrpSpPr>
        <p:grpSpPr>
          <a:xfrm rot="0">
            <a:off x="7949395" y="5839428"/>
            <a:ext cx="548076" cy="532435"/>
            <a:chOff x="0" y="0"/>
            <a:chExt cx="836677" cy="812800"/>
          </a:xfrm>
        </p:grpSpPr>
        <p:sp>
          <p:nvSpPr>
            <p:cNvPr name="Freeform 50" id="50"/>
            <p:cNvSpPr/>
            <p:nvPr/>
          </p:nvSpPr>
          <p:spPr>
            <a:xfrm flipH="false" flipV="false" rot="0">
              <a:off x="0" y="0"/>
              <a:ext cx="836677" cy="812800"/>
            </a:xfrm>
            <a:custGeom>
              <a:avLst/>
              <a:gdLst/>
              <a:ahLst/>
              <a:cxnLst/>
              <a:rect r="r" b="b" t="t" l="l"/>
              <a:pathLst>
                <a:path h="812800" w="836677">
                  <a:moveTo>
                    <a:pt x="418339" y="0"/>
                  </a:moveTo>
                  <a:cubicBezTo>
                    <a:pt x="187297" y="0"/>
                    <a:pt x="0" y="181951"/>
                    <a:pt x="0" y="406400"/>
                  </a:cubicBezTo>
                  <a:cubicBezTo>
                    <a:pt x="0" y="630849"/>
                    <a:pt x="187297" y="812800"/>
                    <a:pt x="418339" y="812800"/>
                  </a:cubicBezTo>
                  <a:cubicBezTo>
                    <a:pt x="649381" y="812800"/>
                    <a:pt x="836677" y="630849"/>
                    <a:pt x="836677" y="406400"/>
                  </a:cubicBezTo>
                  <a:cubicBezTo>
                    <a:pt x="836677" y="181951"/>
                    <a:pt x="649381" y="0"/>
                    <a:pt x="418339" y="0"/>
                  </a:cubicBezTo>
                  <a:close/>
                </a:path>
              </a:pathLst>
            </a:custGeom>
            <a:solidFill>
              <a:srgbClr val="468D5E"/>
            </a:solidFill>
          </p:spPr>
        </p:sp>
        <p:sp>
          <p:nvSpPr>
            <p:cNvPr name="TextBox 51" id="51"/>
            <p:cNvSpPr txBox="true"/>
            <p:nvPr/>
          </p:nvSpPr>
          <p:spPr>
            <a:xfrm>
              <a:off x="78438" y="38100"/>
              <a:ext cx="679800" cy="698500"/>
            </a:xfrm>
            <a:prstGeom prst="rect">
              <a:avLst/>
            </a:prstGeom>
          </p:spPr>
          <p:txBody>
            <a:bodyPr anchor="ctr" rtlCol="false" tIns="44080" lIns="44080" bIns="44080" rIns="44080"/>
            <a:lstStyle/>
            <a:p>
              <a:pPr algn="ctr">
                <a:lnSpc>
                  <a:spcPts val="2660"/>
                </a:lnSpc>
              </a:pPr>
            </a:p>
          </p:txBody>
        </p:sp>
      </p:grpSp>
      <p:sp>
        <p:nvSpPr>
          <p:cNvPr name="TextBox 52" id="52"/>
          <p:cNvSpPr txBox="true"/>
          <p:nvPr/>
        </p:nvSpPr>
        <p:spPr>
          <a:xfrm rot="0">
            <a:off x="7900338" y="5858553"/>
            <a:ext cx="646190" cy="453674"/>
          </a:xfrm>
          <a:prstGeom prst="rect">
            <a:avLst/>
          </a:prstGeom>
        </p:spPr>
        <p:txBody>
          <a:bodyPr anchor="t" rtlCol="false" tIns="0" lIns="0" bIns="0" rIns="0">
            <a:spAutoFit/>
          </a:bodyPr>
          <a:lstStyle/>
          <a:p>
            <a:pPr algn="ctr">
              <a:lnSpc>
                <a:spcPts val="3359"/>
              </a:lnSpc>
            </a:pPr>
            <a:r>
              <a:rPr lang="en-US" sz="2776" b="true">
                <a:solidFill>
                  <a:srgbClr val="F9F7F4"/>
                </a:solidFill>
                <a:latin typeface="Telegraf Bold"/>
                <a:ea typeface="Telegraf Bold"/>
                <a:cs typeface="Telegraf Bold"/>
                <a:sym typeface="Telegraf Bold"/>
              </a:rPr>
              <a:t>4</a:t>
            </a:r>
          </a:p>
        </p:txBody>
      </p:sp>
      <p:sp>
        <p:nvSpPr>
          <p:cNvPr name="TextBox 53" id="53"/>
          <p:cNvSpPr txBox="true"/>
          <p:nvPr/>
        </p:nvSpPr>
        <p:spPr>
          <a:xfrm rot="0">
            <a:off x="10905300" y="6400794"/>
            <a:ext cx="2843603" cy="1059927"/>
          </a:xfrm>
          <a:prstGeom prst="rect">
            <a:avLst/>
          </a:prstGeom>
        </p:spPr>
        <p:txBody>
          <a:bodyPr anchor="t" rtlCol="false" tIns="0" lIns="0" bIns="0" rIns="0">
            <a:spAutoFit/>
          </a:bodyPr>
          <a:lstStyle/>
          <a:p>
            <a:pPr algn="l">
              <a:lnSpc>
                <a:spcPts val="1679"/>
              </a:lnSpc>
            </a:pPr>
            <a:r>
              <a:rPr lang="en-US" sz="1388" spc="106">
                <a:solidFill>
                  <a:srgbClr val="202121"/>
                </a:solidFill>
                <a:latin typeface="Telegraf Extra-Light"/>
                <a:ea typeface="Telegraf Extra-Light"/>
                <a:cs typeface="Telegraf Extra-Light"/>
                <a:sym typeface="Telegraf Extra-Light"/>
              </a:rPr>
              <a:t>Limited understanding of bi</a:t>
            </a:r>
            <a:r>
              <a:rPr lang="en-US" sz="1388" spc="106">
                <a:solidFill>
                  <a:srgbClr val="202121"/>
                </a:solidFill>
                <a:latin typeface="Telegraf Extra-Light"/>
                <a:ea typeface="Telegraf Extra-Light"/>
                <a:cs typeface="Telegraf Extra-Light"/>
                <a:sym typeface="Telegraf Extra-Light"/>
              </a:rPr>
              <a:t>otechnology among the general public can lead to misconceptions, highlighting the importance of education.</a:t>
            </a:r>
          </a:p>
        </p:txBody>
      </p:sp>
      <p:sp>
        <p:nvSpPr>
          <p:cNvPr name="TextBox 54" id="54"/>
          <p:cNvSpPr txBox="true"/>
          <p:nvPr/>
        </p:nvSpPr>
        <p:spPr>
          <a:xfrm rot="0">
            <a:off x="10905300" y="5911834"/>
            <a:ext cx="2584519" cy="349522"/>
          </a:xfrm>
          <a:prstGeom prst="rect">
            <a:avLst/>
          </a:prstGeom>
        </p:spPr>
        <p:txBody>
          <a:bodyPr anchor="t" rtlCol="false" tIns="0" lIns="0" bIns="0" rIns="0">
            <a:spAutoFit/>
          </a:bodyPr>
          <a:lstStyle/>
          <a:p>
            <a:pPr algn="l">
              <a:lnSpc>
                <a:spcPts val="2519"/>
              </a:lnSpc>
            </a:pPr>
            <a:r>
              <a:rPr lang="en-US" sz="2082" b="true">
                <a:solidFill>
                  <a:srgbClr val="468D5E"/>
                </a:solidFill>
                <a:latin typeface="Telegraf Bold"/>
                <a:ea typeface="Telegraf Bold"/>
                <a:cs typeface="Telegraf Bold"/>
                <a:sym typeface="Telegraf Bold"/>
              </a:rPr>
              <a:t>Public Awareness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9941"/>
        </a:solidFill>
      </p:bgPr>
    </p:bg>
    <p:spTree>
      <p:nvGrpSpPr>
        <p:cNvPr id="1" name=""/>
        <p:cNvGrpSpPr/>
        <p:nvPr/>
      </p:nvGrpSpPr>
      <p:grpSpPr>
        <a:xfrm>
          <a:off x="0" y="0"/>
          <a:ext cx="0" cy="0"/>
          <a:chOff x="0" y="0"/>
          <a:chExt cx="0" cy="0"/>
        </a:xfrm>
      </p:grpSpPr>
      <p:grpSp>
        <p:nvGrpSpPr>
          <p:cNvPr name="Group 2" id="2"/>
          <p:cNvGrpSpPr/>
          <p:nvPr/>
        </p:nvGrpSpPr>
        <p:grpSpPr>
          <a:xfrm rot="0">
            <a:off x="827990" y="558499"/>
            <a:ext cx="16632020" cy="9170002"/>
            <a:chOff x="0" y="0"/>
            <a:chExt cx="22176027" cy="12226669"/>
          </a:xfrm>
        </p:grpSpPr>
        <p:sp>
          <p:nvSpPr>
            <p:cNvPr name="Freeform 3" id="3"/>
            <p:cNvSpPr/>
            <p:nvPr/>
          </p:nvSpPr>
          <p:spPr>
            <a:xfrm flipH="true" flipV="false" rot="0">
              <a:off x="0" y="0"/>
              <a:ext cx="14217057" cy="12226669"/>
            </a:xfrm>
            <a:custGeom>
              <a:avLst/>
              <a:gdLst/>
              <a:ahLst/>
              <a:cxnLst/>
              <a:rect r="r" b="b" t="t" l="l"/>
              <a:pathLst>
                <a:path h="12226669" w="14217057">
                  <a:moveTo>
                    <a:pt x="14217057" y="0"/>
                  </a:moveTo>
                  <a:lnTo>
                    <a:pt x="0" y="0"/>
                  </a:lnTo>
                  <a:lnTo>
                    <a:pt x="0" y="12226669"/>
                  </a:lnTo>
                  <a:lnTo>
                    <a:pt x="14217057" y="12226669"/>
                  </a:lnTo>
                  <a:lnTo>
                    <a:pt x="142170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958970" y="0"/>
              <a:ext cx="14217057" cy="12226669"/>
            </a:xfrm>
            <a:custGeom>
              <a:avLst/>
              <a:gdLst/>
              <a:ahLst/>
              <a:cxnLst/>
              <a:rect r="r" b="b" t="t" l="l"/>
              <a:pathLst>
                <a:path h="12226669" w="14217057">
                  <a:moveTo>
                    <a:pt x="0" y="0"/>
                  </a:moveTo>
                  <a:lnTo>
                    <a:pt x="14217057" y="0"/>
                  </a:lnTo>
                  <a:lnTo>
                    <a:pt x="14217057" y="12226669"/>
                  </a:lnTo>
                  <a:lnTo>
                    <a:pt x="0" y="122266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7593829" y="1028700"/>
            <a:ext cx="607020" cy="607020"/>
          </a:xfrm>
          <a:custGeom>
            <a:avLst/>
            <a:gdLst/>
            <a:ahLst/>
            <a:cxnLst/>
            <a:rect r="r" b="b" t="t" l="l"/>
            <a:pathLst>
              <a:path h="607020" w="607020">
                <a:moveTo>
                  <a:pt x="0" y="0"/>
                </a:moveTo>
                <a:lnTo>
                  <a:pt x="607020" y="0"/>
                </a:lnTo>
                <a:lnTo>
                  <a:pt x="607020" y="607020"/>
                </a:lnTo>
                <a:lnTo>
                  <a:pt x="0" y="6070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8447164" y="1081575"/>
            <a:ext cx="2546309" cy="463169"/>
          </a:xfrm>
          <a:prstGeom prst="rect">
            <a:avLst/>
          </a:prstGeom>
        </p:spPr>
        <p:txBody>
          <a:bodyPr anchor="t" rtlCol="false" tIns="0" lIns="0" bIns="0" rIns="0">
            <a:spAutoFit/>
          </a:bodyPr>
          <a:lstStyle/>
          <a:p>
            <a:pPr algn="l">
              <a:lnSpc>
                <a:spcPts val="3387"/>
              </a:lnSpc>
            </a:pPr>
            <a:r>
              <a:rPr lang="en-US" sz="2799" b="true">
                <a:solidFill>
                  <a:srgbClr val="000000"/>
                </a:solidFill>
                <a:latin typeface="Telegraf Medium"/>
                <a:ea typeface="Telegraf Medium"/>
                <a:cs typeface="Telegraf Medium"/>
                <a:sym typeface="Telegraf Medium"/>
              </a:rPr>
              <a:t>Wardiere Inc.</a:t>
            </a:r>
          </a:p>
        </p:txBody>
      </p:sp>
      <p:grpSp>
        <p:nvGrpSpPr>
          <p:cNvPr name="Group 7" id="7"/>
          <p:cNvGrpSpPr/>
          <p:nvPr/>
        </p:nvGrpSpPr>
        <p:grpSpPr>
          <a:xfrm rot="0">
            <a:off x="12446289" y="2749945"/>
            <a:ext cx="5449552" cy="5916400"/>
            <a:chOff x="0" y="0"/>
            <a:chExt cx="1040651" cy="1129801"/>
          </a:xfrm>
        </p:grpSpPr>
        <p:sp>
          <p:nvSpPr>
            <p:cNvPr name="Freeform 8" id="8"/>
            <p:cNvSpPr/>
            <p:nvPr/>
          </p:nvSpPr>
          <p:spPr>
            <a:xfrm flipH="false" flipV="false" rot="0">
              <a:off x="0" y="0"/>
              <a:ext cx="1040651" cy="1129801"/>
            </a:xfrm>
            <a:custGeom>
              <a:avLst/>
              <a:gdLst/>
              <a:ahLst/>
              <a:cxnLst/>
              <a:rect r="r" b="b" t="t" l="l"/>
              <a:pathLst>
                <a:path h="1129801" w="1040651">
                  <a:moveTo>
                    <a:pt x="83819" y="0"/>
                  </a:moveTo>
                  <a:lnTo>
                    <a:pt x="956832" y="0"/>
                  </a:lnTo>
                  <a:cubicBezTo>
                    <a:pt x="1003124" y="0"/>
                    <a:pt x="1040651" y="37527"/>
                    <a:pt x="1040651" y="83819"/>
                  </a:cubicBezTo>
                  <a:lnTo>
                    <a:pt x="1040651" y="1045982"/>
                  </a:lnTo>
                  <a:cubicBezTo>
                    <a:pt x="1040651" y="1092274"/>
                    <a:pt x="1003124" y="1129801"/>
                    <a:pt x="956832" y="1129801"/>
                  </a:cubicBezTo>
                  <a:lnTo>
                    <a:pt x="83819" y="1129801"/>
                  </a:lnTo>
                  <a:cubicBezTo>
                    <a:pt x="37527" y="1129801"/>
                    <a:pt x="0" y="1092274"/>
                    <a:pt x="0" y="1045982"/>
                  </a:cubicBezTo>
                  <a:lnTo>
                    <a:pt x="0" y="83819"/>
                  </a:lnTo>
                  <a:cubicBezTo>
                    <a:pt x="0" y="37527"/>
                    <a:pt x="37527" y="0"/>
                    <a:pt x="83819" y="0"/>
                  </a:cubicBezTo>
                  <a:close/>
                </a:path>
              </a:pathLst>
            </a:custGeom>
            <a:blipFill>
              <a:blip r:embed="rId6"/>
              <a:stretch>
                <a:fillRect l="-31351" t="0" r="-31351" b="0"/>
              </a:stretch>
            </a:blipFill>
            <a:ln w="123825" cap="rnd">
              <a:solidFill>
                <a:srgbClr val="F9F7F4"/>
              </a:solidFill>
              <a:prstDash val="solid"/>
              <a:round/>
            </a:ln>
          </p:spPr>
        </p:sp>
      </p:grpSp>
      <p:grpSp>
        <p:nvGrpSpPr>
          <p:cNvPr name="Group 9" id="9"/>
          <p:cNvGrpSpPr/>
          <p:nvPr/>
        </p:nvGrpSpPr>
        <p:grpSpPr>
          <a:xfrm rot="0">
            <a:off x="9689957" y="2281241"/>
            <a:ext cx="3581632" cy="3426905"/>
            <a:chOff x="0" y="0"/>
            <a:chExt cx="1040651" cy="995695"/>
          </a:xfrm>
        </p:grpSpPr>
        <p:sp>
          <p:nvSpPr>
            <p:cNvPr name="Freeform 10" id="10"/>
            <p:cNvSpPr/>
            <p:nvPr/>
          </p:nvSpPr>
          <p:spPr>
            <a:xfrm flipH="false" flipV="false" rot="0">
              <a:off x="0" y="0"/>
              <a:ext cx="1040651" cy="995695"/>
            </a:xfrm>
            <a:custGeom>
              <a:avLst/>
              <a:gdLst/>
              <a:ahLst/>
              <a:cxnLst/>
              <a:rect r="r" b="b" t="t" l="l"/>
              <a:pathLst>
                <a:path h="995695" w="1040651">
                  <a:moveTo>
                    <a:pt x="127532" y="0"/>
                  </a:moveTo>
                  <a:lnTo>
                    <a:pt x="913119" y="0"/>
                  </a:lnTo>
                  <a:cubicBezTo>
                    <a:pt x="983553" y="0"/>
                    <a:pt x="1040651" y="57098"/>
                    <a:pt x="1040651" y="127532"/>
                  </a:cubicBezTo>
                  <a:lnTo>
                    <a:pt x="1040651" y="868163"/>
                  </a:lnTo>
                  <a:cubicBezTo>
                    <a:pt x="1040651" y="938597"/>
                    <a:pt x="983553" y="995695"/>
                    <a:pt x="913119" y="995695"/>
                  </a:cubicBezTo>
                  <a:lnTo>
                    <a:pt x="127532" y="995695"/>
                  </a:lnTo>
                  <a:cubicBezTo>
                    <a:pt x="57098" y="995695"/>
                    <a:pt x="0" y="938597"/>
                    <a:pt x="0" y="868163"/>
                  </a:cubicBezTo>
                  <a:lnTo>
                    <a:pt x="0" y="127532"/>
                  </a:lnTo>
                  <a:cubicBezTo>
                    <a:pt x="0" y="57098"/>
                    <a:pt x="57098" y="0"/>
                    <a:pt x="127532" y="0"/>
                  </a:cubicBezTo>
                  <a:close/>
                </a:path>
              </a:pathLst>
            </a:custGeom>
            <a:blipFill>
              <a:blip r:embed="rId7"/>
              <a:stretch>
                <a:fillRect l="-13045" t="-14540" r="-1882" b="-65472"/>
              </a:stretch>
            </a:blipFill>
            <a:ln w="123825" cap="rnd">
              <a:solidFill>
                <a:srgbClr val="F9F7F4"/>
              </a:solidFill>
              <a:prstDash val="solid"/>
              <a:round/>
            </a:ln>
          </p:spPr>
        </p:sp>
      </p:grpSp>
      <p:sp>
        <p:nvSpPr>
          <p:cNvPr name="TextBox 11" id="11"/>
          <p:cNvSpPr txBox="true"/>
          <p:nvPr/>
        </p:nvSpPr>
        <p:spPr>
          <a:xfrm rot="0">
            <a:off x="1645223" y="2874057"/>
            <a:ext cx="9147601" cy="1889887"/>
          </a:xfrm>
          <a:prstGeom prst="rect">
            <a:avLst/>
          </a:prstGeom>
        </p:spPr>
        <p:txBody>
          <a:bodyPr anchor="t" rtlCol="false" tIns="0" lIns="0" bIns="0" rIns="0">
            <a:spAutoFit/>
          </a:bodyPr>
          <a:lstStyle/>
          <a:p>
            <a:pPr algn="l">
              <a:lnSpc>
                <a:spcPts val="7004"/>
              </a:lnSpc>
            </a:pPr>
            <a:r>
              <a:rPr lang="en-US" b="true" sz="6800" spc="102">
                <a:solidFill>
                  <a:srgbClr val="149941"/>
                </a:solidFill>
                <a:latin typeface="Telegraf Bold"/>
                <a:ea typeface="Telegraf Bold"/>
                <a:cs typeface="Telegraf Bold"/>
                <a:sym typeface="Telegraf Bold"/>
              </a:rPr>
              <a:t>Future of Biotechnology</a:t>
            </a:r>
          </a:p>
        </p:txBody>
      </p:sp>
      <p:sp>
        <p:nvSpPr>
          <p:cNvPr name="TextBox 12" id="12"/>
          <p:cNvSpPr txBox="true"/>
          <p:nvPr/>
        </p:nvSpPr>
        <p:spPr>
          <a:xfrm rot="0">
            <a:off x="1645223" y="4725844"/>
            <a:ext cx="6595254" cy="463169"/>
          </a:xfrm>
          <a:prstGeom prst="rect">
            <a:avLst/>
          </a:prstGeom>
        </p:spPr>
        <p:txBody>
          <a:bodyPr anchor="t" rtlCol="false" tIns="0" lIns="0" bIns="0" rIns="0">
            <a:spAutoFit/>
          </a:bodyPr>
          <a:lstStyle/>
          <a:p>
            <a:pPr algn="l">
              <a:lnSpc>
                <a:spcPts val="3387"/>
              </a:lnSpc>
            </a:pPr>
            <a:r>
              <a:rPr lang="en-US" sz="2799">
                <a:solidFill>
                  <a:srgbClr val="202121"/>
                </a:solidFill>
                <a:latin typeface="Telegraf"/>
                <a:ea typeface="Telegraf"/>
                <a:cs typeface="Telegraf"/>
                <a:sym typeface="Telegraf"/>
              </a:rPr>
              <a:t>Innovation Shaping Tomorrow</a:t>
            </a:r>
          </a:p>
        </p:txBody>
      </p:sp>
      <p:sp>
        <p:nvSpPr>
          <p:cNvPr name="TextBox 13" id="13"/>
          <p:cNvSpPr txBox="true"/>
          <p:nvPr/>
        </p:nvSpPr>
        <p:spPr>
          <a:xfrm rot="0">
            <a:off x="1645223" y="5470739"/>
            <a:ext cx="7132888" cy="1864360"/>
          </a:xfrm>
          <a:prstGeom prst="rect">
            <a:avLst/>
          </a:prstGeom>
        </p:spPr>
        <p:txBody>
          <a:bodyPr anchor="t" rtlCol="false" tIns="0" lIns="0" bIns="0" rIns="0">
            <a:spAutoFit/>
          </a:bodyPr>
          <a:lstStyle/>
          <a:p>
            <a:pPr algn="just">
              <a:lnSpc>
                <a:spcPts val="2420"/>
              </a:lnSpc>
            </a:pPr>
            <a:r>
              <a:rPr lang="en-US" sz="2000" spc="154">
                <a:solidFill>
                  <a:srgbClr val="737373"/>
                </a:solidFill>
                <a:latin typeface="Telegraf"/>
                <a:ea typeface="Telegraf"/>
                <a:cs typeface="Telegraf"/>
                <a:sym typeface="Telegraf"/>
              </a:rPr>
              <a:t>The future of b</a:t>
            </a:r>
            <a:r>
              <a:rPr lang="en-US" sz="2000" spc="154">
                <a:solidFill>
                  <a:srgbClr val="737373"/>
                </a:solidFill>
                <a:latin typeface="Telegraf"/>
                <a:ea typeface="Telegraf"/>
                <a:cs typeface="Telegraf"/>
                <a:sym typeface="Telegraf"/>
              </a:rPr>
              <a:t>iotechnology is expected to drive major advancements across healthcare, agriculture, industry, and environmental sustainability. Emerging technologies such as gene editing, synthetic biology, and artificial intelligence are enabling more precise and efficient biological solutions.</a:t>
            </a:r>
          </a:p>
        </p:txBody>
      </p:sp>
      <p:sp>
        <p:nvSpPr>
          <p:cNvPr name="TextBox 14" id="14"/>
          <p:cNvSpPr txBox="true"/>
          <p:nvPr/>
        </p:nvSpPr>
        <p:spPr>
          <a:xfrm rot="0">
            <a:off x="1645223" y="7620849"/>
            <a:ext cx="7132888" cy="949960"/>
          </a:xfrm>
          <a:prstGeom prst="rect">
            <a:avLst/>
          </a:prstGeom>
        </p:spPr>
        <p:txBody>
          <a:bodyPr anchor="t" rtlCol="false" tIns="0" lIns="0" bIns="0" rIns="0">
            <a:spAutoFit/>
          </a:bodyPr>
          <a:lstStyle/>
          <a:p>
            <a:pPr algn="just">
              <a:lnSpc>
                <a:spcPts val="2420"/>
              </a:lnSpc>
            </a:pPr>
            <a:r>
              <a:rPr lang="en-US" sz="2000" spc="154">
                <a:solidFill>
                  <a:srgbClr val="737373"/>
                </a:solidFill>
                <a:latin typeface="Telegraf"/>
                <a:ea typeface="Telegraf"/>
                <a:cs typeface="Telegraf"/>
                <a:sym typeface="Telegraf"/>
              </a:rPr>
              <a:t>These </a:t>
            </a:r>
            <a:r>
              <a:rPr lang="en-US" sz="2000" spc="154">
                <a:solidFill>
                  <a:srgbClr val="737373"/>
                </a:solidFill>
                <a:latin typeface="Telegraf"/>
                <a:ea typeface="Telegraf"/>
                <a:cs typeface="Telegraf"/>
                <a:sym typeface="Telegraf"/>
              </a:rPr>
              <a:t>innovations support the development of personalized medicine, improved crop resilience, and sustainable food alternatives.</a:t>
            </a:r>
          </a:p>
        </p:txBody>
      </p:sp>
      <p:grpSp>
        <p:nvGrpSpPr>
          <p:cNvPr name="Group 15" id="15"/>
          <p:cNvGrpSpPr/>
          <p:nvPr/>
        </p:nvGrpSpPr>
        <p:grpSpPr>
          <a:xfrm rot="0">
            <a:off x="10993472" y="5708146"/>
            <a:ext cx="1450263" cy="1199918"/>
            <a:chOff x="0" y="0"/>
            <a:chExt cx="381962" cy="316028"/>
          </a:xfrm>
        </p:grpSpPr>
        <p:sp>
          <p:nvSpPr>
            <p:cNvPr name="Freeform 16" id="16"/>
            <p:cNvSpPr/>
            <p:nvPr/>
          </p:nvSpPr>
          <p:spPr>
            <a:xfrm flipH="false" flipV="false" rot="0">
              <a:off x="0" y="0"/>
              <a:ext cx="381962" cy="316028"/>
            </a:xfrm>
            <a:custGeom>
              <a:avLst/>
              <a:gdLst/>
              <a:ahLst/>
              <a:cxnLst/>
              <a:rect r="r" b="b" t="t" l="l"/>
              <a:pathLst>
                <a:path h="316028" w="381962">
                  <a:moveTo>
                    <a:pt x="133457" y="0"/>
                  </a:moveTo>
                  <a:lnTo>
                    <a:pt x="248505" y="0"/>
                  </a:lnTo>
                  <a:cubicBezTo>
                    <a:pt x="322211" y="0"/>
                    <a:pt x="381962" y="59751"/>
                    <a:pt x="381962" y="133457"/>
                  </a:cubicBezTo>
                  <a:lnTo>
                    <a:pt x="381962" y="182571"/>
                  </a:lnTo>
                  <a:cubicBezTo>
                    <a:pt x="381962" y="256277"/>
                    <a:pt x="322211" y="316028"/>
                    <a:pt x="248505" y="316028"/>
                  </a:cubicBezTo>
                  <a:lnTo>
                    <a:pt x="133457" y="316028"/>
                  </a:lnTo>
                  <a:cubicBezTo>
                    <a:pt x="59751" y="316028"/>
                    <a:pt x="0" y="256277"/>
                    <a:pt x="0" y="182571"/>
                  </a:cubicBezTo>
                  <a:lnTo>
                    <a:pt x="0" y="133457"/>
                  </a:lnTo>
                  <a:cubicBezTo>
                    <a:pt x="0" y="59751"/>
                    <a:pt x="59751" y="0"/>
                    <a:pt x="133457" y="0"/>
                  </a:cubicBezTo>
                  <a:close/>
                </a:path>
              </a:pathLst>
            </a:custGeom>
            <a:solidFill>
              <a:srgbClr val="149941"/>
            </a:solidFill>
          </p:spPr>
        </p:sp>
        <p:sp>
          <p:nvSpPr>
            <p:cNvPr name="TextBox 17" id="17"/>
            <p:cNvSpPr txBox="true"/>
            <p:nvPr/>
          </p:nvSpPr>
          <p:spPr>
            <a:xfrm>
              <a:off x="0" y="-38100"/>
              <a:ext cx="381962" cy="354128"/>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7F4"/>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607020" cy="607020"/>
          </a:xfrm>
          <a:custGeom>
            <a:avLst/>
            <a:gdLst/>
            <a:ahLst/>
            <a:cxnLst/>
            <a:rect r="r" b="b" t="t" l="l"/>
            <a:pathLst>
              <a:path h="607020" w="607020">
                <a:moveTo>
                  <a:pt x="0" y="0"/>
                </a:moveTo>
                <a:lnTo>
                  <a:pt x="607020" y="0"/>
                </a:lnTo>
                <a:lnTo>
                  <a:pt x="607020" y="607020"/>
                </a:lnTo>
                <a:lnTo>
                  <a:pt x="0" y="607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82034" y="1081575"/>
            <a:ext cx="2845611" cy="463169"/>
          </a:xfrm>
          <a:prstGeom prst="rect">
            <a:avLst/>
          </a:prstGeom>
        </p:spPr>
        <p:txBody>
          <a:bodyPr anchor="t" rtlCol="false" tIns="0" lIns="0" bIns="0" rIns="0">
            <a:spAutoFit/>
          </a:bodyPr>
          <a:lstStyle/>
          <a:p>
            <a:pPr algn="l">
              <a:lnSpc>
                <a:spcPts val="3387"/>
              </a:lnSpc>
            </a:pPr>
            <a:r>
              <a:rPr lang="en-US" sz="2799" b="true">
                <a:solidFill>
                  <a:srgbClr val="000000"/>
                </a:solidFill>
                <a:latin typeface="Telegraf Medium"/>
                <a:ea typeface="Telegraf Medium"/>
                <a:cs typeface="Telegraf Medium"/>
                <a:sym typeface="Telegraf Medium"/>
              </a:rPr>
              <a:t>Wardiere Inc.</a:t>
            </a:r>
          </a:p>
        </p:txBody>
      </p:sp>
      <p:grpSp>
        <p:nvGrpSpPr>
          <p:cNvPr name="Group 4" id="4"/>
          <p:cNvGrpSpPr/>
          <p:nvPr/>
        </p:nvGrpSpPr>
        <p:grpSpPr>
          <a:xfrm rot="0">
            <a:off x="10203129" y="-216222"/>
            <a:ext cx="8245697" cy="10803340"/>
            <a:chOff x="0" y="0"/>
            <a:chExt cx="835602" cy="1094789"/>
          </a:xfrm>
        </p:grpSpPr>
        <p:sp>
          <p:nvSpPr>
            <p:cNvPr name="Freeform 5" id="5"/>
            <p:cNvSpPr/>
            <p:nvPr/>
          </p:nvSpPr>
          <p:spPr>
            <a:xfrm flipH="false" flipV="false" rot="0">
              <a:off x="0" y="0"/>
              <a:ext cx="835602" cy="1094789"/>
            </a:xfrm>
            <a:custGeom>
              <a:avLst/>
              <a:gdLst/>
              <a:ahLst/>
              <a:cxnLst/>
              <a:rect r="r" b="b" t="t" l="l"/>
              <a:pathLst>
                <a:path h="1094789" w="835602">
                  <a:moveTo>
                    <a:pt x="0" y="0"/>
                  </a:moveTo>
                  <a:lnTo>
                    <a:pt x="835602" y="0"/>
                  </a:lnTo>
                  <a:lnTo>
                    <a:pt x="835602" y="1094789"/>
                  </a:lnTo>
                  <a:lnTo>
                    <a:pt x="0" y="1094789"/>
                  </a:lnTo>
                  <a:close/>
                </a:path>
              </a:pathLst>
            </a:custGeom>
            <a:blipFill>
              <a:blip r:embed="rId4"/>
              <a:stretch>
                <a:fillRect l="-108082" t="-34879" r="-89506" b="-16682"/>
              </a:stretch>
            </a:blipFill>
            <a:ln cap="sq">
              <a:noFill/>
              <a:prstDash val="solid"/>
              <a:miter/>
            </a:ln>
          </p:spPr>
        </p:sp>
      </p:grpSp>
      <p:sp>
        <p:nvSpPr>
          <p:cNvPr name="AutoShape 6" id="6"/>
          <p:cNvSpPr/>
          <p:nvPr/>
        </p:nvSpPr>
        <p:spPr>
          <a:xfrm flipV="true">
            <a:off x="0" y="9725067"/>
            <a:ext cx="19109209" cy="0"/>
          </a:xfrm>
          <a:prstGeom prst="line">
            <a:avLst/>
          </a:prstGeom>
          <a:ln cap="flat" w="38100">
            <a:solidFill>
              <a:srgbClr val="B4B4B4"/>
            </a:solidFill>
            <a:prstDash val="solid"/>
            <a:headEnd type="none" len="sm" w="sm"/>
            <a:tailEnd type="none" len="sm" w="sm"/>
          </a:ln>
        </p:spPr>
      </p:sp>
      <p:grpSp>
        <p:nvGrpSpPr>
          <p:cNvPr name="Group 7" id="7"/>
          <p:cNvGrpSpPr/>
          <p:nvPr/>
        </p:nvGrpSpPr>
        <p:grpSpPr>
          <a:xfrm rot="0">
            <a:off x="9144000" y="2648999"/>
            <a:ext cx="8115300" cy="8637185"/>
            <a:chOff x="0" y="0"/>
            <a:chExt cx="10820400" cy="11516247"/>
          </a:xfrm>
        </p:grpSpPr>
        <p:sp>
          <p:nvSpPr>
            <p:cNvPr name="Freeform 8" id="8"/>
            <p:cNvSpPr/>
            <p:nvPr/>
          </p:nvSpPr>
          <p:spPr>
            <a:xfrm flipH="false" flipV="false" rot="0">
              <a:off x="0" y="0"/>
              <a:ext cx="10820400" cy="9305544"/>
            </a:xfrm>
            <a:custGeom>
              <a:avLst/>
              <a:gdLst/>
              <a:ahLst/>
              <a:cxnLst/>
              <a:rect r="r" b="b" t="t" l="l"/>
              <a:pathLst>
                <a:path h="9305544" w="10820400">
                  <a:moveTo>
                    <a:pt x="0" y="0"/>
                  </a:moveTo>
                  <a:lnTo>
                    <a:pt x="10820400" y="0"/>
                  </a:lnTo>
                  <a:lnTo>
                    <a:pt x="10820400" y="9305544"/>
                  </a:lnTo>
                  <a:lnTo>
                    <a:pt x="0" y="93055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0" y="7401447"/>
              <a:ext cx="10820400" cy="4114800"/>
              <a:chOff x="0" y="0"/>
              <a:chExt cx="2137363" cy="812800"/>
            </a:xfrm>
          </p:grpSpPr>
          <p:sp>
            <p:nvSpPr>
              <p:cNvPr name="Freeform 10" id="10"/>
              <p:cNvSpPr/>
              <p:nvPr/>
            </p:nvSpPr>
            <p:spPr>
              <a:xfrm flipH="false" flipV="false" rot="0">
                <a:off x="0" y="0"/>
                <a:ext cx="2137363" cy="812800"/>
              </a:xfrm>
              <a:custGeom>
                <a:avLst/>
                <a:gdLst/>
                <a:ahLst/>
                <a:cxnLst/>
                <a:rect r="r" b="b" t="t" l="l"/>
                <a:pathLst>
                  <a:path h="812800" w="2137363">
                    <a:moveTo>
                      <a:pt x="0" y="0"/>
                    </a:moveTo>
                    <a:lnTo>
                      <a:pt x="2137363" y="0"/>
                    </a:lnTo>
                    <a:lnTo>
                      <a:pt x="2137363" y="812800"/>
                    </a:lnTo>
                    <a:lnTo>
                      <a:pt x="0" y="812800"/>
                    </a:lnTo>
                    <a:close/>
                  </a:path>
                </a:pathLst>
              </a:custGeom>
              <a:solidFill>
                <a:srgbClr val="203330"/>
              </a:solidFill>
            </p:spPr>
          </p:sp>
          <p:sp>
            <p:nvSpPr>
              <p:cNvPr name="TextBox 11" id="11"/>
              <p:cNvSpPr txBox="true"/>
              <p:nvPr/>
            </p:nvSpPr>
            <p:spPr>
              <a:xfrm>
                <a:off x="0" y="-38100"/>
                <a:ext cx="2137363" cy="850900"/>
              </a:xfrm>
              <a:prstGeom prst="rect">
                <a:avLst/>
              </a:prstGeom>
            </p:spPr>
            <p:txBody>
              <a:bodyPr anchor="ctr" rtlCol="false" tIns="50800" lIns="50800" bIns="50800" rIns="50800"/>
              <a:lstStyle/>
              <a:p>
                <a:pPr algn="ctr">
                  <a:lnSpc>
                    <a:spcPts val="2659"/>
                  </a:lnSpc>
                </a:pPr>
              </a:p>
            </p:txBody>
          </p:sp>
        </p:grpSp>
      </p:grpSp>
      <p:sp>
        <p:nvSpPr>
          <p:cNvPr name="TextBox 12" id="12"/>
          <p:cNvSpPr txBox="true"/>
          <p:nvPr/>
        </p:nvSpPr>
        <p:spPr>
          <a:xfrm rot="0">
            <a:off x="1028700" y="2601177"/>
            <a:ext cx="7915098" cy="1889887"/>
          </a:xfrm>
          <a:prstGeom prst="rect">
            <a:avLst/>
          </a:prstGeom>
        </p:spPr>
        <p:txBody>
          <a:bodyPr anchor="t" rtlCol="false" tIns="0" lIns="0" bIns="0" rIns="0">
            <a:spAutoFit/>
          </a:bodyPr>
          <a:lstStyle/>
          <a:p>
            <a:pPr algn="l">
              <a:lnSpc>
                <a:spcPts val="7004"/>
              </a:lnSpc>
            </a:pPr>
            <a:r>
              <a:rPr lang="en-US" b="true" sz="6800" spc="102">
                <a:solidFill>
                  <a:srgbClr val="149941"/>
                </a:solidFill>
                <a:latin typeface="Telegraf Bold"/>
                <a:ea typeface="Telegraf Bold"/>
                <a:cs typeface="Telegraf Bold"/>
                <a:sym typeface="Telegraf Bold"/>
              </a:rPr>
              <a:t>Biotechnology in Everyday Life</a:t>
            </a:r>
          </a:p>
        </p:txBody>
      </p:sp>
      <p:sp>
        <p:nvSpPr>
          <p:cNvPr name="TextBox 13" id="13"/>
          <p:cNvSpPr txBox="true"/>
          <p:nvPr/>
        </p:nvSpPr>
        <p:spPr>
          <a:xfrm rot="0">
            <a:off x="1028700" y="4452964"/>
            <a:ext cx="10184949" cy="463169"/>
          </a:xfrm>
          <a:prstGeom prst="rect">
            <a:avLst/>
          </a:prstGeom>
        </p:spPr>
        <p:txBody>
          <a:bodyPr anchor="t" rtlCol="false" tIns="0" lIns="0" bIns="0" rIns="0">
            <a:spAutoFit/>
          </a:bodyPr>
          <a:lstStyle/>
          <a:p>
            <a:pPr algn="l">
              <a:lnSpc>
                <a:spcPts val="3387"/>
              </a:lnSpc>
            </a:pPr>
            <a:r>
              <a:rPr lang="en-US" sz="2799">
                <a:solidFill>
                  <a:srgbClr val="202121"/>
                </a:solidFill>
                <a:latin typeface="Telegraf"/>
                <a:ea typeface="Telegraf"/>
                <a:cs typeface="Telegraf"/>
                <a:sym typeface="Telegraf"/>
              </a:rPr>
              <a:t>Appl</a:t>
            </a:r>
            <a:r>
              <a:rPr lang="en-US" sz="2799">
                <a:solidFill>
                  <a:srgbClr val="202121"/>
                </a:solidFill>
                <a:latin typeface="Telegraf"/>
                <a:ea typeface="Telegraf"/>
                <a:cs typeface="Telegraf"/>
                <a:sym typeface="Telegraf"/>
              </a:rPr>
              <a:t>ications You Use Every Day</a:t>
            </a:r>
          </a:p>
        </p:txBody>
      </p:sp>
      <p:sp>
        <p:nvSpPr>
          <p:cNvPr name="TextBox 14" id="14"/>
          <p:cNvSpPr txBox="true"/>
          <p:nvPr/>
        </p:nvSpPr>
        <p:spPr>
          <a:xfrm rot="0">
            <a:off x="1028700" y="5411389"/>
            <a:ext cx="6090221" cy="2169160"/>
          </a:xfrm>
          <a:prstGeom prst="rect">
            <a:avLst/>
          </a:prstGeom>
        </p:spPr>
        <p:txBody>
          <a:bodyPr anchor="t" rtlCol="false" tIns="0" lIns="0" bIns="0" rIns="0">
            <a:spAutoFit/>
          </a:bodyPr>
          <a:lstStyle/>
          <a:p>
            <a:pPr algn="l">
              <a:lnSpc>
                <a:spcPts val="2420"/>
              </a:lnSpc>
            </a:pPr>
            <a:r>
              <a:rPr lang="en-US" sz="2000" spc="154">
                <a:solidFill>
                  <a:srgbClr val="737373"/>
                </a:solidFill>
                <a:latin typeface="Telegraf"/>
                <a:ea typeface="Telegraf"/>
                <a:cs typeface="Telegraf"/>
                <a:sym typeface="Telegraf"/>
              </a:rPr>
              <a:t>B</a:t>
            </a:r>
            <a:r>
              <a:rPr lang="en-US" sz="2000" spc="154">
                <a:solidFill>
                  <a:srgbClr val="737373"/>
                </a:solidFill>
                <a:latin typeface="Telegraf"/>
                <a:ea typeface="Telegraf"/>
                <a:cs typeface="Telegraf"/>
                <a:sym typeface="Telegraf"/>
              </a:rPr>
              <a:t>iotechnology transforms biological processes into practical solutions. Far from being just a lab science, it is a key driver of modern convenience, actively improving our global food supply, advancing life-saving medical treatments, and creating more effective consumer products.</a:t>
            </a:r>
          </a:p>
        </p:txBody>
      </p:sp>
      <p:grpSp>
        <p:nvGrpSpPr>
          <p:cNvPr name="Group 15" id="15"/>
          <p:cNvGrpSpPr/>
          <p:nvPr/>
        </p:nvGrpSpPr>
        <p:grpSpPr>
          <a:xfrm rot="0">
            <a:off x="10018055" y="4163312"/>
            <a:ext cx="547688" cy="547918"/>
            <a:chOff x="0" y="0"/>
            <a:chExt cx="615325" cy="615584"/>
          </a:xfrm>
        </p:grpSpPr>
        <p:sp>
          <p:nvSpPr>
            <p:cNvPr name="Freeform 16" id="16"/>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17" id="17"/>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9930170" y="4219720"/>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1</a:t>
            </a:r>
          </a:p>
        </p:txBody>
      </p:sp>
      <p:sp>
        <p:nvSpPr>
          <p:cNvPr name="TextBox 19" id="19"/>
          <p:cNvSpPr txBox="true"/>
          <p:nvPr/>
        </p:nvSpPr>
        <p:spPr>
          <a:xfrm rot="0">
            <a:off x="10730705" y="4248041"/>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Food Productions</a:t>
            </a:r>
          </a:p>
        </p:txBody>
      </p:sp>
      <p:sp>
        <p:nvSpPr>
          <p:cNvPr name="TextBox 20" id="20"/>
          <p:cNvSpPr txBox="true"/>
          <p:nvPr/>
        </p:nvSpPr>
        <p:spPr>
          <a:xfrm rot="0">
            <a:off x="10738302" y="4692180"/>
            <a:ext cx="4926697" cy="731393"/>
          </a:xfrm>
          <a:prstGeom prst="rect">
            <a:avLst/>
          </a:prstGeom>
        </p:spPr>
        <p:txBody>
          <a:bodyPr anchor="t" rtlCol="false" tIns="0" lIns="0" bIns="0" rIns="0">
            <a:spAutoFit/>
          </a:bodyPr>
          <a:lstStyle/>
          <a:p>
            <a:pPr algn="l">
              <a:lnSpc>
                <a:spcPts val="1935"/>
              </a:lnSpc>
            </a:pPr>
            <a:r>
              <a:rPr lang="en-US" sz="1599" spc="123">
                <a:solidFill>
                  <a:srgbClr val="F9F7F4"/>
                </a:solidFill>
                <a:latin typeface="Telegraf Extra-Light"/>
                <a:ea typeface="Telegraf Extra-Light"/>
                <a:cs typeface="Telegraf Extra-Light"/>
                <a:sym typeface="Telegraf Extra-Light"/>
              </a:rPr>
              <a:t>Utilizing microbial fermentation to enhance the flavor of staples like yogurt, artisanal cheeses, and other probiotic-rich products.</a:t>
            </a:r>
          </a:p>
        </p:txBody>
      </p:sp>
      <p:grpSp>
        <p:nvGrpSpPr>
          <p:cNvPr name="Group 21" id="21"/>
          <p:cNvGrpSpPr/>
          <p:nvPr/>
        </p:nvGrpSpPr>
        <p:grpSpPr>
          <a:xfrm rot="0">
            <a:off x="10018055" y="5520930"/>
            <a:ext cx="547688" cy="547918"/>
            <a:chOff x="0" y="0"/>
            <a:chExt cx="615325" cy="615584"/>
          </a:xfrm>
        </p:grpSpPr>
        <p:sp>
          <p:nvSpPr>
            <p:cNvPr name="Freeform 22" id="2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23" id="2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930170" y="5577338"/>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2</a:t>
            </a:r>
          </a:p>
        </p:txBody>
      </p:sp>
      <p:sp>
        <p:nvSpPr>
          <p:cNvPr name="TextBox 25" id="25"/>
          <p:cNvSpPr txBox="true"/>
          <p:nvPr/>
        </p:nvSpPr>
        <p:spPr>
          <a:xfrm rot="0">
            <a:off x="10730705" y="5605659"/>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Medicines</a:t>
            </a:r>
          </a:p>
        </p:txBody>
      </p:sp>
      <p:sp>
        <p:nvSpPr>
          <p:cNvPr name="TextBox 26" id="26"/>
          <p:cNvSpPr txBox="true"/>
          <p:nvPr/>
        </p:nvSpPr>
        <p:spPr>
          <a:xfrm rot="0">
            <a:off x="10738302" y="6049797"/>
            <a:ext cx="4926697" cy="731393"/>
          </a:xfrm>
          <a:prstGeom prst="rect">
            <a:avLst/>
          </a:prstGeom>
        </p:spPr>
        <p:txBody>
          <a:bodyPr anchor="t" rtlCol="false" tIns="0" lIns="0" bIns="0" rIns="0">
            <a:spAutoFit/>
          </a:bodyPr>
          <a:lstStyle/>
          <a:p>
            <a:pPr algn="l">
              <a:lnSpc>
                <a:spcPts val="1935"/>
              </a:lnSpc>
            </a:pPr>
            <a:r>
              <a:rPr lang="en-US" sz="1599" spc="123">
                <a:solidFill>
                  <a:srgbClr val="F9F7F4"/>
                </a:solidFill>
                <a:latin typeface="Telegraf Extra-Light"/>
                <a:ea typeface="Telegraf Extra-Light"/>
                <a:cs typeface="Telegraf Extra-Light"/>
                <a:sym typeface="Telegraf Extra-Light"/>
              </a:rPr>
              <a:t>Revolutionizing healthcare through the development of life-saving vaccines and synthetic insulin.</a:t>
            </a:r>
          </a:p>
        </p:txBody>
      </p:sp>
      <p:grpSp>
        <p:nvGrpSpPr>
          <p:cNvPr name="Group 27" id="27"/>
          <p:cNvGrpSpPr/>
          <p:nvPr/>
        </p:nvGrpSpPr>
        <p:grpSpPr>
          <a:xfrm rot="0">
            <a:off x="10018055" y="6878547"/>
            <a:ext cx="547688" cy="547918"/>
            <a:chOff x="0" y="0"/>
            <a:chExt cx="615325" cy="615584"/>
          </a:xfrm>
        </p:grpSpPr>
        <p:sp>
          <p:nvSpPr>
            <p:cNvPr name="Freeform 28" id="28"/>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29" id="29"/>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9930170" y="6934955"/>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3</a:t>
            </a:r>
          </a:p>
        </p:txBody>
      </p:sp>
      <p:sp>
        <p:nvSpPr>
          <p:cNvPr name="TextBox 31" id="31"/>
          <p:cNvSpPr txBox="true"/>
          <p:nvPr/>
        </p:nvSpPr>
        <p:spPr>
          <a:xfrm rot="0">
            <a:off x="10730705" y="6963276"/>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Household Productions</a:t>
            </a:r>
          </a:p>
        </p:txBody>
      </p:sp>
      <p:sp>
        <p:nvSpPr>
          <p:cNvPr name="TextBox 32" id="32"/>
          <p:cNvSpPr txBox="true"/>
          <p:nvPr/>
        </p:nvSpPr>
        <p:spPr>
          <a:xfrm rot="0">
            <a:off x="10738302" y="7407415"/>
            <a:ext cx="4926697" cy="731393"/>
          </a:xfrm>
          <a:prstGeom prst="rect">
            <a:avLst/>
          </a:prstGeom>
        </p:spPr>
        <p:txBody>
          <a:bodyPr anchor="t" rtlCol="false" tIns="0" lIns="0" bIns="0" rIns="0">
            <a:spAutoFit/>
          </a:bodyPr>
          <a:lstStyle/>
          <a:p>
            <a:pPr algn="l">
              <a:lnSpc>
                <a:spcPts val="1935"/>
              </a:lnSpc>
            </a:pPr>
            <a:r>
              <a:rPr lang="en-US" sz="1599" spc="123">
                <a:solidFill>
                  <a:srgbClr val="F9F7F4"/>
                </a:solidFill>
                <a:latin typeface="Telegraf Extra-Light"/>
                <a:ea typeface="Telegraf Extra-Light"/>
                <a:cs typeface="Telegraf Extra-Light"/>
                <a:sym typeface="Telegraf Extra-Light"/>
              </a:rPr>
              <a:t>Integrating advanced bio-enzymes into laundry and dish detergents to break down tough stains more efficiently.</a:t>
            </a:r>
          </a:p>
        </p:txBody>
      </p:sp>
      <p:grpSp>
        <p:nvGrpSpPr>
          <p:cNvPr name="Group 33" id="33"/>
          <p:cNvGrpSpPr/>
          <p:nvPr/>
        </p:nvGrpSpPr>
        <p:grpSpPr>
          <a:xfrm rot="0">
            <a:off x="10018055" y="8236164"/>
            <a:ext cx="547688" cy="547918"/>
            <a:chOff x="0" y="0"/>
            <a:chExt cx="615325" cy="615584"/>
          </a:xfrm>
        </p:grpSpPr>
        <p:sp>
          <p:nvSpPr>
            <p:cNvPr name="Freeform 34" id="34"/>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35" id="35"/>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9930170" y="8292572"/>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4</a:t>
            </a:r>
          </a:p>
        </p:txBody>
      </p:sp>
      <p:sp>
        <p:nvSpPr>
          <p:cNvPr name="TextBox 37" id="37"/>
          <p:cNvSpPr txBox="true"/>
          <p:nvPr/>
        </p:nvSpPr>
        <p:spPr>
          <a:xfrm rot="0">
            <a:off x="10730705" y="8320893"/>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Agriculture</a:t>
            </a:r>
          </a:p>
        </p:txBody>
      </p:sp>
      <p:sp>
        <p:nvSpPr>
          <p:cNvPr name="TextBox 38" id="38"/>
          <p:cNvSpPr txBox="true"/>
          <p:nvPr/>
        </p:nvSpPr>
        <p:spPr>
          <a:xfrm rot="0">
            <a:off x="10738302" y="8765032"/>
            <a:ext cx="4926697" cy="969518"/>
          </a:xfrm>
          <a:prstGeom prst="rect">
            <a:avLst/>
          </a:prstGeom>
        </p:spPr>
        <p:txBody>
          <a:bodyPr anchor="t" rtlCol="false" tIns="0" lIns="0" bIns="0" rIns="0">
            <a:spAutoFit/>
          </a:bodyPr>
          <a:lstStyle/>
          <a:p>
            <a:pPr algn="l">
              <a:lnSpc>
                <a:spcPts val="1935"/>
              </a:lnSpc>
            </a:pPr>
            <a:r>
              <a:rPr lang="en-US" sz="1599" spc="123">
                <a:solidFill>
                  <a:srgbClr val="F9F7F4"/>
                </a:solidFill>
                <a:latin typeface="Telegraf Extra-Light"/>
                <a:ea typeface="Telegraf Extra-Light"/>
                <a:cs typeface="Telegraf Extra-Light"/>
                <a:sym typeface="Telegraf Extra-Light"/>
              </a:rPr>
              <a:t>Engineering resilient high-quality seeds that are more resistant to pests and harsh environmental conditions to ensure food security.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9941"/>
        </a:solidFill>
      </p:bgPr>
    </p:bg>
    <p:spTree>
      <p:nvGrpSpPr>
        <p:cNvPr id="1" name=""/>
        <p:cNvGrpSpPr/>
        <p:nvPr/>
      </p:nvGrpSpPr>
      <p:grpSpPr>
        <a:xfrm>
          <a:off x="0" y="0"/>
          <a:ext cx="0" cy="0"/>
          <a:chOff x="0" y="0"/>
          <a:chExt cx="0" cy="0"/>
        </a:xfrm>
      </p:grpSpPr>
      <p:sp>
        <p:nvSpPr>
          <p:cNvPr name="Freeform 2" id="2"/>
          <p:cNvSpPr/>
          <p:nvPr/>
        </p:nvSpPr>
        <p:spPr>
          <a:xfrm flipH="false" flipV="false" rot="0">
            <a:off x="-1396327" y="-461171"/>
            <a:ext cx="13034119" cy="11209343"/>
          </a:xfrm>
          <a:custGeom>
            <a:avLst/>
            <a:gdLst/>
            <a:ahLst/>
            <a:cxnLst/>
            <a:rect r="r" b="b" t="t" l="l"/>
            <a:pathLst>
              <a:path h="11209343" w="13034119">
                <a:moveTo>
                  <a:pt x="0" y="0"/>
                </a:moveTo>
                <a:lnTo>
                  <a:pt x="13034119" y="0"/>
                </a:lnTo>
                <a:lnTo>
                  <a:pt x="13034119" y="11209342"/>
                </a:lnTo>
                <a:lnTo>
                  <a:pt x="0" y="112093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1764" y="0"/>
            <a:ext cx="12300260" cy="10578223"/>
          </a:xfrm>
          <a:custGeom>
            <a:avLst/>
            <a:gdLst/>
            <a:ahLst/>
            <a:cxnLst/>
            <a:rect r="r" b="b" t="t" l="l"/>
            <a:pathLst>
              <a:path h="10578223" w="12300260">
                <a:moveTo>
                  <a:pt x="0" y="0"/>
                </a:moveTo>
                <a:lnTo>
                  <a:pt x="12300260" y="0"/>
                </a:lnTo>
                <a:lnTo>
                  <a:pt x="12300260" y="10578223"/>
                </a:lnTo>
                <a:lnTo>
                  <a:pt x="0" y="105782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07038" y="1028700"/>
            <a:ext cx="607020" cy="607020"/>
          </a:xfrm>
          <a:custGeom>
            <a:avLst/>
            <a:gdLst/>
            <a:ahLst/>
            <a:cxnLst/>
            <a:rect r="r" b="b" t="t" l="l"/>
            <a:pathLst>
              <a:path h="607020" w="607020">
                <a:moveTo>
                  <a:pt x="0" y="0"/>
                </a:moveTo>
                <a:lnTo>
                  <a:pt x="607020" y="0"/>
                </a:lnTo>
                <a:lnTo>
                  <a:pt x="607020" y="607020"/>
                </a:lnTo>
                <a:lnTo>
                  <a:pt x="0" y="6070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4760372" y="1081575"/>
            <a:ext cx="2845611" cy="463169"/>
          </a:xfrm>
          <a:prstGeom prst="rect">
            <a:avLst/>
          </a:prstGeom>
        </p:spPr>
        <p:txBody>
          <a:bodyPr anchor="t" rtlCol="false" tIns="0" lIns="0" bIns="0" rIns="0">
            <a:spAutoFit/>
          </a:bodyPr>
          <a:lstStyle/>
          <a:p>
            <a:pPr algn="l">
              <a:lnSpc>
                <a:spcPts val="3387"/>
              </a:lnSpc>
            </a:pPr>
            <a:r>
              <a:rPr lang="en-US" sz="2799" b="true">
                <a:solidFill>
                  <a:srgbClr val="F9F7F4"/>
                </a:solidFill>
                <a:latin typeface="Telegraf Medium"/>
                <a:ea typeface="Telegraf Medium"/>
                <a:cs typeface="Telegraf Medium"/>
                <a:sym typeface="Telegraf Medium"/>
              </a:rPr>
              <a:t>Wardiere Inc.</a:t>
            </a:r>
          </a:p>
        </p:txBody>
      </p:sp>
      <p:sp>
        <p:nvSpPr>
          <p:cNvPr name="TextBox 6" id="6"/>
          <p:cNvSpPr txBox="true"/>
          <p:nvPr/>
        </p:nvSpPr>
        <p:spPr>
          <a:xfrm rot="0">
            <a:off x="1028700" y="2446695"/>
            <a:ext cx="7915098" cy="1889887"/>
          </a:xfrm>
          <a:prstGeom prst="rect">
            <a:avLst/>
          </a:prstGeom>
        </p:spPr>
        <p:txBody>
          <a:bodyPr anchor="t" rtlCol="false" tIns="0" lIns="0" bIns="0" rIns="0">
            <a:spAutoFit/>
          </a:bodyPr>
          <a:lstStyle/>
          <a:p>
            <a:pPr algn="l">
              <a:lnSpc>
                <a:spcPts val="7004"/>
              </a:lnSpc>
            </a:pPr>
            <a:r>
              <a:rPr lang="en-US" sz="6800" spc="102" b="true">
                <a:solidFill>
                  <a:srgbClr val="F9F7F4"/>
                </a:solidFill>
                <a:latin typeface="Telegraf Bold"/>
                <a:ea typeface="Telegraf Bold"/>
                <a:cs typeface="Telegraf Bold"/>
                <a:sym typeface="Telegraf Bold"/>
              </a:rPr>
              <a:t>Importance of </a:t>
            </a:r>
            <a:r>
              <a:rPr lang="en-US" b="true" sz="6800" spc="102">
                <a:solidFill>
                  <a:srgbClr val="F9F7F4"/>
                </a:solidFill>
                <a:latin typeface="Telegraf Bold"/>
                <a:ea typeface="Telegraf Bold"/>
                <a:cs typeface="Telegraf Bold"/>
                <a:sym typeface="Telegraf Bold"/>
              </a:rPr>
              <a:t>Biotechnology</a:t>
            </a:r>
          </a:p>
        </p:txBody>
      </p:sp>
      <p:grpSp>
        <p:nvGrpSpPr>
          <p:cNvPr name="Group 7" id="7"/>
          <p:cNvGrpSpPr/>
          <p:nvPr/>
        </p:nvGrpSpPr>
        <p:grpSpPr>
          <a:xfrm rot="0">
            <a:off x="1116584" y="6429542"/>
            <a:ext cx="547688" cy="547918"/>
            <a:chOff x="0" y="0"/>
            <a:chExt cx="615325" cy="615584"/>
          </a:xfrm>
        </p:grpSpPr>
        <p:sp>
          <p:nvSpPr>
            <p:cNvPr name="Freeform 8" id="8"/>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9" id="9"/>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6485950"/>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1</a:t>
            </a:r>
          </a:p>
        </p:txBody>
      </p:sp>
      <p:sp>
        <p:nvSpPr>
          <p:cNvPr name="TextBox 11" id="11"/>
          <p:cNvSpPr txBox="true"/>
          <p:nvPr/>
        </p:nvSpPr>
        <p:spPr>
          <a:xfrm rot="0">
            <a:off x="1829235" y="6514271"/>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Health Improvements</a:t>
            </a:r>
          </a:p>
        </p:txBody>
      </p:sp>
      <p:grpSp>
        <p:nvGrpSpPr>
          <p:cNvPr name="Group 12" id="12"/>
          <p:cNvGrpSpPr/>
          <p:nvPr/>
        </p:nvGrpSpPr>
        <p:grpSpPr>
          <a:xfrm rot="0">
            <a:off x="5208616" y="6429542"/>
            <a:ext cx="547688" cy="547918"/>
            <a:chOff x="0" y="0"/>
            <a:chExt cx="615325" cy="615584"/>
          </a:xfrm>
        </p:grpSpPr>
        <p:sp>
          <p:nvSpPr>
            <p:cNvPr name="Freeform 13" id="13"/>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14" id="14"/>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5120732" y="6485950"/>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3</a:t>
            </a:r>
          </a:p>
        </p:txBody>
      </p:sp>
      <p:sp>
        <p:nvSpPr>
          <p:cNvPr name="TextBox 16" id="16"/>
          <p:cNvSpPr txBox="true"/>
          <p:nvPr/>
        </p:nvSpPr>
        <p:spPr>
          <a:xfrm rot="0">
            <a:off x="5921267" y="6514271"/>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Environmental Protection</a:t>
            </a:r>
          </a:p>
        </p:txBody>
      </p:sp>
      <p:grpSp>
        <p:nvGrpSpPr>
          <p:cNvPr name="Group 17" id="17"/>
          <p:cNvGrpSpPr/>
          <p:nvPr/>
        </p:nvGrpSpPr>
        <p:grpSpPr>
          <a:xfrm rot="0">
            <a:off x="1116584" y="7191228"/>
            <a:ext cx="547688" cy="547918"/>
            <a:chOff x="0" y="0"/>
            <a:chExt cx="615325" cy="615584"/>
          </a:xfrm>
        </p:grpSpPr>
        <p:sp>
          <p:nvSpPr>
            <p:cNvPr name="Freeform 18" id="18"/>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19" id="19"/>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028700" y="7247636"/>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2</a:t>
            </a:r>
          </a:p>
        </p:txBody>
      </p:sp>
      <p:sp>
        <p:nvSpPr>
          <p:cNvPr name="TextBox 21" id="21"/>
          <p:cNvSpPr txBox="true"/>
          <p:nvPr/>
        </p:nvSpPr>
        <p:spPr>
          <a:xfrm rot="0">
            <a:off x="1829235" y="7275957"/>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Sustainable Agriculture</a:t>
            </a:r>
          </a:p>
        </p:txBody>
      </p:sp>
      <p:grpSp>
        <p:nvGrpSpPr>
          <p:cNvPr name="Group 22" id="22"/>
          <p:cNvGrpSpPr/>
          <p:nvPr/>
        </p:nvGrpSpPr>
        <p:grpSpPr>
          <a:xfrm rot="0">
            <a:off x="5208616" y="7191228"/>
            <a:ext cx="547688" cy="547918"/>
            <a:chOff x="0" y="0"/>
            <a:chExt cx="615325" cy="615584"/>
          </a:xfrm>
        </p:grpSpPr>
        <p:sp>
          <p:nvSpPr>
            <p:cNvPr name="Freeform 23" id="23"/>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149941"/>
            </a:solidFill>
          </p:spPr>
        </p:sp>
        <p:sp>
          <p:nvSpPr>
            <p:cNvPr name="TextBox 24" id="24"/>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5120732" y="7247636"/>
            <a:ext cx="723456" cy="397002"/>
          </a:xfrm>
          <a:prstGeom prst="rect">
            <a:avLst/>
          </a:prstGeom>
        </p:spPr>
        <p:txBody>
          <a:bodyPr anchor="t" rtlCol="false" tIns="0" lIns="0" bIns="0" rIns="0">
            <a:spAutoFit/>
          </a:bodyPr>
          <a:lstStyle/>
          <a:p>
            <a:pPr algn="ctr">
              <a:lnSpc>
                <a:spcPts val="2904"/>
              </a:lnSpc>
            </a:pPr>
            <a:r>
              <a:rPr lang="en-US" sz="2400" b="true">
                <a:solidFill>
                  <a:srgbClr val="F9F7F4"/>
                </a:solidFill>
                <a:latin typeface="Telegraf Bold"/>
                <a:ea typeface="Telegraf Bold"/>
                <a:cs typeface="Telegraf Bold"/>
                <a:sym typeface="Telegraf Bold"/>
              </a:rPr>
              <a:t>4</a:t>
            </a:r>
          </a:p>
        </p:txBody>
      </p:sp>
      <p:sp>
        <p:nvSpPr>
          <p:cNvPr name="TextBox 26" id="26"/>
          <p:cNvSpPr txBox="true"/>
          <p:nvPr/>
        </p:nvSpPr>
        <p:spPr>
          <a:xfrm rot="0">
            <a:off x="5921267" y="7275957"/>
            <a:ext cx="3773266" cy="340360"/>
          </a:xfrm>
          <a:prstGeom prst="rect">
            <a:avLst/>
          </a:prstGeom>
        </p:spPr>
        <p:txBody>
          <a:bodyPr anchor="t" rtlCol="false" tIns="0" lIns="0" bIns="0" rIns="0">
            <a:spAutoFit/>
          </a:bodyPr>
          <a:lstStyle/>
          <a:p>
            <a:pPr algn="l">
              <a:lnSpc>
                <a:spcPts val="2420"/>
              </a:lnSpc>
            </a:pPr>
            <a:r>
              <a:rPr lang="en-US" sz="2000" b="true">
                <a:solidFill>
                  <a:srgbClr val="F9F7F4"/>
                </a:solidFill>
                <a:latin typeface="Telegraf Medium"/>
                <a:ea typeface="Telegraf Medium"/>
                <a:cs typeface="Telegraf Medium"/>
                <a:sym typeface="Telegraf Medium"/>
              </a:rPr>
              <a:t>Economic Growth</a:t>
            </a:r>
          </a:p>
        </p:txBody>
      </p:sp>
      <p:sp>
        <p:nvSpPr>
          <p:cNvPr name="TextBox 27" id="27"/>
          <p:cNvSpPr txBox="true"/>
          <p:nvPr/>
        </p:nvSpPr>
        <p:spPr>
          <a:xfrm rot="0">
            <a:off x="1028700" y="4298482"/>
            <a:ext cx="7132888" cy="1559560"/>
          </a:xfrm>
          <a:prstGeom prst="rect">
            <a:avLst/>
          </a:prstGeom>
        </p:spPr>
        <p:txBody>
          <a:bodyPr anchor="t" rtlCol="false" tIns="0" lIns="0" bIns="0" rIns="0">
            <a:spAutoFit/>
          </a:bodyPr>
          <a:lstStyle/>
          <a:p>
            <a:pPr algn="l">
              <a:lnSpc>
                <a:spcPts val="2420"/>
              </a:lnSpc>
            </a:pPr>
            <a:r>
              <a:rPr lang="en-US" sz="2000" spc="154">
                <a:solidFill>
                  <a:srgbClr val="F9F7F4"/>
                </a:solidFill>
                <a:latin typeface="Telegraf"/>
                <a:ea typeface="Telegraf"/>
                <a:cs typeface="Telegraf"/>
                <a:sym typeface="Telegraf"/>
              </a:rPr>
              <a:t>Biotechnology supports global sustainability and innovation across industries by enabling the development of environmentally responsible solutions, improving healthcare outcomes, and enhancing agricultural productivity.</a:t>
            </a:r>
          </a:p>
        </p:txBody>
      </p:sp>
      <p:grpSp>
        <p:nvGrpSpPr>
          <p:cNvPr name="Group 28" id="28"/>
          <p:cNvGrpSpPr/>
          <p:nvPr/>
        </p:nvGrpSpPr>
        <p:grpSpPr>
          <a:xfrm rot="0">
            <a:off x="9805305" y="2229051"/>
            <a:ext cx="7453995" cy="7029249"/>
            <a:chOff x="0" y="0"/>
            <a:chExt cx="1144812" cy="1079578"/>
          </a:xfrm>
        </p:grpSpPr>
        <p:sp>
          <p:nvSpPr>
            <p:cNvPr name="Freeform 29" id="29"/>
            <p:cNvSpPr/>
            <p:nvPr/>
          </p:nvSpPr>
          <p:spPr>
            <a:xfrm flipH="false" flipV="false" rot="0">
              <a:off x="0" y="0"/>
              <a:ext cx="1144812" cy="1079578"/>
            </a:xfrm>
            <a:custGeom>
              <a:avLst/>
              <a:gdLst/>
              <a:ahLst/>
              <a:cxnLst/>
              <a:rect r="r" b="b" t="t" l="l"/>
              <a:pathLst>
                <a:path h="1079578" w="1144812">
                  <a:moveTo>
                    <a:pt x="103863" y="0"/>
                  </a:moveTo>
                  <a:lnTo>
                    <a:pt x="1040949" y="0"/>
                  </a:lnTo>
                  <a:cubicBezTo>
                    <a:pt x="1068495" y="0"/>
                    <a:pt x="1094913" y="10943"/>
                    <a:pt x="1114391" y="30421"/>
                  </a:cubicBezTo>
                  <a:cubicBezTo>
                    <a:pt x="1133869" y="49899"/>
                    <a:pt x="1144812" y="76317"/>
                    <a:pt x="1144812" y="103863"/>
                  </a:cubicBezTo>
                  <a:lnTo>
                    <a:pt x="1144812" y="975715"/>
                  </a:lnTo>
                  <a:cubicBezTo>
                    <a:pt x="1144812" y="1033077"/>
                    <a:pt x="1098311" y="1079578"/>
                    <a:pt x="1040949" y="1079578"/>
                  </a:cubicBezTo>
                  <a:lnTo>
                    <a:pt x="103863" y="1079578"/>
                  </a:lnTo>
                  <a:cubicBezTo>
                    <a:pt x="76317" y="1079578"/>
                    <a:pt x="49899" y="1068635"/>
                    <a:pt x="30421" y="1049157"/>
                  </a:cubicBezTo>
                  <a:cubicBezTo>
                    <a:pt x="10943" y="1029679"/>
                    <a:pt x="0" y="1003261"/>
                    <a:pt x="0" y="975715"/>
                  </a:cubicBezTo>
                  <a:lnTo>
                    <a:pt x="0" y="103863"/>
                  </a:lnTo>
                  <a:cubicBezTo>
                    <a:pt x="0" y="76317"/>
                    <a:pt x="10943" y="49899"/>
                    <a:pt x="30421" y="30421"/>
                  </a:cubicBezTo>
                  <a:cubicBezTo>
                    <a:pt x="49899" y="10943"/>
                    <a:pt x="76317" y="0"/>
                    <a:pt x="103863" y="0"/>
                  </a:cubicBezTo>
                  <a:close/>
                </a:path>
              </a:pathLst>
            </a:custGeom>
            <a:blipFill>
              <a:blip r:embed="rId8"/>
              <a:stretch>
                <a:fillRect l="-20662" t="0" r="-20662" b="0"/>
              </a:stretch>
            </a:blipFill>
            <a:ln w="133350" cap="rnd">
              <a:solidFill>
                <a:srgbClr val="F9F7F4"/>
              </a:solidFill>
              <a:prstDash val="solid"/>
              <a:round/>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1191775" y="1280487"/>
            <a:ext cx="8983752" cy="7726026"/>
          </a:xfrm>
          <a:custGeom>
            <a:avLst/>
            <a:gdLst/>
            <a:ahLst/>
            <a:cxnLst/>
            <a:rect r="r" b="b" t="t" l="l"/>
            <a:pathLst>
              <a:path h="7726026" w="8983752">
                <a:moveTo>
                  <a:pt x="0" y="0"/>
                </a:moveTo>
                <a:lnTo>
                  <a:pt x="8983751" y="0"/>
                </a:lnTo>
                <a:lnTo>
                  <a:pt x="8983751" y="7726026"/>
                </a:lnTo>
                <a:lnTo>
                  <a:pt x="0" y="77260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7228459" y="2324827"/>
            <a:ext cx="9867766" cy="6681686"/>
            <a:chOff x="0" y="0"/>
            <a:chExt cx="3291196" cy="2228543"/>
          </a:xfrm>
        </p:grpSpPr>
        <p:sp>
          <p:nvSpPr>
            <p:cNvPr name="Freeform 5" id="5"/>
            <p:cNvSpPr/>
            <p:nvPr/>
          </p:nvSpPr>
          <p:spPr>
            <a:xfrm flipH="false" flipV="false" rot="0">
              <a:off x="0" y="0"/>
              <a:ext cx="3291196" cy="2228543"/>
            </a:xfrm>
            <a:custGeom>
              <a:avLst/>
              <a:gdLst/>
              <a:ahLst/>
              <a:cxnLst/>
              <a:rect r="r" b="b" t="t" l="l"/>
              <a:pathLst>
                <a:path h="2228543" w="3291196">
                  <a:moveTo>
                    <a:pt x="70611" y="0"/>
                  </a:moveTo>
                  <a:lnTo>
                    <a:pt x="3220585" y="0"/>
                  </a:lnTo>
                  <a:cubicBezTo>
                    <a:pt x="3259582" y="0"/>
                    <a:pt x="3291196" y="31614"/>
                    <a:pt x="3291196" y="70611"/>
                  </a:cubicBezTo>
                  <a:lnTo>
                    <a:pt x="3291196" y="2157932"/>
                  </a:lnTo>
                  <a:cubicBezTo>
                    <a:pt x="3291196" y="2176659"/>
                    <a:pt x="3283757" y="2194620"/>
                    <a:pt x="3270515" y="2207862"/>
                  </a:cubicBezTo>
                  <a:cubicBezTo>
                    <a:pt x="3257272" y="2221104"/>
                    <a:pt x="3239312" y="2228543"/>
                    <a:pt x="3220585" y="2228543"/>
                  </a:cubicBezTo>
                  <a:lnTo>
                    <a:pt x="70611" y="2228543"/>
                  </a:lnTo>
                  <a:cubicBezTo>
                    <a:pt x="31614" y="2228543"/>
                    <a:pt x="0" y="2196929"/>
                    <a:pt x="0" y="2157932"/>
                  </a:cubicBezTo>
                  <a:lnTo>
                    <a:pt x="0" y="70611"/>
                  </a:lnTo>
                  <a:cubicBezTo>
                    <a:pt x="0" y="31614"/>
                    <a:pt x="31614" y="0"/>
                    <a:pt x="70611" y="0"/>
                  </a:cubicBezTo>
                  <a:close/>
                </a:path>
              </a:pathLst>
            </a:custGeom>
            <a:solidFill>
              <a:srgbClr val="203330"/>
            </a:solidFill>
          </p:spPr>
        </p:sp>
        <p:sp>
          <p:nvSpPr>
            <p:cNvPr name="TextBox 6" id="6"/>
            <p:cNvSpPr txBox="true"/>
            <p:nvPr/>
          </p:nvSpPr>
          <p:spPr>
            <a:xfrm>
              <a:off x="0" y="-38100"/>
              <a:ext cx="3291196" cy="2266643"/>
            </a:xfrm>
            <a:prstGeom prst="rect">
              <a:avLst/>
            </a:prstGeom>
          </p:spPr>
          <p:txBody>
            <a:bodyPr anchor="ctr" rtlCol="false" tIns="40115" lIns="40115" bIns="40115" rIns="40115"/>
            <a:lstStyle/>
            <a:p>
              <a:pPr algn="ctr">
                <a:lnSpc>
                  <a:spcPts val="2659"/>
                </a:lnSpc>
              </a:pPr>
            </a:p>
          </p:txBody>
        </p:sp>
      </p:grpSp>
      <p:grpSp>
        <p:nvGrpSpPr>
          <p:cNvPr name="Group 7" id="7"/>
          <p:cNvGrpSpPr/>
          <p:nvPr/>
        </p:nvGrpSpPr>
        <p:grpSpPr>
          <a:xfrm rot="0">
            <a:off x="6533092" y="578450"/>
            <a:ext cx="9665822" cy="9130101"/>
            <a:chOff x="0" y="0"/>
            <a:chExt cx="2545731" cy="2404636"/>
          </a:xfrm>
        </p:grpSpPr>
        <p:sp>
          <p:nvSpPr>
            <p:cNvPr name="Freeform 8" id="8"/>
            <p:cNvSpPr/>
            <p:nvPr/>
          </p:nvSpPr>
          <p:spPr>
            <a:xfrm flipH="false" flipV="false" rot="0">
              <a:off x="0" y="0"/>
              <a:ext cx="2545731" cy="2404636"/>
            </a:xfrm>
            <a:custGeom>
              <a:avLst/>
              <a:gdLst/>
              <a:ahLst/>
              <a:cxnLst/>
              <a:rect r="r" b="b" t="t" l="l"/>
              <a:pathLst>
                <a:path h="2404636" w="2545731">
                  <a:moveTo>
                    <a:pt x="80096" y="0"/>
                  </a:moveTo>
                  <a:lnTo>
                    <a:pt x="2465635" y="0"/>
                  </a:lnTo>
                  <a:cubicBezTo>
                    <a:pt x="2486878" y="0"/>
                    <a:pt x="2507250" y="8439"/>
                    <a:pt x="2522271" y="23460"/>
                  </a:cubicBezTo>
                  <a:cubicBezTo>
                    <a:pt x="2537292" y="38480"/>
                    <a:pt x="2545731" y="58853"/>
                    <a:pt x="2545731" y="80096"/>
                  </a:cubicBezTo>
                  <a:lnTo>
                    <a:pt x="2545731" y="2324540"/>
                  </a:lnTo>
                  <a:cubicBezTo>
                    <a:pt x="2545731" y="2345783"/>
                    <a:pt x="2537292" y="2366155"/>
                    <a:pt x="2522271" y="2381176"/>
                  </a:cubicBezTo>
                  <a:cubicBezTo>
                    <a:pt x="2507250" y="2396197"/>
                    <a:pt x="2486878" y="2404636"/>
                    <a:pt x="2465635" y="2404636"/>
                  </a:cubicBezTo>
                  <a:lnTo>
                    <a:pt x="80096" y="2404636"/>
                  </a:lnTo>
                  <a:cubicBezTo>
                    <a:pt x="35860" y="2404636"/>
                    <a:pt x="0" y="2368776"/>
                    <a:pt x="0" y="2324540"/>
                  </a:cubicBezTo>
                  <a:lnTo>
                    <a:pt x="0" y="80096"/>
                  </a:lnTo>
                  <a:cubicBezTo>
                    <a:pt x="0" y="58853"/>
                    <a:pt x="8439" y="38480"/>
                    <a:pt x="23460" y="23460"/>
                  </a:cubicBezTo>
                  <a:cubicBezTo>
                    <a:pt x="38480" y="8439"/>
                    <a:pt x="58853" y="0"/>
                    <a:pt x="80096" y="0"/>
                  </a:cubicBezTo>
                  <a:close/>
                </a:path>
              </a:pathLst>
            </a:custGeom>
            <a:solidFill>
              <a:srgbClr val="F9F7F4"/>
            </a:solidFill>
          </p:spPr>
        </p:sp>
        <p:sp>
          <p:nvSpPr>
            <p:cNvPr name="TextBox 9" id="9"/>
            <p:cNvSpPr txBox="true"/>
            <p:nvPr/>
          </p:nvSpPr>
          <p:spPr>
            <a:xfrm>
              <a:off x="0" y="-38100"/>
              <a:ext cx="2545731" cy="244273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7289777" y="1564461"/>
            <a:ext cx="607020" cy="607020"/>
          </a:xfrm>
          <a:custGeom>
            <a:avLst/>
            <a:gdLst/>
            <a:ahLst/>
            <a:cxnLst/>
            <a:rect r="r" b="b" t="t" l="l"/>
            <a:pathLst>
              <a:path h="607020" w="607020">
                <a:moveTo>
                  <a:pt x="0" y="0"/>
                </a:moveTo>
                <a:lnTo>
                  <a:pt x="607020" y="0"/>
                </a:lnTo>
                <a:lnTo>
                  <a:pt x="607020" y="607020"/>
                </a:lnTo>
                <a:lnTo>
                  <a:pt x="0" y="6070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8143112" y="1617336"/>
            <a:ext cx="2845611" cy="463169"/>
          </a:xfrm>
          <a:prstGeom prst="rect">
            <a:avLst/>
          </a:prstGeom>
        </p:spPr>
        <p:txBody>
          <a:bodyPr anchor="t" rtlCol="false" tIns="0" lIns="0" bIns="0" rIns="0">
            <a:spAutoFit/>
          </a:bodyPr>
          <a:lstStyle/>
          <a:p>
            <a:pPr algn="l">
              <a:lnSpc>
                <a:spcPts val="3387"/>
              </a:lnSpc>
            </a:pPr>
            <a:r>
              <a:rPr lang="en-US" sz="2799" b="true">
                <a:solidFill>
                  <a:srgbClr val="000000"/>
                </a:solidFill>
                <a:latin typeface="Telegraf Medium"/>
                <a:ea typeface="Telegraf Medium"/>
                <a:cs typeface="Telegraf Medium"/>
                <a:sym typeface="Telegraf Medium"/>
              </a:rPr>
              <a:t>Wardiere Inc.</a:t>
            </a:r>
          </a:p>
        </p:txBody>
      </p:sp>
      <p:sp>
        <p:nvSpPr>
          <p:cNvPr name="AutoShape 12" id="12"/>
          <p:cNvSpPr/>
          <p:nvPr/>
        </p:nvSpPr>
        <p:spPr>
          <a:xfrm>
            <a:off x="7289777" y="7356358"/>
            <a:ext cx="6267283" cy="0"/>
          </a:xfrm>
          <a:prstGeom prst="line">
            <a:avLst/>
          </a:prstGeom>
          <a:ln cap="flat" w="38100">
            <a:solidFill>
              <a:srgbClr val="B4B4B4"/>
            </a:solidFill>
            <a:prstDash val="solid"/>
            <a:headEnd type="none" len="sm" w="sm"/>
            <a:tailEnd type="none" len="sm" w="sm"/>
          </a:ln>
        </p:spPr>
      </p:sp>
      <p:sp>
        <p:nvSpPr>
          <p:cNvPr name="Freeform 13" id="13"/>
          <p:cNvSpPr/>
          <p:nvPr/>
        </p:nvSpPr>
        <p:spPr>
          <a:xfrm flipH="false" flipV="false" rot="0">
            <a:off x="7289777" y="7556383"/>
            <a:ext cx="451511" cy="451511"/>
          </a:xfrm>
          <a:custGeom>
            <a:avLst/>
            <a:gdLst/>
            <a:ahLst/>
            <a:cxnLst/>
            <a:rect r="r" b="b" t="t" l="l"/>
            <a:pathLst>
              <a:path h="451511" w="451511">
                <a:moveTo>
                  <a:pt x="0" y="0"/>
                </a:moveTo>
                <a:lnTo>
                  <a:pt x="451511" y="0"/>
                </a:lnTo>
                <a:lnTo>
                  <a:pt x="451511" y="451510"/>
                </a:lnTo>
                <a:lnTo>
                  <a:pt x="0" y="4515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7289777" y="2752781"/>
            <a:ext cx="9147601" cy="1889887"/>
          </a:xfrm>
          <a:prstGeom prst="rect">
            <a:avLst/>
          </a:prstGeom>
        </p:spPr>
        <p:txBody>
          <a:bodyPr anchor="t" rtlCol="false" tIns="0" lIns="0" bIns="0" rIns="0">
            <a:spAutoFit/>
          </a:bodyPr>
          <a:lstStyle/>
          <a:p>
            <a:pPr algn="l">
              <a:lnSpc>
                <a:spcPts val="7004"/>
              </a:lnSpc>
            </a:pPr>
            <a:r>
              <a:rPr lang="en-US" b="true" sz="6800" spc="102">
                <a:solidFill>
                  <a:srgbClr val="149941"/>
                </a:solidFill>
                <a:latin typeface="Telegraf Bold"/>
                <a:ea typeface="Telegraf Bold"/>
                <a:cs typeface="Telegraf Bold"/>
                <a:sym typeface="Telegraf Bold"/>
              </a:rPr>
              <a:t>Learn more about biotechnology </a:t>
            </a:r>
          </a:p>
        </p:txBody>
      </p:sp>
      <p:sp>
        <p:nvSpPr>
          <p:cNvPr name="TextBox 15" id="15"/>
          <p:cNvSpPr txBox="true"/>
          <p:nvPr/>
        </p:nvSpPr>
        <p:spPr>
          <a:xfrm rot="0">
            <a:off x="7289777" y="4878401"/>
            <a:ext cx="6747175" cy="949960"/>
          </a:xfrm>
          <a:prstGeom prst="rect">
            <a:avLst/>
          </a:prstGeom>
        </p:spPr>
        <p:txBody>
          <a:bodyPr anchor="t" rtlCol="false" tIns="0" lIns="0" bIns="0" rIns="0">
            <a:spAutoFit/>
          </a:bodyPr>
          <a:lstStyle/>
          <a:p>
            <a:pPr algn="just">
              <a:lnSpc>
                <a:spcPts val="2420"/>
              </a:lnSpc>
            </a:pPr>
            <a:r>
              <a:rPr lang="en-US" sz="2000" spc="154">
                <a:solidFill>
                  <a:srgbClr val="737373"/>
                </a:solidFill>
                <a:latin typeface="Telegraf"/>
                <a:ea typeface="Telegraf"/>
                <a:cs typeface="Telegraf"/>
                <a:sym typeface="Telegraf"/>
              </a:rPr>
              <a:t>By exploring biotechnology further, we can better appreciate its role in creating sustainable solutions and supporting future innovation.</a:t>
            </a:r>
          </a:p>
        </p:txBody>
      </p:sp>
      <p:sp>
        <p:nvSpPr>
          <p:cNvPr name="TextBox 16" id="16"/>
          <p:cNvSpPr txBox="true"/>
          <p:nvPr/>
        </p:nvSpPr>
        <p:spPr>
          <a:xfrm rot="0">
            <a:off x="7928153" y="7613533"/>
            <a:ext cx="2996307" cy="340360"/>
          </a:xfrm>
          <a:prstGeom prst="rect">
            <a:avLst/>
          </a:prstGeom>
        </p:spPr>
        <p:txBody>
          <a:bodyPr anchor="t" rtlCol="false" tIns="0" lIns="0" bIns="0" rIns="0">
            <a:spAutoFit/>
          </a:bodyPr>
          <a:lstStyle/>
          <a:p>
            <a:pPr algn="just">
              <a:lnSpc>
                <a:spcPts val="2420"/>
              </a:lnSpc>
            </a:pPr>
            <a:r>
              <a:rPr lang="en-US" sz="2000" spc="154">
                <a:solidFill>
                  <a:srgbClr val="737373"/>
                </a:solidFill>
                <a:latin typeface="Telegraf"/>
                <a:ea typeface="Telegraf"/>
                <a:cs typeface="Telegraf"/>
                <a:sym typeface="Telegraf"/>
              </a:rPr>
              <a:t>+123-456-7890</a:t>
            </a:r>
          </a:p>
        </p:txBody>
      </p:sp>
      <p:sp>
        <p:nvSpPr>
          <p:cNvPr name="TextBox 17" id="17"/>
          <p:cNvSpPr txBox="true"/>
          <p:nvPr/>
        </p:nvSpPr>
        <p:spPr>
          <a:xfrm rot="0">
            <a:off x="11562837" y="7613533"/>
            <a:ext cx="4024920" cy="340360"/>
          </a:xfrm>
          <a:prstGeom prst="rect">
            <a:avLst/>
          </a:prstGeom>
        </p:spPr>
        <p:txBody>
          <a:bodyPr anchor="t" rtlCol="false" tIns="0" lIns="0" bIns="0" rIns="0">
            <a:spAutoFit/>
          </a:bodyPr>
          <a:lstStyle/>
          <a:p>
            <a:pPr algn="just">
              <a:lnSpc>
                <a:spcPts val="2420"/>
              </a:lnSpc>
            </a:pPr>
            <a:r>
              <a:rPr lang="en-US" sz="2000" spc="154">
                <a:solidFill>
                  <a:srgbClr val="737373"/>
                </a:solidFill>
                <a:latin typeface="Telegraf"/>
                <a:ea typeface="Telegraf"/>
                <a:cs typeface="Telegraf"/>
                <a:sym typeface="Telegraf"/>
              </a:rPr>
              <a:t>www. reallygreatsite.com</a:t>
            </a:r>
          </a:p>
        </p:txBody>
      </p:sp>
      <p:sp>
        <p:nvSpPr>
          <p:cNvPr name="TextBox 18" id="18"/>
          <p:cNvSpPr txBox="true"/>
          <p:nvPr/>
        </p:nvSpPr>
        <p:spPr>
          <a:xfrm rot="0">
            <a:off x="7928153" y="8246018"/>
            <a:ext cx="4138745" cy="340360"/>
          </a:xfrm>
          <a:prstGeom prst="rect">
            <a:avLst/>
          </a:prstGeom>
        </p:spPr>
        <p:txBody>
          <a:bodyPr anchor="t" rtlCol="false" tIns="0" lIns="0" bIns="0" rIns="0">
            <a:spAutoFit/>
          </a:bodyPr>
          <a:lstStyle/>
          <a:p>
            <a:pPr algn="just">
              <a:lnSpc>
                <a:spcPts val="2420"/>
              </a:lnSpc>
            </a:pPr>
            <a:r>
              <a:rPr lang="en-US" sz="2000" spc="154">
                <a:solidFill>
                  <a:srgbClr val="737373"/>
                </a:solidFill>
                <a:latin typeface="Telegraf"/>
                <a:ea typeface="Telegraf"/>
                <a:cs typeface="Telegraf"/>
                <a:sym typeface="Telegraf"/>
              </a:rPr>
              <a:t>hello@reallygreatsite.com</a:t>
            </a:r>
          </a:p>
        </p:txBody>
      </p:sp>
      <p:sp>
        <p:nvSpPr>
          <p:cNvPr name="TextBox 19" id="19"/>
          <p:cNvSpPr txBox="true"/>
          <p:nvPr/>
        </p:nvSpPr>
        <p:spPr>
          <a:xfrm rot="0">
            <a:off x="7289777" y="6695136"/>
            <a:ext cx="3792564" cy="463169"/>
          </a:xfrm>
          <a:prstGeom prst="rect">
            <a:avLst/>
          </a:prstGeom>
        </p:spPr>
        <p:txBody>
          <a:bodyPr anchor="t" rtlCol="false" tIns="0" lIns="0" bIns="0" rIns="0">
            <a:spAutoFit/>
          </a:bodyPr>
          <a:lstStyle/>
          <a:p>
            <a:pPr algn="l">
              <a:lnSpc>
                <a:spcPts val="3387"/>
              </a:lnSpc>
            </a:pPr>
            <a:r>
              <a:rPr lang="en-US" sz="2799" b="true">
                <a:solidFill>
                  <a:srgbClr val="202121"/>
                </a:solidFill>
                <a:latin typeface="Telegraf Medium"/>
                <a:ea typeface="Telegraf Medium"/>
                <a:cs typeface="Telegraf Medium"/>
                <a:sym typeface="Telegraf Medium"/>
              </a:rPr>
              <a:t>Get in touch</a:t>
            </a:r>
          </a:p>
        </p:txBody>
      </p:sp>
      <p:sp>
        <p:nvSpPr>
          <p:cNvPr name="Freeform 20" id="20"/>
          <p:cNvSpPr/>
          <p:nvPr/>
        </p:nvSpPr>
        <p:spPr>
          <a:xfrm flipH="false" flipV="false" rot="0">
            <a:off x="10924461" y="7556129"/>
            <a:ext cx="451511" cy="451511"/>
          </a:xfrm>
          <a:custGeom>
            <a:avLst/>
            <a:gdLst/>
            <a:ahLst/>
            <a:cxnLst/>
            <a:rect r="r" b="b" t="t" l="l"/>
            <a:pathLst>
              <a:path h="451511" w="451511">
                <a:moveTo>
                  <a:pt x="0" y="0"/>
                </a:moveTo>
                <a:lnTo>
                  <a:pt x="451510" y="0"/>
                </a:lnTo>
                <a:lnTo>
                  <a:pt x="451510" y="451510"/>
                </a:lnTo>
                <a:lnTo>
                  <a:pt x="0" y="4515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7289777" y="8188868"/>
            <a:ext cx="451511" cy="451511"/>
          </a:xfrm>
          <a:custGeom>
            <a:avLst/>
            <a:gdLst/>
            <a:ahLst/>
            <a:cxnLst/>
            <a:rect r="r" b="b" t="t" l="l"/>
            <a:pathLst>
              <a:path h="451511" w="451511">
                <a:moveTo>
                  <a:pt x="0" y="0"/>
                </a:moveTo>
                <a:lnTo>
                  <a:pt x="451511" y="0"/>
                </a:lnTo>
                <a:lnTo>
                  <a:pt x="451511" y="451511"/>
                </a:lnTo>
                <a:lnTo>
                  <a:pt x="0" y="4515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DAHS8OVIXT8</dc:identifier>
  <dcterms:modified xsi:type="dcterms:W3CDTF">2011-08-01T06:04:30Z</dcterms:modified>
  <cp:revision>1</cp:revision>
  <dc:title>Green and White Modern Biotechnology Presentation</dc:title>
</cp:coreProperties>
</file>