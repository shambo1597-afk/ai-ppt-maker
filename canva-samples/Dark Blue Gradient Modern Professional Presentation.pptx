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Poppins Light" charset="1" panose="00000400000000000000"/>
      <p:regular r:id="rId22"/>
    </p:embeddedFont>
    <p:embeddedFont>
      <p:font typeface="Poppins" charset="1" panose="000005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 Id="rId5" Target="../media/image7.jpeg" Type="http://schemas.openxmlformats.org/officeDocument/2006/relationships/image"/><Relationship Id="rId6" Target="../media/image8.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jpeg" Type="http://schemas.openxmlformats.org/officeDocument/2006/relationships/image"/><Relationship Id="rId4" Target="../media/image16.jpeg" Type="http://schemas.openxmlformats.org/officeDocument/2006/relationships/image"/><Relationship Id="rId5" Target="../media/image17.jpeg" Type="http://schemas.openxmlformats.org/officeDocument/2006/relationships/image"/><Relationship Id="rId6" Target="../media/image18.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jpeg" Type="http://schemas.openxmlformats.org/officeDocument/2006/relationships/image"/><Relationship Id="rId3" Target="../media/image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svg" Type="http://schemas.openxmlformats.org/officeDocument/2006/relationships/image"/><Relationship Id="rId11" Target="../media/image41.png" Type="http://schemas.openxmlformats.org/officeDocument/2006/relationships/image"/><Relationship Id="rId12" Target="../media/image42.svg" Type="http://schemas.openxmlformats.org/officeDocument/2006/relationships/image"/><Relationship Id="rId13" Target="../media/image43.png" Type="http://schemas.openxmlformats.org/officeDocument/2006/relationships/image"/><Relationship Id="rId14" Target="../media/image44.svg" Type="http://schemas.openxmlformats.org/officeDocument/2006/relationships/image"/><Relationship Id="rId2" Target="../media/image1.pn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37.png" Type="http://schemas.openxmlformats.org/officeDocument/2006/relationships/image"/><Relationship Id="rId8" Target="../media/image38.svg" Type="http://schemas.openxmlformats.org/officeDocument/2006/relationships/image"/><Relationship Id="rId9" Target="../media/image3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84134" y="1702613"/>
            <a:ext cx="16230600" cy="6881774"/>
          </a:xfrm>
          <a:custGeom>
            <a:avLst/>
            <a:gdLst/>
            <a:ahLst/>
            <a:cxnLst/>
            <a:rect r="r" b="b" t="t" l="l"/>
            <a:pathLst>
              <a:path h="6881774" w="16230600">
                <a:moveTo>
                  <a:pt x="0" y="0"/>
                </a:moveTo>
                <a:lnTo>
                  <a:pt x="16230600" y="0"/>
                </a:lnTo>
                <a:lnTo>
                  <a:pt x="16230600" y="6881774"/>
                </a:lnTo>
                <a:lnTo>
                  <a:pt x="0" y="6881774"/>
                </a:lnTo>
                <a:lnTo>
                  <a:pt x="0" y="0"/>
                </a:lnTo>
                <a:close/>
              </a:path>
            </a:pathLst>
          </a:custGeom>
          <a:blipFill>
            <a:blip r:embed="rId2">
              <a:alphaModFix amt="60000"/>
            </a:blip>
            <a:stretch>
              <a:fillRect l="0" t="0" r="0" b="0"/>
            </a:stretch>
          </a:blipFill>
        </p:spPr>
      </p:sp>
      <p:sp>
        <p:nvSpPr>
          <p:cNvPr name="Freeform 3" id="3"/>
          <p:cNvSpPr/>
          <p:nvPr/>
        </p:nvSpPr>
        <p:spPr>
          <a:xfrm flipH="false" flipV="false" rot="0">
            <a:off x="2571750" y="1905000"/>
            <a:ext cx="274374" cy="274374"/>
          </a:xfrm>
          <a:custGeom>
            <a:avLst/>
            <a:gdLst/>
            <a:ahLst/>
            <a:cxnLst/>
            <a:rect r="r" b="b" t="t" l="l"/>
            <a:pathLst>
              <a:path h="274374" w="274374">
                <a:moveTo>
                  <a:pt x="0" y="0"/>
                </a:moveTo>
                <a:lnTo>
                  <a:pt x="274374" y="0"/>
                </a:lnTo>
                <a:lnTo>
                  <a:pt x="274374" y="274374"/>
                </a:lnTo>
                <a:lnTo>
                  <a:pt x="0" y="2743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2571750" y="3496256"/>
            <a:ext cx="6750721" cy="3418204"/>
          </a:xfrm>
          <a:prstGeom prst="rect">
            <a:avLst/>
          </a:prstGeom>
        </p:spPr>
        <p:txBody>
          <a:bodyPr anchor="t" rtlCol="false" tIns="0" lIns="0" bIns="0" rIns="0">
            <a:spAutoFit/>
          </a:bodyPr>
          <a:lstStyle/>
          <a:p>
            <a:pPr algn="l">
              <a:lnSpc>
                <a:spcPts val="12699"/>
              </a:lnSpc>
            </a:pPr>
            <a:r>
              <a:rPr lang="en-US" sz="12699" spc="-253">
                <a:solidFill>
                  <a:srgbClr val="FFFFFF"/>
                </a:solidFill>
                <a:latin typeface="Poppins Light"/>
                <a:ea typeface="Poppins Light"/>
                <a:cs typeface="Poppins Light"/>
                <a:sym typeface="Poppins Light"/>
              </a:rPr>
              <a:t>GROUP</a:t>
            </a:r>
          </a:p>
          <a:p>
            <a:pPr algn="l">
              <a:lnSpc>
                <a:spcPts val="12699"/>
              </a:lnSpc>
            </a:pPr>
            <a:r>
              <a:rPr lang="en-US" sz="12699" spc="-253">
                <a:solidFill>
                  <a:srgbClr val="FFFFFF"/>
                </a:solidFill>
                <a:latin typeface="Poppins Light"/>
                <a:ea typeface="Poppins Light"/>
                <a:cs typeface="Poppins Light"/>
                <a:sym typeface="Poppins Light"/>
              </a:rPr>
              <a:t>PROJECT</a:t>
            </a:r>
          </a:p>
        </p:txBody>
      </p:sp>
      <p:sp>
        <p:nvSpPr>
          <p:cNvPr name="TextBox 5" id="5"/>
          <p:cNvSpPr txBox="true"/>
          <p:nvPr/>
        </p:nvSpPr>
        <p:spPr>
          <a:xfrm rot="0">
            <a:off x="3036624" y="1914525"/>
            <a:ext cx="1175133" cy="264795"/>
          </a:xfrm>
          <a:prstGeom prst="rect">
            <a:avLst/>
          </a:prstGeom>
        </p:spPr>
        <p:txBody>
          <a:bodyPr anchor="t" rtlCol="false" tIns="0" lIns="0" bIns="0" rIns="0">
            <a:spAutoFit/>
          </a:bodyPr>
          <a:lstStyle/>
          <a:p>
            <a:pPr algn="l">
              <a:lnSpc>
                <a:spcPts val="1800"/>
              </a:lnSpc>
            </a:pPr>
            <a:r>
              <a:rPr lang="en-US" sz="1800">
                <a:solidFill>
                  <a:srgbClr val="FFFFFF"/>
                </a:solidFill>
                <a:latin typeface="Poppins"/>
                <a:ea typeface="Poppins"/>
                <a:cs typeface="Poppins"/>
                <a:sym typeface="Poppins"/>
              </a:rPr>
              <a:t>BORCELLE</a:t>
            </a:r>
          </a:p>
        </p:txBody>
      </p:sp>
      <p:sp>
        <p:nvSpPr>
          <p:cNvPr name="TextBox 6" id="6"/>
          <p:cNvSpPr txBox="true"/>
          <p:nvPr/>
        </p:nvSpPr>
        <p:spPr>
          <a:xfrm rot="0">
            <a:off x="2571750" y="8114719"/>
            <a:ext cx="1893561" cy="264795"/>
          </a:xfrm>
          <a:prstGeom prst="rect">
            <a:avLst/>
          </a:prstGeom>
        </p:spPr>
        <p:txBody>
          <a:bodyPr anchor="t" rtlCol="false" tIns="0" lIns="0" bIns="0" rIns="0">
            <a:spAutoFit/>
          </a:bodyPr>
          <a:lstStyle/>
          <a:p>
            <a:pPr algn="l">
              <a:lnSpc>
                <a:spcPts val="1800"/>
              </a:lnSpc>
            </a:pPr>
            <a:r>
              <a:rPr lang="en-US" sz="1800">
                <a:solidFill>
                  <a:srgbClr val="FFFFFF"/>
                </a:solidFill>
                <a:latin typeface="Poppins"/>
                <a:ea typeface="Poppins"/>
                <a:cs typeface="Poppins"/>
                <a:sym typeface="Poppins"/>
              </a:rPr>
              <a:t>DECEMBER 2030</a:t>
            </a:r>
          </a:p>
        </p:txBody>
      </p:sp>
      <p:sp>
        <p:nvSpPr>
          <p:cNvPr name="TextBox 7" id="7"/>
          <p:cNvSpPr txBox="true"/>
          <p:nvPr/>
        </p:nvSpPr>
        <p:spPr>
          <a:xfrm rot="0">
            <a:off x="13294529" y="8114719"/>
            <a:ext cx="2421721" cy="264795"/>
          </a:xfrm>
          <a:prstGeom prst="rect">
            <a:avLst/>
          </a:prstGeom>
        </p:spPr>
        <p:txBody>
          <a:bodyPr anchor="t" rtlCol="false" tIns="0" lIns="0" bIns="0" rIns="0">
            <a:spAutoFit/>
          </a:bodyPr>
          <a:lstStyle/>
          <a:p>
            <a:pPr algn="r">
              <a:lnSpc>
                <a:spcPts val="1800"/>
              </a:lnSpc>
            </a:pPr>
            <a:r>
              <a:rPr lang="en-US" sz="1800">
                <a:solidFill>
                  <a:srgbClr val="FFFFFF"/>
                </a:solidFill>
                <a:latin typeface="Poppins Light"/>
                <a:ea typeface="Poppins Light"/>
                <a:cs typeface="Poppins Light"/>
                <a:sym typeface="Poppins Light"/>
              </a:rPr>
              <a:t>reallygreatsite.com</a:t>
            </a:r>
          </a:p>
        </p:txBody>
      </p:sp>
      <p:grpSp>
        <p:nvGrpSpPr>
          <p:cNvPr name="Group 8" id="8"/>
          <p:cNvGrpSpPr/>
          <p:nvPr/>
        </p:nvGrpSpPr>
        <p:grpSpPr>
          <a:xfrm rot="0">
            <a:off x="15345378" y="1905000"/>
            <a:ext cx="370872" cy="384751"/>
            <a:chOff x="0" y="0"/>
            <a:chExt cx="494495" cy="513001"/>
          </a:xfrm>
        </p:grpSpPr>
        <p:sp>
          <p:nvSpPr>
            <p:cNvPr name="AutoShape 9" id="9"/>
            <p:cNvSpPr/>
            <p:nvPr/>
          </p:nvSpPr>
          <p:spPr>
            <a:xfrm>
              <a:off x="13740" y="19050"/>
              <a:ext cx="480755" cy="0"/>
            </a:xfrm>
            <a:prstGeom prst="line">
              <a:avLst/>
            </a:prstGeom>
            <a:ln cap="flat" w="38100">
              <a:solidFill>
                <a:srgbClr val="FFFFFF"/>
              </a:solidFill>
              <a:prstDash val="solid"/>
              <a:headEnd type="none" len="sm" w="sm"/>
              <a:tailEnd type="none" len="sm" w="sm"/>
            </a:ln>
          </p:spPr>
        </p:sp>
        <p:sp>
          <p:nvSpPr>
            <p:cNvPr name="AutoShape 10" id="10"/>
            <p:cNvSpPr/>
            <p:nvPr/>
          </p:nvSpPr>
          <p:spPr>
            <a:xfrm flipV="true">
              <a:off x="475445" y="19050"/>
              <a:ext cx="0" cy="480755"/>
            </a:xfrm>
            <a:prstGeom prst="line">
              <a:avLst/>
            </a:prstGeom>
            <a:ln cap="flat" w="38100">
              <a:solidFill>
                <a:srgbClr val="FFFFFF"/>
              </a:solidFill>
              <a:prstDash val="solid"/>
              <a:headEnd type="none" len="sm" w="sm"/>
              <a:tailEnd type="none" len="sm" w="sm"/>
            </a:ln>
          </p:spPr>
        </p:sp>
        <p:sp>
          <p:nvSpPr>
            <p:cNvPr name="AutoShape 11" id="11"/>
            <p:cNvSpPr/>
            <p:nvPr/>
          </p:nvSpPr>
          <p:spPr>
            <a:xfrm flipV="true">
              <a:off x="13740" y="19050"/>
              <a:ext cx="461705" cy="480755"/>
            </a:xfrm>
            <a:prstGeom prst="line">
              <a:avLst/>
            </a:prstGeom>
            <a:ln cap="flat" w="38100">
              <a:solidFill>
                <a:srgbClr val="FFFFFF"/>
              </a:solidFill>
              <a:prstDash val="solid"/>
              <a:headEnd type="none" len="sm" w="sm"/>
              <a:tailEnd type="none" len="sm" w="sm"/>
            </a:ln>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2571750" y="1952625"/>
            <a:ext cx="7026020" cy="799519"/>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TABLE OF CONTENTS</a:t>
            </a:r>
          </a:p>
        </p:txBody>
      </p:sp>
      <p:sp>
        <p:nvSpPr>
          <p:cNvPr name="Freeform 3" id="3"/>
          <p:cNvSpPr/>
          <p:nvPr/>
        </p:nvSpPr>
        <p:spPr>
          <a:xfrm flipH="false" flipV="false" rot="0">
            <a:off x="-977686" y="2980744"/>
            <a:ext cx="20814942" cy="8825535"/>
          </a:xfrm>
          <a:custGeom>
            <a:avLst/>
            <a:gdLst/>
            <a:ahLst/>
            <a:cxnLst/>
            <a:rect r="r" b="b" t="t" l="l"/>
            <a:pathLst>
              <a:path h="8825535" w="20814942">
                <a:moveTo>
                  <a:pt x="0" y="0"/>
                </a:moveTo>
                <a:lnTo>
                  <a:pt x="20814942" y="0"/>
                </a:lnTo>
                <a:lnTo>
                  <a:pt x="20814942" y="8825536"/>
                </a:lnTo>
                <a:lnTo>
                  <a:pt x="0" y="8825536"/>
                </a:lnTo>
                <a:lnTo>
                  <a:pt x="0" y="0"/>
                </a:lnTo>
                <a:close/>
              </a:path>
            </a:pathLst>
          </a:custGeom>
          <a:blipFill>
            <a:blip r:embed="rId2">
              <a:alphaModFix amt="60000"/>
            </a:blip>
            <a:stretch>
              <a:fillRect l="0" t="0" r="0" b="0"/>
            </a:stretch>
          </a:blipFill>
        </p:spPr>
      </p:sp>
      <p:sp>
        <p:nvSpPr>
          <p:cNvPr name="TextBox 4" id="4"/>
          <p:cNvSpPr txBox="true"/>
          <p:nvPr/>
        </p:nvSpPr>
        <p:spPr>
          <a:xfrm rot="0">
            <a:off x="2571750" y="4057069"/>
            <a:ext cx="369094" cy="452782"/>
          </a:xfrm>
          <a:prstGeom prst="rect">
            <a:avLst/>
          </a:prstGeom>
        </p:spPr>
        <p:txBody>
          <a:bodyPr anchor="t" rtlCol="false" tIns="0" lIns="0" bIns="0" rIns="0">
            <a:spAutoFit/>
          </a:bodyPr>
          <a:lstStyle/>
          <a:p>
            <a:pPr algn="l">
              <a:lnSpc>
                <a:spcPts val="3200"/>
              </a:lnSpc>
            </a:pPr>
            <a:r>
              <a:rPr lang="en-US" sz="3200">
                <a:solidFill>
                  <a:srgbClr val="FFFFFF"/>
                </a:solidFill>
                <a:latin typeface="Poppins Light"/>
                <a:ea typeface="Poppins Light"/>
                <a:cs typeface="Poppins Light"/>
                <a:sym typeface="Poppins Light"/>
              </a:rPr>
              <a:t>01</a:t>
            </a:r>
          </a:p>
        </p:txBody>
      </p:sp>
      <p:sp>
        <p:nvSpPr>
          <p:cNvPr name="TextBox 5" id="5"/>
          <p:cNvSpPr txBox="true"/>
          <p:nvPr/>
        </p:nvSpPr>
        <p:spPr>
          <a:xfrm rot="0">
            <a:off x="3321844" y="4141511"/>
            <a:ext cx="2939497" cy="264849"/>
          </a:xfrm>
          <a:prstGeom prst="rect">
            <a:avLst/>
          </a:prstGeom>
        </p:spPr>
        <p:txBody>
          <a:bodyPr anchor="t" rtlCol="false" tIns="0" lIns="0" bIns="0" rIns="0">
            <a:spAutoFit/>
          </a:bodyPr>
          <a:lstStyle/>
          <a:p>
            <a:pPr algn="l">
              <a:lnSpc>
                <a:spcPts val="1800"/>
              </a:lnSpc>
            </a:pPr>
            <a:r>
              <a:rPr lang="en-US" sz="1800">
                <a:solidFill>
                  <a:srgbClr val="C3C5C6"/>
                </a:solidFill>
                <a:latin typeface="Poppins Light"/>
                <a:ea typeface="Poppins Light"/>
                <a:cs typeface="Poppins Light"/>
                <a:sym typeface="Poppins Light"/>
              </a:rPr>
              <a:t>Introduction</a:t>
            </a:r>
          </a:p>
        </p:txBody>
      </p:sp>
      <p:sp>
        <p:nvSpPr>
          <p:cNvPr name="TextBox 6" id="6"/>
          <p:cNvSpPr txBox="true"/>
          <p:nvPr/>
        </p:nvSpPr>
        <p:spPr>
          <a:xfrm rot="0">
            <a:off x="9810750" y="4057069"/>
            <a:ext cx="506016" cy="452755"/>
          </a:xfrm>
          <a:prstGeom prst="rect">
            <a:avLst/>
          </a:prstGeom>
        </p:spPr>
        <p:txBody>
          <a:bodyPr anchor="t" rtlCol="false" tIns="0" lIns="0" bIns="0" rIns="0">
            <a:spAutoFit/>
          </a:bodyPr>
          <a:lstStyle/>
          <a:p>
            <a:pPr algn="l">
              <a:lnSpc>
                <a:spcPts val="3200"/>
              </a:lnSpc>
            </a:pPr>
            <a:r>
              <a:rPr lang="en-US" sz="3200">
                <a:solidFill>
                  <a:srgbClr val="FFFFFF"/>
                </a:solidFill>
                <a:latin typeface="Poppins Light"/>
                <a:ea typeface="Poppins Light"/>
                <a:cs typeface="Poppins Light"/>
                <a:sym typeface="Poppins Light"/>
              </a:rPr>
              <a:t>05</a:t>
            </a:r>
          </a:p>
        </p:txBody>
      </p:sp>
      <p:sp>
        <p:nvSpPr>
          <p:cNvPr name="TextBox 7" id="7"/>
          <p:cNvSpPr txBox="true"/>
          <p:nvPr/>
        </p:nvSpPr>
        <p:spPr>
          <a:xfrm rot="0">
            <a:off x="10560844" y="4141511"/>
            <a:ext cx="2939497" cy="264849"/>
          </a:xfrm>
          <a:prstGeom prst="rect">
            <a:avLst/>
          </a:prstGeom>
        </p:spPr>
        <p:txBody>
          <a:bodyPr anchor="t" rtlCol="false" tIns="0" lIns="0" bIns="0" rIns="0">
            <a:spAutoFit/>
          </a:bodyPr>
          <a:lstStyle/>
          <a:p>
            <a:pPr algn="l">
              <a:lnSpc>
                <a:spcPts val="1800"/>
              </a:lnSpc>
            </a:pPr>
            <a:r>
              <a:rPr lang="en-US" sz="1800">
                <a:solidFill>
                  <a:srgbClr val="C3C5C6"/>
                </a:solidFill>
                <a:latin typeface="Poppins Light"/>
                <a:ea typeface="Poppins Light"/>
                <a:cs typeface="Poppins Light"/>
                <a:sym typeface="Poppins Light"/>
              </a:rPr>
              <a:t>Data Analysis</a:t>
            </a:r>
          </a:p>
        </p:txBody>
      </p:sp>
      <p:sp>
        <p:nvSpPr>
          <p:cNvPr name="TextBox 8" id="8"/>
          <p:cNvSpPr txBox="true"/>
          <p:nvPr/>
        </p:nvSpPr>
        <p:spPr>
          <a:xfrm rot="0">
            <a:off x="2571750" y="5230802"/>
            <a:ext cx="485705" cy="452755"/>
          </a:xfrm>
          <a:prstGeom prst="rect">
            <a:avLst/>
          </a:prstGeom>
        </p:spPr>
        <p:txBody>
          <a:bodyPr anchor="t" rtlCol="false" tIns="0" lIns="0" bIns="0" rIns="0">
            <a:spAutoFit/>
          </a:bodyPr>
          <a:lstStyle/>
          <a:p>
            <a:pPr algn="l">
              <a:lnSpc>
                <a:spcPts val="3200"/>
              </a:lnSpc>
            </a:pPr>
            <a:r>
              <a:rPr lang="en-US" sz="3200">
                <a:solidFill>
                  <a:srgbClr val="FFFFFF"/>
                </a:solidFill>
                <a:latin typeface="Poppins Light"/>
                <a:ea typeface="Poppins Light"/>
                <a:cs typeface="Poppins Light"/>
                <a:sym typeface="Poppins Light"/>
              </a:rPr>
              <a:t>02</a:t>
            </a:r>
          </a:p>
        </p:txBody>
      </p:sp>
      <p:sp>
        <p:nvSpPr>
          <p:cNvPr name="TextBox 9" id="9"/>
          <p:cNvSpPr txBox="true"/>
          <p:nvPr/>
        </p:nvSpPr>
        <p:spPr>
          <a:xfrm rot="0">
            <a:off x="3321844" y="5315243"/>
            <a:ext cx="2939497" cy="264849"/>
          </a:xfrm>
          <a:prstGeom prst="rect">
            <a:avLst/>
          </a:prstGeom>
        </p:spPr>
        <p:txBody>
          <a:bodyPr anchor="t" rtlCol="false" tIns="0" lIns="0" bIns="0" rIns="0">
            <a:spAutoFit/>
          </a:bodyPr>
          <a:lstStyle/>
          <a:p>
            <a:pPr algn="l">
              <a:lnSpc>
                <a:spcPts val="1800"/>
              </a:lnSpc>
            </a:pPr>
            <a:r>
              <a:rPr lang="en-US" sz="1800">
                <a:solidFill>
                  <a:srgbClr val="C3C5C6"/>
                </a:solidFill>
                <a:latin typeface="Poppins Light"/>
                <a:ea typeface="Poppins Light"/>
                <a:cs typeface="Poppins Light"/>
                <a:sym typeface="Poppins Light"/>
              </a:rPr>
              <a:t>Team</a:t>
            </a:r>
          </a:p>
        </p:txBody>
      </p:sp>
      <p:sp>
        <p:nvSpPr>
          <p:cNvPr name="TextBox 10" id="10"/>
          <p:cNvSpPr txBox="true"/>
          <p:nvPr/>
        </p:nvSpPr>
        <p:spPr>
          <a:xfrm rot="0">
            <a:off x="9810750" y="5230802"/>
            <a:ext cx="506016" cy="452755"/>
          </a:xfrm>
          <a:prstGeom prst="rect">
            <a:avLst/>
          </a:prstGeom>
        </p:spPr>
        <p:txBody>
          <a:bodyPr anchor="t" rtlCol="false" tIns="0" lIns="0" bIns="0" rIns="0">
            <a:spAutoFit/>
          </a:bodyPr>
          <a:lstStyle/>
          <a:p>
            <a:pPr algn="l">
              <a:lnSpc>
                <a:spcPts val="3200"/>
              </a:lnSpc>
            </a:pPr>
            <a:r>
              <a:rPr lang="en-US" sz="3200">
                <a:solidFill>
                  <a:srgbClr val="FFFFFF"/>
                </a:solidFill>
                <a:latin typeface="Poppins Light"/>
                <a:ea typeface="Poppins Light"/>
                <a:cs typeface="Poppins Light"/>
                <a:sym typeface="Poppins Light"/>
              </a:rPr>
              <a:t>06</a:t>
            </a:r>
          </a:p>
        </p:txBody>
      </p:sp>
      <p:sp>
        <p:nvSpPr>
          <p:cNvPr name="TextBox 11" id="11"/>
          <p:cNvSpPr txBox="true"/>
          <p:nvPr/>
        </p:nvSpPr>
        <p:spPr>
          <a:xfrm rot="0">
            <a:off x="10560844" y="5315243"/>
            <a:ext cx="2939497" cy="264849"/>
          </a:xfrm>
          <a:prstGeom prst="rect">
            <a:avLst/>
          </a:prstGeom>
        </p:spPr>
        <p:txBody>
          <a:bodyPr anchor="t" rtlCol="false" tIns="0" lIns="0" bIns="0" rIns="0">
            <a:spAutoFit/>
          </a:bodyPr>
          <a:lstStyle/>
          <a:p>
            <a:pPr algn="l">
              <a:lnSpc>
                <a:spcPts val="1800"/>
              </a:lnSpc>
            </a:pPr>
            <a:r>
              <a:rPr lang="en-US" sz="1800">
                <a:solidFill>
                  <a:srgbClr val="C3C5C6"/>
                </a:solidFill>
                <a:latin typeface="Poppins Light"/>
                <a:ea typeface="Poppins Light"/>
                <a:cs typeface="Poppins Light"/>
                <a:sym typeface="Poppins Light"/>
              </a:rPr>
              <a:t>Timeline</a:t>
            </a:r>
          </a:p>
        </p:txBody>
      </p:sp>
      <p:sp>
        <p:nvSpPr>
          <p:cNvPr name="TextBox 12" id="12"/>
          <p:cNvSpPr txBox="true"/>
          <p:nvPr/>
        </p:nvSpPr>
        <p:spPr>
          <a:xfrm rot="0">
            <a:off x="2571750" y="6404535"/>
            <a:ext cx="491012" cy="452755"/>
          </a:xfrm>
          <a:prstGeom prst="rect">
            <a:avLst/>
          </a:prstGeom>
        </p:spPr>
        <p:txBody>
          <a:bodyPr anchor="t" rtlCol="false" tIns="0" lIns="0" bIns="0" rIns="0">
            <a:spAutoFit/>
          </a:bodyPr>
          <a:lstStyle/>
          <a:p>
            <a:pPr algn="l">
              <a:lnSpc>
                <a:spcPts val="3200"/>
              </a:lnSpc>
            </a:pPr>
            <a:r>
              <a:rPr lang="en-US" sz="3200">
                <a:solidFill>
                  <a:srgbClr val="FFFFFF"/>
                </a:solidFill>
                <a:latin typeface="Poppins Light"/>
                <a:ea typeface="Poppins Light"/>
                <a:cs typeface="Poppins Light"/>
                <a:sym typeface="Poppins Light"/>
              </a:rPr>
              <a:t>03</a:t>
            </a:r>
          </a:p>
        </p:txBody>
      </p:sp>
      <p:sp>
        <p:nvSpPr>
          <p:cNvPr name="TextBox 13" id="13"/>
          <p:cNvSpPr txBox="true"/>
          <p:nvPr/>
        </p:nvSpPr>
        <p:spPr>
          <a:xfrm rot="0">
            <a:off x="3321844" y="6488976"/>
            <a:ext cx="2939497" cy="264849"/>
          </a:xfrm>
          <a:prstGeom prst="rect">
            <a:avLst/>
          </a:prstGeom>
        </p:spPr>
        <p:txBody>
          <a:bodyPr anchor="t" rtlCol="false" tIns="0" lIns="0" bIns="0" rIns="0">
            <a:spAutoFit/>
          </a:bodyPr>
          <a:lstStyle/>
          <a:p>
            <a:pPr algn="l">
              <a:lnSpc>
                <a:spcPts val="1800"/>
              </a:lnSpc>
            </a:pPr>
            <a:r>
              <a:rPr lang="en-US" sz="1800">
                <a:solidFill>
                  <a:srgbClr val="C3C5C6"/>
                </a:solidFill>
                <a:latin typeface="Poppins Light"/>
                <a:ea typeface="Poppins Light"/>
                <a:cs typeface="Poppins Light"/>
                <a:sym typeface="Poppins Light"/>
              </a:rPr>
              <a:t>Objectives</a:t>
            </a:r>
          </a:p>
        </p:txBody>
      </p:sp>
      <p:sp>
        <p:nvSpPr>
          <p:cNvPr name="TextBox 14" id="14"/>
          <p:cNvSpPr txBox="true"/>
          <p:nvPr/>
        </p:nvSpPr>
        <p:spPr>
          <a:xfrm rot="0">
            <a:off x="9810750" y="6404535"/>
            <a:ext cx="468930" cy="452755"/>
          </a:xfrm>
          <a:prstGeom prst="rect">
            <a:avLst/>
          </a:prstGeom>
        </p:spPr>
        <p:txBody>
          <a:bodyPr anchor="t" rtlCol="false" tIns="0" lIns="0" bIns="0" rIns="0">
            <a:spAutoFit/>
          </a:bodyPr>
          <a:lstStyle/>
          <a:p>
            <a:pPr algn="l">
              <a:lnSpc>
                <a:spcPts val="3200"/>
              </a:lnSpc>
            </a:pPr>
            <a:r>
              <a:rPr lang="en-US" sz="3200">
                <a:solidFill>
                  <a:srgbClr val="FFFFFF"/>
                </a:solidFill>
                <a:latin typeface="Poppins Light"/>
                <a:ea typeface="Poppins Light"/>
                <a:cs typeface="Poppins Light"/>
                <a:sym typeface="Poppins Light"/>
              </a:rPr>
              <a:t>07</a:t>
            </a:r>
          </a:p>
        </p:txBody>
      </p:sp>
      <p:sp>
        <p:nvSpPr>
          <p:cNvPr name="TextBox 15" id="15"/>
          <p:cNvSpPr txBox="true"/>
          <p:nvPr/>
        </p:nvSpPr>
        <p:spPr>
          <a:xfrm rot="0">
            <a:off x="10560844" y="6488976"/>
            <a:ext cx="2939497" cy="264849"/>
          </a:xfrm>
          <a:prstGeom prst="rect">
            <a:avLst/>
          </a:prstGeom>
        </p:spPr>
        <p:txBody>
          <a:bodyPr anchor="t" rtlCol="false" tIns="0" lIns="0" bIns="0" rIns="0">
            <a:spAutoFit/>
          </a:bodyPr>
          <a:lstStyle/>
          <a:p>
            <a:pPr algn="l">
              <a:lnSpc>
                <a:spcPts val="1800"/>
              </a:lnSpc>
            </a:pPr>
            <a:r>
              <a:rPr lang="en-US" sz="1800">
                <a:solidFill>
                  <a:srgbClr val="C3C5C6"/>
                </a:solidFill>
                <a:latin typeface="Poppins Light"/>
                <a:ea typeface="Poppins Light"/>
                <a:cs typeface="Poppins Light"/>
                <a:sym typeface="Poppins Light"/>
              </a:rPr>
              <a:t>Pricing</a:t>
            </a:r>
          </a:p>
        </p:txBody>
      </p:sp>
      <p:sp>
        <p:nvSpPr>
          <p:cNvPr name="TextBox 16" id="16"/>
          <p:cNvSpPr txBox="true"/>
          <p:nvPr/>
        </p:nvSpPr>
        <p:spPr>
          <a:xfrm rot="0">
            <a:off x="2571750" y="7578268"/>
            <a:ext cx="502444" cy="452755"/>
          </a:xfrm>
          <a:prstGeom prst="rect">
            <a:avLst/>
          </a:prstGeom>
        </p:spPr>
        <p:txBody>
          <a:bodyPr anchor="t" rtlCol="false" tIns="0" lIns="0" bIns="0" rIns="0">
            <a:spAutoFit/>
          </a:bodyPr>
          <a:lstStyle/>
          <a:p>
            <a:pPr algn="l">
              <a:lnSpc>
                <a:spcPts val="3200"/>
              </a:lnSpc>
            </a:pPr>
            <a:r>
              <a:rPr lang="en-US" sz="3200">
                <a:solidFill>
                  <a:srgbClr val="FFFFFF"/>
                </a:solidFill>
                <a:latin typeface="Poppins Light"/>
                <a:ea typeface="Poppins Light"/>
                <a:cs typeface="Poppins Light"/>
                <a:sym typeface="Poppins Light"/>
              </a:rPr>
              <a:t>04</a:t>
            </a:r>
          </a:p>
        </p:txBody>
      </p:sp>
      <p:sp>
        <p:nvSpPr>
          <p:cNvPr name="TextBox 17" id="17"/>
          <p:cNvSpPr txBox="true"/>
          <p:nvPr/>
        </p:nvSpPr>
        <p:spPr>
          <a:xfrm rot="0">
            <a:off x="3321844" y="7662709"/>
            <a:ext cx="2939497" cy="264849"/>
          </a:xfrm>
          <a:prstGeom prst="rect">
            <a:avLst/>
          </a:prstGeom>
        </p:spPr>
        <p:txBody>
          <a:bodyPr anchor="t" rtlCol="false" tIns="0" lIns="0" bIns="0" rIns="0">
            <a:spAutoFit/>
          </a:bodyPr>
          <a:lstStyle/>
          <a:p>
            <a:pPr algn="l">
              <a:lnSpc>
                <a:spcPts val="1800"/>
              </a:lnSpc>
            </a:pPr>
            <a:r>
              <a:rPr lang="en-US" sz="1800">
                <a:solidFill>
                  <a:srgbClr val="C3C5C6"/>
                </a:solidFill>
                <a:latin typeface="Poppins Light"/>
                <a:ea typeface="Poppins Light"/>
                <a:cs typeface="Poppins Light"/>
                <a:sym typeface="Poppins Light"/>
              </a:rPr>
              <a:t>Showcases</a:t>
            </a:r>
          </a:p>
        </p:txBody>
      </p:sp>
      <p:sp>
        <p:nvSpPr>
          <p:cNvPr name="TextBox 18" id="18"/>
          <p:cNvSpPr txBox="true"/>
          <p:nvPr/>
        </p:nvSpPr>
        <p:spPr>
          <a:xfrm rot="0">
            <a:off x="9810750" y="7578268"/>
            <a:ext cx="506016" cy="452755"/>
          </a:xfrm>
          <a:prstGeom prst="rect">
            <a:avLst/>
          </a:prstGeom>
        </p:spPr>
        <p:txBody>
          <a:bodyPr anchor="t" rtlCol="false" tIns="0" lIns="0" bIns="0" rIns="0">
            <a:spAutoFit/>
          </a:bodyPr>
          <a:lstStyle/>
          <a:p>
            <a:pPr algn="l">
              <a:lnSpc>
                <a:spcPts val="3200"/>
              </a:lnSpc>
            </a:pPr>
            <a:r>
              <a:rPr lang="en-US" sz="3200">
                <a:solidFill>
                  <a:srgbClr val="FFFFFF"/>
                </a:solidFill>
                <a:latin typeface="Poppins Light"/>
                <a:ea typeface="Poppins Light"/>
                <a:cs typeface="Poppins Light"/>
                <a:sym typeface="Poppins Light"/>
              </a:rPr>
              <a:t>08</a:t>
            </a:r>
          </a:p>
        </p:txBody>
      </p:sp>
      <p:sp>
        <p:nvSpPr>
          <p:cNvPr name="TextBox 19" id="19"/>
          <p:cNvSpPr txBox="true"/>
          <p:nvPr/>
        </p:nvSpPr>
        <p:spPr>
          <a:xfrm rot="0">
            <a:off x="10560844" y="7662709"/>
            <a:ext cx="2939497" cy="264849"/>
          </a:xfrm>
          <a:prstGeom prst="rect">
            <a:avLst/>
          </a:prstGeom>
        </p:spPr>
        <p:txBody>
          <a:bodyPr anchor="t" rtlCol="false" tIns="0" lIns="0" bIns="0" rIns="0">
            <a:spAutoFit/>
          </a:bodyPr>
          <a:lstStyle/>
          <a:p>
            <a:pPr algn="l">
              <a:lnSpc>
                <a:spcPts val="1800"/>
              </a:lnSpc>
            </a:pPr>
            <a:r>
              <a:rPr lang="en-US" sz="1800">
                <a:solidFill>
                  <a:srgbClr val="C3C5C6"/>
                </a:solidFill>
                <a:latin typeface="Poppins Light"/>
                <a:ea typeface="Poppins Light"/>
                <a:cs typeface="Poppins Light"/>
                <a:sym typeface="Poppins Light"/>
              </a:rPr>
              <a:t>Partners</a:t>
            </a:r>
          </a:p>
        </p:txBody>
      </p:sp>
      <p:sp>
        <p:nvSpPr>
          <p:cNvPr name="AutoShape 20" id="20"/>
          <p:cNvSpPr/>
          <p:nvPr/>
        </p:nvSpPr>
        <p:spPr>
          <a:xfrm>
            <a:off x="2571750" y="4856039"/>
            <a:ext cx="5905500" cy="0"/>
          </a:xfrm>
          <a:prstGeom prst="line">
            <a:avLst/>
          </a:prstGeom>
          <a:ln cap="flat" w="9525">
            <a:solidFill>
              <a:srgbClr val="C3C5C6"/>
            </a:solidFill>
            <a:prstDash val="solid"/>
            <a:headEnd type="none" len="sm" w="sm"/>
            <a:tailEnd type="none" len="sm" w="sm"/>
          </a:ln>
        </p:spPr>
      </p:sp>
      <p:sp>
        <p:nvSpPr>
          <p:cNvPr name="AutoShape 21" id="21"/>
          <p:cNvSpPr/>
          <p:nvPr/>
        </p:nvSpPr>
        <p:spPr>
          <a:xfrm>
            <a:off x="9810750" y="4856039"/>
            <a:ext cx="5905500" cy="0"/>
          </a:xfrm>
          <a:prstGeom prst="line">
            <a:avLst/>
          </a:prstGeom>
          <a:ln cap="flat" w="9525">
            <a:solidFill>
              <a:srgbClr val="C3C5C6"/>
            </a:solidFill>
            <a:prstDash val="solid"/>
            <a:headEnd type="none" len="sm" w="sm"/>
            <a:tailEnd type="none" len="sm" w="sm"/>
          </a:ln>
        </p:spPr>
      </p:sp>
      <p:sp>
        <p:nvSpPr>
          <p:cNvPr name="AutoShape 22" id="22"/>
          <p:cNvSpPr/>
          <p:nvPr/>
        </p:nvSpPr>
        <p:spPr>
          <a:xfrm>
            <a:off x="2571750" y="6029772"/>
            <a:ext cx="5905500" cy="0"/>
          </a:xfrm>
          <a:prstGeom prst="line">
            <a:avLst/>
          </a:prstGeom>
          <a:ln cap="flat" w="9525">
            <a:solidFill>
              <a:srgbClr val="C3C5C6"/>
            </a:solidFill>
            <a:prstDash val="solid"/>
            <a:headEnd type="none" len="sm" w="sm"/>
            <a:tailEnd type="none" len="sm" w="sm"/>
          </a:ln>
        </p:spPr>
      </p:sp>
      <p:sp>
        <p:nvSpPr>
          <p:cNvPr name="AutoShape 23" id="23"/>
          <p:cNvSpPr/>
          <p:nvPr/>
        </p:nvSpPr>
        <p:spPr>
          <a:xfrm>
            <a:off x="9810750" y="6029772"/>
            <a:ext cx="5905500" cy="0"/>
          </a:xfrm>
          <a:prstGeom prst="line">
            <a:avLst/>
          </a:prstGeom>
          <a:ln cap="flat" w="9525">
            <a:solidFill>
              <a:srgbClr val="C3C5C6"/>
            </a:solidFill>
            <a:prstDash val="solid"/>
            <a:headEnd type="none" len="sm" w="sm"/>
            <a:tailEnd type="none" len="sm" w="sm"/>
          </a:ln>
        </p:spPr>
      </p:sp>
      <p:sp>
        <p:nvSpPr>
          <p:cNvPr name="AutoShape 24" id="24"/>
          <p:cNvSpPr/>
          <p:nvPr/>
        </p:nvSpPr>
        <p:spPr>
          <a:xfrm>
            <a:off x="2571750" y="7203505"/>
            <a:ext cx="5905500" cy="0"/>
          </a:xfrm>
          <a:prstGeom prst="line">
            <a:avLst/>
          </a:prstGeom>
          <a:ln cap="flat" w="9525">
            <a:solidFill>
              <a:srgbClr val="C3C5C6"/>
            </a:solidFill>
            <a:prstDash val="solid"/>
            <a:headEnd type="none" len="sm" w="sm"/>
            <a:tailEnd type="none" len="sm" w="sm"/>
          </a:ln>
        </p:spPr>
      </p:sp>
      <p:sp>
        <p:nvSpPr>
          <p:cNvPr name="AutoShape 25" id="25"/>
          <p:cNvSpPr/>
          <p:nvPr/>
        </p:nvSpPr>
        <p:spPr>
          <a:xfrm>
            <a:off x="9810750" y="7203505"/>
            <a:ext cx="5905500" cy="0"/>
          </a:xfrm>
          <a:prstGeom prst="line">
            <a:avLst/>
          </a:prstGeom>
          <a:ln cap="flat" w="9525">
            <a:solidFill>
              <a:srgbClr val="C3C5C6"/>
            </a:solidFill>
            <a:prstDash val="solid"/>
            <a:headEnd type="none" len="sm" w="sm"/>
            <a:tailEnd type="none" len="sm" w="sm"/>
          </a:ln>
        </p:spPr>
      </p:sp>
      <p:sp>
        <p:nvSpPr>
          <p:cNvPr name="AutoShape 26" id="26"/>
          <p:cNvSpPr/>
          <p:nvPr/>
        </p:nvSpPr>
        <p:spPr>
          <a:xfrm>
            <a:off x="2571750" y="8377238"/>
            <a:ext cx="5905500" cy="0"/>
          </a:xfrm>
          <a:prstGeom prst="line">
            <a:avLst/>
          </a:prstGeom>
          <a:ln cap="flat" w="9525">
            <a:solidFill>
              <a:srgbClr val="C3C5C6"/>
            </a:solidFill>
            <a:prstDash val="solid"/>
            <a:headEnd type="none" len="sm" w="sm"/>
            <a:tailEnd type="none" len="sm" w="sm"/>
          </a:ln>
        </p:spPr>
      </p:sp>
      <p:sp>
        <p:nvSpPr>
          <p:cNvPr name="AutoShape 27" id="27"/>
          <p:cNvSpPr/>
          <p:nvPr/>
        </p:nvSpPr>
        <p:spPr>
          <a:xfrm>
            <a:off x="9810750" y="8377238"/>
            <a:ext cx="5905500" cy="0"/>
          </a:xfrm>
          <a:prstGeom prst="line">
            <a:avLst/>
          </a:prstGeom>
          <a:ln cap="flat" w="9525">
            <a:solidFill>
              <a:srgbClr val="C3C5C6"/>
            </a:solidFill>
            <a:prstDash val="solid"/>
            <a:headEnd type="none" len="sm" w="sm"/>
            <a:tailEnd type="none" len="sm" w="sm"/>
          </a:ln>
        </p:spPr>
      </p:sp>
      <p:sp>
        <p:nvSpPr>
          <p:cNvPr name="AutoShape 28" id="28"/>
          <p:cNvSpPr/>
          <p:nvPr/>
        </p:nvSpPr>
        <p:spPr>
          <a:xfrm>
            <a:off x="2571750" y="2866444"/>
            <a:ext cx="567898" cy="0"/>
          </a:xfrm>
          <a:prstGeom prst="line">
            <a:avLst/>
          </a:prstGeom>
          <a:ln cap="flat" w="38100">
            <a:solidFill>
              <a:srgbClr val="D2B99A"/>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8477250" cy="10287000"/>
          </a:xfrm>
          <a:custGeom>
            <a:avLst/>
            <a:gdLst/>
            <a:ahLst/>
            <a:cxnLst/>
            <a:rect r="r" b="b" t="t" l="l"/>
            <a:pathLst>
              <a:path h="10287000" w="8477250">
                <a:moveTo>
                  <a:pt x="0" y="0"/>
                </a:moveTo>
                <a:lnTo>
                  <a:pt x="8477250" y="0"/>
                </a:lnTo>
                <a:lnTo>
                  <a:pt x="8477250" y="10287000"/>
                </a:lnTo>
                <a:lnTo>
                  <a:pt x="0" y="10287000"/>
                </a:lnTo>
                <a:lnTo>
                  <a:pt x="0" y="0"/>
                </a:lnTo>
                <a:close/>
              </a:path>
            </a:pathLst>
          </a:custGeom>
          <a:blipFill>
            <a:blip r:embed="rId2"/>
            <a:stretch>
              <a:fillRect l="-41001" t="0" r="-40793" b="0"/>
            </a:stretch>
          </a:blipFill>
        </p:spPr>
      </p:sp>
      <p:grpSp>
        <p:nvGrpSpPr>
          <p:cNvPr name="Group 3" id="3"/>
          <p:cNvGrpSpPr/>
          <p:nvPr/>
        </p:nvGrpSpPr>
        <p:grpSpPr>
          <a:xfrm rot="0">
            <a:off x="4610278" y="0"/>
            <a:ext cx="3876497" cy="10287000"/>
            <a:chOff x="0" y="0"/>
            <a:chExt cx="1020970" cy="2709333"/>
          </a:xfrm>
        </p:grpSpPr>
        <p:sp>
          <p:nvSpPr>
            <p:cNvPr name="Freeform 4" id="4"/>
            <p:cNvSpPr/>
            <p:nvPr/>
          </p:nvSpPr>
          <p:spPr>
            <a:xfrm flipH="false" flipV="false" rot="0">
              <a:off x="0" y="0"/>
              <a:ext cx="1020970" cy="2709333"/>
            </a:xfrm>
            <a:custGeom>
              <a:avLst/>
              <a:gdLst/>
              <a:ahLst/>
              <a:cxnLst/>
              <a:rect r="r" b="b" t="t" l="l"/>
              <a:pathLst>
                <a:path h="2709333" w="1020970">
                  <a:moveTo>
                    <a:pt x="0" y="0"/>
                  </a:moveTo>
                  <a:lnTo>
                    <a:pt x="1020970" y="0"/>
                  </a:lnTo>
                  <a:lnTo>
                    <a:pt x="1020970" y="2709333"/>
                  </a:lnTo>
                  <a:lnTo>
                    <a:pt x="0" y="2709333"/>
                  </a:lnTo>
                  <a:close/>
                </a:path>
              </a:pathLst>
            </a:custGeom>
            <a:gradFill rotWithShape="true">
              <a:gsLst>
                <a:gs pos="0">
                  <a:srgbClr val="000000">
                    <a:alpha val="0"/>
                  </a:srgbClr>
                </a:gs>
                <a:gs pos="50000">
                  <a:srgbClr val="000000">
                    <a:alpha val="48500"/>
                  </a:srgbClr>
                </a:gs>
                <a:gs pos="100000">
                  <a:srgbClr val="000000">
                    <a:alpha val="100000"/>
                  </a:srgbClr>
                </a:gs>
              </a:gsLst>
              <a:lin ang="0"/>
            </a:gradFill>
          </p:spPr>
        </p:sp>
        <p:sp>
          <p:nvSpPr>
            <p:cNvPr name="TextBox 5" id="5"/>
            <p:cNvSpPr txBox="true"/>
            <p:nvPr/>
          </p:nvSpPr>
          <p:spPr>
            <a:xfrm>
              <a:off x="0" y="9525"/>
              <a:ext cx="1020970" cy="2699808"/>
            </a:xfrm>
            <a:prstGeom prst="rect">
              <a:avLst/>
            </a:prstGeom>
          </p:spPr>
          <p:txBody>
            <a:bodyPr anchor="ctr" rtlCol="false" tIns="50800" lIns="50800" bIns="50800" rIns="50800"/>
            <a:lstStyle/>
            <a:p>
              <a:pPr algn="ctr">
                <a:lnSpc>
                  <a:spcPts val="1800"/>
                </a:lnSpc>
              </a:pPr>
            </a:p>
          </p:txBody>
        </p:sp>
      </p:grpSp>
      <p:sp>
        <p:nvSpPr>
          <p:cNvPr name="Freeform 6" id="6"/>
          <p:cNvSpPr/>
          <p:nvPr/>
        </p:nvSpPr>
        <p:spPr>
          <a:xfrm flipH="true" flipV="false" rot="0">
            <a:off x="7881015" y="-1112315"/>
            <a:ext cx="16230600" cy="6881774"/>
          </a:xfrm>
          <a:custGeom>
            <a:avLst/>
            <a:gdLst/>
            <a:ahLst/>
            <a:cxnLst/>
            <a:rect r="r" b="b" t="t" l="l"/>
            <a:pathLst>
              <a:path h="6881774" w="16230600">
                <a:moveTo>
                  <a:pt x="16230600" y="0"/>
                </a:moveTo>
                <a:lnTo>
                  <a:pt x="0" y="0"/>
                </a:lnTo>
                <a:lnTo>
                  <a:pt x="0" y="6881774"/>
                </a:lnTo>
                <a:lnTo>
                  <a:pt x="16230600" y="6881774"/>
                </a:lnTo>
                <a:lnTo>
                  <a:pt x="16230600" y="0"/>
                </a:lnTo>
                <a:close/>
              </a:path>
            </a:pathLst>
          </a:custGeom>
          <a:blipFill>
            <a:blip r:embed="rId3">
              <a:alphaModFix amt="60000"/>
            </a:blip>
            <a:stretch>
              <a:fillRect l="0" t="0" r="0" b="0"/>
            </a:stretch>
          </a:blipFill>
        </p:spPr>
      </p:sp>
      <p:sp>
        <p:nvSpPr>
          <p:cNvPr name="AutoShape 7" id="7"/>
          <p:cNvSpPr/>
          <p:nvPr/>
        </p:nvSpPr>
        <p:spPr>
          <a:xfrm>
            <a:off x="9810750" y="2866444"/>
            <a:ext cx="567898" cy="0"/>
          </a:xfrm>
          <a:prstGeom prst="line">
            <a:avLst/>
          </a:prstGeom>
          <a:ln cap="flat" w="38100">
            <a:solidFill>
              <a:srgbClr val="D2B99A"/>
            </a:solidFill>
            <a:prstDash val="solid"/>
            <a:headEnd type="none" len="sm" w="sm"/>
            <a:tailEnd type="none" len="sm" w="sm"/>
          </a:ln>
        </p:spPr>
      </p:sp>
      <p:sp>
        <p:nvSpPr>
          <p:cNvPr name="TextBox 8" id="8"/>
          <p:cNvSpPr txBox="true"/>
          <p:nvPr/>
        </p:nvSpPr>
        <p:spPr>
          <a:xfrm rot="0">
            <a:off x="9810750" y="1952625"/>
            <a:ext cx="5905500" cy="799519"/>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INTRODUCTION</a:t>
            </a:r>
          </a:p>
        </p:txBody>
      </p:sp>
      <p:sp>
        <p:nvSpPr>
          <p:cNvPr name="TextBox 9" id="9"/>
          <p:cNvSpPr txBox="true"/>
          <p:nvPr/>
        </p:nvSpPr>
        <p:spPr>
          <a:xfrm rot="0">
            <a:off x="9810750" y="3973480"/>
            <a:ext cx="5905500" cy="1118397"/>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We focus on providing innovative solutions to meet client needs and improve their businesses.</a:t>
            </a:r>
          </a:p>
        </p:txBody>
      </p:sp>
      <p:sp>
        <p:nvSpPr>
          <p:cNvPr name="TextBox 10" id="10"/>
          <p:cNvSpPr txBox="true"/>
          <p:nvPr/>
        </p:nvSpPr>
        <p:spPr>
          <a:xfrm rot="0">
            <a:off x="9810750" y="5425253"/>
            <a:ext cx="5905500" cy="2217218"/>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With a passionate team of experts in various fields, we pride ourselves on our commitment to quality, integrity, and customer satisfaction. Our mission is to drive success through creativity and technology, offering a diverse range of products and services tailored to your unique challenges. Join us on our journey as we strive to make a positive impact in the industry and beyond. Thank you for considering us as your partner!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5458246" y="-1743787"/>
            <a:ext cx="20814942" cy="8825535"/>
          </a:xfrm>
          <a:custGeom>
            <a:avLst/>
            <a:gdLst/>
            <a:ahLst/>
            <a:cxnLst/>
            <a:rect r="r" b="b" t="t" l="l"/>
            <a:pathLst>
              <a:path h="8825535" w="20814942">
                <a:moveTo>
                  <a:pt x="0" y="0"/>
                </a:moveTo>
                <a:lnTo>
                  <a:pt x="20814942" y="0"/>
                </a:lnTo>
                <a:lnTo>
                  <a:pt x="20814942" y="8825536"/>
                </a:lnTo>
                <a:lnTo>
                  <a:pt x="0" y="8825536"/>
                </a:lnTo>
                <a:lnTo>
                  <a:pt x="0" y="0"/>
                </a:lnTo>
                <a:close/>
              </a:path>
            </a:pathLst>
          </a:custGeom>
          <a:blipFill>
            <a:blip r:embed="rId2">
              <a:alphaModFix amt="60000"/>
            </a:blip>
            <a:stretch>
              <a:fillRect l="0" t="0" r="0" b="0"/>
            </a:stretch>
          </a:blipFill>
        </p:spPr>
      </p:sp>
      <p:sp>
        <p:nvSpPr>
          <p:cNvPr name="AutoShape 3" id="3"/>
          <p:cNvSpPr/>
          <p:nvPr/>
        </p:nvSpPr>
        <p:spPr>
          <a:xfrm>
            <a:off x="2571750" y="2866444"/>
            <a:ext cx="567898" cy="0"/>
          </a:xfrm>
          <a:prstGeom prst="line">
            <a:avLst/>
          </a:prstGeom>
          <a:ln cap="flat" w="38100">
            <a:solidFill>
              <a:srgbClr val="D2B99A"/>
            </a:solidFill>
            <a:prstDash val="solid"/>
            <a:headEnd type="none" len="sm" w="sm"/>
            <a:tailEnd type="none" len="sm" w="sm"/>
          </a:ln>
        </p:spPr>
      </p:sp>
      <p:sp>
        <p:nvSpPr>
          <p:cNvPr name="Freeform 4" id="4"/>
          <p:cNvSpPr/>
          <p:nvPr/>
        </p:nvSpPr>
        <p:spPr>
          <a:xfrm flipH="false" flipV="false" rot="0">
            <a:off x="2571750" y="4123055"/>
            <a:ext cx="2762250" cy="2952750"/>
          </a:xfrm>
          <a:custGeom>
            <a:avLst/>
            <a:gdLst/>
            <a:ahLst/>
            <a:cxnLst/>
            <a:rect r="r" b="b" t="t" l="l"/>
            <a:pathLst>
              <a:path h="2952750" w="2762250">
                <a:moveTo>
                  <a:pt x="0" y="0"/>
                </a:moveTo>
                <a:lnTo>
                  <a:pt x="2762250" y="0"/>
                </a:lnTo>
                <a:lnTo>
                  <a:pt x="2762250" y="2952750"/>
                </a:lnTo>
                <a:lnTo>
                  <a:pt x="0" y="2952750"/>
                </a:lnTo>
                <a:lnTo>
                  <a:pt x="0" y="0"/>
                </a:lnTo>
                <a:close/>
              </a:path>
            </a:pathLst>
          </a:custGeom>
          <a:blipFill>
            <a:blip r:embed="rId3"/>
            <a:stretch>
              <a:fillRect l="-18371" t="-12889" r="-7731" b="-63839"/>
            </a:stretch>
          </a:blipFill>
        </p:spPr>
      </p:sp>
      <p:sp>
        <p:nvSpPr>
          <p:cNvPr name="Freeform 5" id="5"/>
          <p:cNvSpPr/>
          <p:nvPr/>
        </p:nvSpPr>
        <p:spPr>
          <a:xfrm flipH="false" flipV="false" rot="0">
            <a:off x="6032500" y="4123055"/>
            <a:ext cx="2762250" cy="2952750"/>
          </a:xfrm>
          <a:custGeom>
            <a:avLst/>
            <a:gdLst/>
            <a:ahLst/>
            <a:cxnLst/>
            <a:rect r="r" b="b" t="t" l="l"/>
            <a:pathLst>
              <a:path h="2952750" w="2762250">
                <a:moveTo>
                  <a:pt x="0" y="0"/>
                </a:moveTo>
                <a:lnTo>
                  <a:pt x="2762250" y="0"/>
                </a:lnTo>
                <a:lnTo>
                  <a:pt x="2762250" y="2952750"/>
                </a:lnTo>
                <a:lnTo>
                  <a:pt x="0" y="2952750"/>
                </a:lnTo>
                <a:lnTo>
                  <a:pt x="0" y="0"/>
                </a:lnTo>
                <a:close/>
              </a:path>
            </a:pathLst>
          </a:custGeom>
          <a:blipFill>
            <a:blip r:embed="rId4"/>
            <a:stretch>
              <a:fillRect l="-95614" t="-38641" r="-87196" b="-37956"/>
            </a:stretch>
          </a:blipFill>
        </p:spPr>
      </p:sp>
      <p:sp>
        <p:nvSpPr>
          <p:cNvPr name="Freeform 6" id="6"/>
          <p:cNvSpPr/>
          <p:nvPr/>
        </p:nvSpPr>
        <p:spPr>
          <a:xfrm flipH="false" flipV="false" rot="0">
            <a:off x="9493250" y="4123055"/>
            <a:ext cx="2762250" cy="2952750"/>
          </a:xfrm>
          <a:custGeom>
            <a:avLst/>
            <a:gdLst/>
            <a:ahLst/>
            <a:cxnLst/>
            <a:rect r="r" b="b" t="t" l="l"/>
            <a:pathLst>
              <a:path h="2952750" w="2762250">
                <a:moveTo>
                  <a:pt x="0" y="0"/>
                </a:moveTo>
                <a:lnTo>
                  <a:pt x="2762250" y="0"/>
                </a:lnTo>
                <a:lnTo>
                  <a:pt x="2762250" y="2952750"/>
                </a:lnTo>
                <a:lnTo>
                  <a:pt x="0" y="2952750"/>
                </a:lnTo>
                <a:lnTo>
                  <a:pt x="0" y="0"/>
                </a:lnTo>
                <a:close/>
              </a:path>
            </a:pathLst>
          </a:custGeom>
          <a:blipFill>
            <a:blip r:embed="rId5"/>
            <a:stretch>
              <a:fillRect l="0" t="-17618" r="0" b="-22528"/>
            </a:stretch>
          </a:blipFill>
        </p:spPr>
      </p:sp>
      <p:sp>
        <p:nvSpPr>
          <p:cNvPr name="Freeform 7" id="7"/>
          <p:cNvSpPr/>
          <p:nvPr/>
        </p:nvSpPr>
        <p:spPr>
          <a:xfrm flipH="false" flipV="false" rot="0">
            <a:off x="12954000" y="4123055"/>
            <a:ext cx="2762250" cy="2952750"/>
          </a:xfrm>
          <a:custGeom>
            <a:avLst/>
            <a:gdLst/>
            <a:ahLst/>
            <a:cxnLst/>
            <a:rect r="r" b="b" t="t" l="l"/>
            <a:pathLst>
              <a:path h="2952750" w="2762250">
                <a:moveTo>
                  <a:pt x="0" y="0"/>
                </a:moveTo>
                <a:lnTo>
                  <a:pt x="2762250" y="0"/>
                </a:lnTo>
                <a:lnTo>
                  <a:pt x="2762250" y="2952750"/>
                </a:lnTo>
                <a:lnTo>
                  <a:pt x="0" y="2952750"/>
                </a:lnTo>
                <a:lnTo>
                  <a:pt x="0" y="0"/>
                </a:lnTo>
                <a:close/>
              </a:path>
            </a:pathLst>
          </a:custGeom>
          <a:blipFill>
            <a:blip r:embed="rId6"/>
            <a:stretch>
              <a:fillRect l="0" t="-1095" r="0" b="-39051"/>
            </a:stretch>
          </a:blipFill>
        </p:spPr>
      </p:sp>
      <p:sp>
        <p:nvSpPr>
          <p:cNvPr name="TextBox 8" id="8"/>
          <p:cNvSpPr txBox="true"/>
          <p:nvPr/>
        </p:nvSpPr>
        <p:spPr>
          <a:xfrm rot="0">
            <a:off x="2571750" y="1952625"/>
            <a:ext cx="5905500"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OUR TEAM</a:t>
            </a:r>
          </a:p>
        </p:txBody>
      </p:sp>
      <p:sp>
        <p:nvSpPr>
          <p:cNvPr name="TextBox 9" id="9"/>
          <p:cNvSpPr txBox="true"/>
          <p:nvPr/>
        </p:nvSpPr>
        <p:spPr>
          <a:xfrm rot="0">
            <a:off x="3189379" y="7771130"/>
            <a:ext cx="2144621" cy="375285"/>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Claudia Alves</a:t>
            </a:r>
          </a:p>
        </p:txBody>
      </p:sp>
      <p:sp>
        <p:nvSpPr>
          <p:cNvPr name="TextBox 10" id="10"/>
          <p:cNvSpPr txBox="true"/>
          <p:nvPr/>
        </p:nvSpPr>
        <p:spPr>
          <a:xfrm rot="0">
            <a:off x="6629747" y="7771130"/>
            <a:ext cx="2165003" cy="375285"/>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Morgan Maxwell</a:t>
            </a:r>
          </a:p>
        </p:txBody>
      </p:sp>
      <p:sp>
        <p:nvSpPr>
          <p:cNvPr name="TextBox 11" id="11"/>
          <p:cNvSpPr txBox="true"/>
          <p:nvPr/>
        </p:nvSpPr>
        <p:spPr>
          <a:xfrm rot="0">
            <a:off x="10090497" y="7771130"/>
            <a:ext cx="2165003" cy="375285"/>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Estelle Darcy</a:t>
            </a:r>
          </a:p>
        </p:txBody>
      </p:sp>
      <p:sp>
        <p:nvSpPr>
          <p:cNvPr name="TextBox 12" id="12"/>
          <p:cNvSpPr txBox="true"/>
          <p:nvPr/>
        </p:nvSpPr>
        <p:spPr>
          <a:xfrm rot="0">
            <a:off x="13551247" y="7771130"/>
            <a:ext cx="2165003" cy="375285"/>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Ndemi Otieno</a:t>
            </a:r>
          </a:p>
        </p:txBody>
      </p:sp>
      <p:sp>
        <p:nvSpPr>
          <p:cNvPr name="TextBox 13" id="13"/>
          <p:cNvSpPr txBox="true"/>
          <p:nvPr/>
        </p:nvSpPr>
        <p:spPr>
          <a:xfrm rot="0">
            <a:off x="3189379" y="8098790"/>
            <a:ext cx="2144621" cy="283210"/>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Founder</a:t>
            </a:r>
          </a:p>
        </p:txBody>
      </p:sp>
      <p:sp>
        <p:nvSpPr>
          <p:cNvPr name="TextBox 14" id="14"/>
          <p:cNvSpPr txBox="true"/>
          <p:nvPr/>
        </p:nvSpPr>
        <p:spPr>
          <a:xfrm rot="0">
            <a:off x="6629747" y="8098790"/>
            <a:ext cx="2165003" cy="283210"/>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Founder</a:t>
            </a:r>
          </a:p>
        </p:txBody>
      </p:sp>
      <p:sp>
        <p:nvSpPr>
          <p:cNvPr name="TextBox 15" id="15"/>
          <p:cNvSpPr txBox="true"/>
          <p:nvPr/>
        </p:nvSpPr>
        <p:spPr>
          <a:xfrm rot="0">
            <a:off x="10090497" y="8098790"/>
            <a:ext cx="2165003" cy="283210"/>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Founder</a:t>
            </a:r>
          </a:p>
        </p:txBody>
      </p:sp>
      <p:sp>
        <p:nvSpPr>
          <p:cNvPr name="TextBox 16" id="16"/>
          <p:cNvSpPr txBox="true"/>
          <p:nvPr/>
        </p:nvSpPr>
        <p:spPr>
          <a:xfrm rot="0">
            <a:off x="13551247" y="8098790"/>
            <a:ext cx="2165003" cy="283210"/>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Founder</a:t>
            </a:r>
          </a:p>
        </p:txBody>
      </p:sp>
      <p:sp>
        <p:nvSpPr>
          <p:cNvPr name="TextBox 17" id="17"/>
          <p:cNvSpPr txBox="true"/>
          <p:nvPr/>
        </p:nvSpPr>
        <p:spPr>
          <a:xfrm rot="0">
            <a:off x="2592132" y="7707312"/>
            <a:ext cx="597247" cy="483870"/>
          </a:xfrm>
          <a:prstGeom prst="rect">
            <a:avLst/>
          </a:prstGeom>
        </p:spPr>
        <p:txBody>
          <a:bodyPr anchor="t" rtlCol="false" tIns="0" lIns="0" bIns="0" rIns="0">
            <a:spAutoFit/>
          </a:bodyPr>
          <a:lstStyle/>
          <a:p>
            <a:pPr algn="l">
              <a:lnSpc>
                <a:spcPts val="3779"/>
              </a:lnSpc>
            </a:pPr>
            <a:r>
              <a:rPr lang="en-US" sz="2700">
                <a:solidFill>
                  <a:srgbClr val="FFFFFF"/>
                </a:solidFill>
                <a:latin typeface="Poppins Light"/>
                <a:ea typeface="Poppins Light"/>
                <a:cs typeface="Poppins Light"/>
                <a:sym typeface="Poppins Light"/>
              </a:rPr>
              <a:t>01</a:t>
            </a:r>
          </a:p>
        </p:txBody>
      </p:sp>
      <p:sp>
        <p:nvSpPr>
          <p:cNvPr name="TextBox 18" id="18"/>
          <p:cNvSpPr txBox="true"/>
          <p:nvPr/>
        </p:nvSpPr>
        <p:spPr>
          <a:xfrm rot="0">
            <a:off x="6032500" y="7707312"/>
            <a:ext cx="597247" cy="483870"/>
          </a:xfrm>
          <a:prstGeom prst="rect">
            <a:avLst/>
          </a:prstGeom>
        </p:spPr>
        <p:txBody>
          <a:bodyPr anchor="t" rtlCol="false" tIns="0" lIns="0" bIns="0" rIns="0">
            <a:spAutoFit/>
          </a:bodyPr>
          <a:lstStyle/>
          <a:p>
            <a:pPr algn="l">
              <a:lnSpc>
                <a:spcPts val="3779"/>
              </a:lnSpc>
            </a:pPr>
            <a:r>
              <a:rPr lang="en-US" sz="2700">
                <a:solidFill>
                  <a:srgbClr val="FFFFFF"/>
                </a:solidFill>
                <a:latin typeface="Poppins Light"/>
                <a:ea typeface="Poppins Light"/>
                <a:cs typeface="Poppins Light"/>
                <a:sym typeface="Poppins Light"/>
              </a:rPr>
              <a:t>02</a:t>
            </a:r>
          </a:p>
        </p:txBody>
      </p:sp>
      <p:sp>
        <p:nvSpPr>
          <p:cNvPr name="TextBox 19" id="19"/>
          <p:cNvSpPr txBox="true"/>
          <p:nvPr/>
        </p:nvSpPr>
        <p:spPr>
          <a:xfrm rot="0">
            <a:off x="9493250" y="7707312"/>
            <a:ext cx="597247" cy="483870"/>
          </a:xfrm>
          <a:prstGeom prst="rect">
            <a:avLst/>
          </a:prstGeom>
        </p:spPr>
        <p:txBody>
          <a:bodyPr anchor="t" rtlCol="false" tIns="0" lIns="0" bIns="0" rIns="0">
            <a:spAutoFit/>
          </a:bodyPr>
          <a:lstStyle/>
          <a:p>
            <a:pPr algn="l">
              <a:lnSpc>
                <a:spcPts val="3779"/>
              </a:lnSpc>
            </a:pPr>
            <a:r>
              <a:rPr lang="en-US" sz="2700">
                <a:solidFill>
                  <a:srgbClr val="FFFFFF"/>
                </a:solidFill>
                <a:latin typeface="Poppins Light"/>
                <a:ea typeface="Poppins Light"/>
                <a:cs typeface="Poppins Light"/>
                <a:sym typeface="Poppins Light"/>
              </a:rPr>
              <a:t>03</a:t>
            </a:r>
          </a:p>
        </p:txBody>
      </p:sp>
      <p:sp>
        <p:nvSpPr>
          <p:cNvPr name="TextBox 20" id="20"/>
          <p:cNvSpPr txBox="true"/>
          <p:nvPr/>
        </p:nvSpPr>
        <p:spPr>
          <a:xfrm rot="0">
            <a:off x="12954000" y="7707312"/>
            <a:ext cx="597247" cy="483870"/>
          </a:xfrm>
          <a:prstGeom prst="rect">
            <a:avLst/>
          </a:prstGeom>
        </p:spPr>
        <p:txBody>
          <a:bodyPr anchor="t" rtlCol="false" tIns="0" lIns="0" bIns="0" rIns="0">
            <a:spAutoFit/>
          </a:bodyPr>
          <a:lstStyle/>
          <a:p>
            <a:pPr algn="l">
              <a:lnSpc>
                <a:spcPts val="3779"/>
              </a:lnSpc>
            </a:pPr>
            <a:r>
              <a:rPr lang="en-US" sz="2700">
                <a:solidFill>
                  <a:srgbClr val="FFFFFF"/>
                </a:solidFill>
                <a:latin typeface="Poppins Light"/>
                <a:ea typeface="Poppins Light"/>
                <a:cs typeface="Poppins Light"/>
                <a:sym typeface="Poppins Light"/>
              </a:rPr>
              <a:t>04</a:t>
            </a:r>
          </a:p>
        </p:txBody>
      </p:sp>
      <p:grpSp>
        <p:nvGrpSpPr>
          <p:cNvPr name="Group 21" id="21"/>
          <p:cNvGrpSpPr/>
          <p:nvPr/>
        </p:nvGrpSpPr>
        <p:grpSpPr>
          <a:xfrm rot="5400000">
            <a:off x="3098254" y="4842827"/>
            <a:ext cx="1712417" cy="2765425"/>
            <a:chOff x="0" y="0"/>
            <a:chExt cx="451007" cy="728342"/>
          </a:xfrm>
        </p:grpSpPr>
        <p:sp>
          <p:nvSpPr>
            <p:cNvPr name="Freeform 22" id="22"/>
            <p:cNvSpPr/>
            <p:nvPr/>
          </p:nvSpPr>
          <p:spPr>
            <a:xfrm flipH="false" flipV="false" rot="0">
              <a:off x="0" y="0"/>
              <a:ext cx="451007" cy="728342"/>
            </a:xfrm>
            <a:custGeom>
              <a:avLst/>
              <a:gdLst/>
              <a:ahLst/>
              <a:cxnLst/>
              <a:rect r="r" b="b" t="t" l="l"/>
              <a:pathLst>
                <a:path h="728342" w="451007">
                  <a:moveTo>
                    <a:pt x="0" y="0"/>
                  </a:moveTo>
                  <a:lnTo>
                    <a:pt x="451007" y="0"/>
                  </a:lnTo>
                  <a:lnTo>
                    <a:pt x="451007" y="728342"/>
                  </a:lnTo>
                  <a:lnTo>
                    <a:pt x="0" y="728342"/>
                  </a:lnTo>
                  <a:close/>
                </a:path>
              </a:pathLst>
            </a:custGeom>
            <a:gradFill rotWithShape="true">
              <a:gsLst>
                <a:gs pos="0">
                  <a:srgbClr val="000000">
                    <a:alpha val="0"/>
                  </a:srgbClr>
                </a:gs>
                <a:gs pos="50000">
                  <a:srgbClr val="000000">
                    <a:alpha val="48500"/>
                  </a:srgbClr>
                </a:gs>
                <a:gs pos="100000">
                  <a:srgbClr val="000000">
                    <a:alpha val="100000"/>
                  </a:srgbClr>
                </a:gs>
              </a:gsLst>
              <a:lin ang="0"/>
            </a:gradFill>
          </p:spPr>
        </p:sp>
        <p:sp>
          <p:nvSpPr>
            <p:cNvPr name="TextBox 23" id="23"/>
            <p:cNvSpPr txBox="true"/>
            <p:nvPr/>
          </p:nvSpPr>
          <p:spPr>
            <a:xfrm>
              <a:off x="0" y="9525"/>
              <a:ext cx="451007" cy="718817"/>
            </a:xfrm>
            <a:prstGeom prst="rect">
              <a:avLst/>
            </a:prstGeom>
          </p:spPr>
          <p:txBody>
            <a:bodyPr anchor="ctr" rtlCol="false" tIns="50800" lIns="50800" bIns="50800" rIns="50800"/>
            <a:lstStyle/>
            <a:p>
              <a:pPr algn="ctr">
                <a:lnSpc>
                  <a:spcPts val="1800"/>
                </a:lnSpc>
              </a:pPr>
            </a:p>
          </p:txBody>
        </p:sp>
      </p:grpSp>
      <p:grpSp>
        <p:nvGrpSpPr>
          <p:cNvPr name="Group 24" id="24"/>
          <p:cNvGrpSpPr/>
          <p:nvPr/>
        </p:nvGrpSpPr>
        <p:grpSpPr>
          <a:xfrm rot="5400000">
            <a:off x="6559004" y="4842827"/>
            <a:ext cx="1712417" cy="2765425"/>
            <a:chOff x="0" y="0"/>
            <a:chExt cx="451007" cy="728342"/>
          </a:xfrm>
        </p:grpSpPr>
        <p:sp>
          <p:nvSpPr>
            <p:cNvPr name="Freeform 25" id="25"/>
            <p:cNvSpPr/>
            <p:nvPr/>
          </p:nvSpPr>
          <p:spPr>
            <a:xfrm flipH="false" flipV="false" rot="0">
              <a:off x="0" y="0"/>
              <a:ext cx="451007" cy="728342"/>
            </a:xfrm>
            <a:custGeom>
              <a:avLst/>
              <a:gdLst/>
              <a:ahLst/>
              <a:cxnLst/>
              <a:rect r="r" b="b" t="t" l="l"/>
              <a:pathLst>
                <a:path h="728342" w="451007">
                  <a:moveTo>
                    <a:pt x="0" y="0"/>
                  </a:moveTo>
                  <a:lnTo>
                    <a:pt x="451007" y="0"/>
                  </a:lnTo>
                  <a:lnTo>
                    <a:pt x="451007" y="728342"/>
                  </a:lnTo>
                  <a:lnTo>
                    <a:pt x="0" y="728342"/>
                  </a:lnTo>
                  <a:close/>
                </a:path>
              </a:pathLst>
            </a:custGeom>
            <a:gradFill rotWithShape="true">
              <a:gsLst>
                <a:gs pos="0">
                  <a:srgbClr val="000000">
                    <a:alpha val="0"/>
                  </a:srgbClr>
                </a:gs>
                <a:gs pos="50000">
                  <a:srgbClr val="000000">
                    <a:alpha val="48500"/>
                  </a:srgbClr>
                </a:gs>
                <a:gs pos="100000">
                  <a:srgbClr val="000000">
                    <a:alpha val="100000"/>
                  </a:srgbClr>
                </a:gs>
              </a:gsLst>
              <a:lin ang="0"/>
            </a:gradFill>
          </p:spPr>
        </p:sp>
        <p:sp>
          <p:nvSpPr>
            <p:cNvPr name="TextBox 26" id="26"/>
            <p:cNvSpPr txBox="true"/>
            <p:nvPr/>
          </p:nvSpPr>
          <p:spPr>
            <a:xfrm>
              <a:off x="0" y="9525"/>
              <a:ext cx="451007" cy="718817"/>
            </a:xfrm>
            <a:prstGeom prst="rect">
              <a:avLst/>
            </a:prstGeom>
          </p:spPr>
          <p:txBody>
            <a:bodyPr anchor="ctr" rtlCol="false" tIns="50800" lIns="50800" bIns="50800" rIns="50800"/>
            <a:lstStyle/>
            <a:p>
              <a:pPr algn="ctr">
                <a:lnSpc>
                  <a:spcPts val="1800"/>
                </a:lnSpc>
              </a:pPr>
            </a:p>
          </p:txBody>
        </p:sp>
      </p:grpSp>
      <p:grpSp>
        <p:nvGrpSpPr>
          <p:cNvPr name="Group 27" id="27"/>
          <p:cNvGrpSpPr/>
          <p:nvPr/>
        </p:nvGrpSpPr>
        <p:grpSpPr>
          <a:xfrm rot="5400000">
            <a:off x="10016579" y="4842827"/>
            <a:ext cx="1712417" cy="2765425"/>
            <a:chOff x="0" y="0"/>
            <a:chExt cx="451007" cy="728342"/>
          </a:xfrm>
        </p:grpSpPr>
        <p:sp>
          <p:nvSpPr>
            <p:cNvPr name="Freeform 28" id="28"/>
            <p:cNvSpPr/>
            <p:nvPr/>
          </p:nvSpPr>
          <p:spPr>
            <a:xfrm flipH="false" flipV="false" rot="0">
              <a:off x="0" y="0"/>
              <a:ext cx="451007" cy="728342"/>
            </a:xfrm>
            <a:custGeom>
              <a:avLst/>
              <a:gdLst/>
              <a:ahLst/>
              <a:cxnLst/>
              <a:rect r="r" b="b" t="t" l="l"/>
              <a:pathLst>
                <a:path h="728342" w="451007">
                  <a:moveTo>
                    <a:pt x="0" y="0"/>
                  </a:moveTo>
                  <a:lnTo>
                    <a:pt x="451007" y="0"/>
                  </a:lnTo>
                  <a:lnTo>
                    <a:pt x="451007" y="728342"/>
                  </a:lnTo>
                  <a:lnTo>
                    <a:pt x="0" y="728342"/>
                  </a:lnTo>
                  <a:close/>
                </a:path>
              </a:pathLst>
            </a:custGeom>
            <a:gradFill rotWithShape="true">
              <a:gsLst>
                <a:gs pos="0">
                  <a:srgbClr val="000000">
                    <a:alpha val="0"/>
                  </a:srgbClr>
                </a:gs>
                <a:gs pos="50000">
                  <a:srgbClr val="000000">
                    <a:alpha val="48500"/>
                  </a:srgbClr>
                </a:gs>
                <a:gs pos="100000">
                  <a:srgbClr val="000000">
                    <a:alpha val="100000"/>
                  </a:srgbClr>
                </a:gs>
              </a:gsLst>
              <a:lin ang="0"/>
            </a:gradFill>
          </p:spPr>
        </p:sp>
        <p:sp>
          <p:nvSpPr>
            <p:cNvPr name="TextBox 29" id="29"/>
            <p:cNvSpPr txBox="true"/>
            <p:nvPr/>
          </p:nvSpPr>
          <p:spPr>
            <a:xfrm>
              <a:off x="0" y="9525"/>
              <a:ext cx="451007" cy="718817"/>
            </a:xfrm>
            <a:prstGeom prst="rect">
              <a:avLst/>
            </a:prstGeom>
          </p:spPr>
          <p:txBody>
            <a:bodyPr anchor="ctr" rtlCol="false" tIns="50800" lIns="50800" bIns="50800" rIns="50800"/>
            <a:lstStyle/>
            <a:p>
              <a:pPr algn="ctr">
                <a:lnSpc>
                  <a:spcPts val="1800"/>
                </a:lnSpc>
              </a:pPr>
            </a:p>
          </p:txBody>
        </p:sp>
      </p:grpSp>
      <p:grpSp>
        <p:nvGrpSpPr>
          <p:cNvPr name="Group 30" id="30"/>
          <p:cNvGrpSpPr/>
          <p:nvPr/>
        </p:nvGrpSpPr>
        <p:grpSpPr>
          <a:xfrm rot="5400000">
            <a:off x="13477329" y="4842827"/>
            <a:ext cx="1712417" cy="2765425"/>
            <a:chOff x="0" y="0"/>
            <a:chExt cx="451007" cy="728342"/>
          </a:xfrm>
        </p:grpSpPr>
        <p:sp>
          <p:nvSpPr>
            <p:cNvPr name="Freeform 31" id="31"/>
            <p:cNvSpPr/>
            <p:nvPr/>
          </p:nvSpPr>
          <p:spPr>
            <a:xfrm flipH="false" flipV="false" rot="0">
              <a:off x="0" y="0"/>
              <a:ext cx="451007" cy="728342"/>
            </a:xfrm>
            <a:custGeom>
              <a:avLst/>
              <a:gdLst/>
              <a:ahLst/>
              <a:cxnLst/>
              <a:rect r="r" b="b" t="t" l="l"/>
              <a:pathLst>
                <a:path h="728342" w="451007">
                  <a:moveTo>
                    <a:pt x="0" y="0"/>
                  </a:moveTo>
                  <a:lnTo>
                    <a:pt x="451007" y="0"/>
                  </a:lnTo>
                  <a:lnTo>
                    <a:pt x="451007" y="728342"/>
                  </a:lnTo>
                  <a:lnTo>
                    <a:pt x="0" y="728342"/>
                  </a:lnTo>
                  <a:close/>
                </a:path>
              </a:pathLst>
            </a:custGeom>
            <a:gradFill rotWithShape="true">
              <a:gsLst>
                <a:gs pos="0">
                  <a:srgbClr val="000000">
                    <a:alpha val="0"/>
                  </a:srgbClr>
                </a:gs>
                <a:gs pos="50000">
                  <a:srgbClr val="000000">
                    <a:alpha val="48500"/>
                  </a:srgbClr>
                </a:gs>
                <a:gs pos="100000">
                  <a:srgbClr val="000000">
                    <a:alpha val="100000"/>
                  </a:srgbClr>
                </a:gs>
              </a:gsLst>
              <a:lin ang="0"/>
            </a:gradFill>
          </p:spPr>
        </p:sp>
        <p:sp>
          <p:nvSpPr>
            <p:cNvPr name="TextBox 32" id="32"/>
            <p:cNvSpPr txBox="true"/>
            <p:nvPr/>
          </p:nvSpPr>
          <p:spPr>
            <a:xfrm>
              <a:off x="0" y="9525"/>
              <a:ext cx="451007" cy="718817"/>
            </a:xfrm>
            <a:prstGeom prst="rect">
              <a:avLst/>
            </a:prstGeom>
          </p:spPr>
          <p:txBody>
            <a:bodyPr anchor="ctr" rtlCol="false" tIns="50800" lIns="50800" bIns="50800" rIns="50800"/>
            <a:lstStyle/>
            <a:p>
              <a:pPr algn="ctr">
                <a:lnSpc>
                  <a:spcPts val="1800"/>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2169819" y="-2496048"/>
            <a:ext cx="21842778" cy="9261338"/>
          </a:xfrm>
          <a:custGeom>
            <a:avLst/>
            <a:gdLst/>
            <a:ahLst/>
            <a:cxnLst/>
            <a:rect r="r" b="b" t="t" l="l"/>
            <a:pathLst>
              <a:path h="9261338" w="21842778">
                <a:moveTo>
                  <a:pt x="0" y="0"/>
                </a:moveTo>
                <a:lnTo>
                  <a:pt x="21842778" y="0"/>
                </a:lnTo>
                <a:lnTo>
                  <a:pt x="21842778" y="9261338"/>
                </a:lnTo>
                <a:lnTo>
                  <a:pt x="0" y="9261338"/>
                </a:lnTo>
                <a:lnTo>
                  <a:pt x="0" y="0"/>
                </a:lnTo>
                <a:close/>
              </a:path>
            </a:pathLst>
          </a:custGeom>
          <a:blipFill>
            <a:blip r:embed="rId2">
              <a:alphaModFix amt="60000"/>
            </a:blip>
            <a:stretch>
              <a:fillRect l="0" t="0" r="0" b="0"/>
            </a:stretch>
          </a:blipFill>
        </p:spPr>
      </p:sp>
      <p:sp>
        <p:nvSpPr>
          <p:cNvPr name="AutoShape 3" id="3"/>
          <p:cNvSpPr/>
          <p:nvPr/>
        </p:nvSpPr>
        <p:spPr>
          <a:xfrm>
            <a:off x="2571750" y="2866444"/>
            <a:ext cx="567898" cy="0"/>
          </a:xfrm>
          <a:prstGeom prst="line">
            <a:avLst/>
          </a:prstGeom>
          <a:ln cap="flat" w="38100">
            <a:solidFill>
              <a:srgbClr val="D2B99A"/>
            </a:solidFill>
            <a:prstDash val="solid"/>
            <a:headEnd type="none" len="sm" w="sm"/>
            <a:tailEnd type="none" len="sm" w="sm"/>
          </a:ln>
        </p:spPr>
      </p:sp>
      <p:sp>
        <p:nvSpPr>
          <p:cNvPr name="Freeform 4" id="4"/>
          <p:cNvSpPr/>
          <p:nvPr/>
        </p:nvSpPr>
        <p:spPr>
          <a:xfrm flipH="false" flipV="false" rot="0">
            <a:off x="2571750" y="4567002"/>
            <a:ext cx="797933" cy="643808"/>
          </a:xfrm>
          <a:custGeom>
            <a:avLst/>
            <a:gdLst/>
            <a:ahLst/>
            <a:cxnLst/>
            <a:rect r="r" b="b" t="t" l="l"/>
            <a:pathLst>
              <a:path h="643808" w="797933">
                <a:moveTo>
                  <a:pt x="0" y="0"/>
                </a:moveTo>
                <a:lnTo>
                  <a:pt x="797933" y="0"/>
                </a:lnTo>
                <a:lnTo>
                  <a:pt x="797933" y="643808"/>
                </a:lnTo>
                <a:lnTo>
                  <a:pt x="0" y="6438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7176135" y="4567002"/>
            <a:ext cx="747034" cy="643808"/>
          </a:xfrm>
          <a:custGeom>
            <a:avLst/>
            <a:gdLst/>
            <a:ahLst/>
            <a:cxnLst/>
            <a:rect r="r" b="b" t="t" l="l"/>
            <a:pathLst>
              <a:path h="643808" w="747034">
                <a:moveTo>
                  <a:pt x="0" y="0"/>
                </a:moveTo>
                <a:lnTo>
                  <a:pt x="747034" y="0"/>
                </a:lnTo>
                <a:lnTo>
                  <a:pt x="747034" y="643808"/>
                </a:lnTo>
                <a:lnTo>
                  <a:pt x="0" y="6438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1778615" y="4567002"/>
            <a:ext cx="804706" cy="643808"/>
          </a:xfrm>
          <a:custGeom>
            <a:avLst/>
            <a:gdLst/>
            <a:ahLst/>
            <a:cxnLst/>
            <a:rect r="r" b="b" t="t" l="l"/>
            <a:pathLst>
              <a:path h="643808" w="804706">
                <a:moveTo>
                  <a:pt x="0" y="0"/>
                </a:moveTo>
                <a:lnTo>
                  <a:pt x="804706" y="0"/>
                </a:lnTo>
                <a:lnTo>
                  <a:pt x="804706" y="643808"/>
                </a:lnTo>
                <a:lnTo>
                  <a:pt x="0" y="64380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2571750" y="1952625"/>
            <a:ext cx="5905500"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OBJECTIVES</a:t>
            </a:r>
          </a:p>
        </p:txBody>
      </p:sp>
      <p:sp>
        <p:nvSpPr>
          <p:cNvPr name="TextBox 8" id="8"/>
          <p:cNvSpPr txBox="true"/>
          <p:nvPr/>
        </p:nvSpPr>
        <p:spPr>
          <a:xfrm rot="0">
            <a:off x="2571750" y="6010910"/>
            <a:ext cx="3937635" cy="375285"/>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Increase Revenue</a:t>
            </a:r>
          </a:p>
        </p:txBody>
      </p:sp>
      <p:sp>
        <p:nvSpPr>
          <p:cNvPr name="TextBox 9" id="9"/>
          <p:cNvSpPr txBox="true"/>
          <p:nvPr/>
        </p:nvSpPr>
        <p:spPr>
          <a:xfrm rot="0">
            <a:off x="7176135" y="6010910"/>
            <a:ext cx="3937635" cy="375285"/>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Customer Satisfaction</a:t>
            </a:r>
          </a:p>
        </p:txBody>
      </p:sp>
      <p:sp>
        <p:nvSpPr>
          <p:cNvPr name="TextBox 10" id="10"/>
          <p:cNvSpPr txBox="true"/>
          <p:nvPr/>
        </p:nvSpPr>
        <p:spPr>
          <a:xfrm rot="0">
            <a:off x="11778615" y="6010910"/>
            <a:ext cx="3937635" cy="375285"/>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Operational Efficiency</a:t>
            </a:r>
          </a:p>
        </p:txBody>
      </p:sp>
      <p:sp>
        <p:nvSpPr>
          <p:cNvPr name="TextBox 11" id="11"/>
          <p:cNvSpPr txBox="true"/>
          <p:nvPr/>
        </p:nvSpPr>
        <p:spPr>
          <a:xfrm rot="0">
            <a:off x="2571750" y="6717665"/>
            <a:ext cx="3937635" cy="1388110"/>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Achieve a 15% growth in sales within the next fiscal year by expanding our customer base, enhancing marketing strategies, and optimizing product offerings.</a:t>
            </a:r>
          </a:p>
        </p:txBody>
      </p:sp>
      <p:sp>
        <p:nvSpPr>
          <p:cNvPr name="TextBox 12" id="12"/>
          <p:cNvSpPr txBox="true"/>
          <p:nvPr/>
        </p:nvSpPr>
        <p:spPr>
          <a:xfrm rot="0">
            <a:off x="7176135" y="6717665"/>
            <a:ext cx="3937635" cy="1664335"/>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Attain a customer satisfaction rate of 90% or higher by implementing a comprehensive feedback system, training staff in customer service excellence, and addressing customer concerns promptly.</a:t>
            </a:r>
          </a:p>
        </p:txBody>
      </p:sp>
      <p:sp>
        <p:nvSpPr>
          <p:cNvPr name="TextBox 13" id="13"/>
          <p:cNvSpPr txBox="true"/>
          <p:nvPr/>
        </p:nvSpPr>
        <p:spPr>
          <a:xfrm rot="0">
            <a:off x="11778615" y="6717665"/>
            <a:ext cx="3937635" cy="1388110"/>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Streamline business processes to reduce operational costs by 10% over the next year by adopting new technologies, refining workflows, and eliminating redundancies.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77686" y="2980744"/>
            <a:ext cx="20814942" cy="8825535"/>
          </a:xfrm>
          <a:custGeom>
            <a:avLst/>
            <a:gdLst/>
            <a:ahLst/>
            <a:cxnLst/>
            <a:rect r="r" b="b" t="t" l="l"/>
            <a:pathLst>
              <a:path h="8825535" w="20814942">
                <a:moveTo>
                  <a:pt x="0" y="0"/>
                </a:moveTo>
                <a:lnTo>
                  <a:pt x="20814942" y="0"/>
                </a:lnTo>
                <a:lnTo>
                  <a:pt x="20814942" y="8825536"/>
                </a:lnTo>
                <a:lnTo>
                  <a:pt x="0" y="8825536"/>
                </a:lnTo>
                <a:lnTo>
                  <a:pt x="0" y="0"/>
                </a:lnTo>
                <a:close/>
              </a:path>
            </a:pathLst>
          </a:custGeom>
          <a:blipFill>
            <a:blip r:embed="rId2">
              <a:alphaModFix amt="60000"/>
            </a:blip>
            <a:stretch>
              <a:fillRect l="0" t="0" r="0" b="0"/>
            </a:stretch>
          </a:blipFill>
        </p:spPr>
      </p:sp>
      <p:sp>
        <p:nvSpPr>
          <p:cNvPr name="TextBox 3" id="3"/>
          <p:cNvSpPr txBox="true"/>
          <p:nvPr/>
        </p:nvSpPr>
        <p:spPr>
          <a:xfrm rot="0">
            <a:off x="5630990" y="4700878"/>
            <a:ext cx="7026020" cy="799465"/>
          </a:xfrm>
          <a:prstGeom prst="rect">
            <a:avLst/>
          </a:prstGeom>
        </p:spPr>
        <p:txBody>
          <a:bodyPr anchor="t" rtlCol="false" tIns="0" lIns="0" bIns="0" rIns="0">
            <a:spAutoFit/>
          </a:bodyPr>
          <a:lstStyle/>
          <a:p>
            <a:pPr algn="ctr">
              <a:lnSpc>
                <a:spcPts val="5600"/>
              </a:lnSpc>
            </a:pPr>
            <a:r>
              <a:rPr lang="en-US" sz="5600">
                <a:solidFill>
                  <a:srgbClr val="FFFFFF"/>
                </a:solidFill>
                <a:latin typeface="Poppins Light"/>
                <a:ea typeface="Poppins Light"/>
                <a:cs typeface="Poppins Light"/>
                <a:sym typeface="Poppins Light"/>
              </a:rPr>
              <a:t>THE BREAK</a:t>
            </a:r>
          </a:p>
        </p:txBody>
      </p:sp>
      <p:sp>
        <p:nvSpPr>
          <p:cNvPr name="AutoShape 4" id="4"/>
          <p:cNvSpPr/>
          <p:nvPr/>
        </p:nvSpPr>
        <p:spPr>
          <a:xfrm>
            <a:off x="8860051" y="5614697"/>
            <a:ext cx="567898" cy="0"/>
          </a:xfrm>
          <a:prstGeom prst="line">
            <a:avLst/>
          </a:prstGeom>
          <a:ln cap="flat" w="38100">
            <a:solidFill>
              <a:srgbClr val="D2B99A"/>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477250" y="0"/>
            <a:ext cx="9810750" cy="10287000"/>
          </a:xfrm>
          <a:custGeom>
            <a:avLst/>
            <a:gdLst/>
            <a:ahLst/>
            <a:cxnLst/>
            <a:rect r="r" b="b" t="t" l="l"/>
            <a:pathLst>
              <a:path h="10287000" w="9810750">
                <a:moveTo>
                  <a:pt x="0" y="0"/>
                </a:moveTo>
                <a:lnTo>
                  <a:pt x="9810750" y="0"/>
                </a:lnTo>
                <a:lnTo>
                  <a:pt x="9810750" y="10287000"/>
                </a:lnTo>
                <a:lnTo>
                  <a:pt x="0" y="10287000"/>
                </a:lnTo>
                <a:lnTo>
                  <a:pt x="0" y="0"/>
                </a:lnTo>
                <a:close/>
              </a:path>
            </a:pathLst>
          </a:custGeom>
          <a:blipFill>
            <a:blip r:embed="rId2"/>
            <a:stretch>
              <a:fillRect l="-28689" t="0" r="-28689" b="0"/>
            </a:stretch>
          </a:blipFill>
        </p:spPr>
      </p:sp>
      <p:grpSp>
        <p:nvGrpSpPr>
          <p:cNvPr name="Group 3" id="3"/>
          <p:cNvGrpSpPr/>
          <p:nvPr/>
        </p:nvGrpSpPr>
        <p:grpSpPr>
          <a:xfrm rot="-10800000">
            <a:off x="8467725" y="1932"/>
            <a:ext cx="4264457" cy="10287000"/>
            <a:chOff x="0" y="0"/>
            <a:chExt cx="1123149" cy="2709333"/>
          </a:xfrm>
        </p:grpSpPr>
        <p:sp>
          <p:nvSpPr>
            <p:cNvPr name="Freeform 4" id="4"/>
            <p:cNvSpPr/>
            <p:nvPr/>
          </p:nvSpPr>
          <p:spPr>
            <a:xfrm flipH="false" flipV="false" rot="0">
              <a:off x="0" y="0"/>
              <a:ext cx="1123149" cy="2709333"/>
            </a:xfrm>
            <a:custGeom>
              <a:avLst/>
              <a:gdLst/>
              <a:ahLst/>
              <a:cxnLst/>
              <a:rect r="r" b="b" t="t" l="l"/>
              <a:pathLst>
                <a:path h="2709333" w="1123149">
                  <a:moveTo>
                    <a:pt x="0" y="0"/>
                  </a:moveTo>
                  <a:lnTo>
                    <a:pt x="1123149" y="0"/>
                  </a:lnTo>
                  <a:lnTo>
                    <a:pt x="1123149" y="2709333"/>
                  </a:lnTo>
                  <a:lnTo>
                    <a:pt x="0" y="2709333"/>
                  </a:lnTo>
                  <a:close/>
                </a:path>
              </a:pathLst>
            </a:custGeom>
            <a:gradFill rotWithShape="true">
              <a:gsLst>
                <a:gs pos="0">
                  <a:srgbClr val="000000">
                    <a:alpha val="0"/>
                  </a:srgbClr>
                </a:gs>
                <a:gs pos="50000">
                  <a:srgbClr val="000000">
                    <a:alpha val="48500"/>
                  </a:srgbClr>
                </a:gs>
                <a:gs pos="100000">
                  <a:srgbClr val="000000">
                    <a:alpha val="100000"/>
                  </a:srgbClr>
                </a:gs>
              </a:gsLst>
              <a:lin ang="0"/>
            </a:gradFill>
          </p:spPr>
        </p:sp>
        <p:sp>
          <p:nvSpPr>
            <p:cNvPr name="TextBox 5" id="5"/>
            <p:cNvSpPr txBox="true"/>
            <p:nvPr/>
          </p:nvSpPr>
          <p:spPr>
            <a:xfrm>
              <a:off x="0" y="9525"/>
              <a:ext cx="1123149" cy="2699808"/>
            </a:xfrm>
            <a:prstGeom prst="rect">
              <a:avLst/>
            </a:prstGeom>
          </p:spPr>
          <p:txBody>
            <a:bodyPr anchor="ctr" rtlCol="false" tIns="50800" lIns="50800" bIns="50800" rIns="50800"/>
            <a:lstStyle/>
            <a:p>
              <a:pPr algn="ctr">
                <a:lnSpc>
                  <a:spcPts val="1800"/>
                </a:lnSpc>
              </a:pPr>
            </a:p>
          </p:txBody>
        </p:sp>
      </p:grpSp>
      <p:sp>
        <p:nvSpPr>
          <p:cNvPr name="Freeform 6" id="6"/>
          <p:cNvSpPr/>
          <p:nvPr/>
        </p:nvSpPr>
        <p:spPr>
          <a:xfrm flipH="false" flipV="false" rot="0">
            <a:off x="-977686" y="-2060246"/>
            <a:ext cx="20814942" cy="8825535"/>
          </a:xfrm>
          <a:custGeom>
            <a:avLst/>
            <a:gdLst/>
            <a:ahLst/>
            <a:cxnLst/>
            <a:rect r="r" b="b" t="t" l="l"/>
            <a:pathLst>
              <a:path h="8825535" w="20814942">
                <a:moveTo>
                  <a:pt x="0" y="0"/>
                </a:moveTo>
                <a:lnTo>
                  <a:pt x="20814942" y="0"/>
                </a:lnTo>
                <a:lnTo>
                  <a:pt x="20814942" y="8825536"/>
                </a:lnTo>
                <a:lnTo>
                  <a:pt x="0" y="8825536"/>
                </a:lnTo>
                <a:lnTo>
                  <a:pt x="0" y="0"/>
                </a:lnTo>
                <a:close/>
              </a:path>
            </a:pathLst>
          </a:custGeom>
          <a:blipFill>
            <a:blip r:embed="rId3">
              <a:alphaModFix amt="60000"/>
            </a:blip>
            <a:stretch>
              <a:fillRect l="0" t="0" r="0" b="0"/>
            </a:stretch>
          </a:blipFill>
        </p:spPr>
      </p:sp>
      <p:sp>
        <p:nvSpPr>
          <p:cNvPr name="AutoShape 7" id="7"/>
          <p:cNvSpPr/>
          <p:nvPr/>
        </p:nvSpPr>
        <p:spPr>
          <a:xfrm>
            <a:off x="2571750" y="2866444"/>
            <a:ext cx="567898" cy="0"/>
          </a:xfrm>
          <a:prstGeom prst="line">
            <a:avLst/>
          </a:prstGeom>
          <a:ln cap="flat" w="38100">
            <a:solidFill>
              <a:srgbClr val="D2B99A"/>
            </a:solidFill>
            <a:prstDash val="solid"/>
            <a:headEnd type="none" len="sm" w="sm"/>
            <a:tailEnd type="none" len="sm" w="sm"/>
          </a:ln>
        </p:spPr>
      </p:sp>
      <p:sp>
        <p:nvSpPr>
          <p:cNvPr name="TextBox 8" id="8"/>
          <p:cNvSpPr txBox="true"/>
          <p:nvPr/>
        </p:nvSpPr>
        <p:spPr>
          <a:xfrm rot="0">
            <a:off x="2571750" y="1952625"/>
            <a:ext cx="5905500"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SHOWCASE</a:t>
            </a:r>
          </a:p>
        </p:txBody>
      </p:sp>
      <p:sp>
        <p:nvSpPr>
          <p:cNvPr name="TextBox 9" id="9"/>
          <p:cNvSpPr txBox="true"/>
          <p:nvPr/>
        </p:nvSpPr>
        <p:spPr>
          <a:xfrm rot="0">
            <a:off x="2571750" y="4543452"/>
            <a:ext cx="1968818" cy="601980"/>
          </a:xfrm>
          <a:prstGeom prst="rect">
            <a:avLst/>
          </a:prstGeom>
        </p:spPr>
        <p:txBody>
          <a:bodyPr anchor="t" rtlCol="false" tIns="0" lIns="0" bIns="0" rIns="0">
            <a:spAutoFit/>
          </a:bodyPr>
          <a:lstStyle/>
          <a:p>
            <a:pPr algn="l">
              <a:lnSpc>
                <a:spcPts val="4200"/>
              </a:lnSpc>
            </a:pPr>
            <a:r>
              <a:rPr lang="en-US" sz="4200">
                <a:solidFill>
                  <a:srgbClr val="FFFFFF"/>
                </a:solidFill>
                <a:latin typeface="Poppins Light"/>
                <a:ea typeface="Poppins Light"/>
                <a:cs typeface="Poppins Light"/>
                <a:sym typeface="Poppins Light"/>
              </a:rPr>
              <a:t>01</a:t>
            </a:r>
          </a:p>
        </p:txBody>
      </p:sp>
      <p:sp>
        <p:nvSpPr>
          <p:cNvPr name="TextBox 10" id="10"/>
          <p:cNvSpPr txBox="true"/>
          <p:nvPr/>
        </p:nvSpPr>
        <p:spPr>
          <a:xfrm rot="0">
            <a:off x="2571750" y="6010910"/>
            <a:ext cx="3937635" cy="375285"/>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Contemporary Building</a:t>
            </a:r>
          </a:p>
        </p:txBody>
      </p:sp>
      <p:sp>
        <p:nvSpPr>
          <p:cNvPr name="TextBox 11" id="11"/>
          <p:cNvSpPr txBox="true"/>
          <p:nvPr/>
        </p:nvSpPr>
        <p:spPr>
          <a:xfrm rot="0">
            <a:off x="2571750" y="6717665"/>
            <a:ext cx="3937635" cy="1111885"/>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The contemporary building, with its sleek lines and innovative materials, stands as a testament to modern architectural design.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77686" y="-2060246"/>
            <a:ext cx="20814942" cy="8825535"/>
          </a:xfrm>
          <a:custGeom>
            <a:avLst/>
            <a:gdLst/>
            <a:ahLst/>
            <a:cxnLst/>
            <a:rect r="r" b="b" t="t" l="l"/>
            <a:pathLst>
              <a:path h="8825535" w="20814942">
                <a:moveTo>
                  <a:pt x="0" y="0"/>
                </a:moveTo>
                <a:lnTo>
                  <a:pt x="20814942" y="0"/>
                </a:lnTo>
                <a:lnTo>
                  <a:pt x="20814942" y="8825536"/>
                </a:lnTo>
                <a:lnTo>
                  <a:pt x="0" y="8825536"/>
                </a:lnTo>
                <a:lnTo>
                  <a:pt x="0" y="0"/>
                </a:lnTo>
                <a:close/>
              </a:path>
            </a:pathLst>
          </a:custGeom>
          <a:blipFill>
            <a:blip r:embed="rId2">
              <a:alphaModFix amt="60000"/>
            </a:blip>
            <a:stretch>
              <a:fillRect l="0" t="0" r="0" b="0"/>
            </a:stretch>
          </a:blipFill>
        </p:spPr>
      </p:sp>
      <p:sp>
        <p:nvSpPr>
          <p:cNvPr name="Freeform 3" id="3"/>
          <p:cNvSpPr/>
          <p:nvPr/>
        </p:nvSpPr>
        <p:spPr>
          <a:xfrm flipH="false" flipV="false" rot="0">
            <a:off x="11736892" y="1905000"/>
            <a:ext cx="3979358" cy="3190719"/>
          </a:xfrm>
          <a:custGeom>
            <a:avLst/>
            <a:gdLst/>
            <a:ahLst/>
            <a:cxnLst/>
            <a:rect r="r" b="b" t="t" l="l"/>
            <a:pathLst>
              <a:path h="3190719" w="3979358">
                <a:moveTo>
                  <a:pt x="0" y="0"/>
                </a:moveTo>
                <a:lnTo>
                  <a:pt x="3979358" y="0"/>
                </a:lnTo>
                <a:lnTo>
                  <a:pt x="3979358" y="3190719"/>
                </a:lnTo>
                <a:lnTo>
                  <a:pt x="0" y="3190719"/>
                </a:lnTo>
                <a:lnTo>
                  <a:pt x="0" y="0"/>
                </a:lnTo>
                <a:close/>
              </a:path>
            </a:pathLst>
          </a:custGeom>
          <a:blipFill>
            <a:blip r:embed="rId3"/>
            <a:stretch>
              <a:fillRect l="-10173" t="0" r="-10173" b="0"/>
            </a:stretch>
          </a:blipFill>
        </p:spPr>
      </p:sp>
      <p:sp>
        <p:nvSpPr>
          <p:cNvPr name="Freeform 4" id="4"/>
          <p:cNvSpPr/>
          <p:nvPr/>
        </p:nvSpPr>
        <p:spPr>
          <a:xfrm flipH="false" flipV="false" rot="0">
            <a:off x="8477250" y="5191281"/>
            <a:ext cx="3979358" cy="3190719"/>
          </a:xfrm>
          <a:custGeom>
            <a:avLst/>
            <a:gdLst/>
            <a:ahLst/>
            <a:cxnLst/>
            <a:rect r="r" b="b" t="t" l="l"/>
            <a:pathLst>
              <a:path h="3190719" w="3979358">
                <a:moveTo>
                  <a:pt x="0" y="0"/>
                </a:moveTo>
                <a:lnTo>
                  <a:pt x="3979358" y="0"/>
                </a:lnTo>
                <a:lnTo>
                  <a:pt x="3979358" y="3190719"/>
                </a:lnTo>
                <a:lnTo>
                  <a:pt x="0" y="3190719"/>
                </a:lnTo>
                <a:lnTo>
                  <a:pt x="0" y="0"/>
                </a:lnTo>
                <a:close/>
              </a:path>
            </a:pathLst>
          </a:custGeom>
          <a:blipFill>
            <a:blip r:embed="rId4"/>
            <a:stretch>
              <a:fillRect l="0" t="-17640" r="0" b="-69434"/>
            </a:stretch>
          </a:blipFill>
        </p:spPr>
      </p:sp>
      <p:sp>
        <p:nvSpPr>
          <p:cNvPr name="Freeform 5" id="5"/>
          <p:cNvSpPr/>
          <p:nvPr/>
        </p:nvSpPr>
        <p:spPr>
          <a:xfrm flipH="false" flipV="false" rot="0">
            <a:off x="8477250" y="1905000"/>
            <a:ext cx="3164914" cy="3190719"/>
          </a:xfrm>
          <a:custGeom>
            <a:avLst/>
            <a:gdLst/>
            <a:ahLst/>
            <a:cxnLst/>
            <a:rect r="r" b="b" t="t" l="l"/>
            <a:pathLst>
              <a:path h="3190719" w="3164914">
                <a:moveTo>
                  <a:pt x="0" y="0"/>
                </a:moveTo>
                <a:lnTo>
                  <a:pt x="3164914" y="0"/>
                </a:lnTo>
                <a:lnTo>
                  <a:pt x="3164914" y="3190719"/>
                </a:lnTo>
                <a:lnTo>
                  <a:pt x="0" y="3190719"/>
                </a:lnTo>
                <a:lnTo>
                  <a:pt x="0" y="0"/>
                </a:lnTo>
                <a:close/>
              </a:path>
            </a:pathLst>
          </a:custGeom>
          <a:blipFill>
            <a:blip r:embed="rId5"/>
            <a:stretch>
              <a:fillRect l="-31095" t="0" r="-4987" b="0"/>
            </a:stretch>
          </a:blipFill>
        </p:spPr>
      </p:sp>
      <p:sp>
        <p:nvSpPr>
          <p:cNvPr name="Freeform 6" id="6"/>
          <p:cNvSpPr/>
          <p:nvPr/>
        </p:nvSpPr>
        <p:spPr>
          <a:xfrm flipH="false" flipV="false" rot="0">
            <a:off x="12551336" y="5191281"/>
            <a:ext cx="3164914" cy="3190719"/>
          </a:xfrm>
          <a:custGeom>
            <a:avLst/>
            <a:gdLst/>
            <a:ahLst/>
            <a:cxnLst/>
            <a:rect r="r" b="b" t="t" l="l"/>
            <a:pathLst>
              <a:path h="3190719" w="3164914">
                <a:moveTo>
                  <a:pt x="0" y="0"/>
                </a:moveTo>
                <a:lnTo>
                  <a:pt x="3164914" y="0"/>
                </a:lnTo>
                <a:lnTo>
                  <a:pt x="3164914" y="3190719"/>
                </a:lnTo>
                <a:lnTo>
                  <a:pt x="0" y="3190719"/>
                </a:lnTo>
                <a:lnTo>
                  <a:pt x="0" y="0"/>
                </a:lnTo>
                <a:close/>
              </a:path>
            </a:pathLst>
          </a:custGeom>
          <a:blipFill>
            <a:blip r:embed="rId6"/>
            <a:stretch>
              <a:fillRect l="0" t="-18565" r="0" b="-18565"/>
            </a:stretch>
          </a:blipFill>
        </p:spPr>
      </p:sp>
      <p:sp>
        <p:nvSpPr>
          <p:cNvPr name="AutoShape 7" id="7"/>
          <p:cNvSpPr/>
          <p:nvPr/>
        </p:nvSpPr>
        <p:spPr>
          <a:xfrm>
            <a:off x="2571750" y="2866444"/>
            <a:ext cx="567898" cy="0"/>
          </a:xfrm>
          <a:prstGeom prst="line">
            <a:avLst/>
          </a:prstGeom>
          <a:ln cap="flat" w="38100">
            <a:solidFill>
              <a:srgbClr val="D2B99A"/>
            </a:solidFill>
            <a:prstDash val="solid"/>
            <a:headEnd type="none" len="sm" w="sm"/>
            <a:tailEnd type="none" len="sm" w="sm"/>
          </a:ln>
        </p:spPr>
      </p:sp>
      <p:sp>
        <p:nvSpPr>
          <p:cNvPr name="TextBox 8" id="8"/>
          <p:cNvSpPr txBox="true"/>
          <p:nvPr/>
        </p:nvSpPr>
        <p:spPr>
          <a:xfrm rot="0">
            <a:off x="2571750" y="1952625"/>
            <a:ext cx="5905500"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SHOWCASE</a:t>
            </a:r>
          </a:p>
        </p:txBody>
      </p:sp>
      <p:sp>
        <p:nvSpPr>
          <p:cNvPr name="TextBox 9" id="9"/>
          <p:cNvSpPr txBox="true"/>
          <p:nvPr/>
        </p:nvSpPr>
        <p:spPr>
          <a:xfrm rot="0">
            <a:off x="2571750" y="4543452"/>
            <a:ext cx="1968818" cy="601980"/>
          </a:xfrm>
          <a:prstGeom prst="rect">
            <a:avLst/>
          </a:prstGeom>
        </p:spPr>
        <p:txBody>
          <a:bodyPr anchor="t" rtlCol="false" tIns="0" lIns="0" bIns="0" rIns="0">
            <a:spAutoFit/>
          </a:bodyPr>
          <a:lstStyle/>
          <a:p>
            <a:pPr algn="l">
              <a:lnSpc>
                <a:spcPts val="4200"/>
              </a:lnSpc>
            </a:pPr>
            <a:r>
              <a:rPr lang="en-US" sz="4200">
                <a:solidFill>
                  <a:srgbClr val="FFFFFF"/>
                </a:solidFill>
                <a:latin typeface="Poppins Light"/>
                <a:ea typeface="Poppins Light"/>
                <a:cs typeface="Poppins Light"/>
                <a:sym typeface="Poppins Light"/>
              </a:rPr>
              <a:t>02</a:t>
            </a:r>
          </a:p>
        </p:txBody>
      </p:sp>
      <p:sp>
        <p:nvSpPr>
          <p:cNvPr name="TextBox 10" id="10"/>
          <p:cNvSpPr txBox="true"/>
          <p:nvPr/>
        </p:nvSpPr>
        <p:spPr>
          <a:xfrm rot="0">
            <a:off x="2571750" y="6010910"/>
            <a:ext cx="3937635" cy="375285"/>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Architecture</a:t>
            </a:r>
          </a:p>
        </p:txBody>
      </p:sp>
      <p:sp>
        <p:nvSpPr>
          <p:cNvPr name="TextBox 11" id="11"/>
          <p:cNvSpPr txBox="true"/>
          <p:nvPr/>
        </p:nvSpPr>
        <p:spPr>
          <a:xfrm rot="0">
            <a:off x="2571750" y="6717665"/>
            <a:ext cx="3937635" cy="1111885"/>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The contemporary structure, featuring elegant curves and innovative materials, stands as a shining example of modern architectural artistry.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0">
            <a:off x="-11004897" y="-1736871"/>
            <a:ext cx="18601707" cy="7887124"/>
          </a:xfrm>
          <a:custGeom>
            <a:avLst/>
            <a:gdLst/>
            <a:ahLst/>
            <a:cxnLst/>
            <a:rect r="r" b="b" t="t" l="l"/>
            <a:pathLst>
              <a:path h="7887124" w="18601707">
                <a:moveTo>
                  <a:pt x="18601707" y="0"/>
                </a:moveTo>
                <a:lnTo>
                  <a:pt x="0" y="0"/>
                </a:lnTo>
                <a:lnTo>
                  <a:pt x="0" y="7887123"/>
                </a:lnTo>
                <a:lnTo>
                  <a:pt x="18601707" y="7887123"/>
                </a:lnTo>
                <a:lnTo>
                  <a:pt x="18601707" y="0"/>
                </a:lnTo>
                <a:close/>
              </a:path>
            </a:pathLst>
          </a:custGeom>
          <a:blipFill>
            <a:blip r:embed="rId2">
              <a:alphaModFix amt="60000"/>
            </a:blip>
            <a:stretch>
              <a:fillRect l="0" t="0" r="0" b="0"/>
            </a:stretch>
          </a:blipFill>
        </p:spPr>
      </p:sp>
      <p:sp>
        <p:nvSpPr>
          <p:cNvPr name="AutoShape 3" id="3"/>
          <p:cNvSpPr/>
          <p:nvPr/>
        </p:nvSpPr>
        <p:spPr>
          <a:xfrm>
            <a:off x="2571750" y="2866444"/>
            <a:ext cx="567898" cy="0"/>
          </a:xfrm>
          <a:prstGeom prst="line">
            <a:avLst/>
          </a:prstGeom>
          <a:ln cap="flat" w="38100">
            <a:solidFill>
              <a:srgbClr val="D2B99A"/>
            </a:solidFill>
            <a:prstDash val="solid"/>
            <a:headEnd type="none" len="sm" w="sm"/>
            <a:tailEnd type="none" len="sm" w="sm"/>
          </a:ln>
        </p:spPr>
      </p:sp>
      <p:sp>
        <p:nvSpPr>
          <p:cNvPr name="TextBox 4" id="4"/>
          <p:cNvSpPr txBox="true"/>
          <p:nvPr/>
        </p:nvSpPr>
        <p:spPr>
          <a:xfrm rot="0">
            <a:off x="2571750" y="1952625"/>
            <a:ext cx="5905500"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DATA ANALYSIS</a:t>
            </a:r>
          </a:p>
        </p:txBody>
      </p:sp>
      <p:sp>
        <p:nvSpPr>
          <p:cNvPr name="TextBox 5" id="5"/>
          <p:cNvSpPr txBox="true"/>
          <p:nvPr/>
        </p:nvSpPr>
        <p:spPr>
          <a:xfrm rot="0">
            <a:off x="2571750" y="4887237"/>
            <a:ext cx="5025060" cy="1263015"/>
          </a:xfrm>
          <a:prstGeom prst="rect">
            <a:avLst/>
          </a:prstGeom>
        </p:spPr>
        <p:txBody>
          <a:bodyPr anchor="t" rtlCol="false" tIns="0" lIns="0" bIns="0" rIns="0">
            <a:spAutoFit/>
          </a:bodyPr>
          <a:lstStyle/>
          <a:p>
            <a:pPr algn="l">
              <a:lnSpc>
                <a:spcPts val="3359"/>
              </a:lnSpc>
            </a:pPr>
            <a:r>
              <a:rPr lang="en-US" sz="2399">
                <a:solidFill>
                  <a:srgbClr val="FFFFFF"/>
                </a:solidFill>
                <a:latin typeface="Poppins"/>
                <a:ea typeface="Poppins"/>
                <a:cs typeface="Poppins"/>
                <a:sym typeface="Poppins"/>
              </a:rPr>
              <a:t>This data indicates that our company is experiencing higher profits this year.</a:t>
            </a:r>
          </a:p>
        </p:txBody>
      </p:sp>
      <p:sp>
        <p:nvSpPr>
          <p:cNvPr name="Freeform 6" id="6"/>
          <p:cNvSpPr/>
          <p:nvPr/>
        </p:nvSpPr>
        <p:spPr>
          <a:xfrm flipH="false" flipV="false" rot="0">
            <a:off x="2571750" y="7435532"/>
            <a:ext cx="18601707" cy="7887124"/>
          </a:xfrm>
          <a:custGeom>
            <a:avLst/>
            <a:gdLst/>
            <a:ahLst/>
            <a:cxnLst/>
            <a:rect r="r" b="b" t="t" l="l"/>
            <a:pathLst>
              <a:path h="7887124" w="18601707">
                <a:moveTo>
                  <a:pt x="0" y="0"/>
                </a:moveTo>
                <a:lnTo>
                  <a:pt x="18601707" y="0"/>
                </a:lnTo>
                <a:lnTo>
                  <a:pt x="18601707" y="7887124"/>
                </a:lnTo>
                <a:lnTo>
                  <a:pt x="0" y="7887124"/>
                </a:lnTo>
                <a:lnTo>
                  <a:pt x="0" y="0"/>
                </a:lnTo>
                <a:close/>
              </a:path>
            </a:pathLst>
          </a:custGeom>
          <a:blipFill>
            <a:blip r:embed="rId2">
              <a:alphaModFix amt="60000"/>
            </a:blip>
            <a:stretch>
              <a:fillRect l="0" t="0" r="0" b="0"/>
            </a:stretch>
          </a:blipFill>
        </p:spPr>
      </p:sp>
      <p:sp>
        <p:nvSpPr>
          <p:cNvPr name="TextBox 7" id="7"/>
          <p:cNvSpPr txBox="true"/>
          <p:nvPr/>
        </p:nvSpPr>
        <p:spPr>
          <a:xfrm rot="0">
            <a:off x="2571750" y="6717665"/>
            <a:ext cx="5025060" cy="1388110"/>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Most of the profits earned come from our new line of eco-friendly products. These products have resonated well with consumers who are increasingly conscious of their environmental impact.</a:t>
            </a:r>
          </a:p>
        </p:txBody>
      </p:sp>
      <p:pic>
        <p:nvPicPr>
          <p:cNvPr name="Picture 8" id="8"/>
          <p:cNvPicPr>
            <a:picLocks noChangeAspect="true"/>
          </p:cNvPicPr>
          <p:nvPr/>
        </p:nvPicPr>
        <p:blipFill>
          <a:blip r:embed="rId3"/>
          <a:stretch>
            <a:fillRect/>
          </a:stretch>
        </p:blipFill>
        <p:spPr>
          <a:xfrm rot="0">
            <a:off x="9918150" y="2529321"/>
            <a:ext cx="6452920" cy="5673897"/>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0">
            <a:off x="-1964302" y="-3180331"/>
            <a:ext cx="22216605" cy="9419840"/>
          </a:xfrm>
          <a:custGeom>
            <a:avLst/>
            <a:gdLst/>
            <a:ahLst/>
            <a:cxnLst/>
            <a:rect r="r" b="b" t="t" l="l"/>
            <a:pathLst>
              <a:path h="9419840" w="22216605">
                <a:moveTo>
                  <a:pt x="22216604" y="0"/>
                </a:moveTo>
                <a:lnTo>
                  <a:pt x="0" y="0"/>
                </a:lnTo>
                <a:lnTo>
                  <a:pt x="0" y="9419841"/>
                </a:lnTo>
                <a:lnTo>
                  <a:pt x="22216604" y="9419841"/>
                </a:lnTo>
                <a:lnTo>
                  <a:pt x="22216604" y="0"/>
                </a:lnTo>
                <a:close/>
              </a:path>
            </a:pathLst>
          </a:custGeom>
          <a:blipFill>
            <a:blip r:embed="rId2">
              <a:alphaModFix amt="60000"/>
            </a:blip>
            <a:stretch>
              <a:fillRect l="0" t="0" r="0" b="0"/>
            </a:stretch>
          </a:blipFill>
        </p:spPr>
      </p:sp>
      <p:sp>
        <p:nvSpPr>
          <p:cNvPr name="AutoShape 3" id="3"/>
          <p:cNvSpPr/>
          <p:nvPr/>
        </p:nvSpPr>
        <p:spPr>
          <a:xfrm>
            <a:off x="2571750" y="2866444"/>
            <a:ext cx="567898" cy="0"/>
          </a:xfrm>
          <a:prstGeom prst="line">
            <a:avLst/>
          </a:prstGeom>
          <a:ln cap="flat" w="38100">
            <a:solidFill>
              <a:srgbClr val="D2B99A"/>
            </a:solidFill>
            <a:prstDash val="solid"/>
            <a:headEnd type="none" len="sm" w="sm"/>
            <a:tailEnd type="none" len="sm" w="sm"/>
          </a:ln>
        </p:spPr>
      </p:sp>
      <p:pic>
        <p:nvPicPr>
          <p:cNvPr name="Picture 4" id="4"/>
          <p:cNvPicPr>
            <a:picLocks noChangeAspect="true"/>
          </p:cNvPicPr>
          <p:nvPr/>
        </p:nvPicPr>
        <p:blipFill>
          <a:blip r:embed="rId3"/>
          <a:stretch>
            <a:fillRect/>
          </a:stretch>
        </p:blipFill>
        <p:spPr>
          <a:xfrm rot="0">
            <a:off x="1981200" y="3441841"/>
            <a:ext cx="7086600" cy="5568809"/>
          </a:xfrm>
          <a:prstGeom prst="rect">
            <a:avLst/>
          </a:prstGeom>
        </p:spPr>
      </p:pic>
      <p:grpSp>
        <p:nvGrpSpPr>
          <p:cNvPr name="Group 5" id="5"/>
          <p:cNvGrpSpPr/>
          <p:nvPr/>
        </p:nvGrpSpPr>
        <p:grpSpPr>
          <a:xfrm rot="0">
            <a:off x="9810750" y="4119425"/>
            <a:ext cx="444584" cy="144068"/>
            <a:chOff x="0" y="0"/>
            <a:chExt cx="117092" cy="37944"/>
          </a:xfrm>
        </p:grpSpPr>
        <p:sp>
          <p:nvSpPr>
            <p:cNvPr name="Freeform 6" id="6"/>
            <p:cNvSpPr/>
            <p:nvPr/>
          </p:nvSpPr>
          <p:spPr>
            <a:xfrm flipH="false" flipV="false" rot="0">
              <a:off x="0" y="0"/>
              <a:ext cx="117092" cy="37944"/>
            </a:xfrm>
            <a:custGeom>
              <a:avLst/>
              <a:gdLst/>
              <a:ahLst/>
              <a:cxnLst/>
              <a:rect r="r" b="b" t="t" l="l"/>
              <a:pathLst>
                <a:path h="37944" w="117092">
                  <a:moveTo>
                    <a:pt x="18972" y="0"/>
                  </a:moveTo>
                  <a:lnTo>
                    <a:pt x="98120" y="0"/>
                  </a:lnTo>
                  <a:cubicBezTo>
                    <a:pt x="108598" y="0"/>
                    <a:pt x="117092" y="8494"/>
                    <a:pt x="117092" y="18972"/>
                  </a:cubicBezTo>
                  <a:lnTo>
                    <a:pt x="117092" y="18972"/>
                  </a:lnTo>
                  <a:cubicBezTo>
                    <a:pt x="117092" y="29450"/>
                    <a:pt x="108598" y="37944"/>
                    <a:pt x="98120" y="37944"/>
                  </a:cubicBezTo>
                  <a:lnTo>
                    <a:pt x="18972" y="37944"/>
                  </a:lnTo>
                  <a:cubicBezTo>
                    <a:pt x="8494" y="37944"/>
                    <a:pt x="0" y="29450"/>
                    <a:pt x="0" y="18972"/>
                  </a:cubicBezTo>
                  <a:lnTo>
                    <a:pt x="0" y="18972"/>
                  </a:lnTo>
                  <a:cubicBezTo>
                    <a:pt x="0" y="8494"/>
                    <a:pt x="8494" y="0"/>
                    <a:pt x="18972" y="0"/>
                  </a:cubicBezTo>
                  <a:close/>
                </a:path>
              </a:pathLst>
            </a:custGeom>
            <a:solidFill>
              <a:srgbClr val="113462"/>
            </a:solidFill>
          </p:spPr>
        </p:sp>
        <p:sp>
          <p:nvSpPr>
            <p:cNvPr name="TextBox 7" id="7"/>
            <p:cNvSpPr txBox="true"/>
            <p:nvPr/>
          </p:nvSpPr>
          <p:spPr>
            <a:xfrm>
              <a:off x="0" y="9525"/>
              <a:ext cx="117092" cy="28419"/>
            </a:xfrm>
            <a:prstGeom prst="rect">
              <a:avLst/>
            </a:prstGeom>
          </p:spPr>
          <p:txBody>
            <a:bodyPr anchor="ctr" rtlCol="false" tIns="50800" lIns="50800" bIns="50800" rIns="50800"/>
            <a:lstStyle/>
            <a:p>
              <a:pPr algn="ctr">
                <a:lnSpc>
                  <a:spcPts val="1800"/>
                </a:lnSpc>
              </a:pPr>
            </a:p>
          </p:txBody>
        </p:sp>
      </p:grpSp>
      <p:grpSp>
        <p:nvGrpSpPr>
          <p:cNvPr name="Group 8" id="8"/>
          <p:cNvGrpSpPr/>
          <p:nvPr/>
        </p:nvGrpSpPr>
        <p:grpSpPr>
          <a:xfrm rot="0">
            <a:off x="9810750" y="6707543"/>
            <a:ext cx="444584" cy="144068"/>
            <a:chOff x="0" y="0"/>
            <a:chExt cx="117092" cy="37944"/>
          </a:xfrm>
        </p:grpSpPr>
        <p:sp>
          <p:nvSpPr>
            <p:cNvPr name="Freeform 9" id="9"/>
            <p:cNvSpPr/>
            <p:nvPr/>
          </p:nvSpPr>
          <p:spPr>
            <a:xfrm flipH="false" flipV="false" rot="0">
              <a:off x="0" y="0"/>
              <a:ext cx="117092" cy="37944"/>
            </a:xfrm>
            <a:custGeom>
              <a:avLst/>
              <a:gdLst/>
              <a:ahLst/>
              <a:cxnLst/>
              <a:rect r="r" b="b" t="t" l="l"/>
              <a:pathLst>
                <a:path h="37944" w="117092">
                  <a:moveTo>
                    <a:pt x="18972" y="0"/>
                  </a:moveTo>
                  <a:lnTo>
                    <a:pt x="98120" y="0"/>
                  </a:lnTo>
                  <a:cubicBezTo>
                    <a:pt x="108598" y="0"/>
                    <a:pt x="117092" y="8494"/>
                    <a:pt x="117092" y="18972"/>
                  </a:cubicBezTo>
                  <a:lnTo>
                    <a:pt x="117092" y="18972"/>
                  </a:lnTo>
                  <a:cubicBezTo>
                    <a:pt x="117092" y="29450"/>
                    <a:pt x="108598" y="37944"/>
                    <a:pt x="98120" y="37944"/>
                  </a:cubicBezTo>
                  <a:lnTo>
                    <a:pt x="18972" y="37944"/>
                  </a:lnTo>
                  <a:cubicBezTo>
                    <a:pt x="8494" y="37944"/>
                    <a:pt x="0" y="29450"/>
                    <a:pt x="0" y="18972"/>
                  </a:cubicBezTo>
                  <a:lnTo>
                    <a:pt x="0" y="18972"/>
                  </a:lnTo>
                  <a:cubicBezTo>
                    <a:pt x="0" y="8494"/>
                    <a:pt x="8494" y="0"/>
                    <a:pt x="18972" y="0"/>
                  </a:cubicBezTo>
                  <a:close/>
                </a:path>
              </a:pathLst>
            </a:custGeom>
            <a:solidFill>
              <a:srgbClr val="D2B99A"/>
            </a:solidFill>
          </p:spPr>
        </p:sp>
        <p:sp>
          <p:nvSpPr>
            <p:cNvPr name="TextBox 10" id="10"/>
            <p:cNvSpPr txBox="true"/>
            <p:nvPr/>
          </p:nvSpPr>
          <p:spPr>
            <a:xfrm>
              <a:off x="0" y="9525"/>
              <a:ext cx="117092" cy="28419"/>
            </a:xfrm>
            <a:prstGeom prst="rect">
              <a:avLst/>
            </a:prstGeom>
          </p:spPr>
          <p:txBody>
            <a:bodyPr anchor="ctr" rtlCol="false" tIns="50800" lIns="50800" bIns="50800" rIns="50800"/>
            <a:lstStyle/>
            <a:p>
              <a:pPr algn="ctr">
                <a:lnSpc>
                  <a:spcPts val="1800"/>
                </a:lnSpc>
              </a:pPr>
            </a:p>
          </p:txBody>
        </p:sp>
      </p:grpSp>
      <p:sp>
        <p:nvSpPr>
          <p:cNvPr name="TextBox 11" id="11"/>
          <p:cNvSpPr txBox="true"/>
          <p:nvPr/>
        </p:nvSpPr>
        <p:spPr>
          <a:xfrm rot="0">
            <a:off x="2571750" y="1952625"/>
            <a:ext cx="5905500"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DATA ANALYSIS</a:t>
            </a:r>
          </a:p>
        </p:txBody>
      </p:sp>
      <p:sp>
        <p:nvSpPr>
          <p:cNvPr name="TextBox 12" id="12"/>
          <p:cNvSpPr txBox="true"/>
          <p:nvPr/>
        </p:nvSpPr>
        <p:spPr>
          <a:xfrm rot="0">
            <a:off x="10644609" y="3975241"/>
            <a:ext cx="3937635" cy="375285"/>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Domestic Sales</a:t>
            </a:r>
          </a:p>
        </p:txBody>
      </p:sp>
      <p:sp>
        <p:nvSpPr>
          <p:cNvPr name="TextBox 13" id="13"/>
          <p:cNvSpPr txBox="true"/>
          <p:nvPr/>
        </p:nvSpPr>
        <p:spPr>
          <a:xfrm rot="0">
            <a:off x="10644609" y="6563360"/>
            <a:ext cx="3937635" cy="375285"/>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International Sales</a:t>
            </a:r>
          </a:p>
        </p:txBody>
      </p:sp>
      <p:sp>
        <p:nvSpPr>
          <p:cNvPr name="TextBox 14" id="14"/>
          <p:cNvSpPr txBox="true"/>
          <p:nvPr/>
        </p:nvSpPr>
        <p:spPr>
          <a:xfrm rot="0">
            <a:off x="10644609" y="4681996"/>
            <a:ext cx="5071641" cy="1111885"/>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Our domestic sales have remained stable this year, reflecting our strategic efforts to maintain market presence and improve customer satisfaction.</a:t>
            </a:r>
          </a:p>
        </p:txBody>
      </p:sp>
      <p:sp>
        <p:nvSpPr>
          <p:cNvPr name="TextBox 15" id="15"/>
          <p:cNvSpPr txBox="true"/>
          <p:nvPr/>
        </p:nvSpPr>
        <p:spPr>
          <a:xfrm rot="0">
            <a:off x="10644609" y="7270115"/>
            <a:ext cx="5071641" cy="1111885"/>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International sales begin to increase in the second quarter, driven by expanding into new markets and strengthening partnerships with key distributors.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8477250" cy="10287000"/>
          </a:xfrm>
          <a:custGeom>
            <a:avLst/>
            <a:gdLst/>
            <a:ahLst/>
            <a:cxnLst/>
            <a:rect r="r" b="b" t="t" l="l"/>
            <a:pathLst>
              <a:path h="10287000" w="8477250">
                <a:moveTo>
                  <a:pt x="0" y="0"/>
                </a:moveTo>
                <a:lnTo>
                  <a:pt x="8477250" y="0"/>
                </a:lnTo>
                <a:lnTo>
                  <a:pt x="8477250" y="10287000"/>
                </a:lnTo>
                <a:lnTo>
                  <a:pt x="0" y="10287000"/>
                </a:lnTo>
                <a:lnTo>
                  <a:pt x="0" y="0"/>
                </a:lnTo>
                <a:close/>
              </a:path>
            </a:pathLst>
          </a:custGeom>
          <a:blipFill>
            <a:blip r:embed="rId2"/>
            <a:stretch>
              <a:fillRect l="0" t="-11805" r="0" b="-11805"/>
            </a:stretch>
          </a:blipFill>
        </p:spPr>
      </p:sp>
      <p:grpSp>
        <p:nvGrpSpPr>
          <p:cNvPr name="Group 3" id="3"/>
          <p:cNvGrpSpPr/>
          <p:nvPr/>
        </p:nvGrpSpPr>
        <p:grpSpPr>
          <a:xfrm rot="0">
            <a:off x="4610278" y="0"/>
            <a:ext cx="3876497" cy="10287000"/>
            <a:chOff x="0" y="0"/>
            <a:chExt cx="1020970" cy="2709333"/>
          </a:xfrm>
        </p:grpSpPr>
        <p:sp>
          <p:nvSpPr>
            <p:cNvPr name="Freeform 4" id="4"/>
            <p:cNvSpPr/>
            <p:nvPr/>
          </p:nvSpPr>
          <p:spPr>
            <a:xfrm flipH="false" flipV="false" rot="0">
              <a:off x="0" y="0"/>
              <a:ext cx="1020970" cy="2709333"/>
            </a:xfrm>
            <a:custGeom>
              <a:avLst/>
              <a:gdLst/>
              <a:ahLst/>
              <a:cxnLst/>
              <a:rect r="r" b="b" t="t" l="l"/>
              <a:pathLst>
                <a:path h="2709333" w="1020970">
                  <a:moveTo>
                    <a:pt x="0" y="0"/>
                  </a:moveTo>
                  <a:lnTo>
                    <a:pt x="1020970" y="0"/>
                  </a:lnTo>
                  <a:lnTo>
                    <a:pt x="1020970" y="2709333"/>
                  </a:lnTo>
                  <a:lnTo>
                    <a:pt x="0" y="2709333"/>
                  </a:lnTo>
                  <a:close/>
                </a:path>
              </a:pathLst>
            </a:custGeom>
            <a:gradFill rotWithShape="true">
              <a:gsLst>
                <a:gs pos="0">
                  <a:srgbClr val="000000">
                    <a:alpha val="0"/>
                  </a:srgbClr>
                </a:gs>
                <a:gs pos="50000">
                  <a:srgbClr val="000000">
                    <a:alpha val="48500"/>
                  </a:srgbClr>
                </a:gs>
                <a:gs pos="100000">
                  <a:srgbClr val="000000">
                    <a:alpha val="100000"/>
                  </a:srgbClr>
                </a:gs>
              </a:gsLst>
              <a:lin ang="0"/>
            </a:gradFill>
          </p:spPr>
        </p:sp>
        <p:sp>
          <p:nvSpPr>
            <p:cNvPr name="TextBox 5" id="5"/>
            <p:cNvSpPr txBox="true"/>
            <p:nvPr/>
          </p:nvSpPr>
          <p:spPr>
            <a:xfrm>
              <a:off x="0" y="9525"/>
              <a:ext cx="1020970" cy="2699808"/>
            </a:xfrm>
            <a:prstGeom prst="rect">
              <a:avLst/>
            </a:prstGeom>
          </p:spPr>
          <p:txBody>
            <a:bodyPr anchor="ctr" rtlCol="false" tIns="50800" lIns="50800" bIns="50800" rIns="50800"/>
            <a:lstStyle/>
            <a:p>
              <a:pPr algn="ctr">
                <a:lnSpc>
                  <a:spcPts val="1800"/>
                </a:lnSpc>
              </a:pPr>
            </a:p>
          </p:txBody>
        </p:sp>
      </p:grpSp>
      <p:sp>
        <p:nvSpPr>
          <p:cNvPr name="Freeform 6" id="6"/>
          <p:cNvSpPr/>
          <p:nvPr/>
        </p:nvSpPr>
        <p:spPr>
          <a:xfrm flipH="false" flipV="false" rot="0">
            <a:off x="8229776" y="-3103089"/>
            <a:ext cx="19353779" cy="8206002"/>
          </a:xfrm>
          <a:custGeom>
            <a:avLst/>
            <a:gdLst/>
            <a:ahLst/>
            <a:cxnLst/>
            <a:rect r="r" b="b" t="t" l="l"/>
            <a:pathLst>
              <a:path h="8206002" w="19353779">
                <a:moveTo>
                  <a:pt x="0" y="0"/>
                </a:moveTo>
                <a:lnTo>
                  <a:pt x="19353779" y="0"/>
                </a:lnTo>
                <a:lnTo>
                  <a:pt x="19353779" y="8206002"/>
                </a:lnTo>
                <a:lnTo>
                  <a:pt x="0" y="8206002"/>
                </a:lnTo>
                <a:lnTo>
                  <a:pt x="0" y="0"/>
                </a:lnTo>
                <a:close/>
              </a:path>
            </a:pathLst>
          </a:custGeom>
          <a:blipFill>
            <a:blip r:embed="rId3">
              <a:alphaModFix amt="60000"/>
            </a:blip>
            <a:stretch>
              <a:fillRect l="0" t="0" r="0" b="0"/>
            </a:stretch>
          </a:blipFill>
        </p:spPr>
      </p:sp>
      <p:sp>
        <p:nvSpPr>
          <p:cNvPr name="Freeform 7" id="7"/>
          <p:cNvSpPr/>
          <p:nvPr/>
        </p:nvSpPr>
        <p:spPr>
          <a:xfrm flipH="false" flipV="false" rot="0">
            <a:off x="4238625" y="8480478"/>
            <a:ext cx="16475301" cy="6985528"/>
          </a:xfrm>
          <a:custGeom>
            <a:avLst/>
            <a:gdLst/>
            <a:ahLst/>
            <a:cxnLst/>
            <a:rect r="r" b="b" t="t" l="l"/>
            <a:pathLst>
              <a:path h="6985528" w="16475301">
                <a:moveTo>
                  <a:pt x="0" y="0"/>
                </a:moveTo>
                <a:lnTo>
                  <a:pt x="16475301" y="0"/>
                </a:lnTo>
                <a:lnTo>
                  <a:pt x="16475301" y="6985527"/>
                </a:lnTo>
                <a:lnTo>
                  <a:pt x="0" y="6985527"/>
                </a:lnTo>
                <a:lnTo>
                  <a:pt x="0" y="0"/>
                </a:lnTo>
                <a:close/>
              </a:path>
            </a:pathLst>
          </a:custGeom>
          <a:blipFill>
            <a:blip r:embed="rId3">
              <a:alphaModFix amt="60000"/>
            </a:blip>
            <a:stretch>
              <a:fillRect l="0" t="0" r="0" b="0"/>
            </a:stretch>
          </a:blipFill>
        </p:spPr>
      </p:sp>
      <p:sp>
        <p:nvSpPr>
          <p:cNvPr name="AutoShape 8" id="8"/>
          <p:cNvSpPr/>
          <p:nvPr/>
        </p:nvSpPr>
        <p:spPr>
          <a:xfrm>
            <a:off x="9810750" y="2866444"/>
            <a:ext cx="567898" cy="0"/>
          </a:xfrm>
          <a:prstGeom prst="line">
            <a:avLst/>
          </a:prstGeom>
          <a:ln cap="flat" w="38100">
            <a:solidFill>
              <a:srgbClr val="D2B99A"/>
            </a:solidFill>
            <a:prstDash val="solid"/>
            <a:headEnd type="none" len="sm" w="sm"/>
            <a:tailEnd type="none" len="sm" w="sm"/>
          </a:ln>
        </p:spPr>
      </p:sp>
      <p:sp>
        <p:nvSpPr>
          <p:cNvPr name="TextBox 9" id="9"/>
          <p:cNvSpPr txBox="true"/>
          <p:nvPr/>
        </p:nvSpPr>
        <p:spPr>
          <a:xfrm rot="0">
            <a:off x="9810750" y="1952625"/>
            <a:ext cx="5905500"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WORK PROGRESS</a:t>
            </a:r>
          </a:p>
        </p:txBody>
      </p:sp>
      <p:sp>
        <p:nvSpPr>
          <p:cNvPr name="TextBox 10" id="10"/>
          <p:cNvSpPr txBox="true"/>
          <p:nvPr/>
        </p:nvSpPr>
        <p:spPr>
          <a:xfrm rot="0">
            <a:off x="9810750" y="6379263"/>
            <a:ext cx="5905500" cy="221615"/>
          </a:xfrm>
          <a:prstGeom prst="rect">
            <a:avLst/>
          </a:prstGeom>
        </p:spPr>
        <p:txBody>
          <a:bodyPr anchor="t" rtlCol="false" tIns="0" lIns="0" bIns="0" rIns="0">
            <a:spAutoFit/>
          </a:bodyPr>
          <a:lstStyle/>
          <a:p>
            <a:pPr algn="l">
              <a:lnSpc>
                <a:spcPts val="1599"/>
              </a:lnSpc>
            </a:pPr>
            <a:r>
              <a:rPr lang="en-US" sz="1599" spc="319">
                <a:solidFill>
                  <a:srgbClr val="FFFFFF"/>
                </a:solidFill>
                <a:latin typeface="Poppins Light"/>
                <a:ea typeface="Poppins Light"/>
                <a:cs typeface="Poppins Light"/>
                <a:sym typeface="Poppins Light"/>
              </a:rPr>
              <a:t>PLANNING</a:t>
            </a:r>
          </a:p>
        </p:txBody>
      </p:sp>
      <p:sp>
        <p:nvSpPr>
          <p:cNvPr name="TextBox 11" id="11"/>
          <p:cNvSpPr txBox="true"/>
          <p:nvPr/>
        </p:nvSpPr>
        <p:spPr>
          <a:xfrm rot="0">
            <a:off x="9810750" y="7102824"/>
            <a:ext cx="5905500" cy="221615"/>
          </a:xfrm>
          <a:prstGeom prst="rect">
            <a:avLst/>
          </a:prstGeom>
        </p:spPr>
        <p:txBody>
          <a:bodyPr anchor="t" rtlCol="false" tIns="0" lIns="0" bIns="0" rIns="0">
            <a:spAutoFit/>
          </a:bodyPr>
          <a:lstStyle/>
          <a:p>
            <a:pPr algn="l">
              <a:lnSpc>
                <a:spcPts val="1599"/>
              </a:lnSpc>
            </a:pPr>
            <a:r>
              <a:rPr lang="en-US" sz="1599" spc="319">
                <a:solidFill>
                  <a:srgbClr val="FFFFFF"/>
                </a:solidFill>
                <a:latin typeface="Poppins Light"/>
                <a:ea typeface="Poppins Light"/>
                <a:cs typeface="Poppins Light"/>
                <a:sym typeface="Poppins Light"/>
              </a:rPr>
              <a:t>DESIGN</a:t>
            </a:r>
          </a:p>
        </p:txBody>
      </p:sp>
      <p:sp>
        <p:nvSpPr>
          <p:cNvPr name="TextBox 12" id="12"/>
          <p:cNvSpPr txBox="true"/>
          <p:nvPr/>
        </p:nvSpPr>
        <p:spPr>
          <a:xfrm rot="0">
            <a:off x="9810750" y="7826386"/>
            <a:ext cx="5905500" cy="221615"/>
          </a:xfrm>
          <a:prstGeom prst="rect">
            <a:avLst/>
          </a:prstGeom>
        </p:spPr>
        <p:txBody>
          <a:bodyPr anchor="t" rtlCol="false" tIns="0" lIns="0" bIns="0" rIns="0">
            <a:spAutoFit/>
          </a:bodyPr>
          <a:lstStyle/>
          <a:p>
            <a:pPr algn="l">
              <a:lnSpc>
                <a:spcPts val="1599"/>
              </a:lnSpc>
            </a:pPr>
            <a:r>
              <a:rPr lang="en-US" sz="1599" spc="319">
                <a:solidFill>
                  <a:srgbClr val="FFFFFF"/>
                </a:solidFill>
                <a:latin typeface="Poppins Light"/>
                <a:ea typeface="Poppins Light"/>
                <a:cs typeface="Poppins Light"/>
                <a:sym typeface="Poppins Light"/>
              </a:rPr>
              <a:t>FINISHED PRODUCT</a:t>
            </a:r>
          </a:p>
        </p:txBody>
      </p:sp>
      <p:sp>
        <p:nvSpPr>
          <p:cNvPr name="TextBox 13" id="13"/>
          <p:cNvSpPr txBox="true"/>
          <p:nvPr/>
        </p:nvSpPr>
        <p:spPr>
          <a:xfrm rot="0">
            <a:off x="9810750" y="4098153"/>
            <a:ext cx="5905500" cy="1388110"/>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This is our work progress. We started with an extensive planning phase, during which we defined the project goals, milestones, and essential deliverables. This crucial step ensured that everyone was on the same page and fully understood the objectives.</a:t>
            </a:r>
          </a:p>
        </p:txBody>
      </p:sp>
      <p:pic>
        <p:nvPicPr>
          <p:cNvPr name="Picture 14" id="14"/>
          <p:cNvPicPr>
            <a:picLocks noChangeAspect="true"/>
          </p:cNvPicPr>
          <p:nvPr/>
        </p:nvPicPr>
        <p:blipFill>
          <a:blip r:embed="rId4"/>
          <a:stretch>
            <a:fillRect/>
          </a:stretch>
        </p:blipFill>
        <p:spPr>
          <a:xfrm rot="0">
            <a:off x="9213869" y="6149666"/>
            <a:ext cx="7162572" cy="1385320"/>
          </a:xfrm>
          <a:prstGeom prst="rect">
            <a:avLst/>
          </a:prstGeom>
        </p:spPr>
      </p:pic>
      <p:pic>
        <p:nvPicPr>
          <p:cNvPr name="Picture 15" id="15"/>
          <p:cNvPicPr>
            <a:picLocks noChangeAspect="true"/>
          </p:cNvPicPr>
          <p:nvPr/>
        </p:nvPicPr>
        <p:blipFill>
          <a:blip r:embed="rId5"/>
          <a:stretch>
            <a:fillRect/>
          </a:stretch>
        </p:blipFill>
        <p:spPr>
          <a:xfrm rot="0">
            <a:off x="9218956" y="6878314"/>
            <a:ext cx="7101523" cy="1375145"/>
          </a:xfrm>
          <a:prstGeom prst="rect">
            <a:avLst/>
          </a:prstGeom>
        </p:spPr>
      </p:pic>
      <p:pic>
        <p:nvPicPr>
          <p:cNvPr name="Picture 16" id="16"/>
          <p:cNvPicPr>
            <a:picLocks noChangeAspect="true"/>
          </p:cNvPicPr>
          <p:nvPr/>
        </p:nvPicPr>
        <p:blipFill>
          <a:blip r:embed="rId6"/>
          <a:stretch>
            <a:fillRect/>
          </a:stretch>
        </p:blipFill>
        <p:spPr>
          <a:xfrm rot="0">
            <a:off x="9220200" y="7603120"/>
            <a:ext cx="7086600" cy="1372658"/>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666750" y="627888"/>
            <a:ext cx="18288000" cy="7754112"/>
          </a:xfrm>
          <a:custGeom>
            <a:avLst/>
            <a:gdLst/>
            <a:ahLst/>
            <a:cxnLst/>
            <a:rect r="r" b="b" t="t" l="l"/>
            <a:pathLst>
              <a:path h="7754112" w="18288000">
                <a:moveTo>
                  <a:pt x="0" y="0"/>
                </a:moveTo>
                <a:lnTo>
                  <a:pt x="18288000" y="0"/>
                </a:lnTo>
                <a:lnTo>
                  <a:pt x="18288000" y="7754112"/>
                </a:lnTo>
                <a:lnTo>
                  <a:pt x="0" y="7754112"/>
                </a:lnTo>
                <a:lnTo>
                  <a:pt x="0" y="0"/>
                </a:lnTo>
                <a:close/>
              </a:path>
            </a:pathLst>
          </a:custGeom>
          <a:blipFill>
            <a:blip r:embed="rId2">
              <a:alphaModFix amt="60000"/>
            </a:blip>
            <a:stretch>
              <a:fillRect l="0" t="0" r="0" b="0"/>
            </a:stretch>
          </a:blipFill>
        </p:spPr>
      </p:sp>
      <p:sp>
        <p:nvSpPr>
          <p:cNvPr name="AutoShape 3" id="3"/>
          <p:cNvSpPr/>
          <p:nvPr/>
        </p:nvSpPr>
        <p:spPr>
          <a:xfrm>
            <a:off x="9810750" y="2866444"/>
            <a:ext cx="567898" cy="0"/>
          </a:xfrm>
          <a:prstGeom prst="line">
            <a:avLst/>
          </a:prstGeom>
          <a:ln cap="flat" w="38100">
            <a:solidFill>
              <a:srgbClr val="D2B99A"/>
            </a:solidFill>
            <a:prstDash val="solid"/>
            <a:headEnd type="none" len="sm" w="sm"/>
            <a:tailEnd type="none" len="sm" w="sm"/>
          </a:ln>
        </p:spPr>
      </p:sp>
      <p:sp>
        <p:nvSpPr>
          <p:cNvPr name="AutoShape 4" id="4"/>
          <p:cNvSpPr/>
          <p:nvPr/>
        </p:nvSpPr>
        <p:spPr>
          <a:xfrm flipV="true">
            <a:off x="2836216" y="3112049"/>
            <a:ext cx="0" cy="1789062"/>
          </a:xfrm>
          <a:prstGeom prst="line">
            <a:avLst/>
          </a:prstGeom>
          <a:ln cap="flat" w="9525">
            <a:solidFill>
              <a:srgbClr val="C3C5C6"/>
            </a:solidFill>
            <a:prstDash val="solid"/>
            <a:headEnd type="none" len="sm" w="sm"/>
            <a:tailEnd type="none" len="sm" w="sm"/>
          </a:ln>
        </p:spPr>
      </p:sp>
      <p:sp>
        <p:nvSpPr>
          <p:cNvPr name="AutoShape 5" id="5"/>
          <p:cNvSpPr/>
          <p:nvPr/>
        </p:nvSpPr>
        <p:spPr>
          <a:xfrm flipV="true">
            <a:off x="2836216" y="6773068"/>
            <a:ext cx="0" cy="3513932"/>
          </a:xfrm>
          <a:prstGeom prst="line">
            <a:avLst/>
          </a:prstGeom>
          <a:ln cap="flat" w="9525">
            <a:solidFill>
              <a:srgbClr val="C3C5C6"/>
            </a:solidFill>
            <a:prstDash val="solid"/>
            <a:headEnd type="none" len="sm" w="sm"/>
            <a:tailEnd type="none" len="sm" w="sm"/>
          </a:ln>
        </p:spPr>
      </p:sp>
      <p:sp>
        <p:nvSpPr>
          <p:cNvPr name="Freeform 6" id="6"/>
          <p:cNvSpPr/>
          <p:nvPr/>
        </p:nvSpPr>
        <p:spPr>
          <a:xfrm flipH="false" flipV="false" rot="0">
            <a:off x="2571750" y="1905000"/>
            <a:ext cx="538456" cy="538456"/>
          </a:xfrm>
          <a:custGeom>
            <a:avLst/>
            <a:gdLst/>
            <a:ahLst/>
            <a:cxnLst/>
            <a:rect r="r" b="b" t="t" l="l"/>
            <a:pathLst>
              <a:path h="538456" w="538456">
                <a:moveTo>
                  <a:pt x="0" y="0"/>
                </a:moveTo>
                <a:lnTo>
                  <a:pt x="538456" y="0"/>
                </a:lnTo>
                <a:lnTo>
                  <a:pt x="538456" y="538456"/>
                </a:lnTo>
                <a:lnTo>
                  <a:pt x="0" y="5384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585456" y="5567861"/>
            <a:ext cx="524750" cy="538456"/>
          </a:xfrm>
          <a:custGeom>
            <a:avLst/>
            <a:gdLst/>
            <a:ahLst/>
            <a:cxnLst/>
            <a:rect r="r" b="b" t="t" l="l"/>
            <a:pathLst>
              <a:path h="538456" w="524750">
                <a:moveTo>
                  <a:pt x="0" y="0"/>
                </a:moveTo>
                <a:lnTo>
                  <a:pt x="524750" y="0"/>
                </a:lnTo>
                <a:lnTo>
                  <a:pt x="524750" y="538457"/>
                </a:lnTo>
                <a:lnTo>
                  <a:pt x="0" y="5384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9810750" y="1952625"/>
            <a:ext cx="5905500"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TIMELINE</a:t>
            </a:r>
          </a:p>
        </p:txBody>
      </p:sp>
      <p:sp>
        <p:nvSpPr>
          <p:cNvPr name="TextBox 9" id="9"/>
          <p:cNvSpPr txBox="true"/>
          <p:nvPr/>
        </p:nvSpPr>
        <p:spPr>
          <a:xfrm rot="0">
            <a:off x="9810750" y="3612766"/>
            <a:ext cx="3937635" cy="375285"/>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Project Timeline</a:t>
            </a:r>
          </a:p>
        </p:txBody>
      </p:sp>
      <p:sp>
        <p:nvSpPr>
          <p:cNvPr name="TextBox 10" id="10"/>
          <p:cNvSpPr txBox="true"/>
          <p:nvPr/>
        </p:nvSpPr>
        <p:spPr>
          <a:xfrm rot="0">
            <a:off x="4294294" y="1847850"/>
            <a:ext cx="3067243" cy="375285"/>
          </a:xfrm>
          <a:prstGeom prst="rect">
            <a:avLst/>
          </a:prstGeom>
        </p:spPr>
        <p:txBody>
          <a:bodyPr anchor="t" rtlCol="false" tIns="0" lIns="0" bIns="0" rIns="0">
            <a:spAutoFit/>
          </a:bodyPr>
          <a:lstStyle/>
          <a:p>
            <a:pPr algn="l">
              <a:lnSpc>
                <a:spcPts val="2940"/>
              </a:lnSpc>
            </a:pPr>
            <a:r>
              <a:rPr lang="en-US" sz="2100" spc="126">
                <a:solidFill>
                  <a:srgbClr val="FFFFFF"/>
                </a:solidFill>
                <a:latin typeface="Poppins"/>
                <a:ea typeface="Poppins"/>
                <a:cs typeface="Poppins"/>
                <a:sym typeface="Poppins"/>
              </a:rPr>
              <a:t>RESEARCH</a:t>
            </a:r>
          </a:p>
        </p:txBody>
      </p:sp>
      <p:sp>
        <p:nvSpPr>
          <p:cNvPr name="TextBox 11" id="11"/>
          <p:cNvSpPr txBox="true"/>
          <p:nvPr/>
        </p:nvSpPr>
        <p:spPr>
          <a:xfrm rot="0">
            <a:off x="4294294" y="5620872"/>
            <a:ext cx="3067243" cy="375285"/>
          </a:xfrm>
          <a:prstGeom prst="rect">
            <a:avLst/>
          </a:prstGeom>
        </p:spPr>
        <p:txBody>
          <a:bodyPr anchor="t" rtlCol="false" tIns="0" lIns="0" bIns="0" rIns="0">
            <a:spAutoFit/>
          </a:bodyPr>
          <a:lstStyle/>
          <a:p>
            <a:pPr algn="l">
              <a:lnSpc>
                <a:spcPts val="2940"/>
              </a:lnSpc>
            </a:pPr>
            <a:r>
              <a:rPr lang="en-US" sz="2100" spc="126">
                <a:solidFill>
                  <a:srgbClr val="FFFFFF"/>
                </a:solidFill>
                <a:latin typeface="Poppins"/>
                <a:ea typeface="Poppins"/>
                <a:cs typeface="Poppins"/>
                <a:sym typeface="Poppins"/>
              </a:rPr>
              <a:t>PLANNING</a:t>
            </a:r>
          </a:p>
        </p:txBody>
      </p:sp>
      <p:sp>
        <p:nvSpPr>
          <p:cNvPr name="TextBox 12" id="12"/>
          <p:cNvSpPr txBox="true"/>
          <p:nvPr/>
        </p:nvSpPr>
        <p:spPr>
          <a:xfrm rot="0">
            <a:off x="9810750" y="4319521"/>
            <a:ext cx="5905500" cy="1940560"/>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The project timeline outlines key milestones and deadlines to ensure that all phases are completed efficiently and on schedule. It begins with the initiation phase, where project goals are clearly defined, and resources are allocated. Following this, the planning phase involves detailed strategizing and the development of a comprehensive roadmap. </a:t>
            </a:r>
          </a:p>
        </p:txBody>
      </p:sp>
      <p:sp>
        <p:nvSpPr>
          <p:cNvPr name="TextBox 13" id="13"/>
          <p:cNvSpPr txBox="true"/>
          <p:nvPr/>
        </p:nvSpPr>
        <p:spPr>
          <a:xfrm rot="0">
            <a:off x="4294294" y="2465124"/>
            <a:ext cx="3067243" cy="755015"/>
          </a:xfrm>
          <a:prstGeom prst="rect">
            <a:avLst/>
          </a:prstGeom>
        </p:spPr>
        <p:txBody>
          <a:bodyPr anchor="t" rtlCol="false" tIns="0" lIns="0" bIns="0" rIns="0">
            <a:spAutoFit/>
          </a:bodyPr>
          <a:lstStyle/>
          <a:p>
            <a:pPr algn="l">
              <a:lnSpc>
                <a:spcPts val="1960"/>
              </a:lnSpc>
            </a:pPr>
            <a:r>
              <a:rPr lang="en-US" sz="1400">
                <a:solidFill>
                  <a:srgbClr val="C3C5C6"/>
                </a:solidFill>
                <a:latin typeface="Poppins Light"/>
                <a:ea typeface="Poppins Light"/>
                <a:cs typeface="Poppins Light"/>
                <a:sym typeface="Poppins Light"/>
              </a:rPr>
              <a:t>Research is a vital process that drives innovation and expands our understanding of the world.</a:t>
            </a:r>
          </a:p>
        </p:txBody>
      </p:sp>
      <p:sp>
        <p:nvSpPr>
          <p:cNvPr name="TextBox 14" id="14"/>
          <p:cNvSpPr txBox="true"/>
          <p:nvPr/>
        </p:nvSpPr>
        <p:spPr>
          <a:xfrm rot="0">
            <a:off x="4294294" y="6231506"/>
            <a:ext cx="3067243" cy="1002665"/>
          </a:xfrm>
          <a:prstGeom prst="rect">
            <a:avLst/>
          </a:prstGeom>
        </p:spPr>
        <p:txBody>
          <a:bodyPr anchor="t" rtlCol="false" tIns="0" lIns="0" bIns="0" rIns="0">
            <a:spAutoFit/>
          </a:bodyPr>
          <a:lstStyle/>
          <a:p>
            <a:pPr algn="l">
              <a:lnSpc>
                <a:spcPts val="1960"/>
              </a:lnSpc>
            </a:pPr>
            <a:r>
              <a:rPr lang="en-US" sz="1400">
                <a:solidFill>
                  <a:srgbClr val="C3C5C6"/>
                </a:solidFill>
                <a:latin typeface="Poppins Light"/>
                <a:ea typeface="Poppins Light"/>
                <a:cs typeface="Poppins Light"/>
                <a:sym typeface="Poppins Light"/>
              </a:rPr>
              <a:t>Effective project planning is essential for ensuring that all tasks are completed on time and within budget.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666750" y="627888"/>
            <a:ext cx="18288000" cy="7754112"/>
          </a:xfrm>
          <a:custGeom>
            <a:avLst/>
            <a:gdLst/>
            <a:ahLst/>
            <a:cxnLst/>
            <a:rect r="r" b="b" t="t" l="l"/>
            <a:pathLst>
              <a:path h="7754112" w="18288000">
                <a:moveTo>
                  <a:pt x="0" y="0"/>
                </a:moveTo>
                <a:lnTo>
                  <a:pt x="18288000" y="0"/>
                </a:lnTo>
                <a:lnTo>
                  <a:pt x="18288000" y="7754112"/>
                </a:lnTo>
                <a:lnTo>
                  <a:pt x="0" y="7754112"/>
                </a:lnTo>
                <a:lnTo>
                  <a:pt x="0" y="0"/>
                </a:lnTo>
                <a:close/>
              </a:path>
            </a:pathLst>
          </a:custGeom>
          <a:blipFill>
            <a:blip r:embed="rId2">
              <a:alphaModFix amt="60000"/>
            </a:blip>
            <a:stretch>
              <a:fillRect l="0" t="0" r="0" b="0"/>
            </a:stretch>
          </a:blipFill>
        </p:spPr>
      </p:sp>
      <p:sp>
        <p:nvSpPr>
          <p:cNvPr name="AutoShape 3" id="3"/>
          <p:cNvSpPr/>
          <p:nvPr/>
        </p:nvSpPr>
        <p:spPr>
          <a:xfrm>
            <a:off x="9810750" y="2866444"/>
            <a:ext cx="567898" cy="0"/>
          </a:xfrm>
          <a:prstGeom prst="line">
            <a:avLst/>
          </a:prstGeom>
          <a:ln cap="flat" w="38100">
            <a:solidFill>
              <a:srgbClr val="D2B99A"/>
            </a:solidFill>
            <a:prstDash val="solid"/>
            <a:headEnd type="none" len="sm" w="sm"/>
            <a:tailEnd type="none" len="sm" w="sm"/>
          </a:ln>
        </p:spPr>
      </p:sp>
      <p:sp>
        <p:nvSpPr>
          <p:cNvPr name="TextBox 4" id="4"/>
          <p:cNvSpPr txBox="true"/>
          <p:nvPr/>
        </p:nvSpPr>
        <p:spPr>
          <a:xfrm rot="0">
            <a:off x="9810750" y="1952625"/>
            <a:ext cx="5905500"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TIMELINE</a:t>
            </a:r>
          </a:p>
        </p:txBody>
      </p:sp>
      <p:sp>
        <p:nvSpPr>
          <p:cNvPr name="TextBox 5" id="5"/>
          <p:cNvSpPr txBox="true"/>
          <p:nvPr/>
        </p:nvSpPr>
        <p:spPr>
          <a:xfrm rot="0">
            <a:off x="9810750" y="3612766"/>
            <a:ext cx="3937635" cy="375285"/>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Project Timeline</a:t>
            </a:r>
          </a:p>
        </p:txBody>
      </p:sp>
      <p:sp>
        <p:nvSpPr>
          <p:cNvPr name="TextBox 6" id="6"/>
          <p:cNvSpPr txBox="true"/>
          <p:nvPr/>
        </p:nvSpPr>
        <p:spPr>
          <a:xfrm rot="0">
            <a:off x="9810750" y="4319521"/>
            <a:ext cx="5905500" cy="1940560"/>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The project timeline outlines key milestones and deadlines to ensure that all phases are completed efficiently and on schedule. It begins with the initiation phase, where project goals are clearly defined, and resources are allocated. Following this, the planning phase involves detailed strategizing and the development of a comprehensive roadmap. </a:t>
            </a:r>
          </a:p>
        </p:txBody>
      </p:sp>
      <p:sp>
        <p:nvSpPr>
          <p:cNvPr name="AutoShape 7" id="7"/>
          <p:cNvSpPr/>
          <p:nvPr/>
        </p:nvSpPr>
        <p:spPr>
          <a:xfrm flipV="true">
            <a:off x="2836216" y="3112049"/>
            <a:ext cx="0" cy="1789062"/>
          </a:xfrm>
          <a:prstGeom prst="line">
            <a:avLst/>
          </a:prstGeom>
          <a:ln cap="flat" w="9525">
            <a:solidFill>
              <a:srgbClr val="C3C5C6"/>
            </a:solidFill>
            <a:prstDash val="solid"/>
            <a:headEnd type="none" len="sm" w="sm"/>
            <a:tailEnd type="none" len="sm" w="sm"/>
          </a:ln>
        </p:spPr>
      </p:sp>
      <p:sp>
        <p:nvSpPr>
          <p:cNvPr name="AutoShape 8" id="8"/>
          <p:cNvSpPr/>
          <p:nvPr/>
        </p:nvSpPr>
        <p:spPr>
          <a:xfrm flipV="true">
            <a:off x="2836216" y="0"/>
            <a:ext cx="0" cy="1238250"/>
          </a:xfrm>
          <a:prstGeom prst="line">
            <a:avLst/>
          </a:prstGeom>
          <a:ln cap="flat" w="9525">
            <a:solidFill>
              <a:srgbClr val="C3C5C6"/>
            </a:solidFill>
            <a:prstDash val="solid"/>
            <a:headEnd type="none" len="sm" w="sm"/>
            <a:tailEnd type="none" len="sm" w="sm"/>
          </a:ln>
        </p:spPr>
      </p:sp>
      <p:sp>
        <p:nvSpPr>
          <p:cNvPr name="Freeform 9" id="9"/>
          <p:cNvSpPr/>
          <p:nvPr/>
        </p:nvSpPr>
        <p:spPr>
          <a:xfrm flipH="false" flipV="false" rot="0">
            <a:off x="2571750" y="1905000"/>
            <a:ext cx="441301" cy="538456"/>
          </a:xfrm>
          <a:custGeom>
            <a:avLst/>
            <a:gdLst/>
            <a:ahLst/>
            <a:cxnLst/>
            <a:rect r="r" b="b" t="t" l="l"/>
            <a:pathLst>
              <a:path h="538456" w="441301">
                <a:moveTo>
                  <a:pt x="0" y="0"/>
                </a:moveTo>
                <a:lnTo>
                  <a:pt x="441301" y="0"/>
                </a:lnTo>
                <a:lnTo>
                  <a:pt x="441301" y="538456"/>
                </a:lnTo>
                <a:lnTo>
                  <a:pt x="0" y="5384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2585456" y="5567861"/>
            <a:ext cx="534540" cy="538456"/>
          </a:xfrm>
          <a:custGeom>
            <a:avLst/>
            <a:gdLst/>
            <a:ahLst/>
            <a:cxnLst/>
            <a:rect r="r" b="b" t="t" l="l"/>
            <a:pathLst>
              <a:path h="538456" w="534540">
                <a:moveTo>
                  <a:pt x="0" y="0"/>
                </a:moveTo>
                <a:lnTo>
                  <a:pt x="534540" y="0"/>
                </a:lnTo>
                <a:lnTo>
                  <a:pt x="534540" y="538457"/>
                </a:lnTo>
                <a:lnTo>
                  <a:pt x="0" y="5384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4294294" y="1847850"/>
            <a:ext cx="3067243" cy="375285"/>
          </a:xfrm>
          <a:prstGeom prst="rect">
            <a:avLst/>
          </a:prstGeom>
        </p:spPr>
        <p:txBody>
          <a:bodyPr anchor="t" rtlCol="false" tIns="0" lIns="0" bIns="0" rIns="0">
            <a:spAutoFit/>
          </a:bodyPr>
          <a:lstStyle/>
          <a:p>
            <a:pPr algn="l">
              <a:lnSpc>
                <a:spcPts val="2940"/>
              </a:lnSpc>
            </a:pPr>
            <a:r>
              <a:rPr lang="en-US" sz="2100" spc="126">
                <a:solidFill>
                  <a:srgbClr val="FFFFFF"/>
                </a:solidFill>
                <a:latin typeface="Poppins"/>
                <a:ea typeface="Poppins"/>
                <a:cs typeface="Poppins"/>
                <a:sym typeface="Poppins"/>
              </a:rPr>
              <a:t>DEVELOPMENT</a:t>
            </a:r>
          </a:p>
        </p:txBody>
      </p:sp>
      <p:sp>
        <p:nvSpPr>
          <p:cNvPr name="TextBox 12" id="12"/>
          <p:cNvSpPr txBox="true"/>
          <p:nvPr/>
        </p:nvSpPr>
        <p:spPr>
          <a:xfrm rot="0">
            <a:off x="4294294" y="5620872"/>
            <a:ext cx="3067243" cy="375285"/>
          </a:xfrm>
          <a:prstGeom prst="rect">
            <a:avLst/>
          </a:prstGeom>
        </p:spPr>
        <p:txBody>
          <a:bodyPr anchor="t" rtlCol="false" tIns="0" lIns="0" bIns="0" rIns="0">
            <a:spAutoFit/>
          </a:bodyPr>
          <a:lstStyle/>
          <a:p>
            <a:pPr algn="l">
              <a:lnSpc>
                <a:spcPts val="2940"/>
              </a:lnSpc>
            </a:pPr>
            <a:r>
              <a:rPr lang="en-US" sz="2100" spc="126">
                <a:solidFill>
                  <a:srgbClr val="FFFFFF"/>
                </a:solidFill>
                <a:latin typeface="Poppins"/>
                <a:ea typeface="Poppins"/>
                <a:cs typeface="Poppins"/>
                <a:sym typeface="Poppins"/>
              </a:rPr>
              <a:t>LAUNCHING</a:t>
            </a:r>
          </a:p>
        </p:txBody>
      </p:sp>
      <p:sp>
        <p:nvSpPr>
          <p:cNvPr name="TextBox 13" id="13"/>
          <p:cNvSpPr txBox="true"/>
          <p:nvPr/>
        </p:nvSpPr>
        <p:spPr>
          <a:xfrm rot="0">
            <a:off x="4294294" y="2465124"/>
            <a:ext cx="3067243" cy="1250315"/>
          </a:xfrm>
          <a:prstGeom prst="rect">
            <a:avLst/>
          </a:prstGeom>
        </p:spPr>
        <p:txBody>
          <a:bodyPr anchor="t" rtlCol="false" tIns="0" lIns="0" bIns="0" rIns="0">
            <a:spAutoFit/>
          </a:bodyPr>
          <a:lstStyle/>
          <a:p>
            <a:pPr algn="l">
              <a:lnSpc>
                <a:spcPts val="1960"/>
              </a:lnSpc>
            </a:pPr>
            <a:r>
              <a:rPr lang="en-US" sz="1400">
                <a:solidFill>
                  <a:srgbClr val="C3C5C6"/>
                </a:solidFill>
                <a:latin typeface="Poppins Light"/>
                <a:ea typeface="Poppins Light"/>
                <a:cs typeface="Poppins Light"/>
                <a:sym typeface="Poppins Light"/>
              </a:rPr>
              <a:t>Effective project development requires clear communication, meticulous planning, and the ability to adapt to changing circumstances.</a:t>
            </a:r>
          </a:p>
        </p:txBody>
      </p:sp>
      <p:sp>
        <p:nvSpPr>
          <p:cNvPr name="TextBox 14" id="14"/>
          <p:cNvSpPr txBox="true"/>
          <p:nvPr/>
        </p:nvSpPr>
        <p:spPr>
          <a:xfrm rot="0">
            <a:off x="4294294" y="6231506"/>
            <a:ext cx="3067243" cy="1250315"/>
          </a:xfrm>
          <a:prstGeom prst="rect">
            <a:avLst/>
          </a:prstGeom>
        </p:spPr>
        <p:txBody>
          <a:bodyPr anchor="t" rtlCol="false" tIns="0" lIns="0" bIns="0" rIns="0">
            <a:spAutoFit/>
          </a:bodyPr>
          <a:lstStyle/>
          <a:p>
            <a:pPr algn="l">
              <a:lnSpc>
                <a:spcPts val="1960"/>
              </a:lnSpc>
            </a:pPr>
            <a:r>
              <a:rPr lang="en-US" sz="1400">
                <a:solidFill>
                  <a:srgbClr val="C3C5C6"/>
                </a:solidFill>
                <a:latin typeface="Poppins Light"/>
                <a:ea typeface="Poppins Light"/>
                <a:cs typeface="Poppins Light"/>
                <a:sym typeface="Poppins Light"/>
              </a:rPr>
              <a:t>Launching a project when it's ready marks the moment when all your hard work and preparation align, turning ideas into tangible action.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0">
            <a:off x="-1844026" y="-2006419"/>
            <a:ext cx="22985203" cy="9745726"/>
          </a:xfrm>
          <a:custGeom>
            <a:avLst/>
            <a:gdLst/>
            <a:ahLst/>
            <a:cxnLst/>
            <a:rect r="r" b="b" t="t" l="l"/>
            <a:pathLst>
              <a:path h="9745726" w="22985203">
                <a:moveTo>
                  <a:pt x="22985202" y="0"/>
                </a:moveTo>
                <a:lnTo>
                  <a:pt x="0" y="0"/>
                </a:lnTo>
                <a:lnTo>
                  <a:pt x="0" y="9745726"/>
                </a:lnTo>
                <a:lnTo>
                  <a:pt x="22985202" y="9745726"/>
                </a:lnTo>
                <a:lnTo>
                  <a:pt x="22985202" y="0"/>
                </a:lnTo>
                <a:close/>
              </a:path>
            </a:pathLst>
          </a:custGeom>
          <a:blipFill>
            <a:blip r:embed="rId2">
              <a:alphaModFix amt="60000"/>
            </a:blip>
            <a:stretch>
              <a:fillRect l="0" t="0" r="0" b="0"/>
            </a:stretch>
          </a:blipFill>
        </p:spPr>
      </p:sp>
      <p:sp>
        <p:nvSpPr>
          <p:cNvPr name="AutoShape 3" id="3"/>
          <p:cNvSpPr/>
          <p:nvPr/>
        </p:nvSpPr>
        <p:spPr>
          <a:xfrm>
            <a:off x="8860051" y="2866444"/>
            <a:ext cx="567898" cy="0"/>
          </a:xfrm>
          <a:prstGeom prst="line">
            <a:avLst/>
          </a:prstGeom>
          <a:ln cap="flat" w="38100">
            <a:solidFill>
              <a:srgbClr val="D2B99A"/>
            </a:solidFill>
            <a:prstDash val="solid"/>
            <a:headEnd type="none" len="sm" w="sm"/>
            <a:tailEnd type="none" len="sm" w="sm"/>
          </a:ln>
        </p:spPr>
      </p:sp>
      <p:sp>
        <p:nvSpPr>
          <p:cNvPr name="AutoShape 4" id="4"/>
          <p:cNvSpPr/>
          <p:nvPr/>
        </p:nvSpPr>
        <p:spPr>
          <a:xfrm>
            <a:off x="5918017" y="6362488"/>
            <a:ext cx="1141779" cy="0"/>
          </a:xfrm>
          <a:prstGeom prst="line">
            <a:avLst/>
          </a:prstGeom>
          <a:ln cap="flat" w="9525">
            <a:solidFill>
              <a:srgbClr val="C3C5C6"/>
            </a:solidFill>
            <a:prstDash val="solid"/>
            <a:headEnd type="none" len="sm" w="sm"/>
            <a:tailEnd type="none" len="sm" w="sm"/>
          </a:ln>
        </p:spPr>
      </p:sp>
      <p:sp>
        <p:nvSpPr>
          <p:cNvPr name="AutoShape 5" id="5"/>
          <p:cNvSpPr/>
          <p:nvPr/>
        </p:nvSpPr>
        <p:spPr>
          <a:xfrm>
            <a:off x="11225212" y="6362488"/>
            <a:ext cx="1141779" cy="0"/>
          </a:xfrm>
          <a:prstGeom prst="line">
            <a:avLst/>
          </a:prstGeom>
          <a:ln cap="flat" w="9525">
            <a:solidFill>
              <a:srgbClr val="C3C5C6"/>
            </a:solidFill>
            <a:prstDash val="solid"/>
            <a:headEnd type="none" len="sm" w="sm"/>
            <a:tailEnd type="none" len="sm" w="sm"/>
          </a:ln>
        </p:spPr>
      </p:sp>
      <p:sp>
        <p:nvSpPr>
          <p:cNvPr name="TextBox 6" id="6"/>
          <p:cNvSpPr txBox="true"/>
          <p:nvPr/>
        </p:nvSpPr>
        <p:spPr>
          <a:xfrm rot="0">
            <a:off x="6191250" y="1952625"/>
            <a:ext cx="5905500" cy="799465"/>
          </a:xfrm>
          <a:prstGeom prst="rect">
            <a:avLst/>
          </a:prstGeom>
        </p:spPr>
        <p:txBody>
          <a:bodyPr anchor="t" rtlCol="false" tIns="0" lIns="0" bIns="0" rIns="0">
            <a:spAutoFit/>
          </a:bodyPr>
          <a:lstStyle/>
          <a:p>
            <a:pPr algn="ctr">
              <a:lnSpc>
                <a:spcPts val="5600"/>
              </a:lnSpc>
            </a:pPr>
            <a:r>
              <a:rPr lang="en-US" sz="5600">
                <a:solidFill>
                  <a:srgbClr val="FFFFFF"/>
                </a:solidFill>
                <a:latin typeface="Poppins Light"/>
                <a:ea typeface="Poppins Light"/>
                <a:cs typeface="Poppins Light"/>
                <a:sym typeface="Poppins Light"/>
              </a:rPr>
              <a:t>OUR PRICING</a:t>
            </a:r>
          </a:p>
        </p:txBody>
      </p:sp>
      <p:grpSp>
        <p:nvGrpSpPr>
          <p:cNvPr name="Group 7" id="7"/>
          <p:cNvGrpSpPr/>
          <p:nvPr/>
        </p:nvGrpSpPr>
        <p:grpSpPr>
          <a:xfrm rot="0">
            <a:off x="2571750" y="4031190"/>
            <a:ext cx="2524125" cy="1504950"/>
            <a:chOff x="0" y="0"/>
            <a:chExt cx="664790" cy="396365"/>
          </a:xfrm>
        </p:grpSpPr>
        <p:sp>
          <p:nvSpPr>
            <p:cNvPr name="Freeform 8" id="8"/>
            <p:cNvSpPr/>
            <p:nvPr/>
          </p:nvSpPr>
          <p:spPr>
            <a:xfrm flipH="false" flipV="false" rot="0">
              <a:off x="0" y="0"/>
              <a:ext cx="664790" cy="396365"/>
            </a:xfrm>
            <a:custGeom>
              <a:avLst/>
              <a:gdLst/>
              <a:ahLst/>
              <a:cxnLst/>
              <a:rect r="r" b="b" t="t" l="l"/>
              <a:pathLst>
                <a:path h="396365" w="664790">
                  <a:moveTo>
                    <a:pt x="70545" y="0"/>
                  </a:moveTo>
                  <a:lnTo>
                    <a:pt x="594245" y="0"/>
                  </a:lnTo>
                  <a:cubicBezTo>
                    <a:pt x="612955" y="0"/>
                    <a:pt x="630898" y="7432"/>
                    <a:pt x="644128" y="20662"/>
                  </a:cubicBezTo>
                  <a:cubicBezTo>
                    <a:pt x="657358" y="33892"/>
                    <a:pt x="664790" y="51835"/>
                    <a:pt x="664790" y="70545"/>
                  </a:cubicBezTo>
                  <a:lnTo>
                    <a:pt x="664790" y="325821"/>
                  </a:lnTo>
                  <a:cubicBezTo>
                    <a:pt x="664790" y="364781"/>
                    <a:pt x="633206" y="396365"/>
                    <a:pt x="594245" y="396365"/>
                  </a:cubicBezTo>
                  <a:lnTo>
                    <a:pt x="70545" y="396365"/>
                  </a:lnTo>
                  <a:cubicBezTo>
                    <a:pt x="51835" y="396365"/>
                    <a:pt x="33892" y="388933"/>
                    <a:pt x="20662" y="375703"/>
                  </a:cubicBezTo>
                  <a:cubicBezTo>
                    <a:pt x="7432" y="362474"/>
                    <a:pt x="0" y="344530"/>
                    <a:pt x="0" y="325821"/>
                  </a:cubicBezTo>
                  <a:lnTo>
                    <a:pt x="0" y="70545"/>
                  </a:lnTo>
                  <a:cubicBezTo>
                    <a:pt x="0" y="51835"/>
                    <a:pt x="7432" y="33892"/>
                    <a:pt x="20662" y="20662"/>
                  </a:cubicBezTo>
                  <a:cubicBezTo>
                    <a:pt x="33892" y="7432"/>
                    <a:pt x="51835" y="0"/>
                    <a:pt x="70545" y="0"/>
                  </a:cubicBezTo>
                  <a:close/>
                </a:path>
              </a:pathLst>
            </a:custGeom>
            <a:ln w="9525" cap="rnd">
              <a:solidFill>
                <a:srgbClr val="FFFFFF"/>
              </a:solidFill>
              <a:prstDash val="solid"/>
              <a:round/>
            </a:ln>
          </p:spPr>
        </p:sp>
        <p:sp>
          <p:nvSpPr>
            <p:cNvPr name="TextBox 9" id="9"/>
            <p:cNvSpPr txBox="true"/>
            <p:nvPr/>
          </p:nvSpPr>
          <p:spPr>
            <a:xfrm>
              <a:off x="0" y="-57150"/>
              <a:ext cx="664790" cy="453515"/>
            </a:xfrm>
            <a:prstGeom prst="rect">
              <a:avLst/>
            </a:prstGeom>
          </p:spPr>
          <p:txBody>
            <a:bodyPr anchor="ctr" rtlCol="false" tIns="50800" lIns="50800" bIns="50800" rIns="50800"/>
            <a:lstStyle/>
            <a:p>
              <a:pPr algn="ctr">
                <a:lnSpc>
                  <a:spcPts val="2940"/>
                </a:lnSpc>
              </a:pPr>
            </a:p>
          </p:txBody>
        </p:sp>
      </p:grpSp>
      <p:sp>
        <p:nvSpPr>
          <p:cNvPr name="TextBox 10" id="10"/>
          <p:cNvSpPr txBox="true"/>
          <p:nvPr/>
        </p:nvSpPr>
        <p:spPr>
          <a:xfrm rot="0">
            <a:off x="2871788" y="4358215"/>
            <a:ext cx="1924050" cy="917575"/>
          </a:xfrm>
          <a:prstGeom prst="rect">
            <a:avLst/>
          </a:prstGeom>
        </p:spPr>
        <p:txBody>
          <a:bodyPr anchor="t" rtlCol="false" tIns="0" lIns="0" bIns="0" rIns="0">
            <a:spAutoFit/>
          </a:bodyPr>
          <a:lstStyle/>
          <a:p>
            <a:pPr algn="ctr">
              <a:lnSpc>
                <a:spcPts val="6499"/>
              </a:lnSpc>
            </a:pPr>
            <a:r>
              <a:rPr lang="en-US" sz="6499" spc="-227">
                <a:solidFill>
                  <a:srgbClr val="FFFFFF"/>
                </a:solidFill>
                <a:latin typeface="Poppins Light"/>
                <a:ea typeface="Poppins Light"/>
                <a:cs typeface="Poppins Light"/>
                <a:sym typeface="Poppins Light"/>
              </a:rPr>
              <a:t>$299</a:t>
            </a:r>
          </a:p>
        </p:txBody>
      </p:sp>
      <p:grpSp>
        <p:nvGrpSpPr>
          <p:cNvPr name="Group 11" id="11"/>
          <p:cNvGrpSpPr/>
          <p:nvPr/>
        </p:nvGrpSpPr>
        <p:grpSpPr>
          <a:xfrm rot="0">
            <a:off x="7881937" y="4031190"/>
            <a:ext cx="2524125" cy="1504950"/>
            <a:chOff x="0" y="0"/>
            <a:chExt cx="664790" cy="396365"/>
          </a:xfrm>
        </p:grpSpPr>
        <p:sp>
          <p:nvSpPr>
            <p:cNvPr name="Freeform 12" id="12"/>
            <p:cNvSpPr/>
            <p:nvPr/>
          </p:nvSpPr>
          <p:spPr>
            <a:xfrm flipH="false" flipV="false" rot="0">
              <a:off x="0" y="0"/>
              <a:ext cx="664790" cy="396365"/>
            </a:xfrm>
            <a:custGeom>
              <a:avLst/>
              <a:gdLst/>
              <a:ahLst/>
              <a:cxnLst/>
              <a:rect r="r" b="b" t="t" l="l"/>
              <a:pathLst>
                <a:path h="396365" w="664790">
                  <a:moveTo>
                    <a:pt x="70545" y="0"/>
                  </a:moveTo>
                  <a:lnTo>
                    <a:pt x="594245" y="0"/>
                  </a:lnTo>
                  <a:cubicBezTo>
                    <a:pt x="612955" y="0"/>
                    <a:pt x="630898" y="7432"/>
                    <a:pt x="644128" y="20662"/>
                  </a:cubicBezTo>
                  <a:cubicBezTo>
                    <a:pt x="657358" y="33892"/>
                    <a:pt x="664790" y="51835"/>
                    <a:pt x="664790" y="70545"/>
                  </a:cubicBezTo>
                  <a:lnTo>
                    <a:pt x="664790" y="325821"/>
                  </a:lnTo>
                  <a:cubicBezTo>
                    <a:pt x="664790" y="364781"/>
                    <a:pt x="633206" y="396365"/>
                    <a:pt x="594245" y="396365"/>
                  </a:cubicBezTo>
                  <a:lnTo>
                    <a:pt x="70545" y="396365"/>
                  </a:lnTo>
                  <a:cubicBezTo>
                    <a:pt x="51835" y="396365"/>
                    <a:pt x="33892" y="388933"/>
                    <a:pt x="20662" y="375703"/>
                  </a:cubicBezTo>
                  <a:cubicBezTo>
                    <a:pt x="7432" y="362474"/>
                    <a:pt x="0" y="344530"/>
                    <a:pt x="0" y="325821"/>
                  </a:cubicBezTo>
                  <a:lnTo>
                    <a:pt x="0" y="70545"/>
                  </a:lnTo>
                  <a:cubicBezTo>
                    <a:pt x="0" y="51835"/>
                    <a:pt x="7432" y="33892"/>
                    <a:pt x="20662" y="20662"/>
                  </a:cubicBezTo>
                  <a:cubicBezTo>
                    <a:pt x="33892" y="7432"/>
                    <a:pt x="51835" y="0"/>
                    <a:pt x="70545" y="0"/>
                  </a:cubicBezTo>
                  <a:close/>
                </a:path>
              </a:pathLst>
            </a:custGeom>
            <a:ln w="9525" cap="rnd">
              <a:solidFill>
                <a:srgbClr val="FFFFFF"/>
              </a:solidFill>
              <a:prstDash val="solid"/>
              <a:round/>
            </a:ln>
          </p:spPr>
        </p:sp>
        <p:sp>
          <p:nvSpPr>
            <p:cNvPr name="TextBox 13" id="13"/>
            <p:cNvSpPr txBox="true"/>
            <p:nvPr/>
          </p:nvSpPr>
          <p:spPr>
            <a:xfrm>
              <a:off x="0" y="-57150"/>
              <a:ext cx="664790" cy="453515"/>
            </a:xfrm>
            <a:prstGeom prst="rect">
              <a:avLst/>
            </a:prstGeom>
          </p:spPr>
          <p:txBody>
            <a:bodyPr anchor="ctr" rtlCol="false" tIns="50800" lIns="50800" bIns="50800" rIns="50800"/>
            <a:lstStyle/>
            <a:p>
              <a:pPr algn="ctr">
                <a:lnSpc>
                  <a:spcPts val="2940"/>
                </a:lnSpc>
              </a:pPr>
            </a:p>
          </p:txBody>
        </p:sp>
      </p:grpSp>
      <p:sp>
        <p:nvSpPr>
          <p:cNvPr name="TextBox 14" id="14"/>
          <p:cNvSpPr txBox="true"/>
          <p:nvPr/>
        </p:nvSpPr>
        <p:spPr>
          <a:xfrm rot="0">
            <a:off x="8181975" y="4358215"/>
            <a:ext cx="1924050" cy="917575"/>
          </a:xfrm>
          <a:prstGeom prst="rect">
            <a:avLst/>
          </a:prstGeom>
        </p:spPr>
        <p:txBody>
          <a:bodyPr anchor="t" rtlCol="false" tIns="0" lIns="0" bIns="0" rIns="0">
            <a:spAutoFit/>
          </a:bodyPr>
          <a:lstStyle/>
          <a:p>
            <a:pPr algn="ctr">
              <a:lnSpc>
                <a:spcPts val="6499"/>
              </a:lnSpc>
            </a:pPr>
            <a:r>
              <a:rPr lang="en-US" sz="6499" spc="-227">
                <a:solidFill>
                  <a:srgbClr val="FFFFFF"/>
                </a:solidFill>
                <a:latin typeface="Poppins Light"/>
                <a:ea typeface="Poppins Light"/>
                <a:cs typeface="Poppins Light"/>
                <a:sym typeface="Poppins Light"/>
              </a:rPr>
              <a:t>$599</a:t>
            </a:r>
          </a:p>
        </p:txBody>
      </p:sp>
      <p:grpSp>
        <p:nvGrpSpPr>
          <p:cNvPr name="Group 15" id="15"/>
          <p:cNvGrpSpPr/>
          <p:nvPr/>
        </p:nvGrpSpPr>
        <p:grpSpPr>
          <a:xfrm rot="0">
            <a:off x="13187362" y="4031190"/>
            <a:ext cx="2524125" cy="1504950"/>
            <a:chOff x="0" y="0"/>
            <a:chExt cx="664790" cy="396365"/>
          </a:xfrm>
        </p:grpSpPr>
        <p:sp>
          <p:nvSpPr>
            <p:cNvPr name="Freeform 16" id="16"/>
            <p:cNvSpPr/>
            <p:nvPr/>
          </p:nvSpPr>
          <p:spPr>
            <a:xfrm flipH="false" flipV="false" rot="0">
              <a:off x="0" y="0"/>
              <a:ext cx="664790" cy="396365"/>
            </a:xfrm>
            <a:custGeom>
              <a:avLst/>
              <a:gdLst/>
              <a:ahLst/>
              <a:cxnLst/>
              <a:rect r="r" b="b" t="t" l="l"/>
              <a:pathLst>
                <a:path h="396365" w="664790">
                  <a:moveTo>
                    <a:pt x="70545" y="0"/>
                  </a:moveTo>
                  <a:lnTo>
                    <a:pt x="594245" y="0"/>
                  </a:lnTo>
                  <a:cubicBezTo>
                    <a:pt x="612955" y="0"/>
                    <a:pt x="630898" y="7432"/>
                    <a:pt x="644128" y="20662"/>
                  </a:cubicBezTo>
                  <a:cubicBezTo>
                    <a:pt x="657358" y="33892"/>
                    <a:pt x="664790" y="51835"/>
                    <a:pt x="664790" y="70545"/>
                  </a:cubicBezTo>
                  <a:lnTo>
                    <a:pt x="664790" y="325821"/>
                  </a:lnTo>
                  <a:cubicBezTo>
                    <a:pt x="664790" y="364781"/>
                    <a:pt x="633206" y="396365"/>
                    <a:pt x="594245" y="396365"/>
                  </a:cubicBezTo>
                  <a:lnTo>
                    <a:pt x="70545" y="396365"/>
                  </a:lnTo>
                  <a:cubicBezTo>
                    <a:pt x="51835" y="396365"/>
                    <a:pt x="33892" y="388933"/>
                    <a:pt x="20662" y="375703"/>
                  </a:cubicBezTo>
                  <a:cubicBezTo>
                    <a:pt x="7432" y="362474"/>
                    <a:pt x="0" y="344530"/>
                    <a:pt x="0" y="325821"/>
                  </a:cubicBezTo>
                  <a:lnTo>
                    <a:pt x="0" y="70545"/>
                  </a:lnTo>
                  <a:cubicBezTo>
                    <a:pt x="0" y="51835"/>
                    <a:pt x="7432" y="33892"/>
                    <a:pt x="20662" y="20662"/>
                  </a:cubicBezTo>
                  <a:cubicBezTo>
                    <a:pt x="33892" y="7432"/>
                    <a:pt x="51835" y="0"/>
                    <a:pt x="70545" y="0"/>
                  </a:cubicBezTo>
                  <a:close/>
                </a:path>
              </a:pathLst>
            </a:custGeom>
            <a:ln w="9525" cap="rnd">
              <a:solidFill>
                <a:srgbClr val="FFFFFF"/>
              </a:solidFill>
              <a:prstDash val="solid"/>
              <a:round/>
            </a:ln>
          </p:spPr>
        </p:sp>
        <p:sp>
          <p:nvSpPr>
            <p:cNvPr name="TextBox 17" id="17"/>
            <p:cNvSpPr txBox="true"/>
            <p:nvPr/>
          </p:nvSpPr>
          <p:spPr>
            <a:xfrm>
              <a:off x="0" y="-57150"/>
              <a:ext cx="664790" cy="453515"/>
            </a:xfrm>
            <a:prstGeom prst="rect">
              <a:avLst/>
            </a:prstGeom>
          </p:spPr>
          <p:txBody>
            <a:bodyPr anchor="ctr" rtlCol="false" tIns="50800" lIns="50800" bIns="50800" rIns="50800"/>
            <a:lstStyle/>
            <a:p>
              <a:pPr algn="ctr">
                <a:lnSpc>
                  <a:spcPts val="2940"/>
                </a:lnSpc>
              </a:pPr>
            </a:p>
          </p:txBody>
        </p:sp>
      </p:grpSp>
      <p:sp>
        <p:nvSpPr>
          <p:cNvPr name="TextBox 18" id="18"/>
          <p:cNvSpPr txBox="true"/>
          <p:nvPr/>
        </p:nvSpPr>
        <p:spPr>
          <a:xfrm rot="0">
            <a:off x="13487400" y="4358215"/>
            <a:ext cx="1924050" cy="917575"/>
          </a:xfrm>
          <a:prstGeom prst="rect">
            <a:avLst/>
          </a:prstGeom>
        </p:spPr>
        <p:txBody>
          <a:bodyPr anchor="t" rtlCol="false" tIns="0" lIns="0" bIns="0" rIns="0">
            <a:spAutoFit/>
          </a:bodyPr>
          <a:lstStyle/>
          <a:p>
            <a:pPr algn="ctr">
              <a:lnSpc>
                <a:spcPts val="6499"/>
              </a:lnSpc>
            </a:pPr>
            <a:r>
              <a:rPr lang="en-US" sz="6499" spc="-227">
                <a:solidFill>
                  <a:srgbClr val="FFFFFF"/>
                </a:solidFill>
                <a:latin typeface="Poppins Light"/>
                <a:ea typeface="Poppins Light"/>
                <a:cs typeface="Poppins Light"/>
                <a:sym typeface="Poppins Light"/>
              </a:rPr>
              <a:t>$899</a:t>
            </a:r>
          </a:p>
        </p:txBody>
      </p:sp>
      <p:sp>
        <p:nvSpPr>
          <p:cNvPr name="TextBox 19" id="19"/>
          <p:cNvSpPr txBox="true"/>
          <p:nvPr/>
        </p:nvSpPr>
        <p:spPr>
          <a:xfrm rot="0">
            <a:off x="2571750" y="6141508"/>
            <a:ext cx="2524125" cy="375285"/>
          </a:xfrm>
          <a:prstGeom prst="rect">
            <a:avLst/>
          </a:prstGeom>
        </p:spPr>
        <p:txBody>
          <a:bodyPr anchor="t" rtlCol="false" tIns="0" lIns="0" bIns="0" rIns="0">
            <a:spAutoFit/>
          </a:bodyPr>
          <a:lstStyle/>
          <a:p>
            <a:pPr algn="ctr">
              <a:lnSpc>
                <a:spcPts val="2940"/>
              </a:lnSpc>
            </a:pPr>
            <a:r>
              <a:rPr lang="en-US" sz="2100" spc="126">
                <a:solidFill>
                  <a:srgbClr val="FFFFFF"/>
                </a:solidFill>
                <a:latin typeface="Poppins"/>
                <a:ea typeface="Poppins"/>
                <a:cs typeface="Poppins"/>
                <a:sym typeface="Poppins"/>
              </a:rPr>
              <a:t>BASIC PLAN</a:t>
            </a:r>
          </a:p>
        </p:txBody>
      </p:sp>
      <p:sp>
        <p:nvSpPr>
          <p:cNvPr name="TextBox 20" id="20"/>
          <p:cNvSpPr txBox="true"/>
          <p:nvPr/>
        </p:nvSpPr>
        <p:spPr>
          <a:xfrm rot="0">
            <a:off x="7881938" y="6141508"/>
            <a:ext cx="2524125" cy="375285"/>
          </a:xfrm>
          <a:prstGeom prst="rect">
            <a:avLst/>
          </a:prstGeom>
        </p:spPr>
        <p:txBody>
          <a:bodyPr anchor="t" rtlCol="false" tIns="0" lIns="0" bIns="0" rIns="0">
            <a:spAutoFit/>
          </a:bodyPr>
          <a:lstStyle/>
          <a:p>
            <a:pPr algn="ctr">
              <a:lnSpc>
                <a:spcPts val="2940"/>
              </a:lnSpc>
            </a:pPr>
            <a:r>
              <a:rPr lang="en-US" sz="2100" spc="126">
                <a:solidFill>
                  <a:srgbClr val="FFFFFF"/>
                </a:solidFill>
                <a:latin typeface="Poppins"/>
                <a:ea typeface="Poppins"/>
                <a:cs typeface="Poppins"/>
                <a:sym typeface="Poppins"/>
              </a:rPr>
              <a:t>BUSINESS PLAN</a:t>
            </a:r>
          </a:p>
        </p:txBody>
      </p:sp>
      <p:sp>
        <p:nvSpPr>
          <p:cNvPr name="TextBox 21" id="21"/>
          <p:cNvSpPr txBox="true"/>
          <p:nvPr/>
        </p:nvSpPr>
        <p:spPr>
          <a:xfrm rot="0">
            <a:off x="13187362" y="6141508"/>
            <a:ext cx="2524125" cy="375285"/>
          </a:xfrm>
          <a:prstGeom prst="rect">
            <a:avLst/>
          </a:prstGeom>
        </p:spPr>
        <p:txBody>
          <a:bodyPr anchor="t" rtlCol="false" tIns="0" lIns="0" bIns="0" rIns="0">
            <a:spAutoFit/>
          </a:bodyPr>
          <a:lstStyle/>
          <a:p>
            <a:pPr algn="ctr">
              <a:lnSpc>
                <a:spcPts val="2940"/>
              </a:lnSpc>
            </a:pPr>
            <a:r>
              <a:rPr lang="en-US" sz="2100" spc="126">
                <a:solidFill>
                  <a:srgbClr val="FFFFFF"/>
                </a:solidFill>
                <a:latin typeface="Poppins"/>
                <a:ea typeface="Poppins"/>
                <a:cs typeface="Poppins"/>
                <a:sym typeface="Poppins"/>
              </a:rPr>
              <a:t>ENTERPRISE PLAN</a:t>
            </a:r>
          </a:p>
        </p:txBody>
      </p:sp>
      <p:sp>
        <p:nvSpPr>
          <p:cNvPr name="TextBox 22" id="22"/>
          <p:cNvSpPr txBox="true"/>
          <p:nvPr/>
        </p:nvSpPr>
        <p:spPr>
          <a:xfrm rot="0">
            <a:off x="2571750" y="7131685"/>
            <a:ext cx="2524125" cy="1250315"/>
          </a:xfrm>
          <a:prstGeom prst="rect">
            <a:avLst/>
          </a:prstGeom>
        </p:spPr>
        <p:txBody>
          <a:bodyPr anchor="t" rtlCol="false" tIns="0" lIns="0" bIns="0" rIns="0">
            <a:spAutoFit/>
          </a:bodyPr>
          <a:lstStyle/>
          <a:p>
            <a:pPr algn="ctr">
              <a:lnSpc>
                <a:spcPts val="1960"/>
              </a:lnSpc>
            </a:pPr>
            <a:r>
              <a:rPr lang="en-US" sz="1400">
                <a:solidFill>
                  <a:srgbClr val="C3C5C6"/>
                </a:solidFill>
                <a:latin typeface="Poppins Light"/>
                <a:ea typeface="Poppins Light"/>
                <a:cs typeface="Poppins Light"/>
                <a:sym typeface="Poppins Light"/>
              </a:rPr>
              <a:t>This package provides essential features at an affordable price, ideal for individuals and small businesses starting out.</a:t>
            </a:r>
          </a:p>
        </p:txBody>
      </p:sp>
      <p:sp>
        <p:nvSpPr>
          <p:cNvPr name="TextBox 23" id="23"/>
          <p:cNvSpPr txBox="true"/>
          <p:nvPr/>
        </p:nvSpPr>
        <p:spPr>
          <a:xfrm rot="0">
            <a:off x="7881938" y="7131685"/>
            <a:ext cx="2524125" cy="1250315"/>
          </a:xfrm>
          <a:prstGeom prst="rect">
            <a:avLst/>
          </a:prstGeom>
        </p:spPr>
        <p:txBody>
          <a:bodyPr anchor="t" rtlCol="false" tIns="0" lIns="0" bIns="0" rIns="0">
            <a:spAutoFit/>
          </a:bodyPr>
          <a:lstStyle/>
          <a:p>
            <a:pPr algn="ctr">
              <a:lnSpc>
                <a:spcPts val="1960"/>
              </a:lnSpc>
            </a:pPr>
            <a:r>
              <a:rPr lang="en-US" sz="1400">
                <a:solidFill>
                  <a:srgbClr val="C3C5C6"/>
                </a:solidFill>
                <a:latin typeface="Poppins Light"/>
                <a:ea typeface="Poppins Light"/>
                <a:cs typeface="Poppins Light"/>
                <a:sym typeface="Poppins Light"/>
              </a:rPr>
              <a:t>This package provides entrepreneurs with crucial tools and strategies for successful venture management and launch.</a:t>
            </a:r>
          </a:p>
        </p:txBody>
      </p:sp>
      <p:sp>
        <p:nvSpPr>
          <p:cNvPr name="TextBox 24" id="24"/>
          <p:cNvSpPr txBox="true"/>
          <p:nvPr/>
        </p:nvSpPr>
        <p:spPr>
          <a:xfrm rot="0">
            <a:off x="13187363" y="7131685"/>
            <a:ext cx="2524125" cy="1002665"/>
          </a:xfrm>
          <a:prstGeom prst="rect">
            <a:avLst/>
          </a:prstGeom>
        </p:spPr>
        <p:txBody>
          <a:bodyPr anchor="t" rtlCol="false" tIns="0" lIns="0" bIns="0" rIns="0">
            <a:spAutoFit/>
          </a:bodyPr>
          <a:lstStyle/>
          <a:p>
            <a:pPr algn="ctr">
              <a:lnSpc>
                <a:spcPts val="1960"/>
              </a:lnSpc>
            </a:pPr>
            <a:r>
              <a:rPr lang="en-US" sz="1400">
                <a:solidFill>
                  <a:srgbClr val="C3C5C6"/>
                </a:solidFill>
                <a:latin typeface="Poppins Light"/>
                <a:ea typeface="Poppins Light"/>
                <a:cs typeface="Poppins Light"/>
                <a:sym typeface="Poppins Light"/>
              </a:rPr>
              <a:t>This package provides tailored solutions for large organizations, ensuring efficiency and scalability.</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nvSpPr>
        <p:spPr>
          <a:xfrm>
            <a:off x="8860051" y="2866444"/>
            <a:ext cx="567898" cy="0"/>
          </a:xfrm>
          <a:prstGeom prst="line">
            <a:avLst/>
          </a:prstGeom>
          <a:ln cap="flat" w="38100">
            <a:solidFill>
              <a:srgbClr val="D2B99A"/>
            </a:solidFill>
            <a:prstDash val="solid"/>
            <a:headEnd type="none" len="sm" w="sm"/>
            <a:tailEnd type="none" len="sm" w="sm"/>
          </a:ln>
        </p:spPr>
      </p:sp>
      <p:sp>
        <p:nvSpPr>
          <p:cNvPr name="Freeform 3" id="3"/>
          <p:cNvSpPr/>
          <p:nvPr/>
        </p:nvSpPr>
        <p:spPr>
          <a:xfrm flipH="false" flipV="false" rot="0">
            <a:off x="-352003" y="3857373"/>
            <a:ext cx="18288000" cy="7754112"/>
          </a:xfrm>
          <a:custGeom>
            <a:avLst/>
            <a:gdLst/>
            <a:ahLst/>
            <a:cxnLst/>
            <a:rect r="r" b="b" t="t" l="l"/>
            <a:pathLst>
              <a:path h="7754112" w="18288000">
                <a:moveTo>
                  <a:pt x="0" y="0"/>
                </a:moveTo>
                <a:lnTo>
                  <a:pt x="18288000" y="0"/>
                </a:lnTo>
                <a:lnTo>
                  <a:pt x="18288000" y="7754112"/>
                </a:lnTo>
                <a:lnTo>
                  <a:pt x="0" y="7754112"/>
                </a:lnTo>
                <a:lnTo>
                  <a:pt x="0" y="0"/>
                </a:lnTo>
                <a:close/>
              </a:path>
            </a:pathLst>
          </a:custGeom>
          <a:blipFill>
            <a:blip r:embed="rId2">
              <a:alphaModFix amt="60000"/>
            </a:blip>
            <a:stretch>
              <a:fillRect l="0" t="0" r="0" b="0"/>
            </a:stretch>
          </a:blipFill>
        </p:spPr>
      </p:sp>
      <p:sp>
        <p:nvSpPr>
          <p:cNvPr name="Freeform 4" id="4"/>
          <p:cNvSpPr/>
          <p:nvPr/>
        </p:nvSpPr>
        <p:spPr>
          <a:xfrm flipH="false" flipV="false" rot="0">
            <a:off x="2621934" y="4422651"/>
            <a:ext cx="270418" cy="320539"/>
          </a:xfrm>
          <a:custGeom>
            <a:avLst/>
            <a:gdLst/>
            <a:ahLst/>
            <a:cxnLst/>
            <a:rect r="r" b="b" t="t" l="l"/>
            <a:pathLst>
              <a:path h="320539" w="270418">
                <a:moveTo>
                  <a:pt x="0" y="0"/>
                </a:moveTo>
                <a:lnTo>
                  <a:pt x="270418" y="0"/>
                </a:lnTo>
                <a:lnTo>
                  <a:pt x="270418" y="320539"/>
                </a:lnTo>
                <a:lnTo>
                  <a:pt x="0" y="3205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4284969" y="6072702"/>
            <a:ext cx="245406" cy="320602"/>
          </a:xfrm>
          <a:custGeom>
            <a:avLst/>
            <a:gdLst/>
            <a:ahLst/>
            <a:cxnLst/>
            <a:rect r="r" b="b" t="t" l="l"/>
            <a:pathLst>
              <a:path h="320602" w="245406">
                <a:moveTo>
                  <a:pt x="0" y="0"/>
                </a:moveTo>
                <a:lnTo>
                  <a:pt x="245406" y="0"/>
                </a:lnTo>
                <a:lnTo>
                  <a:pt x="245406" y="320602"/>
                </a:lnTo>
                <a:lnTo>
                  <a:pt x="0" y="3206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296015" y="4422651"/>
            <a:ext cx="273386" cy="320602"/>
          </a:xfrm>
          <a:custGeom>
            <a:avLst/>
            <a:gdLst/>
            <a:ahLst/>
            <a:cxnLst/>
            <a:rect r="r" b="b" t="t" l="l"/>
            <a:pathLst>
              <a:path h="320602" w="273386">
                <a:moveTo>
                  <a:pt x="0" y="0"/>
                </a:moveTo>
                <a:lnTo>
                  <a:pt x="273386" y="0"/>
                </a:lnTo>
                <a:lnTo>
                  <a:pt x="273386" y="320602"/>
                </a:lnTo>
                <a:lnTo>
                  <a:pt x="0" y="32060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3925159" y="4423130"/>
            <a:ext cx="321291" cy="320123"/>
          </a:xfrm>
          <a:custGeom>
            <a:avLst/>
            <a:gdLst/>
            <a:ahLst/>
            <a:cxnLst/>
            <a:rect r="r" b="b" t="t" l="l"/>
            <a:pathLst>
              <a:path h="320123" w="321291">
                <a:moveTo>
                  <a:pt x="0" y="0"/>
                </a:moveTo>
                <a:lnTo>
                  <a:pt x="321291" y="0"/>
                </a:lnTo>
                <a:lnTo>
                  <a:pt x="321291" y="320123"/>
                </a:lnTo>
                <a:lnTo>
                  <a:pt x="0" y="32012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3002207" y="6072702"/>
            <a:ext cx="349042" cy="320602"/>
          </a:xfrm>
          <a:custGeom>
            <a:avLst/>
            <a:gdLst/>
            <a:ahLst/>
            <a:cxnLst/>
            <a:rect r="r" b="b" t="t" l="l"/>
            <a:pathLst>
              <a:path h="320602" w="349042">
                <a:moveTo>
                  <a:pt x="0" y="0"/>
                </a:moveTo>
                <a:lnTo>
                  <a:pt x="349042" y="0"/>
                </a:lnTo>
                <a:lnTo>
                  <a:pt x="349042" y="320602"/>
                </a:lnTo>
                <a:lnTo>
                  <a:pt x="0" y="32060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8093087" y="6072702"/>
            <a:ext cx="476314" cy="320602"/>
          </a:xfrm>
          <a:custGeom>
            <a:avLst/>
            <a:gdLst/>
            <a:ahLst/>
            <a:cxnLst/>
            <a:rect r="r" b="b" t="t" l="l"/>
            <a:pathLst>
              <a:path h="320602" w="476314">
                <a:moveTo>
                  <a:pt x="0" y="0"/>
                </a:moveTo>
                <a:lnTo>
                  <a:pt x="476314" y="0"/>
                </a:lnTo>
                <a:lnTo>
                  <a:pt x="476314" y="320602"/>
                </a:lnTo>
                <a:lnTo>
                  <a:pt x="0" y="32060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0" id="10"/>
          <p:cNvSpPr txBox="true"/>
          <p:nvPr/>
        </p:nvSpPr>
        <p:spPr>
          <a:xfrm rot="0">
            <a:off x="6191250" y="1952625"/>
            <a:ext cx="5905500" cy="799465"/>
          </a:xfrm>
          <a:prstGeom prst="rect">
            <a:avLst/>
          </a:prstGeom>
        </p:spPr>
        <p:txBody>
          <a:bodyPr anchor="t" rtlCol="false" tIns="0" lIns="0" bIns="0" rIns="0">
            <a:spAutoFit/>
          </a:bodyPr>
          <a:lstStyle/>
          <a:p>
            <a:pPr algn="ctr">
              <a:lnSpc>
                <a:spcPts val="5600"/>
              </a:lnSpc>
            </a:pPr>
            <a:r>
              <a:rPr lang="en-US" sz="5600">
                <a:solidFill>
                  <a:srgbClr val="FFFFFF"/>
                </a:solidFill>
                <a:latin typeface="Poppins Light"/>
                <a:ea typeface="Poppins Light"/>
                <a:cs typeface="Poppins Light"/>
                <a:sym typeface="Poppins Light"/>
              </a:rPr>
              <a:t>OUR PARTNERS</a:t>
            </a:r>
          </a:p>
        </p:txBody>
      </p:sp>
      <p:sp>
        <p:nvSpPr>
          <p:cNvPr name="TextBox 11" id="11"/>
          <p:cNvSpPr txBox="true"/>
          <p:nvPr/>
        </p:nvSpPr>
        <p:spPr>
          <a:xfrm rot="0">
            <a:off x="3114948" y="4441701"/>
            <a:ext cx="1415427" cy="301073"/>
          </a:xfrm>
          <a:prstGeom prst="rect">
            <a:avLst/>
          </a:prstGeom>
        </p:spPr>
        <p:txBody>
          <a:bodyPr anchor="t" rtlCol="false" tIns="0" lIns="0" bIns="0" rIns="0">
            <a:spAutoFit/>
          </a:bodyPr>
          <a:lstStyle/>
          <a:p>
            <a:pPr algn="l">
              <a:lnSpc>
                <a:spcPts val="2103"/>
              </a:lnSpc>
            </a:pPr>
            <a:r>
              <a:rPr lang="en-US" sz="2103">
                <a:solidFill>
                  <a:srgbClr val="FFFFFF"/>
                </a:solidFill>
                <a:latin typeface="Poppins"/>
                <a:ea typeface="Poppins"/>
                <a:cs typeface="Poppins"/>
                <a:sym typeface="Poppins"/>
              </a:rPr>
              <a:t>GIGGLING </a:t>
            </a:r>
          </a:p>
        </p:txBody>
      </p:sp>
      <p:sp>
        <p:nvSpPr>
          <p:cNvPr name="TextBox 12" id="12"/>
          <p:cNvSpPr txBox="true"/>
          <p:nvPr/>
        </p:nvSpPr>
        <p:spPr>
          <a:xfrm rot="0">
            <a:off x="4752971" y="6091752"/>
            <a:ext cx="1247204" cy="301073"/>
          </a:xfrm>
          <a:prstGeom prst="rect">
            <a:avLst/>
          </a:prstGeom>
        </p:spPr>
        <p:txBody>
          <a:bodyPr anchor="t" rtlCol="false" tIns="0" lIns="0" bIns="0" rIns="0">
            <a:spAutoFit/>
          </a:bodyPr>
          <a:lstStyle/>
          <a:p>
            <a:pPr algn="l">
              <a:lnSpc>
                <a:spcPts val="2103"/>
              </a:lnSpc>
            </a:pPr>
            <a:r>
              <a:rPr lang="en-US" sz="2103">
                <a:solidFill>
                  <a:srgbClr val="FFFFFF"/>
                </a:solidFill>
                <a:latin typeface="Poppins"/>
                <a:ea typeface="Poppins"/>
                <a:cs typeface="Poppins"/>
                <a:sym typeface="Poppins"/>
              </a:rPr>
              <a:t>PAUCEK</a:t>
            </a:r>
          </a:p>
        </p:txBody>
      </p:sp>
      <p:sp>
        <p:nvSpPr>
          <p:cNvPr name="TextBox 13" id="13"/>
          <p:cNvSpPr txBox="true"/>
          <p:nvPr/>
        </p:nvSpPr>
        <p:spPr>
          <a:xfrm rot="0">
            <a:off x="8791997" y="4441701"/>
            <a:ext cx="1247204" cy="301073"/>
          </a:xfrm>
          <a:prstGeom prst="rect">
            <a:avLst/>
          </a:prstGeom>
        </p:spPr>
        <p:txBody>
          <a:bodyPr anchor="t" rtlCol="false" tIns="0" lIns="0" bIns="0" rIns="0">
            <a:spAutoFit/>
          </a:bodyPr>
          <a:lstStyle/>
          <a:p>
            <a:pPr algn="l">
              <a:lnSpc>
                <a:spcPts val="2103"/>
              </a:lnSpc>
            </a:pPr>
            <a:r>
              <a:rPr lang="en-US" sz="2103">
                <a:solidFill>
                  <a:srgbClr val="FFFFFF"/>
                </a:solidFill>
                <a:latin typeface="Poppins"/>
                <a:ea typeface="Poppins"/>
                <a:cs typeface="Poppins"/>
                <a:sym typeface="Poppins"/>
              </a:rPr>
              <a:t>LARANA</a:t>
            </a:r>
          </a:p>
        </p:txBody>
      </p:sp>
      <p:sp>
        <p:nvSpPr>
          <p:cNvPr name="TextBox 14" id="14"/>
          <p:cNvSpPr txBox="true"/>
          <p:nvPr/>
        </p:nvSpPr>
        <p:spPr>
          <a:xfrm rot="0">
            <a:off x="14469046" y="4441701"/>
            <a:ext cx="1247204" cy="301073"/>
          </a:xfrm>
          <a:prstGeom prst="rect">
            <a:avLst/>
          </a:prstGeom>
        </p:spPr>
        <p:txBody>
          <a:bodyPr anchor="t" rtlCol="false" tIns="0" lIns="0" bIns="0" rIns="0">
            <a:spAutoFit/>
          </a:bodyPr>
          <a:lstStyle/>
          <a:p>
            <a:pPr algn="l">
              <a:lnSpc>
                <a:spcPts val="2103"/>
              </a:lnSpc>
            </a:pPr>
            <a:r>
              <a:rPr lang="en-US" sz="2103">
                <a:solidFill>
                  <a:srgbClr val="FFFFFF"/>
                </a:solidFill>
                <a:latin typeface="Poppins"/>
                <a:ea typeface="Poppins"/>
                <a:cs typeface="Poppins"/>
                <a:sym typeface="Poppins"/>
              </a:rPr>
              <a:t>INGOUDE</a:t>
            </a:r>
          </a:p>
        </p:txBody>
      </p:sp>
      <p:sp>
        <p:nvSpPr>
          <p:cNvPr name="TextBox 15" id="15"/>
          <p:cNvSpPr txBox="true"/>
          <p:nvPr/>
        </p:nvSpPr>
        <p:spPr>
          <a:xfrm rot="0">
            <a:off x="13573845" y="6091752"/>
            <a:ext cx="1247204" cy="301073"/>
          </a:xfrm>
          <a:prstGeom prst="rect">
            <a:avLst/>
          </a:prstGeom>
        </p:spPr>
        <p:txBody>
          <a:bodyPr anchor="t" rtlCol="false" tIns="0" lIns="0" bIns="0" rIns="0">
            <a:spAutoFit/>
          </a:bodyPr>
          <a:lstStyle/>
          <a:p>
            <a:pPr algn="l">
              <a:lnSpc>
                <a:spcPts val="2103"/>
              </a:lnSpc>
            </a:pPr>
            <a:r>
              <a:rPr lang="en-US" sz="2103">
                <a:solidFill>
                  <a:srgbClr val="FFFFFF"/>
                </a:solidFill>
                <a:latin typeface="Poppins"/>
                <a:ea typeface="Poppins"/>
                <a:cs typeface="Poppins"/>
                <a:sym typeface="Poppins"/>
              </a:rPr>
              <a:t>RIMBERIO</a:t>
            </a:r>
          </a:p>
        </p:txBody>
      </p:sp>
      <p:sp>
        <p:nvSpPr>
          <p:cNvPr name="TextBox 16" id="16"/>
          <p:cNvSpPr txBox="true"/>
          <p:nvPr/>
        </p:nvSpPr>
        <p:spPr>
          <a:xfrm rot="0">
            <a:off x="8791997" y="6091752"/>
            <a:ext cx="1247204" cy="301073"/>
          </a:xfrm>
          <a:prstGeom prst="rect">
            <a:avLst/>
          </a:prstGeom>
        </p:spPr>
        <p:txBody>
          <a:bodyPr anchor="t" rtlCol="false" tIns="0" lIns="0" bIns="0" rIns="0">
            <a:spAutoFit/>
          </a:bodyPr>
          <a:lstStyle/>
          <a:p>
            <a:pPr algn="l">
              <a:lnSpc>
                <a:spcPts val="2103"/>
              </a:lnSpc>
            </a:pPr>
            <a:r>
              <a:rPr lang="en-US" sz="2103">
                <a:solidFill>
                  <a:srgbClr val="FFFFFF"/>
                </a:solidFill>
                <a:latin typeface="Poppins"/>
                <a:ea typeface="Poppins"/>
                <a:cs typeface="Poppins"/>
                <a:sym typeface="Poppins"/>
              </a:rPr>
              <a:t>GINYARD </a:t>
            </a:r>
          </a:p>
        </p:txBody>
      </p:sp>
      <p:sp>
        <p:nvSpPr>
          <p:cNvPr name="TextBox 17" id="17"/>
          <p:cNvSpPr txBox="true"/>
          <p:nvPr/>
        </p:nvSpPr>
        <p:spPr>
          <a:xfrm rot="0">
            <a:off x="3085385" y="8006715"/>
            <a:ext cx="12117231" cy="375285"/>
          </a:xfrm>
          <a:prstGeom prst="rect">
            <a:avLst/>
          </a:prstGeom>
        </p:spPr>
        <p:txBody>
          <a:bodyPr anchor="t" rtlCol="false" tIns="0" lIns="0" bIns="0" rIns="0">
            <a:spAutoFit/>
          </a:bodyPr>
          <a:lstStyle/>
          <a:p>
            <a:pPr algn="ctr">
              <a:lnSpc>
                <a:spcPts val="2940"/>
              </a:lnSpc>
            </a:pPr>
            <a:r>
              <a:rPr lang="en-US" sz="2100">
                <a:solidFill>
                  <a:srgbClr val="FFFFFF"/>
                </a:solidFill>
                <a:latin typeface="Poppins"/>
                <a:ea typeface="Poppins"/>
                <a:cs typeface="Poppins"/>
                <a:sym typeface="Poppins"/>
              </a:rPr>
              <a:t>A successful partnership</a:t>
            </a:r>
            <a:r>
              <a:rPr lang="en-US" sz="2100">
                <a:solidFill>
                  <a:srgbClr val="C3C5C6"/>
                </a:solidFill>
                <a:latin typeface="Poppins Light"/>
                <a:ea typeface="Poppins Light"/>
                <a:cs typeface="Poppins Light"/>
                <a:sym typeface="Poppins Light"/>
              </a:rPr>
              <a:t> thrives on mutual trust, respect, and open communication.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2571750" y="1905000"/>
            <a:ext cx="13144500" cy="5573268"/>
          </a:xfrm>
          <a:custGeom>
            <a:avLst/>
            <a:gdLst/>
            <a:ahLst/>
            <a:cxnLst/>
            <a:rect r="r" b="b" t="t" l="l"/>
            <a:pathLst>
              <a:path h="5573268" w="13144500">
                <a:moveTo>
                  <a:pt x="0" y="0"/>
                </a:moveTo>
                <a:lnTo>
                  <a:pt x="13144500" y="0"/>
                </a:lnTo>
                <a:lnTo>
                  <a:pt x="13144500" y="5573268"/>
                </a:lnTo>
                <a:lnTo>
                  <a:pt x="0" y="5573268"/>
                </a:lnTo>
                <a:lnTo>
                  <a:pt x="0" y="0"/>
                </a:lnTo>
                <a:close/>
              </a:path>
            </a:pathLst>
          </a:custGeom>
          <a:blipFill>
            <a:blip r:embed="rId2">
              <a:alphaModFix amt="60000"/>
            </a:blip>
            <a:stretch>
              <a:fillRect l="0" t="0" r="0" b="0"/>
            </a:stretch>
          </a:blipFill>
        </p:spPr>
      </p:sp>
      <p:sp>
        <p:nvSpPr>
          <p:cNvPr name="TextBox 3" id="3"/>
          <p:cNvSpPr txBox="true"/>
          <p:nvPr/>
        </p:nvSpPr>
        <p:spPr>
          <a:xfrm rot="0">
            <a:off x="2571750" y="2607999"/>
            <a:ext cx="7026020"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CONTACT US</a:t>
            </a:r>
          </a:p>
        </p:txBody>
      </p:sp>
      <p:sp>
        <p:nvSpPr>
          <p:cNvPr name="AutoShape 4" id="4"/>
          <p:cNvSpPr/>
          <p:nvPr/>
        </p:nvSpPr>
        <p:spPr>
          <a:xfrm>
            <a:off x="2571750" y="3521818"/>
            <a:ext cx="567898" cy="0"/>
          </a:xfrm>
          <a:prstGeom prst="line">
            <a:avLst/>
          </a:prstGeom>
          <a:ln cap="flat" w="38100">
            <a:solidFill>
              <a:srgbClr val="D2B99A"/>
            </a:solidFill>
            <a:prstDash val="solid"/>
            <a:headEnd type="none" len="sm" w="sm"/>
            <a:tailEnd type="none" len="sm" w="sm"/>
          </a:ln>
        </p:spPr>
      </p:sp>
      <p:sp>
        <p:nvSpPr>
          <p:cNvPr name="Freeform 5" id="5"/>
          <p:cNvSpPr/>
          <p:nvPr/>
        </p:nvSpPr>
        <p:spPr>
          <a:xfrm flipH="false" flipV="false" rot="0">
            <a:off x="2571750" y="1905000"/>
            <a:ext cx="274374" cy="274374"/>
          </a:xfrm>
          <a:custGeom>
            <a:avLst/>
            <a:gdLst/>
            <a:ahLst/>
            <a:cxnLst/>
            <a:rect r="r" b="b" t="t" l="l"/>
            <a:pathLst>
              <a:path h="274374" w="274374">
                <a:moveTo>
                  <a:pt x="0" y="0"/>
                </a:moveTo>
                <a:lnTo>
                  <a:pt x="274374" y="0"/>
                </a:lnTo>
                <a:lnTo>
                  <a:pt x="274374" y="274374"/>
                </a:lnTo>
                <a:lnTo>
                  <a:pt x="0" y="2743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3036624" y="1914525"/>
            <a:ext cx="1099697" cy="264795"/>
          </a:xfrm>
          <a:prstGeom prst="rect">
            <a:avLst/>
          </a:prstGeom>
        </p:spPr>
        <p:txBody>
          <a:bodyPr anchor="t" rtlCol="false" tIns="0" lIns="0" bIns="0" rIns="0">
            <a:spAutoFit/>
          </a:bodyPr>
          <a:lstStyle/>
          <a:p>
            <a:pPr algn="l">
              <a:lnSpc>
                <a:spcPts val="1800"/>
              </a:lnSpc>
            </a:pPr>
            <a:r>
              <a:rPr lang="en-US" sz="1800">
                <a:solidFill>
                  <a:srgbClr val="FFFFFF"/>
                </a:solidFill>
                <a:latin typeface="Poppins"/>
                <a:ea typeface="Poppins"/>
                <a:cs typeface="Poppins"/>
                <a:sym typeface="Poppins"/>
              </a:rPr>
              <a:t>BORCELLE</a:t>
            </a:r>
          </a:p>
        </p:txBody>
      </p:sp>
      <p:sp>
        <p:nvSpPr>
          <p:cNvPr name="TextBox 7" id="7"/>
          <p:cNvSpPr txBox="true"/>
          <p:nvPr/>
        </p:nvSpPr>
        <p:spPr>
          <a:xfrm rot="0">
            <a:off x="2571750" y="7572692"/>
            <a:ext cx="998558" cy="424815"/>
          </a:xfrm>
          <a:prstGeom prst="rect">
            <a:avLst/>
          </a:prstGeom>
        </p:spPr>
        <p:txBody>
          <a:bodyPr anchor="t" rtlCol="false" tIns="0" lIns="0" bIns="0" rIns="0">
            <a:spAutoFit/>
          </a:bodyPr>
          <a:lstStyle/>
          <a:p>
            <a:pPr algn="l">
              <a:lnSpc>
                <a:spcPts val="3359"/>
              </a:lnSpc>
            </a:pPr>
            <a:r>
              <a:rPr lang="en-US" sz="2399">
                <a:solidFill>
                  <a:srgbClr val="FFFFFF"/>
                </a:solidFill>
                <a:latin typeface="Poppins"/>
                <a:ea typeface="Poppins"/>
                <a:cs typeface="Poppins"/>
                <a:sym typeface="Poppins"/>
              </a:rPr>
              <a:t>Phone</a:t>
            </a:r>
          </a:p>
        </p:txBody>
      </p:sp>
      <p:sp>
        <p:nvSpPr>
          <p:cNvPr name="TextBox 8" id="8"/>
          <p:cNvSpPr txBox="true"/>
          <p:nvPr/>
        </p:nvSpPr>
        <p:spPr>
          <a:xfrm rot="0">
            <a:off x="7046714" y="7584439"/>
            <a:ext cx="880027" cy="424815"/>
          </a:xfrm>
          <a:prstGeom prst="rect">
            <a:avLst/>
          </a:prstGeom>
        </p:spPr>
        <p:txBody>
          <a:bodyPr anchor="t" rtlCol="false" tIns="0" lIns="0" bIns="0" rIns="0">
            <a:spAutoFit/>
          </a:bodyPr>
          <a:lstStyle/>
          <a:p>
            <a:pPr algn="l">
              <a:lnSpc>
                <a:spcPts val="3359"/>
              </a:lnSpc>
            </a:pPr>
            <a:r>
              <a:rPr lang="en-US" sz="2399">
                <a:solidFill>
                  <a:srgbClr val="FFFFFF"/>
                </a:solidFill>
                <a:latin typeface="Poppins"/>
                <a:ea typeface="Poppins"/>
                <a:cs typeface="Poppins"/>
                <a:sym typeface="Poppins"/>
              </a:rPr>
              <a:t>Email</a:t>
            </a:r>
          </a:p>
        </p:txBody>
      </p:sp>
      <p:sp>
        <p:nvSpPr>
          <p:cNvPr name="TextBox 9" id="9"/>
          <p:cNvSpPr txBox="true"/>
          <p:nvPr/>
        </p:nvSpPr>
        <p:spPr>
          <a:xfrm rot="0">
            <a:off x="13054310" y="7572692"/>
            <a:ext cx="1330970" cy="424815"/>
          </a:xfrm>
          <a:prstGeom prst="rect">
            <a:avLst/>
          </a:prstGeom>
        </p:spPr>
        <p:txBody>
          <a:bodyPr anchor="t" rtlCol="false" tIns="0" lIns="0" bIns="0" rIns="0">
            <a:spAutoFit/>
          </a:bodyPr>
          <a:lstStyle/>
          <a:p>
            <a:pPr algn="l">
              <a:lnSpc>
                <a:spcPts val="3359"/>
              </a:lnSpc>
            </a:pPr>
            <a:r>
              <a:rPr lang="en-US" sz="2399">
                <a:solidFill>
                  <a:srgbClr val="FFFFFF"/>
                </a:solidFill>
                <a:latin typeface="Poppins"/>
                <a:ea typeface="Poppins"/>
                <a:cs typeface="Poppins"/>
                <a:sym typeface="Poppins"/>
              </a:rPr>
              <a:t>Website</a:t>
            </a:r>
          </a:p>
        </p:txBody>
      </p:sp>
      <p:sp>
        <p:nvSpPr>
          <p:cNvPr name="TextBox 10" id="10"/>
          <p:cNvSpPr txBox="true"/>
          <p:nvPr/>
        </p:nvSpPr>
        <p:spPr>
          <a:xfrm rot="0">
            <a:off x="2571750" y="7990205"/>
            <a:ext cx="2074664" cy="391795"/>
          </a:xfrm>
          <a:prstGeom prst="rect">
            <a:avLst/>
          </a:prstGeom>
        </p:spPr>
        <p:txBody>
          <a:bodyPr anchor="t" rtlCol="false" tIns="0" lIns="0" bIns="0" rIns="0">
            <a:spAutoFit/>
          </a:bodyPr>
          <a:lstStyle/>
          <a:p>
            <a:pPr algn="l">
              <a:lnSpc>
                <a:spcPts val="3079"/>
              </a:lnSpc>
            </a:pPr>
            <a:r>
              <a:rPr lang="en-US" sz="2199">
                <a:solidFill>
                  <a:srgbClr val="C3C5C6"/>
                </a:solidFill>
                <a:latin typeface="Poppins Light"/>
                <a:ea typeface="Poppins Light"/>
                <a:cs typeface="Poppins Light"/>
                <a:sym typeface="Poppins Light"/>
              </a:rPr>
              <a:t>+123-456-7890</a:t>
            </a:r>
          </a:p>
        </p:txBody>
      </p:sp>
      <p:sp>
        <p:nvSpPr>
          <p:cNvPr name="TextBox 11" id="11"/>
          <p:cNvSpPr txBox="true"/>
          <p:nvPr/>
        </p:nvSpPr>
        <p:spPr>
          <a:xfrm rot="0">
            <a:off x="7046714" y="8001952"/>
            <a:ext cx="3610482" cy="391795"/>
          </a:xfrm>
          <a:prstGeom prst="rect">
            <a:avLst/>
          </a:prstGeom>
        </p:spPr>
        <p:txBody>
          <a:bodyPr anchor="t" rtlCol="false" tIns="0" lIns="0" bIns="0" rIns="0">
            <a:spAutoFit/>
          </a:bodyPr>
          <a:lstStyle/>
          <a:p>
            <a:pPr algn="l">
              <a:lnSpc>
                <a:spcPts val="3079"/>
              </a:lnSpc>
            </a:pPr>
            <a:r>
              <a:rPr lang="en-US" sz="2199">
                <a:solidFill>
                  <a:srgbClr val="C3C5C6"/>
                </a:solidFill>
                <a:latin typeface="Poppins Light"/>
                <a:ea typeface="Poppins Light"/>
                <a:cs typeface="Poppins Light"/>
                <a:sym typeface="Poppins Light"/>
              </a:rPr>
              <a:t>hello@reallygreatsite.com</a:t>
            </a:r>
          </a:p>
        </p:txBody>
      </p:sp>
      <p:sp>
        <p:nvSpPr>
          <p:cNvPr name="TextBox 12" id="12"/>
          <p:cNvSpPr txBox="true"/>
          <p:nvPr/>
        </p:nvSpPr>
        <p:spPr>
          <a:xfrm rot="0">
            <a:off x="13054310" y="7990205"/>
            <a:ext cx="2661940" cy="391795"/>
          </a:xfrm>
          <a:prstGeom prst="rect">
            <a:avLst/>
          </a:prstGeom>
        </p:spPr>
        <p:txBody>
          <a:bodyPr anchor="t" rtlCol="false" tIns="0" lIns="0" bIns="0" rIns="0">
            <a:spAutoFit/>
          </a:bodyPr>
          <a:lstStyle/>
          <a:p>
            <a:pPr algn="l">
              <a:lnSpc>
                <a:spcPts val="3079"/>
              </a:lnSpc>
            </a:pPr>
            <a:r>
              <a:rPr lang="en-US" sz="2199">
                <a:solidFill>
                  <a:srgbClr val="C3C5C6"/>
                </a:solidFill>
                <a:latin typeface="Poppins Light"/>
                <a:ea typeface="Poppins Light"/>
                <a:cs typeface="Poppins Light"/>
                <a:sym typeface="Poppins Light"/>
              </a:rPr>
              <a:t>reallygreatsite.com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DAHS8NVCaW4</dc:identifier>
  <dcterms:modified xsi:type="dcterms:W3CDTF">2011-08-01T06:04:30Z</dcterms:modified>
  <cp:revision>1</cp:revision>
  <dc:title>Dark Blue Gradient Modern Professional Presentation</dc:title>
</cp:coreProperties>
</file>