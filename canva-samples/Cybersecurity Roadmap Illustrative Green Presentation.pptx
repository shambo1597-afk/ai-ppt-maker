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Anton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../media/image3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38.png" Type="http://schemas.openxmlformats.org/officeDocument/2006/relationships/image"/><Relationship Id="rId14" Target="../media/image39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3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13" Target="../media/image72.png" Type="http://schemas.openxmlformats.org/officeDocument/2006/relationships/image"/><Relationship Id="rId14" Target="../media/image73.svg" Type="http://schemas.openxmlformats.org/officeDocument/2006/relationships/image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3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78.png" Type="http://schemas.openxmlformats.org/officeDocument/2006/relationships/image"/><Relationship Id="rId19" Target="../media/image79.svg" Type="http://schemas.openxmlformats.org/officeDocument/2006/relationships/image"/><Relationship Id="rId2" Target="../media/image6.png" Type="http://schemas.openxmlformats.org/officeDocument/2006/relationships/image"/><Relationship Id="rId20" Target="../media/image34.png" Type="http://schemas.openxmlformats.org/officeDocument/2006/relationships/image"/><Relationship Id="rId21" Target="../media/image35.svg" Type="http://schemas.openxmlformats.org/officeDocument/2006/relationships/image"/><Relationship Id="rId22" Target="../media/image80.png" Type="http://schemas.openxmlformats.org/officeDocument/2006/relationships/image"/><Relationship Id="rId23" Target="../media/image81.svg" Type="http://schemas.openxmlformats.org/officeDocument/2006/relationships/image"/><Relationship Id="rId24" Target="../media/image36.png" Type="http://schemas.openxmlformats.org/officeDocument/2006/relationships/image"/><Relationship Id="rId25" Target="../media/image37.svg" Type="http://schemas.openxmlformats.org/officeDocument/2006/relationships/image"/><Relationship Id="rId26" Target="../media/image8.png" Type="http://schemas.openxmlformats.org/officeDocument/2006/relationships/image"/><Relationship Id="rId27" Target="../media/image9.svg" Type="http://schemas.openxmlformats.org/officeDocument/2006/relationships/image"/><Relationship Id="rId28" Target="../media/image26.png" Type="http://schemas.openxmlformats.org/officeDocument/2006/relationships/image"/><Relationship Id="rId29" Target="../media/image27.svg" Type="http://schemas.openxmlformats.org/officeDocument/2006/relationships/image"/><Relationship Id="rId3" Target="../media/image7.svg" Type="http://schemas.openxmlformats.org/officeDocument/2006/relationships/image"/><Relationship Id="rId30" Target="../media/image50.png" Type="http://schemas.openxmlformats.org/officeDocument/2006/relationships/image"/><Relationship Id="rId31" Target="../media/image51.svg" Type="http://schemas.openxmlformats.org/officeDocument/2006/relationships/image"/><Relationship Id="rId32" Target="../media/image56.png" Type="http://schemas.openxmlformats.org/officeDocument/2006/relationships/image"/><Relationship Id="rId33" Target="../media/image57.svg" Type="http://schemas.openxmlformats.org/officeDocument/2006/relationships/image"/><Relationship Id="rId34" Target="../media/image44.png" Type="http://schemas.openxmlformats.org/officeDocument/2006/relationships/image"/><Relationship Id="rId35" Target="../media/image45.svg" Type="http://schemas.openxmlformats.org/officeDocument/2006/relationships/image"/><Relationship Id="rId36" Target="../media/image16.png" Type="http://schemas.openxmlformats.org/officeDocument/2006/relationships/image"/><Relationship Id="rId37" Target="../media/image17.svg" Type="http://schemas.openxmlformats.org/officeDocument/2006/relationships/image"/><Relationship Id="rId38" Target="../media/image62.png" Type="http://schemas.openxmlformats.org/officeDocument/2006/relationships/image"/><Relationship Id="rId39" Target="../media/image63.svg" Type="http://schemas.openxmlformats.org/officeDocument/2006/relationships/image"/><Relationship Id="rId4" Target="../media/image74.png" Type="http://schemas.openxmlformats.org/officeDocument/2006/relationships/image"/><Relationship Id="rId40" Target="../media/image82.png" Type="http://schemas.openxmlformats.org/officeDocument/2006/relationships/image"/><Relationship Id="rId41" Target="../media/image83.svg" Type="http://schemas.openxmlformats.org/officeDocument/2006/relationships/image"/><Relationship Id="rId42" Target="../media/image46.png" Type="http://schemas.openxmlformats.org/officeDocument/2006/relationships/image"/><Relationship Id="rId43" Target="../media/image47.svg" Type="http://schemas.openxmlformats.org/officeDocument/2006/relationships/image"/><Relationship Id="rId44" Target="../media/image28.png" Type="http://schemas.openxmlformats.org/officeDocument/2006/relationships/image"/><Relationship Id="rId45" Target="../media/image29.svg" Type="http://schemas.openxmlformats.org/officeDocument/2006/relationships/image"/><Relationship Id="rId46" Target="../media/image38.png" Type="http://schemas.openxmlformats.org/officeDocument/2006/relationships/image"/><Relationship Id="rId47" Target="../media/image39.svg" Type="http://schemas.openxmlformats.org/officeDocument/2006/relationships/image"/><Relationship Id="rId48" Target="../media/image58.png" Type="http://schemas.openxmlformats.org/officeDocument/2006/relationships/image"/><Relationship Id="rId49" Target="../media/image59.svg" Type="http://schemas.openxmlformats.org/officeDocument/2006/relationships/image"/><Relationship Id="rId5" Target="../media/image75.svg" Type="http://schemas.openxmlformats.org/officeDocument/2006/relationships/image"/><Relationship Id="rId50" Target="../media/image54.png" Type="http://schemas.openxmlformats.org/officeDocument/2006/relationships/image"/><Relationship Id="rId51" Target="../media/image55.svg" Type="http://schemas.openxmlformats.org/officeDocument/2006/relationships/image"/><Relationship Id="rId52" Target="../media/image84.png" Type="http://schemas.openxmlformats.org/officeDocument/2006/relationships/image"/><Relationship Id="rId53" Target="../media/image85.svg" Type="http://schemas.openxmlformats.org/officeDocument/2006/relationships/image"/><Relationship Id="rId54" Target="../media/image86.png" Type="http://schemas.openxmlformats.org/officeDocument/2006/relationships/image"/><Relationship Id="rId55" Target="../media/image87.svg" Type="http://schemas.openxmlformats.org/officeDocument/2006/relationships/image"/><Relationship Id="rId56" Target="../media/image88.png" Type="http://schemas.openxmlformats.org/officeDocument/2006/relationships/image"/><Relationship Id="rId57" Target="../media/image89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76.png" Type="http://schemas.openxmlformats.org/officeDocument/2006/relationships/image"/><Relationship Id="rId9" Target="../media/image7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25212" y="1028700"/>
            <a:ext cx="11060404" cy="5433423"/>
          </a:xfrm>
          <a:custGeom>
            <a:avLst/>
            <a:gdLst/>
            <a:ahLst/>
            <a:cxnLst/>
            <a:rect r="r" b="b" t="t" l="l"/>
            <a:pathLst>
              <a:path h="5433423" w="11060404">
                <a:moveTo>
                  <a:pt x="0" y="0"/>
                </a:moveTo>
                <a:lnTo>
                  <a:pt x="11060404" y="0"/>
                </a:lnTo>
                <a:lnTo>
                  <a:pt x="11060404" y="5433423"/>
                </a:lnTo>
                <a:lnTo>
                  <a:pt x="0" y="5433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0498" y="1790962"/>
            <a:ext cx="507149" cy="507149"/>
          </a:xfrm>
          <a:custGeom>
            <a:avLst/>
            <a:gdLst/>
            <a:ahLst/>
            <a:cxnLst/>
            <a:rect r="r" b="b" t="t" l="l"/>
            <a:pathLst>
              <a:path h="507149" w="507149">
                <a:moveTo>
                  <a:pt x="0" y="0"/>
                </a:moveTo>
                <a:lnTo>
                  <a:pt x="507149" y="0"/>
                </a:lnTo>
                <a:lnTo>
                  <a:pt x="507149" y="507149"/>
                </a:lnTo>
                <a:lnTo>
                  <a:pt x="0" y="507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22689" y="4703160"/>
            <a:ext cx="4020878" cy="4480087"/>
          </a:xfrm>
          <a:custGeom>
            <a:avLst/>
            <a:gdLst/>
            <a:ahLst/>
            <a:cxnLst/>
            <a:rect r="r" b="b" t="t" l="l"/>
            <a:pathLst>
              <a:path h="4480087" w="4020878">
                <a:moveTo>
                  <a:pt x="0" y="0"/>
                </a:moveTo>
                <a:lnTo>
                  <a:pt x="4020878" y="0"/>
                </a:lnTo>
                <a:lnTo>
                  <a:pt x="4020878" y="4480087"/>
                </a:lnTo>
                <a:lnTo>
                  <a:pt x="0" y="44800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40498" y="7070463"/>
            <a:ext cx="629544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rotect your business with a comprehensive cybersecurity strategy that safeguards assets and ensures business continuity. We'll build robust defense systems against evolving threats.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40498" y="650418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2025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40498" y="3014818"/>
            <a:ext cx="6580374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Cybersecurity Roadmap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59158" y="1798792"/>
            <a:ext cx="348203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8720280" y="-1069434"/>
            <a:ext cx="5423287" cy="4196268"/>
          </a:xfrm>
          <a:custGeom>
            <a:avLst/>
            <a:gdLst/>
            <a:ahLst/>
            <a:cxnLst/>
            <a:rect r="r" b="b" t="t" l="l"/>
            <a:pathLst>
              <a:path h="4196268" w="5423287">
                <a:moveTo>
                  <a:pt x="5423287" y="4196268"/>
                </a:moveTo>
                <a:lnTo>
                  <a:pt x="0" y="4196268"/>
                </a:lnTo>
                <a:lnTo>
                  <a:pt x="0" y="0"/>
                </a:lnTo>
                <a:lnTo>
                  <a:pt x="5423287" y="0"/>
                </a:lnTo>
                <a:lnTo>
                  <a:pt x="5423287" y="4196268"/>
                </a:lnTo>
                <a:close/>
              </a:path>
            </a:pathLst>
          </a:custGeom>
          <a:blipFill>
            <a:blip r:embed="rId7">
              <a:alphaModFix amt="1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8496038"/>
            <a:ext cx="1770814" cy="1790962"/>
          </a:xfrm>
          <a:custGeom>
            <a:avLst/>
            <a:gdLst/>
            <a:ahLst/>
            <a:cxnLst/>
            <a:rect r="r" b="b" t="t" l="l"/>
            <a:pathLst>
              <a:path h="1790962" w="1770814">
                <a:moveTo>
                  <a:pt x="0" y="0"/>
                </a:moveTo>
                <a:lnTo>
                  <a:pt x="1770814" y="0"/>
                </a:lnTo>
                <a:lnTo>
                  <a:pt x="1770814" y="1790962"/>
                </a:lnTo>
                <a:lnTo>
                  <a:pt x="0" y="17909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0" y="0"/>
            <a:ext cx="1770814" cy="1790962"/>
          </a:xfrm>
          <a:custGeom>
            <a:avLst/>
            <a:gdLst/>
            <a:ahLst/>
            <a:cxnLst/>
            <a:rect r="r" b="b" t="t" l="l"/>
            <a:pathLst>
              <a:path h="1790962" w="1770814">
                <a:moveTo>
                  <a:pt x="0" y="1790962"/>
                </a:moveTo>
                <a:lnTo>
                  <a:pt x="1770814" y="1790962"/>
                </a:lnTo>
                <a:lnTo>
                  <a:pt x="1770814" y="0"/>
                </a:lnTo>
                <a:lnTo>
                  <a:pt x="0" y="0"/>
                </a:lnTo>
                <a:lnTo>
                  <a:pt x="0" y="1790962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517186" y="8496038"/>
            <a:ext cx="1770814" cy="1790962"/>
          </a:xfrm>
          <a:custGeom>
            <a:avLst/>
            <a:gdLst/>
            <a:ahLst/>
            <a:cxnLst/>
            <a:rect r="r" b="b" t="t" l="l"/>
            <a:pathLst>
              <a:path h="1790962" w="1770814">
                <a:moveTo>
                  <a:pt x="1770814" y="0"/>
                </a:moveTo>
                <a:lnTo>
                  <a:pt x="0" y="0"/>
                </a:lnTo>
                <a:lnTo>
                  <a:pt x="0" y="1790962"/>
                </a:lnTo>
                <a:lnTo>
                  <a:pt x="1770814" y="1790962"/>
                </a:lnTo>
                <a:lnTo>
                  <a:pt x="1770814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077199" y="1804209"/>
            <a:ext cx="1832602" cy="1832602"/>
          </a:xfrm>
          <a:custGeom>
            <a:avLst/>
            <a:gdLst/>
            <a:ahLst/>
            <a:cxnLst/>
            <a:rect r="r" b="b" t="t" l="l"/>
            <a:pathLst>
              <a:path h="1832602" w="1832602">
                <a:moveTo>
                  <a:pt x="1832602" y="0"/>
                </a:moveTo>
                <a:lnTo>
                  <a:pt x="0" y="0"/>
                </a:lnTo>
                <a:lnTo>
                  <a:pt x="0" y="1832602"/>
                </a:lnTo>
                <a:lnTo>
                  <a:pt x="1832602" y="1832602"/>
                </a:lnTo>
                <a:lnTo>
                  <a:pt x="1832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01238" y="1804209"/>
            <a:ext cx="3719791" cy="1177934"/>
          </a:xfrm>
          <a:custGeom>
            <a:avLst/>
            <a:gdLst/>
            <a:ahLst/>
            <a:cxnLst/>
            <a:rect r="r" b="b" t="t" l="l"/>
            <a:pathLst>
              <a:path h="1177934" w="3719791">
                <a:moveTo>
                  <a:pt x="0" y="0"/>
                </a:moveTo>
                <a:lnTo>
                  <a:pt x="3719791" y="0"/>
                </a:lnTo>
                <a:lnTo>
                  <a:pt x="3719791" y="1177934"/>
                </a:lnTo>
                <a:lnTo>
                  <a:pt x="0" y="1177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5806270" y="4898214"/>
            <a:ext cx="3719791" cy="1177934"/>
          </a:xfrm>
          <a:custGeom>
            <a:avLst/>
            <a:gdLst/>
            <a:ahLst/>
            <a:cxnLst/>
            <a:rect r="r" b="b" t="t" l="l"/>
            <a:pathLst>
              <a:path h="1177934" w="3719791">
                <a:moveTo>
                  <a:pt x="0" y="0"/>
                </a:moveTo>
                <a:lnTo>
                  <a:pt x="3719791" y="0"/>
                </a:lnTo>
                <a:lnTo>
                  <a:pt x="3719791" y="1177934"/>
                </a:lnTo>
                <a:lnTo>
                  <a:pt x="0" y="1177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5806270" y="8604122"/>
            <a:ext cx="3719791" cy="1177934"/>
          </a:xfrm>
          <a:custGeom>
            <a:avLst/>
            <a:gdLst/>
            <a:ahLst/>
            <a:cxnLst/>
            <a:rect r="r" b="b" t="t" l="l"/>
            <a:pathLst>
              <a:path h="1177934" w="3719791">
                <a:moveTo>
                  <a:pt x="0" y="0"/>
                </a:moveTo>
                <a:lnTo>
                  <a:pt x="3719791" y="0"/>
                </a:lnTo>
                <a:lnTo>
                  <a:pt x="3719791" y="1177933"/>
                </a:lnTo>
                <a:lnTo>
                  <a:pt x="0" y="1177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01979" y="1804209"/>
            <a:ext cx="3719791" cy="1177934"/>
          </a:xfrm>
          <a:custGeom>
            <a:avLst/>
            <a:gdLst/>
            <a:ahLst/>
            <a:cxnLst/>
            <a:rect r="r" b="b" t="t" l="l"/>
            <a:pathLst>
              <a:path h="1177934" w="3719791">
                <a:moveTo>
                  <a:pt x="0" y="0"/>
                </a:moveTo>
                <a:lnTo>
                  <a:pt x="3719790" y="0"/>
                </a:lnTo>
                <a:lnTo>
                  <a:pt x="3719790" y="1177934"/>
                </a:lnTo>
                <a:lnTo>
                  <a:pt x="0" y="1177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95118" y="1804209"/>
            <a:ext cx="3719791" cy="1177934"/>
          </a:xfrm>
          <a:custGeom>
            <a:avLst/>
            <a:gdLst/>
            <a:ahLst/>
            <a:cxnLst/>
            <a:rect r="r" b="b" t="t" l="l"/>
            <a:pathLst>
              <a:path h="1177934" w="3719791">
                <a:moveTo>
                  <a:pt x="0" y="0"/>
                </a:moveTo>
                <a:lnTo>
                  <a:pt x="3719791" y="0"/>
                </a:lnTo>
                <a:lnTo>
                  <a:pt x="3719791" y="1177934"/>
                </a:lnTo>
                <a:lnTo>
                  <a:pt x="0" y="1177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9006756" y="4559663"/>
            <a:ext cx="2510079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006756" y="7247442"/>
            <a:ext cx="2510079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3555579" y="7247442"/>
            <a:ext cx="2510079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3555579" y="4559663"/>
            <a:ext cx="2510079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-5400000">
            <a:off x="7976755" y="3403037"/>
            <a:ext cx="552489" cy="1173668"/>
            <a:chOff x="0" y="0"/>
            <a:chExt cx="197958" cy="4205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7958" cy="420529"/>
            </a:xfrm>
            <a:custGeom>
              <a:avLst/>
              <a:gdLst/>
              <a:ahLst/>
              <a:cxnLst/>
              <a:rect r="r" b="b" t="t" l="l"/>
              <a:pathLst>
                <a:path h="420529" w="197958">
                  <a:moveTo>
                    <a:pt x="197958" y="0"/>
                  </a:moveTo>
                  <a:lnTo>
                    <a:pt x="197958" y="306229"/>
                  </a:lnTo>
                  <a:lnTo>
                    <a:pt x="98979" y="420529"/>
                  </a:lnTo>
                  <a:lnTo>
                    <a:pt x="0" y="306229"/>
                  </a:lnTo>
                  <a:lnTo>
                    <a:pt x="0" y="0"/>
                  </a:lnTo>
                  <a:lnTo>
                    <a:pt x="197958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97958" cy="372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2617892" y="3403037"/>
            <a:ext cx="552489" cy="1173668"/>
            <a:chOff x="0" y="0"/>
            <a:chExt cx="197958" cy="4205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958" cy="420529"/>
            </a:xfrm>
            <a:custGeom>
              <a:avLst/>
              <a:gdLst/>
              <a:ahLst/>
              <a:cxnLst/>
              <a:rect r="r" b="b" t="t" l="l"/>
              <a:pathLst>
                <a:path h="420529" w="197958">
                  <a:moveTo>
                    <a:pt x="197958" y="0"/>
                  </a:moveTo>
                  <a:lnTo>
                    <a:pt x="197958" y="306229"/>
                  </a:lnTo>
                  <a:lnTo>
                    <a:pt x="98979" y="420529"/>
                  </a:lnTo>
                  <a:lnTo>
                    <a:pt x="0" y="306229"/>
                  </a:lnTo>
                  <a:lnTo>
                    <a:pt x="0" y="0"/>
                  </a:lnTo>
                  <a:lnTo>
                    <a:pt x="197958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7958" cy="372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7976755" y="6088474"/>
            <a:ext cx="552489" cy="1173668"/>
            <a:chOff x="0" y="0"/>
            <a:chExt cx="197958" cy="4205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7958" cy="420529"/>
            </a:xfrm>
            <a:custGeom>
              <a:avLst/>
              <a:gdLst/>
              <a:ahLst/>
              <a:cxnLst/>
              <a:rect r="r" b="b" t="t" l="l"/>
              <a:pathLst>
                <a:path h="420529" w="197958">
                  <a:moveTo>
                    <a:pt x="197958" y="0"/>
                  </a:moveTo>
                  <a:lnTo>
                    <a:pt x="197958" y="306229"/>
                  </a:lnTo>
                  <a:lnTo>
                    <a:pt x="98979" y="420529"/>
                  </a:lnTo>
                  <a:lnTo>
                    <a:pt x="0" y="306229"/>
                  </a:lnTo>
                  <a:lnTo>
                    <a:pt x="0" y="0"/>
                  </a:lnTo>
                  <a:lnTo>
                    <a:pt x="197958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97958" cy="372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2617892" y="6088474"/>
            <a:ext cx="552489" cy="1173668"/>
            <a:chOff x="0" y="0"/>
            <a:chExt cx="197958" cy="4205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958" cy="420529"/>
            </a:xfrm>
            <a:custGeom>
              <a:avLst/>
              <a:gdLst/>
              <a:ahLst/>
              <a:cxnLst/>
              <a:rect r="r" b="b" t="t" l="l"/>
              <a:pathLst>
                <a:path h="420529" w="197958">
                  <a:moveTo>
                    <a:pt x="197958" y="0"/>
                  </a:moveTo>
                  <a:lnTo>
                    <a:pt x="197958" y="306229"/>
                  </a:lnTo>
                  <a:lnTo>
                    <a:pt x="98979" y="420529"/>
                  </a:lnTo>
                  <a:lnTo>
                    <a:pt x="0" y="306229"/>
                  </a:lnTo>
                  <a:lnTo>
                    <a:pt x="0" y="0"/>
                  </a:lnTo>
                  <a:lnTo>
                    <a:pt x="197958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97958" cy="372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03380" y="2340157"/>
            <a:ext cx="5040369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Cybersecurity Assessment &amp; Risk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06756" y="4709720"/>
            <a:ext cx="3390540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We assess existing </a:t>
            </a: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security measures and identify vulnerabilities in your systems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06756" y="3570136"/>
            <a:ext cx="322593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security postur</a:t>
            </a: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e evaluation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55579" y="4709720"/>
            <a:ext cx="3225938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Understanding current and </a:t>
            </a: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emerging threats that target your industry and organization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55579" y="3570136"/>
            <a:ext cx="322593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Threat landscap</a:t>
            </a: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e analysis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06756" y="7395157"/>
            <a:ext cx="3171999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We identify and rank </a:t>
            </a: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security risks based on potential impact and likelihood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006756" y="6255573"/>
            <a:ext cx="2982767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Risk assessment and prioritization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55579" y="7395157"/>
            <a:ext cx="3225938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Industry regulations and standards that must b</a:t>
            </a: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 met for legal and operational compliance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55579" y="6255573"/>
            <a:ext cx="3225938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Compliance requirement</a:t>
            </a: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 review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3380" y="5004360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28700" y="849630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5"/>
                </a:lnTo>
                <a:lnTo>
                  <a:pt x="0" y="412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542637" y="838265"/>
            <a:ext cx="34820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689220" y="5889158"/>
            <a:ext cx="3335451" cy="3369142"/>
          </a:xfrm>
          <a:custGeom>
            <a:avLst/>
            <a:gdLst/>
            <a:ahLst/>
            <a:cxnLst/>
            <a:rect r="r" b="b" t="t" l="l"/>
            <a:pathLst>
              <a:path h="3369142" w="3335451">
                <a:moveTo>
                  <a:pt x="0" y="0"/>
                </a:moveTo>
                <a:lnTo>
                  <a:pt x="3335451" y="0"/>
                </a:lnTo>
                <a:lnTo>
                  <a:pt x="3335451" y="3369142"/>
                </a:lnTo>
                <a:lnTo>
                  <a:pt x="0" y="33691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true" rot="0">
            <a:off x="16816294" y="0"/>
            <a:ext cx="1471706" cy="1438592"/>
          </a:xfrm>
          <a:custGeom>
            <a:avLst/>
            <a:gdLst/>
            <a:ahLst/>
            <a:cxnLst/>
            <a:rect r="r" b="b" t="t" l="l"/>
            <a:pathLst>
              <a:path h="1438592" w="1471706">
                <a:moveTo>
                  <a:pt x="0" y="1438592"/>
                </a:moveTo>
                <a:lnTo>
                  <a:pt x="1471706" y="1438592"/>
                </a:lnTo>
                <a:lnTo>
                  <a:pt x="1471706" y="0"/>
                </a:lnTo>
                <a:lnTo>
                  <a:pt x="0" y="0"/>
                </a:lnTo>
                <a:lnTo>
                  <a:pt x="0" y="1438592"/>
                </a:lnTo>
                <a:close/>
              </a:path>
            </a:pathLst>
          </a:custGeom>
          <a:blipFill>
            <a:blip r:embed="rId9">
              <a:alphaModFix amt="1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true" rot="0">
            <a:off x="13872882" y="0"/>
            <a:ext cx="1471706" cy="1438592"/>
          </a:xfrm>
          <a:custGeom>
            <a:avLst/>
            <a:gdLst/>
            <a:ahLst/>
            <a:cxnLst/>
            <a:rect r="r" b="b" t="t" l="l"/>
            <a:pathLst>
              <a:path h="1438592" w="1471706">
                <a:moveTo>
                  <a:pt x="0" y="1438592"/>
                </a:moveTo>
                <a:lnTo>
                  <a:pt x="1471706" y="1438592"/>
                </a:lnTo>
                <a:lnTo>
                  <a:pt x="1471706" y="0"/>
                </a:lnTo>
                <a:lnTo>
                  <a:pt x="0" y="0"/>
                </a:lnTo>
                <a:lnTo>
                  <a:pt x="0" y="1438592"/>
                </a:lnTo>
                <a:close/>
              </a:path>
            </a:pathLst>
          </a:custGeom>
          <a:blipFill>
            <a:blip r:embed="rId9">
              <a:alphaModFix amt="1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true" rot="0">
            <a:off x="10929471" y="0"/>
            <a:ext cx="1471706" cy="1438592"/>
          </a:xfrm>
          <a:custGeom>
            <a:avLst/>
            <a:gdLst/>
            <a:ahLst/>
            <a:cxnLst/>
            <a:rect r="r" b="b" t="t" l="l"/>
            <a:pathLst>
              <a:path h="1438592" w="1471706">
                <a:moveTo>
                  <a:pt x="0" y="1438592"/>
                </a:moveTo>
                <a:lnTo>
                  <a:pt x="1471706" y="1438592"/>
                </a:lnTo>
                <a:lnTo>
                  <a:pt x="1471706" y="0"/>
                </a:lnTo>
                <a:lnTo>
                  <a:pt x="0" y="0"/>
                </a:lnTo>
                <a:lnTo>
                  <a:pt x="0" y="1438592"/>
                </a:lnTo>
                <a:close/>
              </a:path>
            </a:pathLst>
          </a:custGeom>
          <a:blipFill>
            <a:blip r:embed="rId9">
              <a:alphaModFix amt="1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true" rot="0">
            <a:off x="15344588" y="0"/>
            <a:ext cx="1471706" cy="1438592"/>
          </a:xfrm>
          <a:custGeom>
            <a:avLst/>
            <a:gdLst/>
            <a:ahLst/>
            <a:cxnLst/>
            <a:rect r="r" b="b" t="t" l="l"/>
            <a:pathLst>
              <a:path h="1438592" w="1471706">
                <a:moveTo>
                  <a:pt x="0" y="1438592"/>
                </a:moveTo>
                <a:lnTo>
                  <a:pt x="1471706" y="1438592"/>
                </a:lnTo>
                <a:lnTo>
                  <a:pt x="1471706" y="0"/>
                </a:lnTo>
                <a:lnTo>
                  <a:pt x="0" y="0"/>
                </a:lnTo>
                <a:lnTo>
                  <a:pt x="0" y="1438592"/>
                </a:lnTo>
                <a:close/>
              </a:path>
            </a:pathLst>
          </a:custGeom>
          <a:blipFill>
            <a:blip r:embed="rId9">
              <a:alphaModFix amt="1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true" rot="0">
            <a:off x="12401177" y="0"/>
            <a:ext cx="1471706" cy="1438592"/>
          </a:xfrm>
          <a:custGeom>
            <a:avLst/>
            <a:gdLst/>
            <a:ahLst/>
            <a:cxnLst/>
            <a:rect r="r" b="b" t="t" l="l"/>
            <a:pathLst>
              <a:path h="1438592" w="1471706">
                <a:moveTo>
                  <a:pt x="0" y="1438592"/>
                </a:moveTo>
                <a:lnTo>
                  <a:pt x="1471705" y="1438592"/>
                </a:lnTo>
                <a:lnTo>
                  <a:pt x="1471705" y="0"/>
                </a:lnTo>
                <a:lnTo>
                  <a:pt x="0" y="0"/>
                </a:lnTo>
                <a:lnTo>
                  <a:pt x="0" y="1438592"/>
                </a:lnTo>
                <a:close/>
              </a:path>
            </a:pathLst>
          </a:custGeom>
          <a:blipFill>
            <a:blip r:embed="rId9">
              <a:alphaModFix amt="1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true" rot="0">
            <a:off x="9457765" y="0"/>
            <a:ext cx="1471706" cy="1438592"/>
          </a:xfrm>
          <a:custGeom>
            <a:avLst/>
            <a:gdLst/>
            <a:ahLst/>
            <a:cxnLst/>
            <a:rect r="r" b="b" t="t" l="l"/>
            <a:pathLst>
              <a:path h="1438592" w="1471706">
                <a:moveTo>
                  <a:pt x="0" y="1438592"/>
                </a:moveTo>
                <a:lnTo>
                  <a:pt x="1471706" y="1438592"/>
                </a:lnTo>
                <a:lnTo>
                  <a:pt x="1471706" y="0"/>
                </a:lnTo>
                <a:lnTo>
                  <a:pt x="0" y="0"/>
                </a:lnTo>
                <a:lnTo>
                  <a:pt x="0" y="1438592"/>
                </a:lnTo>
                <a:close/>
              </a:path>
            </a:pathLst>
          </a:custGeom>
          <a:blipFill>
            <a:blip r:embed="rId9">
              <a:alphaModFix amt="1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929471" y="9193088"/>
            <a:ext cx="3131160" cy="1878696"/>
          </a:xfrm>
          <a:custGeom>
            <a:avLst/>
            <a:gdLst/>
            <a:ahLst/>
            <a:cxnLst/>
            <a:rect r="r" b="b" t="t" l="l"/>
            <a:pathLst>
              <a:path h="1878696" w="3131160">
                <a:moveTo>
                  <a:pt x="0" y="0"/>
                </a:moveTo>
                <a:lnTo>
                  <a:pt x="3131160" y="0"/>
                </a:lnTo>
                <a:lnTo>
                  <a:pt x="3131160" y="1878696"/>
                </a:lnTo>
                <a:lnTo>
                  <a:pt x="0" y="1878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-1896338" y="8556888"/>
            <a:ext cx="3131160" cy="1878696"/>
          </a:xfrm>
          <a:custGeom>
            <a:avLst/>
            <a:gdLst/>
            <a:ahLst/>
            <a:cxnLst/>
            <a:rect r="r" b="b" t="t" l="l"/>
            <a:pathLst>
              <a:path h="1878696" w="3131160">
                <a:moveTo>
                  <a:pt x="0" y="0"/>
                </a:moveTo>
                <a:lnTo>
                  <a:pt x="3131160" y="0"/>
                </a:lnTo>
                <a:lnTo>
                  <a:pt x="3131160" y="1878696"/>
                </a:lnTo>
                <a:lnTo>
                  <a:pt x="0" y="1878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552162" y="2296255"/>
            <a:ext cx="0" cy="2463236"/>
          </a:xfrm>
          <a:prstGeom prst="line">
            <a:avLst/>
          </a:prstGeom>
          <a:ln cap="rnd" w="19050">
            <a:solidFill>
              <a:srgbClr val="077A7D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" id="3"/>
          <p:cNvSpPr/>
          <p:nvPr/>
        </p:nvSpPr>
        <p:spPr>
          <a:xfrm flipV="true">
            <a:off x="1552162" y="4759491"/>
            <a:ext cx="0" cy="2452628"/>
          </a:xfrm>
          <a:prstGeom prst="line">
            <a:avLst/>
          </a:prstGeom>
          <a:ln cap="rnd" w="19050">
            <a:solidFill>
              <a:srgbClr val="077A7D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416335" y="2841211"/>
            <a:ext cx="3716689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416335" y="5301780"/>
            <a:ext cx="3716689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416335" y="7754409"/>
            <a:ext cx="3716689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49630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5"/>
                </a:lnTo>
                <a:lnTo>
                  <a:pt x="0" y="412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09973" y="4477015"/>
            <a:ext cx="4137766" cy="3887776"/>
          </a:xfrm>
          <a:custGeom>
            <a:avLst/>
            <a:gdLst/>
            <a:ahLst/>
            <a:cxnLst/>
            <a:rect r="r" b="b" t="t" l="l"/>
            <a:pathLst>
              <a:path h="3887776" w="4137766">
                <a:moveTo>
                  <a:pt x="0" y="0"/>
                </a:moveTo>
                <a:lnTo>
                  <a:pt x="4137766" y="0"/>
                </a:lnTo>
                <a:lnTo>
                  <a:pt x="4137766" y="3887775"/>
                </a:lnTo>
                <a:lnTo>
                  <a:pt x="0" y="3887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16335" y="2958177"/>
            <a:ext cx="4621941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 establish leadership, poli</a:t>
            </a: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cies, and procedures for effective cybersecurity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16335" y="1868265"/>
            <a:ext cx="423758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</a:t>
            </a: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 governance structu</a:t>
            </a: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16335" y="5411888"/>
            <a:ext cx="4621941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omprehen</a:t>
            </a: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sive policies guide employee behavior and technology use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6335" y="4331501"/>
            <a:ext cx="423758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Sec</a:t>
            </a: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urity policy</a:t>
            </a: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 development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6335" y="7864516"/>
            <a:ext cx="4498706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Syst</a:t>
            </a: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ems and processes en</a:t>
            </a:r>
            <a:r>
              <a:rPr lang="en-US" sz="19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sure ongoing adherence to regulatory requirements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16335" y="6784129"/>
            <a:ext cx="423758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Compliance</a:t>
            </a: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 framework impl</a:t>
            </a:r>
            <a:r>
              <a:rPr lang="en-US" b="true" sz="23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ementation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09973" y="1557115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9973" y="2174003"/>
            <a:ext cx="7949327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60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ecurity Framework &amp; Governance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2637" y="838265"/>
            <a:ext cx="34820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15213119" y="7212119"/>
            <a:ext cx="3074881" cy="3074881"/>
          </a:xfrm>
          <a:custGeom>
            <a:avLst/>
            <a:gdLst/>
            <a:ahLst/>
            <a:cxnLst/>
            <a:rect r="r" b="b" t="t" l="l"/>
            <a:pathLst>
              <a:path h="3074881" w="3074881">
                <a:moveTo>
                  <a:pt x="3074881" y="0"/>
                </a:moveTo>
                <a:lnTo>
                  <a:pt x="0" y="0"/>
                </a:lnTo>
                <a:lnTo>
                  <a:pt x="0" y="3074881"/>
                </a:lnTo>
                <a:lnTo>
                  <a:pt x="3074881" y="3074881"/>
                </a:lnTo>
                <a:lnTo>
                  <a:pt x="30748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6363581" y="3565084"/>
            <a:ext cx="2785788" cy="2388813"/>
          </a:xfrm>
          <a:custGeom>
            <a:avLst/>
            <a:gdLst/>
            <a:ahLst/>
            <a:cxnLst/>
            <a:rect r="r" b="b" t="t" l="l"/>
            <a:pathLst>
              <a:path h="2388813" w="2785788">
                <a:moveTo>
                  <a:pt x="2785787" y="0"/>
                </a:moveTo>
                <a:lnTo>
                  <a:pt x="0" y="0"/>
                </a:lnTo>
                <a:lnTo>
                  <a:pt x="0" y="2388813"/>
                </a:lnTo>
                <a:lnTo>
                  <a:pt x="2785787" y="2388813"/>
                </a:lnTo>
                <a:lnTo>
                  <a:pt x="2785787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74628" y="9301882"/>
            <a:ext cx="1916527" cy="1882988"/>
          </a:xfrm>
          <a:custGeom>
            <a:avLst/>
            <a:gdLst/>
            <a:ahLst/>
            <a:cxnLst/>
            <a:rect r="r" b="b" t="t" l="l"/>
            <a:pathLst>
              <a:path h="1882988" w="1916527">
                <a:moveTo>
                  <a:pt x="0" y="0"/>
                </a:moveTo>
                <a:lnTo>
                  <a:pt x="1916526" y="0"/>
                </a:lnTo>
                <a:lnTo>
                  <a:pt x="1916526" y="1882988"/>
                </a:lnTo>
                <a:lnTo>
                  <a:pt x="0" y="1882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424834" y="9301882"/>
            <a:ext cx="1916527" cy="1882988"/>
          </a:xfrm>
          <a:custGeom>
            <a:avLst/>
            <a:gdLst/>
            <a:ahLst/>
            <a:cxnLst/>
            <a:rect r="r" b="b" t="t" l="l"/>
            <a:pathLst>
              <a:path h="1882988" w="1916527">
                <a:moveTo>
                  <a:pt x="0" y="0"/>
                </a:moveTo>
                <a:lnTo>
                  <a:pt x="1916527" y="0"/>
                </a:lnTo>
                <a:lnTo>
                  <a:pt x="1916527" y="1882988"/>
                </a:lnTo>
                <a:lnTo>
                  <a:pt x="0" y="1882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375041" y="9301882"/>
            <a:ext cx="1916527" cy="1882988"/>
          </a:xfrm>
          <a:custGeom>
            <a:avLst/>
            <a:gdLst/>
            <a:ahLst/>
            <a:cxnLst/>
            <a:rect r="r" b="b" t="t" l="l"/>
            <a:pathLst>
              <a:path h="1882988" w="1916527">
                <a:moveTo>
                  <a:pt x="0" y="0"/>
                </a:moveTo>
                <a:lnTo>
                  <a:pt x="1916527" y="0"/>
                </a:lnTo>
                <a:lnTo>
                  <a:pt x="1916527" y="1882988"/>
                </a:lnTo>
                <a:lnTo>
                  <a:pt x="0" y="1882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451158" y="9301882"/>
            <a:ext cx="1916527" cy="1882988"/>
          </a:xfrm>
          <a:custGeom>
            <a:avLst/>
            <a:gdLst/>
            <a:ahLst/>
            <a:cxnLst/>
            <a:rect r="r" b="b" t="t" l="l"/>
            <a:pathLst>
              <a:path h="1882988" w="1916527">
                <a:moveTo>
                  <a:pt x="0" y="0"/>
                </a:moveTo>
                <a:lnTo>
                  <a:pt x="1916526" y="0"/>
                </a:lnTo>
                <a:lnTo>
                  <a:pt x="1916526" y="1882988"/>
                </a:lnTo>
                <a:lnTo>
                  <a:pt x="0" y="1882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401364" y="9301882"/>
            <a:ext cx="1916527" cy="1882988"/>
          </a:xfrm>
          <a:custGeom>
            <a:avLst/>
            <a:gdLst/>
            <a:ahLst/>
            <a:cxnLst/>
            <a:rect r="r" b="b" t="t" l="l"/>
            <a:pathLst>
              <a:path h="1882988" w="1916527">
                <a:moveTo>
                  <a:pt x="0" y="0"/>
                </a:moveTo>
                <a:lnTo>
                  <a:pt x="1916527" y="0"/>
                </a:lnTo>
                <a:lnTo>
                  <a:pt x="1916527" y="1882988"/>
                </a:lnTo>
                <a:lnTo>
                  <a:pt x="0" y="1882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351571" y="9301882"/>
            <a:ext cx="1916527" cy="1882988"/>
          </a:xfrm>
          <a:custGeom>
            <a:avLst/>
            <a:gdLst/>
            <a:ahLst/>
            <a:cxnLst/>
            <a:rect r="r" b="b" t="t" l="l"/>
            <a:pathLst>
              <a:path h="1882988" w="1916527">
                <a:moveTo>
                  <a:pt x="0" y="0"/>
                </a:moveTo>
                <a:lnTo>
                  <a:pt x="1916526" y="0"/>
                </a:lnTo>
                <a:lnTo>
                  <a:pt x="1916526" y="1882988"/>
                </a:lnTo>
                <a:lnTo>
                  <a:pt x="0" y="18829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14822" y="0"/>
            <a:ext cx="2673178" cy="507904"/>
          </a:xfrm>
          <a:custGeom>
            <a:avLst/>
            <a:gdLst/>
            <a:ahLst/>
            <a:cxnLst/>
            <a:rect r="r" b="b" t="t" l="l"/>
            <a:pathLst>
              <a:path h="507904" w="2673178">
                <a:moveTo>
                  <a:pt x="0" y="0"/>
                </a:moveTo>
                <a:lnTo>
                  <a:pt x="2673178" y="0"/>
                </a:lnTo>
                <a:lnTo>
                  <a:pt x="2673178" y="507904"/>
                </a:lnTo>
                <a:lnTo>
                  <a:pt x="0" y="5079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4891" y="4591806"/>
            <a:ext cx="5158217" cy="3191647"/>
          </a:xfrm>
          <a:custGeom>
            <a:avLst/>
            <a:gdLst/>
            <a:ahLst/>
            <a:cxnLst/>
            <a:rect r="r" b="b" t="t" l="l"/>
            <a:pathLst>
              <a:path h="3191647" w="5158217">
                <a:moveTo>
                  <a:pt x="0" y="0"/>
                </a:moveTo>
                <a:lnTo>
                  <a:pt x="5158218" y="0"/>
                </a:lnTo>
                <a:lnTo>
                  <a:pt x="5158218" y="3191647"/>
                </a:lnTo>
                <a:lnTo>
                  <a:pt x="0" y="3191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13584" y="4591806"/>
            <a:ext cx="3865878" cy="1224195"/>
          </a:xfrm>
          <a:custGeom>
            <a:avLst/>
            <a:gdLst/>
            <a:ahLst/>
            <a:cxnLst/>
            <a:rect r="r" b="b" t="t" l="l"/>
            <a:pathLst>
              <a:path h="1224195" w="3865878">
                <a:moveTo>
                  <a:pt x="0" y="0"/>
                </a:moveTo>
                <a:lnTo>
                  <a:pt x="3865878" y="0"/>
                </a:lnTo>
                <a:lnTo>
                  <a:pt x="3865878" y="1224195"/>
                </a:lnTo>
                <a:lnTo>
                  <a:pt x="0" y="122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69937" y="4591806"/>
            <a:ext cx="3865878" cy="1224195"/>
          </a:xfrm>
          <a:custGeom>
            <a:avLst/>
            <a:gdLst/>
            <a:ahLst/>
            <a:cxnLst/>
            <a:rect r="r" b="b" t="t" l="l"/>
            <a:pathLst>
              <a:path h="1224195" w="3865878">
                <a:moveTo>
                  <a:pt x="0" y="0"/>
                </a:moveTo>
                <a:lnTo>
                  <a:pt x="3865878" y="0"/>
                </a:lnTo>
                <a:lnTo>
                  <a:pt x="3865878" y="1224195"/>
                </a:lnTo>
                <a:lnTo>
                  <a:pt x="0" y="122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7211061" y="9094770"/>
            <a:ext cx="3865878" cy="1224195"/>
          </a:xfrm>
          <a:custGeom>
            <a:avLst/>
            <a:gdLst/>
            <a:ahLst/>
            <a:cxnLst/>
            <a:rect r="r" b="b" t="t" l="l"/>
            <a:pathLst>
              <a:path h="1224195" w="3865878">
                <a:moveTo>
                  <a:pt x="0" y="0"/>
                </a:moveTo>
                <a:lnTo>
                  <a:pt x="3865878" y="0"/>
                </a:lnTo>
                <a:lnTo>
                  <a:pt x="3865878" y="1224195"/>
                </a:lnTo>
                <a:lnTo>
                  <a:pt x="0" y="122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07266" y="4591806"/>
            <a:ext cx="3865878" cy="1224195"/>
          </a:xfrm>
          <a:custGeom>
            <a:avLst/>
            <a:gdLst/>
            <a:ahLst/>
            <a:cxnLst/>
            <a:rect r="r" b="b" t="t" l="l"/>
            <a:pathLst>
              <a:path h="1224195" w="3865878">
                <a:moveTo>
                  <a:pt x="0" y="0"/>
                </a:moveTo>
                <a:lnTo>
                  <a:pt x="3865879" y="0"/>
                </a:lnTo>
                <a:lnTo>
                  <a:pt x="3865879" y="1224195"/>
                </a:lnTo>
                <a:lnTo>
                  <a:pt x="0" y="122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49087" y="4591806"/>
            <a:ext cx="3865878" cy="1224195"/>
          </a:xfrm>
          <a:custGeom>
            <a:avLst/>
            <a:gdLst/>
            <a:ahLst/>
            <a:cxnLst/>
            <a:rect r="r" b="b" t="t" l="l"/>
            <a:pathLst>
              <a:path h="1224195" w="3865878">
                <a:moveTo>
                  <a:pt x="0" y="0"/>
                </a:moveTo>
                <a:lnTo>
                  <a:pt x="3865878" y="0"/>
                </a:lnTo>
                <a:lnTo>
                  <a:pt x="3865878" y="1224195"/>
                </a:lnTo>
                <a:lnTo>
                  <a:pt x="0" y="122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616179" y="7211725"/>
            <a:ext cx="2253462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5472532" y="7211725"/>
            <a:ext cx="2253462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0586853" y="7211725"/>
            <a:ext cx="2253462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4490929" y="7211725"/>
            <a:ext cx="2253462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2039058" y="4684588"/>
            <a:ext cx="1407703" cy="1464148"/>
            <a:chOff x="0" y="0"/>
            <a:chExt cx="355720" cy="3699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720" cy="369983"/>
            </a:xfrm>
            <a:custGeom>
              <a:avLst/>
              <a:gdLst/>
              <a:ahLst/>
              <a:cxnLst/>
              <a:rect r="r" b="b" t="t" l="l"/>
              <a:pathLst>
                <a:path h="369983" w="355720">
                  <a:moveTo>
                    <a:pt x="355720" y="0"/>
                  </a:moveTo>
                  <a:lnTo>
                    <a:pt x="355720" y="255683"/>
                  </a:lnTo>
                  <a:lnTo>
                    <a:pt x="177860" y="369983"/>
                  </a:lnTo>
                  <a:lnTo>
                    <a:pt x="0" y="255683"/>
                  </a:lnTo>
                  <a:lnTo>
                    <a:pt x="0" y="0"/>
                  </a:lnTo>
                  <a:lnTo>
                    <a:pt x="355720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55720" cy="32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895411" y="4684588"/>
            <a:ext cx="1407703" cy="1464148"/>
            <a:chOff x="0" y="0"/>
            <a:chExt cx="355720" cy="369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5720" cy="369983"/>
            </a:xfrm>
            <a:custGeom>
              <a:avLst/>
              <a:gdLst/>
              <a:ahLst/>
              <a:cxnLst/>
              <a:rect r="r" b="b" t="t" l="l"/>
              <a:pathLst>
                <a:path h="369983" w="355720">
                  <a:moveTo>
                    <a:pt x="355720" y="0"/>
                  </a:moveTo>
                  <a:lnTo>
                    <a:pt x="355720" y="255683"/>
                  </a:lnTo>
                  <a:lnTo>
                    <a:pt x="177860" y="369983"/>
                  </a:lnTo>
                  <a:lnTo>
                    <a:pt x="0" y="255683"/>
                  </a:lnTo>
                  <a:lnTo>
                    <a:pt x="0" y="0"/>
                  </a:lnTo>
                  <a:lnTo>
                    <a:pt x="355720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355720" cy="32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45375" y="4684588"/>
            <a:ext cx="1407703" cy="1464148"/>
            <a:chOff x="0" y="0"/>
            <a:chExt cx="355720" cy="3699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720" cy="369983"/>
            </a:xfrm>
            <a:custGeom>
              <a:avLst/>
              <a:gdLst/>
              <a:ahLst/>
              <a:cxnLst/>
              <a:rect r="r" b="b" t="t" l="l"/>
              <a:pathLst>
                <a:path h="369983" w="355720">
                  <a:moveTo>
                    <a:pt x="355720" y="0"/>
                  </a:moveTo>
                  <a:lnTo>
                    <a:pt x="355720" y="255683"/>
                  </a:lnTo>
                  <a:lnTo>
                    <a:pt x="177860" y="369983"/>
                  </a:lnTo>
                  <a:lnTo>
                    <a:pt x="0" y="255683"/>
                  </a:lnTo>
                  <a:lnTo>
                    <a:pt x="0" y="0"/>
                  </a:lnTo>
                  <a:lnTo>
                    <a:pt x="355720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55720" cy="32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913808" y="4684588"/>
            <a:ext cx="1407703" cy="1464148"/>
            <a:chOff x="0" y="0"/>
            <a:chExt cx="355720" cy="3699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5720" cy="369983"/>
            </a:xfrm>
            <a:custGeom>
              <a:avLst/>
              <a:gdLst/>
              <a:ahLst/>
              <a:cxnLst/>
              <a:rect r="r" b="b" t="t" l="l"/>
              <a:pathLst>
                <a:path h="369983" w="355720">
                  <a:moveTo>
                    <a:pt x="355720" y="0"/>
                  </a:moveTo>
                  <a:lnTo>
                    <a:pt x="355720" y="255683"/>
                  </a:lnTo>
                  <a:lnTo>
                    <a:pt x="177860" y="369983"/>
                  </a:lnTo>
                  <a:lnTo>
                    <a:pt x="0" y="255683"/>
                  </a:lnTo>
                  <a:lnTo>
                    <a:pt x="0" y="0"/>
                  </a:lnTo>
                  <a:lnTo>
                    <a:pt x="355720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355720" cy="322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169164" y="616456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4"/>
                </a:lnTo>
                <a:lnTo>
                  <a:pt x="0" y="412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586853" y="891352"/>
            <a:ext cx="3294302" cy="3328979"/>
          </a:xfrm>
          <a:custGeom>
            <a:avLst/>
            <a:gdLst/>
            <a:ahLst/>
            <a:cxnLst/>
            <a:rect r="r" b="b" t="t" l="l"/>
            <a:pathLst>
              <a:path h="3328979" w="3294302">
                <a:moveTo>
                  <a:pt x="0" y="0"/>
                </a:moveTo>
                <a:lnTo>
                  <a:pt x="3294302" y="0"/>
                </a:lnTo>
                <a:lnTo>
                  <a:pt x="3294302" y="3328979"/>
                </a:lnTo>
                <a:lnTo>
                  <a:pt x="0" y="3328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11842" y="1487720"/>
            <a:ext cx="9333534" cy="157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Network Security &amp; Infrastructure Protection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8843" y="7335371"/>
            <a:ext cx="304813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We implement robust perimeter defen</a:t>
            </a: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ses and network segmentation strategies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0654" y="6186835"/>
            <a:ext cx="336451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Firewall and network security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04123" y="7335371"/>
            <a:ext cx="3373774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Advanced monitoring systems identify</a:t>
            </a: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 and block suspicious network activity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17008" y="6186835"/>
            <a:ext cx="336451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Intrusion detection and prevention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95834" y="7335371"/>
            <a:ext cx="3306785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Network design principles that minimiz</a:t>
            </a: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 attack surfaces and contain potential breaches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96051" y="6187168"/>
            <a:ext cx="29063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network archit</a:t>
            </a: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ecture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007973" y="7335371"/>
            <a:ext cx="3219372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Wi-Fi and mobil</a:t>
            </a: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 device security that protects against unauthorized access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64484" y="6187168"/>
            <a:ext cx="29063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Wireless security implementation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11842" y="3099557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83101" y="605091"/>
            <a:ext cx="257619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-1224982" y="-1090421"/>
            <a:ext cx="2674792" cy="2520991"/>
          </a:xfrm>
          <a:custGeom>
            <a:avLst/>
            <a:gdLst/>
            <a:ahLst/>
            <a:cxnLst/>
            <a:rect r="r" b="b" t="t" l="l"/>
            <a:pathLst>
              <a:path h="2520991" w="2674792">
                <a:moveTo>
                  <a:pt x="0" y="0"/>
                </a:moveTo>
                <a:lnTo>
                  <a:pt x="2674792" y="0"/>
                </a:lnTo>
                <a:lnTo>
                  <a:pt x="2674792" y="2520991"/>
                </a:lnTo>
                <a:lnTo>
                  <a:pt x="0" y="25209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0" y="9399121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2"/>
                </a:lnTo>
                <a:lnTo>
                  <a:pt x="0" y="1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453404" y="9399121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2"/>
                </a:lnTo>
                <a:lnTo>
                  <a:pt x="0" y="1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917298" y="9399121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2"/>
                </a:lnTo>
                <a:lnTo>
                  <a:pt x="0" y="1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370702" y="9399121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2"/>
                </a:lnTo>
                <a:lnTo>
                  <a:pt x="0" y="1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58649" y="9399121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2"/>
                </a:lnTo>
                <a:lnTo>
                  <a:pt x="0" y="1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912053" y="9399121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2"/>
                </a:lnTo>
                <a:lnTo>
                  <a:pt x="0" y="1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375947" y="9399121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2"/>
                </a:lnTo>
                <a:lnTo>
                  <a:pt x="0" y="1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6829351" y="9399121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2"/>
                </a:lnTo>
                <a:lnTo>
                  <a:pt x="0" y="14385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849475" y="1887038"/>
            <a:ext cx="2819650" cy="1878592"/>
          </a:xfrm>
          <a:custGeom>
            <a:avLst/>
            <a:gdLst/>
            <a:ahLst/>
            <a:cxnLst/>
            <a:rect r="r" b="b" t="t" l="l"/>
            <a:pathLst>
              <a:path h="1878592" w="2819650">
                <a:moveTo>
                  <a:pt x="0" y="0"/>
                </a:moveTo>
                <a:lnTo>
                  <a:pt x="2819650" y="0"/>
                </a:lnTo>
                <a:lnTo>
                  <a:pt x="2819650" y="1878592"/>
                </a:lnTo>
                <a:lnTo>
                  <a:pt x="0" y="18785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9999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83934" y="2836902"/>
            <a:ext cx="3741430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We </a:t>
            </a:r>
            <a:r>
              <a:rPr lang="en-US" sz="1999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identify and categorize sensitive data that requires special protection measures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42978" y="2537394"/>
            <a:ext cx="3092948" cy="0"/>
          </a:xfrm>
          <a:prstGeom prst="line">
            <a:avLst/>
          </a:prstGeom>
          <a:ln cap="rnd" w="19050">
            <a:solidFill>
              <a:srgbClr val="06202B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900489" y="6265022"/>
            <a:ext cx="3229512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Data encryption strategies</a:t>
            </a:r>
          </a:p>
        </p:txBody>
      </p:sp>
      <p:sp>
        <p:nvSpPr>
          <p:cNvPr name="AutoShape 5" id="5"/>
          <p:cNvSpPr/>
          <p:nvPr/>
        </p:nvSpPr>
        <p:spPr>
          <a:xfrm>
            <a:off x="4934980" y="7442312"/>
            <a:ext cx="3092948" cy="0"/>
          </a:xfrm>
          <a:prstGeom prst="line">
            <a:avLst/>
          </a:prstGeom>
          <a:ln cap="rnd" w="19050">
            <a:solidFill>
              <a:srgbClr val="06202B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468250" y="6265022"/>
            <a:ext cx="3229512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Privacy protection compliance</a:t>
            </a:r>
          </a:p>
        </p:txBody>
      </p:sp>
      <p:sp>
        <p:nvSpPr>
          <p:cNvPr name="AutoShape 7" id="7"/>
          <p:cNvSpPr/>
          <p:nvPr/>
        </p:nvSpPr>
        <p:spPr>
          <a:xfrm>
            <a:off x="10502741" y="7442312"/>
            <a:ext cx="3092948" cy="0"/>
          </a:xfrm>
          <a:prstGeom prst="line">
            <a:avLst/>
          </a:prstGeom>
          <a:ln cap="rnd" w="19050">
            <a:solidFill>
              <a:srgbClr val="06202B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737706" y="1452396"/>
            <a:ext cx="5575867" cy="19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sz="68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Da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 Prot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ct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i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&amp; P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ivacy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853269" y="2839866"/>
            <a:ext cx="4581478" cy="4608360"/>
          </a:xfrm>
          <a:custGeom>
            <a:avLst/>
            <a:gdLst/>
            <a:ahLst/>
            <a:cxnLst/>
            <a:rect r="r" b="b" t="t" l="l"/>
            <a:pathLst>
              <a:path h="4608360" w="4581478">
                <a:moveTo>
                  <a:pt x="0" y="0"/>
                </a:moveTo>
                <a:lnTo>
                  <a:pt x="4581477" y="0"/>
                </a:lnTo>
                <a:lnTo>
                  <a:pt x="4581477" y="4608359"/>
                </a:lnTo>
                <a:lnTo>
                  <a:pt x="0" y="46083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7425352" y="586841"/>
            <a:ext cx="3437312" cy="1088482"/>
          </a:xfrm>
          <a:custGeom>
            <a:avLst/>
            <a:gdLst/>
            <a:ahLst/>
            <a:cxnLst/>
            <a:rect r="r" b="b" t="t" l="l"/>
            <a:pathLst>
              <a:path h="1088482" w="3437312">
                <a:moveTo>
                  <a:pt x="0" y="0"/>
                </a:moveTo>
                <a:lnTo>
                  <a:pt x="3437312" y="0"/>
                </a:lnTo>
                <a:lnTo>
                  <a:pt x="3437312" y="1088482"/>
                </a:lnTo>
                <a:lnTo>
                  <a:pt x="0" y="108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7425352" y="8581790"/>
            <a:ext cx="3437312" cy="1088482"/>
          </a:xfrm>
          <a:custGeom>
            <a:avLst/>
            <a:gdLst/>
            <a:ahLst/>
            <a:cxnLst/>
            <a:rect r="r" b="b" t="t" l="l"/>
            <a:pathLst>
              <a:path h="1088482" w="3437312">
                <a:moveTo>
                  <a:pt x="0" y="0"/>
                </a:moveTo>
                <a:lnTo>
                  <a:pt x="3437312" y="0"/>
                </a:lnTo>
                <a:lnTo>
                  <a:pt x="3437312" y="1088483"/>
                </a:lnTo>
                <a:lnTo>
                  <a:pt x="0" y="108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2959" y="4599804"/>
            <a:ext cx="3437312" cy="1088482"/>
          </a:xfrm>
          <a:custGeom>
            <a:avLst/>
            <a:gdLst/>
            <a:ahLst/>
            <a:cxnLst/>
            <a:rect r="r" b="b" t="t" l="l"/>
            <a:pathLst>
              <a:path h="1088482" w="3437312">
                <a:moveTo>
                  <a:pt x="0" y="0"/>
                </a:moveTo>
                <a:lnTo>
                  <a:pt x="3437312" y="0"/>
                </a:lnTo>
                <a:lnTo>
                  <a:pt x="3437312" y="1088483"/>
                </a:lnTo>
                <a:lnTo>
                  <a:pt x="0" y="108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35171" y="4599804"/>
            <a:ext cx="3437312" cy="1088482"/>
          </a:xfrm>
          <a:custGeom>
            <a:avLst/>
            <a:gdLst/>
            <a:ahLst/>
            <a:cxnLst/>
            <a:rect r="r" b="b" t="t" l="l"/>
            <a:pathLst>
              <a:path h="1088482" w="3437312">
                <a:moveTo>
                  <a:pt x="0" y="0"/>
                </a:moveTo>
                <a:lnTo>
                  <a:pt x="3437312" y="0"/>
                </a:lnTo>
                <a:lnTo>
                  <a:pt x="3437312" y="1088483"/>
                </a:lnTo>
                <a:lnTo>
                  <a:pt x="0" y="108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37312" y="4599804"/>
            <a:ext cx="3437312" cy="1088482"/>
          </a:xfrm>
          <a:custGeom>
            <a:avLst/>
            <a:gdLst/>
            <a:ahLst/>
            <a:cxnLst/>
            <a:rect r="r" b="b" t="t" l="l"/>
            <a:pathLst>
              <a:path h="1088482" w="3437312">
                <a:moveTo>
                  <a:pt x="0" y="0"/>
                </a:moveTo>
                <a:lnTo>
                  <a:pt x="3437312" y="0"/>
                </a:lnTo>
                <a:lnTo>
                  <a:pt x="3437312" y="1088483"/>
                </a:lnTo>
                <a:lnTo>
                  <a:pt x="0" y="108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050" y="4599804"/>
            <a:ext cx="3437312" cy="1088482"/>
          </a:xfrm>
          <a:custGeom>
            <a:avLst/>
            <a:gdLst/>
            <a:ahLst/>
            <a:cxnLst/>
            <a:rect r="r" b="b" t="t" l="l"/>
            <a:pathLst>
              <a:path h="1088482" w="3437312">
                <a:moveTo>
                  <a:pt x="0" y="0"/>
                </a:moveTo>
                <a:lnTo>
                  <a:pt x="3437312" y="0"/>
                </a:lnTo>
                <a:lnTo>
                  <a:pt x="3437312" y="1088483"/>
                </a:lnTo>
                <a:lnTo>
                  <a:pt x="0" y="108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69164" y="616456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4"/>
                </a:lnTo>
                <a:lnTo>
                  <a:pt x="0" y="412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719820" y="1426779"/>
            <a:ext cx="848360" cy="84836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202B"/>
            </a:solidFill>
            <a:ln w="3810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00489" y="4719865"/>
            <a:ext cx="848360" cy="84836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202B"/>
            </a:solidFill>
            <a:ln w="3810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68250" y="4719865"/>
            <a:ext cx="848360" cy="84836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202B"/>
            </a:solidFill>
            <a:ln w="3810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608487" y="1360104"/>
            <a:ext cx="3229512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classification and inventory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75936" y="7741820"/>
            <a:ext cx="3278618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Comprehensive encrypt</a:t>
            </a:r>
            <a:r>
              <a:rPr lang="en-US" sz="1999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ion protects data both at rest and in transit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8250" y="7741820"/>
            <a:ext cx="4213460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System</a:t>
            </a:r>
            <a:r>
              <a:rPr lang="en-US" sz="1999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 and procedures ensure customer and employee privacy rights are protected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37706" y="3330615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83101" y="605091"/>
            <a:ext cx="257619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-1480552" y="-1591437"/>
            <a:ext cx="2689528" cy="3182874"/>
          </a:xfrm>
          <a:custGeom>
            <a:avLst/>
            <a:gdLst/>
            <a:ahLst/>
            <a:cxnLst/>
            <a:rect r="r" b="b" t="t" l="l"/>
            <a:pathLst>
              <a:path h="3182874" w="2689528">
                <a:moveTo>
                  <a:pt x="0" y="0"/>
                </a:moveTo>
                <a:lnTo>
                  <a:pt x="2689529" y="0"/>
                </a:lnTo>
                <a:lnTo>
                  <a:pt x="2689529" y="3182874"/>
                </a:lnTo>
                <a:lnTo>
                  <a:pt x="0" y="3182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1627262" y="7048749"/>
            <a:ext cx="3254523" cy="3238251"/>
          </a:xfrm>
          <a:custGeom>
            <a:avLst/>
            <a:gdLst/>
            <a:ahLst/>
            <a:cxnLst/>
            <a:rect r="r" b="b" t="t" l="l"/>
            <a:pathLst>
              <a:path h="3238251" w="3254523">
                <a:moveTo>
                  <a:pt x="0" y="0"/>
                </a:moveTo>
                <a:lnTo>
                  <a:pt x="3254524" y="0"/>
                </a:lnTo>
                <a:lnTo>
                  <a:pt x="3254524" y="3238251"/>
                </a:lnTo>
                <a:lnTo>
                  <a:pt x="0" y="32382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660738" y="7048749"/>
            <a:ext cx="3254523" cy="3238251"/>
          </a:xfrm>
          <a:custGeom>
            <a:avLst/>
            <a:gdLst/>
            <a:ahLst/>
            <a:cxnLst/>
            <a:rect r="r" b="b" t="t" l="l"/>
            <a:pathLst>
              <a:path h="3238251" w="3254523">
                <a:moveTo>
                  <a:pt x="0" y="0"/>
                </a:moveTo>
                <a:lnTo>
                  <a:pt x="3254524" y="0"/>
                </a:lnTo>
                <a:lnTo>
                  <a:pt x="3254524" y="3238251"/>
                </a:lnTo>
                <a:lnTo>
                  <a:pt x="0" y="32382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true" rot="0">
            <a:off x="16811342" y="3263939"/>
            <a:ext cx="895915" cy="895915"/>
          </a:xfrm>
          <a:custGeom>
            <a:avLst/>
            <a:gdLst/>
            <a:ahLst/>
            <a:cxnLst/>
            <a:rect r="r" b="b" t="t" l="l"/>
            <a:pathLst>
              <a:path h="895915" w="895915">
                <a:moveTo>
                  <a:pt x="895916" y="895915"/>
                </a:moveTo>
                <a:lnTo>
                  <a:pt x="0" y="895915"/>
                </a:lnTo>
                <a:lnTo>
                  <a:pt x="0" y="0"/>
                </a:lnTo>
                <a:lnTo>
                  <a:pt x="895916" y="0"/>
                </a:lnTo>
                <a:lnTo>
                  <a:pt x="895916" y="895915"/>
                </a:lnTo>
                <a:close/>
              </a:path>
            </a:pathLst>
          </a:custGeom>
          <a:blipFill>
            <a:blip r:embed="rId11">
              <a:alphaModFix amt="3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4699" y="3922968"/>
            <a:ext cx="6774089" cy="1070982"/>
            <a:chOff x="0" y="0"/>
            <a:chExt cx="1784122" cy="282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4122" cy="282069"/>
            </a:xfrm>
            <a:custGeom>
              <a:avLst/>
              <a:gdLst/>
              <a:ahLst/>
              <a:cxnLst/>
              <a:rect r="r" b="b" t="t" l="l"/>
              <a:pathLst>
                <a:path h="282069" w="1784122">
                  <a:moveTo>
                    <a:pt x="1580922" y="0"/>
                  </a:moveTo>
                  <a:lnTo>
                    <a:pt x="203200" y="0"/>
                  </a:lnTo>
                  <a:lnTo>
                    <a:pt x="0" y="141035"/>
                  </a:lnTo>
                  <a:lnTo>
                    <a:pt x="203200" y="282069"/>
                  </a:lnTo>
                  <a:lnTo>
                    <a:pt x="1580922" y="282069"/>
                  </a:lnTo>
                  <a:lnTo>
                    <a:pt x="1784122" y="141035"/>
                  </a:lnTo>
                  <a:lnTo>
                    <a:pt x="1580922" y="0"/>
                  </a:lnTo>
                  <a:close/>
                </a:path>
              </a:pathLst>
            </a:custGeom>
            <a:solidFill>
              <a:srgbClr val="7AE2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-66675"/>
              <a:ext cx="1479322" cy="348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64699" y="6390055"/>
            <a:ext cx="6774089" cy="1070982"/>
            <a:chOff x="0" y="0"/>
            <a:chExt cx="1784122" cy="2820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84122" cy="282069"/>
            </a:xfrm>
            <a:custGeom>
              <a:avLst/>
              <a:gdLst/>
              <a:ahLst/>
              <a:cxnLst/>
              <a:rect r="r" b="b" t="t" l="l"/>
              <a:pathLst>
                <a:path h="282069" w="1784122">
                  <a:moveTo>
                    <a:pt x="1580922" y="0"/>
                  </a:moveTo>
                  <a:lnTo>
                    <a:pt x="203200" y="0"/>
                  </a:lnTo>
                  <a:lnTo>
                    <a:pt x="0" y="141035"/>
                  </a:lnTo>
                  <a:lnTo>
                    <a:pt x="203200" y="282069"/>
                  </a:lnTo>
                  <a:lnTo>
                    <a:pt x="1580922" y="282069"/>
                  </a:lnTo>
                  <a:lnTo>
                    <a:pt x="1784122" y="141035"/>
                  </a:lnTo>
                  <a:lnTo>
                    <a:pt x="1580922" y="0"/>
                  </a:lnTo>
                  <a:close/>
                </a:path>
              </a:pathLst>
            </a:custGeom>
            <a:solidFill>
              <a:srgbClr val="7AE2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-66675"/>
              <a:ext cx="1479322" cy="348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49212" y="3922968"/>
            <a:ext cx="6774089" cy="1070982"/>
            <a:chOff x="0" y="0"/>
            <a:chExt cx="1784122" cy="2820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4122" cy="282069"/>
            </a:xfrm>
            <a:custGeom>
              <a:avLst/>
              <a:gdLst/>
              <a:ahLst/>
              <a:cxnLst/>
              <a:rect r="r" b="b" t="t" l="l"/>
              <a:pathLst>
                <a:path h="282069" w="1784122">
                  <a:moveTo>
                    <a:pt x="1580922" y="0"/>
                  </a:moveTo>
                  <a:lnTo>
                    <a:pt x="203200" y="0"/>
                  </a:lnTo>
                  <a:lnTo>
                    <a:pt x="0" y="141035"/>
                  </a:lnTo>
                  <a:lnTo>
                    <a:pt x="203200" y="282069"/>
                  </a:lnTo>
                  <a:lnTo>
                    <a:pt x="1580922" y="282069"/>
                  </a:lnTo>
                  <a:lnTo>
                    <a:pt x="1784122" y="141035"/>
                  </a:lnTo>
                  <a:lnTo>
                    <a:pt x="1580922" y="0"/>
                  </a:lnTo>
                  <a:close/>
                </a:path>
              </a:pathLst>
            </a:custGeom>
            <a:solidFill>
              <a:srgbClr val="7AE2C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52400" y="-66675"/>
              <a:ext cx="1479322" cy="348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49212" y="6390055"/>
            <a:ext cx="6774089" cy="1070982"/>
            <a:chOff x="0" y="0"/>
            <a:chExt cx="1784122" cy="2820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4122" cy="282069"/>
            </a:xfrm>
            <a:custGeom>
              <a:avLst/>
              <a:gdLst/>
              <a:ahLst/>
              <a:cxnLst/>
              <a:rect r="r" b="b" t="t" l="l"/>
              <a:pathLst>
                <a:path h="282069" w="1784122">
                  <a:moveTo>
                    <a:pt x="1580922" y="0"/>
                  </a:moveTo>
                  <a:lnTo>
                    <a:pt x="203200" y="0"/>
                  </a:lnTo>
                  <a:lnTo>
                    <a:pt x="0" y="141035"/>
                  </a:lnTo>
                  <a:lnTo>
                    <a:pt x="203200" y="282069"/>
                  </a:lnTo>
                  <a:lnTo>
                    <a:pt x="1580922" y="282069"/>
                  </a:lnTo>
                  <a:lnTo>
                    <a:pt x="1784122" y="141035"/>
                  </a:lnTo>
                  <a:lnTo>
                    <a:pt x="1580922" y="0"/>
                  </a:lnTo>
                  <a:close/>
                </a:path>
              </a:pathLst>
            </a:custGeom>
            <a:solidFill>
              <a:srgbClr val="7AE2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52400" y="-66675"/>
              <a:ext cx="1479322" cy="348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02899" y="5102731"/>
            <a:ext cx="429768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We implement m</a:t>
            </a: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ulti-factor authentication and strong password policies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87412" y="5102731"/>
            <a:ext cx="429768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Role-based permissions ensure </a:t>
            </a: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users have appropriate access to systems and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02899" y="7569818"/>
            <a:ext cx="429768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Special controls prot</a:t>
            </a: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ect administrative accounts and high-value system access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9442" y="7569818"/>
            <a:ext cx="429768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Regular r</a:t>
            </a:r>
            <a:r>
              <a:rPr lang="en-US" sz="18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eview ensures access permissions remain appropriate and secure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17530" y="4222240"/>
            <a:ext cx="50684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User authentication</a:t>
            </a: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 systems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02043" y="4222240"/>
            <a:ext cx="50684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Access control</a:t>
            </a: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 management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17530" y="6689326"/>
            <a:ext cx="50684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Privil</a:t>
            </a: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eged access management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84073" y="6689326"/>
            <a:ext cx="530436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Identity monitorin</a:t>
            </a: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g and auditing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1417" y="1727216"/>
            <a:ext cx="1156516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68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Identity &amp; Access Management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6668" y="2661301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sp>
        <p:nvSpPr>
          <p:cNvPr name="Freeform 24" id="24"/>
          <p:cNvSpPr/>
          <p:nvPr/>
        </p:nvSpPr>
        <p:spPr>
          <a:xfrm flipH="true" flipV="false" rot="0">
            <a:off x="17259300" y="4449509"/>
            <a:ext cx="1347196" cy="1347196"/>
          </a:xfrm>
          <a:custGeom>
            <a:avLst/>
            <a:gdLst/>
            <a:ahLst/>
            <a:cxnLst/>
            <a:rect r="r" b="b" t="t" l="l"/>
            <a:pathLst>
              <a:path h="1347196" w="1347196">
                <a:moveTo>
                  <a:pt x="1347196" y="0"/>
                </a:moveTo>
                <a:lnTo>
                  <a:pt x="0" y="0"/>
                </a:lnTo>
                <a:lnTo>
                  <a:pt x="0" y="1347196"/>
                </a:lnTo>
                <a:lnTo>
                  <a:pt x="1347196" y="1347196"/>
                </a:lnTo>
                <a:lnTo>
                  <a:pt x="13471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318496" y="4449509"/>
            <a:ext cx="1347196" cy="1347196"/>
          </a:xfrm>
          <a:custGeom>
            <a:avLst/>
            <a:gdLst/>
            <a:ahLst/>
            <a:cxnLst/>
            <a:rect r="r" b="b" t="t" l="l"/>
            <a:pathLst>
              <a:path h="1347196" w="1347196">
                <a:moveTo>
                  <a:pt x="0" y="0"/>
                </a:moveTo>
                <a:lnTo>
                  <a:pt x="1347196" y="0"/>
                </a:lnTo>
                <a:lnTo>
                  <a:pt x="1347196" y="1347196"/>
                </a:lnTo>
                <a:lnTo>
                  <a:pt x="0" y="134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true" rot="0">
            <a:off x="16778036" y="8514698"/>
            <a:ext cx="1347196" cy="1347196"/>
          </a:xfrm>
          <a:custGeom>
            <a:avLst/>
            <a:gdLst/>
            <a:ahLst/>
            <a:cxnLst/>
            <a:rect r="r" b="b" t="t" l="l"/>
            <a:pathLst>
              <a:path h="1347196" w="1347196">
                <a:moveTo>
                  <a:pt x="0" y="1347195"/>
                </a:moveTo>
                <a:lnTo>
                  <a:pt x="1347195" y="1347195"/>
                </a:lnTo>
                <a:lnTo>
                  <a:pt x="1347195" y="0"/>
                </a:lnTo>
                <a:lnTo>
                  <a:pt x="0" y="0"/>
                </a:lnTo>
                <a:lnTo>
                  <a:pt x="0" y="13471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true" rot="0">
            <a:off x="162769" y="8514698"/>
            <a:ext cx="1347196" cy="1347196"/>
          </a:xfrm>
          <a:custGeom>
            <a:avLst/>
            <a:gdLst/>
            <a:ahLst/>
            <a:cxnLst/>
            <a:rect r="r" b="b" t="t" l="l"/>
            <a:pathLst>
              <a:path h="1347196" w="1347196">
                <a:moveTo>
                  <a:pt x="1347195" y="1347195"/>
                </a:moveTo>
                <a:lnTo>
                  <a:pt x="0" y="1347195"/>
                </a:lnTo>
                <a:lnTo>
                  <a:pt x="0" y="0"/>
                </a:lnTo>
                <a:lnTo>
                  <a:pt x="1347195" y="0"/>
                </a:lnTo>
                <a:lnTo>
                  <a:pt x="1347195" y="13471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6325006" y="6723997"/>
            <a:ext cx="2734520" cy="865931"/>
          </a:xfrm>
          <a:custGeom>
            <a:avLst/>
            <a:gdLst/>
            <a:ahLst/>
            <a:cxnLst/>
            <a:rect r="r" b="b" t="t" l="l"/>
            <a:pathLst>
              <a:path h="865931" w="2734520">
                <a:moveTo>
                  <a:pt x="0" y="0"/>
                </a:moveTo>
                <a:lnTo>
                  <a:pt x="2734519" y="0"/>
                </a:lnTo>
                <a:lnTo>
                  <a:pt x="2734519" y="865931"/>
                </a:lnTo>
                <a:lnTo>
                  <a:pt x="0" y="86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-771525" y="6723997"/>
            <a:ext cx="2734520" cy="865931"/>
          </a:xfrm>
          <a:custGeom>
            <a:avLst/>
            <a:gdLst/>
            <a:ahLst/>
            <a:cxnLst/>
            <a:rect r="r" b="b" t="t" l="l"/>
            <a:pathLst>
              <a:path h="865931" w="2734520">
                <a:moveTo>
                  <a:pt x="0" y="0"/>
                </a:moveTo>
                <a:lnTo>
                  <a:pt x="2734519" y="0"/>
                </a:lnTo>
                <a:lnTo>
                  <a:pt x="2734519" y="865931"/>
                </a:lnTo>
                <a:lnTo>
                  <a:pt x="0" y="86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053041" y="8995962"/>
            <a:ext cx="2734520" cy="865931"/>
          </a:xfrm>
          <a:custGeom>
            <a:avLst/>
            <a:gdLst/>
            <a:ahLst/>
            <a:cxnLst/>
            <a:rect r="r" b="b" t="t" l="l"/>
            <a:pathLst>
              <a:path h="865931" w="2734520">
                <a:moveTo>
                  <a:pt x="0" y="0"/>
                </a:moveTo>
                <a:lnTo>
                  <a:pt x="2734520" y="0"/>
                </a:lnTo>
                <a:lnTo>
                  <a:pt x="2734520" y="865931"/>
                </a:lnTo>
                <a:lnTo>
                  <a:pt x="0" y="86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328046" y="8995962"/>
            <a:ext cx="2734520" cy="865931"/>
          </a:xfrm>
          <a:custGeom>
            <a:avLst/>
            <a:gdLst/>
            <a:ahLst/>
            <a:cxnLst/>
            <a:rect r="r" b="b" t="t" l="l"/>
            <a:pathLst>
              <a:path h="865931" w="2734520">
                <a:moveTo>
                  <a:pt x="0" y="0"/>
                </a:moveTo>
                <a:lnTo>
                  <a:pt x="2734520" y="0"/>
                </a:lnTo>
                <a:lnTo>
                  <a:pt x="2734520" y="865931"/>
                </a:lnTo>
                <a:lnTo>
                  <a:pt x="0" y="86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994808" y="8140711"/>
            <a:ext cx="2298384" cy="2235178"/>
          </a:xfrm>
          <a:custGeom>
            <a:avLst/>
            <a:gdLst/>
            <a:ahLst/>
            <a:cxnLst/>
            <a:rect r="r" b="b" t="t" l="l"/>
            <a:pathLst>
              <a:path h="2235178" w="2298384">
                <a:moveTo>
                  <a:pt x="0" y="0"/>
                </a:moveTo>
                <a:lnTo>
                  <a:pt x="2298384" y="0"/>
                </a:lnTo>
                <a:lnTo>
                  <a:pt x="2298384" y="2235178"/>
                </a:lnTo>
                <a:lnTo>
                  <a:pt x="0" y="2235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638788" y="8995962"/>
            <a:ext cx="2734520" cy="865931"/>
          </a:xfrm>
          <a:custGeom>
            <a:avLst/>
            <a:gdLst/>
            <a:ahLst/>
            <a:cxnLst/>
            <a:rect r="r" b="b" t="t" l="l"/>
            <a:pathLst>
              <a:path h="865931" w="2734520">
                <a:moveTo>
                  <a:pt x="0" y="0"/>
                </a:moveTo>
                <a:lnTo>
                  <a:pt x="2734520" y="0"/>
                </a:lnTo>
                <a:lnTo>
                  <a:pt x="2734520" y="865931"/>
                </a:lnTo>
                <a:lnTo>
                  <a:pt x="0" y="86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913793" y="8995962"/>
            <a:ext cx="2734520" cy="865931"/>
          </a:xfrm>
          <a:custGeom>
            <a:avLst/>
            <a:gdLst/>
            <a:ahLst/>
            <a:cxnLst/>
            <a:rect r="r" b="b" t="t" l="l"/>
            <a:pathLst>
              <a:path h="865931" w="2734520">
                <a:moveTo>
                  <a:pt x="0" y="0"/>
                </a:moveTo>
                <a:lnTo>
                  <a:pt x="2734520" y="0"/>
                </a:lnTo>
                <a:lnTo>
                  <a:pt x="2734520" y="865931"/>
                </a:lnTo>
                <a:lnTo>
                  <a:pt x="0" y="86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3227743" y="8995962"/>
            <a:ext cx="2734520" cy="865931"/>
          </a:xfrm>
          <a:custGeom>
            <a:avLst/>
            <a:gdLst/>
            <a:ahLst/>
            <a:cxnLst/>
            <a:rect r="r" b="b" t="t" l="l"/>
            <a:pathLst>
              <a:path h="865931" w="2734520">
                <a:moveTo>
                  <a:pt x="0" y="0"/>
                </a:moveTo>
                <a:lnTo>
                  <a:pt x="2734520" y="0"/>
                </a:lnTo>
                <a:lnTo>
                  <a:pt x="2734520" y="865931"/>
                </a:lnTo>
                <a:lnTo>
                  <a:pt x="0" y="86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09964" y="8995962"/>
            <a:ext cx="2734520" cy="865931"/>
          </a:xfrm>
          <a:custGeom>
            <a:avLst/>
            <a:gdLst/>
            <a:ahLst/>
            <a:cxnLst/>
            <a:rect r="r" b="b" t="t" l="l"/>
            <a:pathLst>
              <a:path h="865931" w="2734520">
                <a:moveTo>
                  <a:pt x="0" y="0"/>
                </a:moveTo>
                <a:lnTo>
                  <a:pt x="2734520" y="0"/>
                </a:lnTo>
                <a:lnTo>
                  <a:pt x="2734520" y="865931"/>
                </a:lnTo>
                <a:lnTo>
                  <a:pt x="0" y="8659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28700" y="849630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5"/>
                </a:lnTo>
                <a:lnTo>
                  <a:pt x="0" y="4122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542637" y="838265"/>
            <a:ext cx="34820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39" id="39"/>
          <p:cNvSpPr/>
          <p:nvPr/>
        </p:nvSpPr>
        <p:spPr>
          <a:xfrm flipH="false" flipV="true" rot="0">
            <a:off x="16823784" y="0"/>
            <a:ext cx="1464216" cy="1438592"/>
          </a:xfrm>
          <a:custGeom>
            <a:avLst/>
            <a:gdLst/>
            <a:ahLst/>
            <a:cxnLst/>
            <a:rect r="r" b="b" t="t" l="l"/>
            <a:pathLst>
              <a:path h="1438592" w="1464216">
                <a:moveTo>
                  <a:pt x="0" y="1438592"/>
                </a:moveTo>
                <a:lnTo>
                  <a:pt x="1464216" y="1438592"/>
                </a:lnTo>
                <a:lnTo>
                  <a:pt x="1464216" y="0"/>
                </a:lnTo>
                <a:lnTo>
                  <a:pt x="0" y="0"/>
                </a:lnTo>
                <a:lnTo>
                  <a:pt x="0" y="1438592"/>
                </a:lnTo>
                <a:close/>
              </a:path>
            </a:pathLst>
          </a:custGeom>
          <a:blipFill>
            <a:blip r:embed="rId9">
              <a:alphaModFix amt="4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true" rot="0">
            <a:off x="15323344" y="0"/>
            <a:ext cx="1464216" cy="1438592"/>
          </a:xfrm>
          <a:custGeom>
            <a:avLst/>
            <a:gdLst/>
            <a:ahLst/>
            <a:cxnLst/>
            <a:rect r="r" b="b" t="t" l="l"/>
            <a:pathLst>
              <a:path h="1438592" w="1464216">
                <a:moveTo>
                  <a:pt x="0" y="1438592"/>
                </a:moveTo>
                <a:lnTo>
                  <a:pt x="1464217" y="1438592"/>
                </a:lnTo>
                <a:lnTo>
                  <a:pt x="1464217" y="0"/>
                </a:lnTo>
                <a:lnTo>
                  <a:pt x="0" y="0"/>
                </a:lnTo>
                <a:lnTo>
                  <a:pt x="0" y="1438592"/>
                </a:lnTo>
                <a:close/>
              </a:path>
            </a:pathLst>
          </a:custGeom>
          <a:blipFill>
            <a:blip r:embed="rId9">
              <a:alphaModFix amt="4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098401" y="4421611"/>
            <a:ext cx="5077185" cy="0"/>
          </a:xfrm>
          <a:prstGeom prst="line">
            <a:avLst/>
          </a:prstGeom>
          <a:ln cap="rnd" w="38100">
            <a:solidFill>
              <a:srgbClr val="0B0A0A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27180" y="2004219"/>
            <a:ext cx="3296363" cy="3176870"/>
          </a:xfrm>
          <a:custGeom>
            <a:avLst/>
            <a:gdLst/>
            <a:ahLst/>
            <a:cxnLst/>
            <a:rect r="r" b="b" t="t" l="l"/>
            <a:pathLst>
              <a:path h="3176870" w="3296363">
                <a:moveTo>
                  <a:pt x="0" y="0"/>
                </a:moveTo>
                <a:lnTo>
                  <a:pt x="3296363" y="0"/>
                </a:lnTo>
                <a:lnTo>
                  <a:pt x="3296363" y="3176870"/>
                </a:lnTo>
                <a:lnTo>
                  <a:pt x="0" y="3176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86667" y="7274800"/>
            <a:ext cx="3347303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olicies and tools protect business data on personal and corporate devices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59909" y="7274800"/>
            <a:ext cx="3480676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Syst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ematic updates ensure systems remain protected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ga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know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n v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rabili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5956" y="5655917"/>
            <a:ext cx="401911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Endpoint prot</a:t>
            </a: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ection 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05667" y="5655917"/>
            <a:ext cx="4109303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obile device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08449" y="5655917"/>
            <a:ext cx="398359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Softwa</a:t>
            </a:r>
            <a:r>
              <a:rPr lang="en-US" b="true" sz="24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re patch management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53131" y="7274800"/>
            <a:ext cx="3504761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000" strike="noStrike" u="none">
                <a:solidFill>
                  <a:srgbClr val="06202B"/>
                </a:solidFill>
                <a:latin typeface="Poppins"/>
                <a:ea typeface="Poppins"/>
                <a:cs typeface="Poppins"/>
                <a:sym typeface="Poppins"/>
              </a:rPr>
              <a:t>e secure computers, mobile devices, and other endpoints against malware and attacks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8401" y="1909581"/>
            <a:ext cx="7160899" cy="19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sz="68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Endpoint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 &amp;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D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v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i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ce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cu</a:t>
            </a:r>
            <a:r>
              <a:rPr lang="en-US" sz="6800" strike="noStrike" u="none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rity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8401" y="1236481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61042" y="5581139"/>
            <a:ext cx="3888938" cy="1060147"/>
            <a:chOff x="0" y="0"/>
            <a:chExt cx="1024247" cy="279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247" cy="279216"/>
            </a:xfrm>
            <a:custGeom>
              <a:avLst/>
              <a:gdLst/>
              <a:ahLst/>
              <a:cxnLst/>
              <a:rect r="r" b="b" t="t" l="l"/>
              <a:pathLst>
                <a:path h="279216" w="1024247">
                  <a:moveTo>
                    <a:pt x="0" y="0"/>
                  </a:moveTo>
                  <a:lnTo>
                    <a:pt x="1024247" y="0"/>
                  </a:lnTo>
                  <a:lnTo>
                    <a:pt x="1024247" y="279216"/>
                  </a:lnTo>
                  <a:lnTo>
                    <a:pt x="0" y="279216"/>
                  </a:lnTo>
                  <a:close/>
                </a:path>
              </a:pathLst>
            </a:custGeom>
            <a:ln w="3810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24247" cy="345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42636" y="5581139"/>
            <a:ext cx="3802727" cy="1060147"/>
            <a:chOff x="0" y="0"/>
            <a:chExt cx="1001541" cy="279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1541" cy="279216"/>
            </a:xfrm>
            <a:custGeom>
              <a:avLst/>
              <a:gdLst/>
              <a:ahLst/>
              <a:cxnLst/>
              <a:rect r="r" b="b" t="t" l="l"/>
              <a:pathLst>
                <a:path h="279216" w="1001541">
                  <a:moveTo>
                    <a:pt x="0" y="0"/>
                  </a:moveTo>
                  <a:lnTo>
                    <a:pt x="1001541" y="0"/>
                  </a:lnTo>
                  <a:lnTo>
                    <a:pt x="1001541" y="279216"/>
                  </a:lnTo>
                  <a:lnTo>
                    <a:pt x="0" y="279216"/>
                  </a:lnTo>
                  <a:close/>
                </a:path>
              </a:pathLst>
            </a:custGeom>
            <a:ln w="3810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001541" cy="345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72245" y="5581139"/>
            <a:ext cx="3856004" cy="1060147"/>
            <a:chOff x="0" y="0"/>
            <a:chExt cx="1015573" cy="279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5573" cy="279216"/>
            </a:xfrm>
            <a:custGeom>
              <a:avLst/>
              <a:gdLst/>
              <a:ahLst/>
              <a:cxnLst/>
              <a:rect r="r" b="b" t="t" l="l"/>
              <a:pathLst>
                <a:path h="279216" w="1015573">
                  <a:moveTo>
                    <a:pt x="0" y="0"/>
                  </a:moveTo>
                  <a:lnTo>
                    <a:pt x="1015573" y="0"/>
                  </a:lnTo>
                  <a:lnTo>
                    <a:pt x="1015573" y="279216"/>
                  </a:lnTo>
                  <a:lnTo>
                    <a:pt x="0" y="279216"/>
                  </a:lnTo>
                  <a:close/>
                </a:path>
              </a:pathLst>
            </a:custGeom>
            <a:ln w="3810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015573" cy="345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true" flipV="false" rot="5400000">
            <a:off x="-9525" y="5143500"/>
            <a:ext cx="1690452" cy="1690452"/>
          </a:xfrm>
          <a:custGeom>
            <a:avLst/>
            <a:gdLst/>
            <a:ahLst/>
            <a:cxnLst/>
            <a:rect r="r" b="b" t="t" l="l"/>
            <a:pathLst>
              <a:path h="1690452" w="1690452">
                <a:moveTo>
                  <a:pt x="1690452" y="0"/>
                </a:moveTo>
                <a:lnTo>
                  <a:pt x="0" y="0"/>
                </a:lnTo>
                <a:lnTo>
                  <a:pt x="0" y="1690452"/>
                </a:lnTo>
                <a:lnTo>
                  <a:pt x="1690452" y="1690452"/>
                </a:lnTo>
                <a:lnTo>
                  <a:pt x="16904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true" rot="5400000">
            <a:off x="16612412" y="5181089"/>
            <a:ext cx="1690452" cy="1690452"/>
          </a:xfrm>
          <a:custGeom>
            <a:avLst/>
            <a:gdLst/>
            <a:ahLst/>
            <a:cxnLst/>
            <a:rect r="r" b="b" t="t" l="l"/>
            <a:pathLst>
              <a:path h="1690452" w="1690452">
                <a:moveTo>
                  <a:pt x="1690452" y="1690452"/>
                </a:moveTo>
                <a:lnTo>
                  <a:pt x="0" y="1690452"/>
                </a:lnTo>
                <a:lnTo>
                  <a:pt x="0" y="0"/>
                </a:lnTo>
                <a:lnTo>
                  <a:pt x="1690452" y="0"/>
                </a:lnTo>
                <a:lnTo>
                  <a:pt x="1690452" y="16904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-607674" y="7988997"/>
            <a:ext cx="3490637" cy="1105368"/>
          </a:xfrm>
          <a:custGeom>
            <a:avLst/>
            <a:gdLst/>
            <a:ahLst/>
            <a:cxnLst/>
            <a:rect r="r" b="b" t="t" l="l"/>
            <a:pathLst>
              <a:path h="1105368" w="3490637">
                <a:moveTo>
                  <a:pt x="0" y="0"/>
                </a:moveTo>
                <a:lnTo>
                  <a:pt x="3490637" y="0"/>
                </a:lnTo>
                <a:lnTo>
                  <a:pt x="3490637" y="1105369"/>
                </a:lnTo>
                <a:lnTo>
                  <a:pt x="0" y="11053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15432621" y="8013743"/>
            <a:ext cx="3453048" cy="1093465"/>
          </a:xfrm>
          <a:custGeom>
            <a:avLst/>
            <a:gdLst/>
            <a:ahLst/>
            <a:cxnLst/>
            <a:rect r="r" b="b" t="t" l="l"/>
            <a:pathLst>
              <a:path h="1093465" w="3453048">
                <a:moveTo>
                  <a:pt x="0" y="0"/>
                </a:moveTo>
                <a:lnTo>
                  <a:pt x="3453048" y="0"/>
                </a:lnTo>
                <a:lnTo>
                  <a:pt x="3453048" y="1093466"/>
                </a:lnTo>
                <a:lnTo>
                  <a:pt x="0" y="10934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28700" y="849630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5"/>
                </a:lnTo>
                <a:lnTo>
                  <a:pt x="0" y="4122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42637" y="838265"/>
            <a:ext cx="34820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347631" y="6871541"/>
            <a:ext cx="1592738" cy="248865"/>
          </a:xfrm>
          <a:custGeom>
            <a:avLst/>
            <a:gdLst/>
            <a:ahLst/>
            <a:cxnLst/>
            <a:rect r="r" b="b" t="t" l="l"/>
            <a:pathLst>
              <a:path h="248865" w="1592738">
                <a:moveTo>
                  <a:pt x="0" y="0"/>
                </a:moveTo>
                <a:lnTo>
                  <a:pt x="1592738" y="0"/>
                </a:lnTo>
                <a:lnTo>
                  <a:pt x="1592738" y="248865"/>
                </a:lnTo>
                <a:lnTo>
                  <a:pt x="0" y="2488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309142" y="6871541"/>
            <a:ext cx="1592738" cy="248865"/>
          </a:xfrm>
          <a:custGeom>
            <a:avLst/>
            <a:gdLst/>
            <a:ahLst/>
            <a:cxnLst/>
            <a:rect r="r" b="b" t="t" l="l"/>
            <a:pathLst>
              <a:path h="248865" w="1592738">
                <a:moveTo>
                  <a:pt x="0" y="0"/>
                </a:moveTo>
                <a:lnTo>
                  <a:pt x="1592738" y="0"/>
                </a:lnTo>
                <a:lnTo>
                  <a:pt x="1592738" y="248865"/>
                </a:lnTo>
                <a:lnTo>
                  <a:pt x="0" y="2488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403878" y="6871541"/>
            <a:ext cx="1592738" cy="248865"/>
          </a:xfrm>
          <a:custGeom>
            <a:avLst/>
            <a:gdLst/>
            <a:ahLst/>
            <a:cxnLst/>
            <a:rect r="r" b="b" t="t" l="l"/>
            <a:pathLst>
              <a:path h="248865" w="1592738">
                <a:moveTo>
                  <a:pt x="0" y="0"/>
                </a:moveTo>
                <a:lnTo>
                  <a:pt x="1592738" y="0"/>
                </a:lnTo>
                <a:lnTo>
                  <a:pt x="1592738" y="248865"/>
                </a:lnTo>
                <a:lnTo>
                  <a:pt x="0" y="2488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187907" y="9258300"/>
            <a:ext cx="1944823" cy="1922944"/>
          </a:xfrm>
          <a:custGeom>
            <a:avLst/>
            <a:gdLst/>
            <a:ahLst/>
            <a:cxnLst/>
            <a:rect r="r" b="b" t="t" l="l"/>
            <a:pathLst>
              <a:path h="1922944" w="1944823">
                <a:moveTo>
                  <a:pt x="0" y="0"/>
                </a:moveTo>
                <a:lnTo>
                  <a:pt x="1944823" y="0"/>
                </a:lnTo>
                <a:lnTo>
                  <a:pt x="1944823" y="1922944"/>
                </a:lnTo>
                <a:lnTo>
                  <a:pt x="0" y="1922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140910" y="9258300"/>
            <a:ext cx="1944823" cy="1922944"/>
          </a:xfrm>
          <a:custGeom>
            <a:avLst/>
            <a:gdLst/>
            <a:ahLst/>
            <a:cxnLst/>
            <a:rect r="r" b="b" t="t" l="l"/>
            <a:pathLst>
              <a:path h="1922944" w="1944823">
                <a:moveTo>
                  <a:pt x="0" y="0"/>
                </a:moveTo>
                <a:lnTo>
                  <a:pt x="1944823" y="0"/>
                </a:lnTo>
                <a:lnTo>
                  <a:pt x="1944823" y="1922944"/>
                </a:lnTo>
                <a:lnTo>
                  <a:pt x="0" y="1922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095258" y="9258300"/>
            <a:ext cx="1944823" cy="1922944"/>
          </a:xfrm>
          <a:custGeom>
            <a:avLst/>
            <a:gdLst/>
            <a:ahLst/>
            <a:cxnLst/>
            <a:rect r="r" b="b" t="t" l="l"/>
            <a:pathLst>
              <a:path h="1922944" w="1944823">
                <a:moveTo>
                  <a:pt x="0" y="0"/>
                </a:moveTo>
                <a:lnTo>
                  <a:pt x="1944823" y="0"/>
                </a:lnTo>
                <a:lnTo>
                  <a:pt x="1944823" y="1922944"/>
                </a:lnTo>
                <a:lnTo>
                  <a:pt x="0" y="1922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049606" y="9258300"/>
            <a:ext cx="1944823" cy="1922944"/>
          </a:xfrm>
          <a:custGeom>
            <a:avLst/>
            <a:gdLst/>
            <a:ahLst/>
            <a:cxnLst/>
            <a:rect r="r" b="b" t="t" l="l"/>
            <a:pathLst>
              <a:path h="1922944" w="1944823">
                <a:moveTo>
                  <a:pt x="0" y="0"/>
                </a:moveTo>
                <a:lnTo>
                  <a:pt x="1944822" y="0"/>
                </a:lnTo>
                <a:lnTo>
                  <a:pt x="1944822" y="1922944"/>
                </a:lnTo>
                <a:lnTo>
                  <a:pt x="0" y="1922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233559" y="9258300"/>
            <a:ext cx="1944823" cy="1922944"/>
          </a:xfrm>
          <a:custGeom>
            <a:avLst/>
            <a:gdLst/>
            <a:ahLst/>
            <a:cxnLst/>
            <a:rect r="r" b="b" t="t" l="l"/>
            <a:pathLst>
              <a:path h="1922944" w="1944823">
                <a:moveTo>
                  <a:pt x="0" y="0"/>
                </a:moveTo>
                <a:lnTo>
                  <a:pt x="1944823" y="0"/>
                </a:lnTo>
                <a:lnTo>
                  <a:pt x="1944823" y="1922944"/>
                </a:lnTo>
                <a:lnTo>
                  <a:pt x="0" y="1922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279211" y="9258300"/>
            <a:ext cx="1944823" cy="1922944"/>
          </a:xfrm>
          <a:custGeom>
            <a:avLst/>
            <a:gdLst/>
            <a:ahLst/>
            <a:cxnLst/>
            <a:rect r="r" b="b" t="t" l="l"/>
            <a:pathLst>
              <a:path h="1922944" w="1944823">
                <a:moveTo>
                  <a:pt x="0" y="0"/>
                </a:moveTo>
                <a:lnTo>
                  <a:pt x="1944823" y="0"/>
                </a:lnTo>
                <a:lnTo>
                  <a:pt x="1944823" y="1922944"/>
                </a:lnTo>
                <a:lnTo>
                  <a:pt x="0" y="1922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324863" y="9258300"/>
            <a:ext cx="1944823" cy="1922944"/>
          </a:xfrm>
          <a:custGeom>
            <a:avLst/>
            <a:gdLst/>
            <a:ahLst/>
            <a:cxnLst/>
            <a:rect r="r" b="b" t="t" l="l"/>
            <a:pathLst>
              <a:path h="1922944" w="1944823">
                <a:moveTo>
                  <a:pt x="0" y="0"/>
                </a:moveTo>
                <a:lnTo>
                  <a:pt x="1944823" y="0"/>
                </a:lnTo>
                <a:lnTo>
                  <a:pt x="1944823" y="1922944"/>
                </a:lnTo>
                <a:lnTo>
                  <a:pt x="0" y="19229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013230" y="2551624"/>
            <a:ext cx="884716" cy="895915"/>
          </a:xfrm>
          <a:custGeom>
            <a:avLst/>
            <a:gdLst/>
            <a:ahLst/>
            <a:cxnLst/>
            <a:rect r="r" b="b" t="t" l="l"/>
            <a:pathLst>
              <a:path h="895915" w="884716">
                <a:moveTo>
                  <a:pt x="0" y="0"/>
                </a:moveTo>
                <a:lnTo>
                  <a:pt x="884716" y="0"/>
                </a:lnTo>
                <a:lnTo>
                  <a:pt x="884716" y="895915"/>
                </a:lnTo>
                <a:lnTo>
                  <a:pt x="0" y="8959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572519" y="1968553"/>
            <a:ext cx="4509841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2572519" y="3810110"/>
            <a:ext cx="4509841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2572519" y="5657803"/>
            <a:ext cx="4509841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2572519" y="7495971"/>
            <a:ext cx="4509841" cy="0"/>
          </a:xfrm>
          <a:prstGeom prst="line">
            <a:avLst/>
          </a:prstGeom>
          <a:ln cap="rnd" w="19050">
            <a:solidFill>
              <a:srgbClr val="0620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710180" y="1427747"/>
            <a:ext cx="4140679" cy="4114800"/>
          </a:xfrm>
          <a:custGeom>
            <a:avLst/>
            <a:gdLst/>
            <a:ahLst/>
            <a:cxnLst/>
            <a:rect r="r" b="b" t="t" l="l"/>
            <a:pathLst>
              <a:path h="4114800" w="4140679">
                <a:moveTo>
                  <a:pt x="0" y="0"/>
                </a:moveTo>
                <a:lnTo>
                  <a:pt x="4140679" y="0"/>
                </a:lnTo>
                <a:lnTo>
                  <a:pt x="41406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2519" y="5812951"/>
            <a:ext cx="5298592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Comprehensive data prot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ection ensures business continuity after security incidents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2519" y="2117565"/>
            <a:ext cx="533664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We create detailed pro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cedures for responding to security breaches and cyber attacks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2519" y="7651119"/>
            <a:ext cx="5298592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Tools and processes for analyzing security in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cidents and preventing future attacks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2519" y="3955733"/>
            <a:ext cx="5336641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24/7 monitoring systems det</a:t>
            </a:r>
            <a:r>
              <a:rPr lang="en-US" sz="18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ect and alert on potential security incidents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2519" y="5065983"/>
            <a:ext cx="533664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Backup and disast</a:t>
            </a:r>
            <a:r>
              <a:rPr lang="en-US" b="true" sz="22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er recovery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2519" y="1370597"/>
            <a:ext cx="533664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Incident respons</a:t>
            </a:r>
            <a:r>
              <a:rPr lang="en-US" b="true" sz="22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 plan development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2519" y="6904151"/>
            <a:ext cx="533664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Forensic investigation</a:t>
            </a:r>
            <a:r>
              <a:rPr lang="en-US" b="true" sz="22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capabilities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72519" y="3208765"/>
            <a:ext cx="533664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monitoring and</a:t>
            </a:r>
            <a:r>
              <a:rPr lang="en-US" b="true" sz="22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alerting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6295551"/>
            <a:ext cx="7850169" cy="19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Incident Response &amp; Recovery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8224524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-10800000">
            <a:off x="-122028" y="7425698"/>
            <a:ext cx="1832602" cy="1832602"/>
          </a:xfrm>
          <a:custGeom>
            <a:avLst/>
            <a:gdLst/>
            <a:ahLst/>
            <a:cxnLst/>
            <a:rect r="r" b="b" t="t" l="l"/>
            <a:pathLst>
              <a:path h="1832602" w="1832602">
                <a:moveTo>
                  <a:pt x="1832602" y="0"/>
                </a:moveTo>
                <a:lnTo>
                  <a:pt x="0" y="0"/>
                </a:lnTo>
                <a:lnTo>
                  <a:pt x="0" y="1832602"/>
                </a:lnTo>
                <a:lnTo>
                  <a:pt x="1832602" y="1832602"/>
                </a:lnTo>
                <a:lnTo>
                  <a:pt x="183260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-738288" y="4986361"/>
            <a:ext cx="3719791" cy="1177934"/>
          </a:xfrm>
          <a:custGeom>
            <a:avLst/>
            <a:gdLst/>
            <a:ahLst/>
            <a:cxnLst/>
            <a:rect r="r" b="b" t="t" l="l"/>
            <a:pathLst>
              <a:path h="1177934" w="3719791">
                <a:moveTo>
                  <a:pt x="0" y="0"/>
                </a:moveTo>
                <a:lnTo>
                  <a:pt x="3719791" y="0"/>
                </a:lnTo>
                <a:lnTo>
                  <a:pt x="3719791" y="1177933"/>
                </a:lnTo>
                <a:lnTo>
                  <a:pt x="0" y="1177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-738288" y="1280454"/>
            <a:ext cx="3719791" cy="1177934"/>
          </a:xfrm>
          <a:custGeom>
            <a:avLst/>
            <a:gdLst/>
            <a:ahLst/>
            <a:cxnLst/>
            <a:rect r="r" b="b" t="t" l="l"/>
            <a:pathLst>
              <a:path h="1177934" w="3719791">
                <a:moveTo>
                  <a:pt x="0" y="0"/>
                </a:moveTo>
                <a:lnTo>
                  <a:pt x="3719791" y="0"/>
                </a:lnTo>
                <a:lnTo>
                  <a:pt x="3719791" y="1177933"/>
                </a:lnTo>
                <a:lnTo>
                  <a:pt x="0" y="1177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169164" y="616456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4"/>
                </a:lnTo>
                <a:lnTo>
                  <a:pt x="0" y="4122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683101" y="605091"/>
            <a:ext cx="257619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22" id="22"/>
          <p:cNvSpPr/>
          <p:nvPr/>
        </p:nvSpPr>
        <p:spPr>
          <a:xfrm flipH="true" flipV="false" rot="0">
            <a:off x="15202098" y="2315465"/>
            <a:ext cx="4760226" cy="2856136"/>
          </a:xfrm>
          <a:custGeom>
            <a:avLst/>
            <a:gdLst/>
            <a:ahLst/>
            <a:cxnLst/>
            <a:rect r="r" b="b" t="t" l="l"/>
            <a:pathLst>
              <a:path h="2856136" w="4760226">
                <a:moveTo>
                  <a:pt x="4760226" y="0"/>
                </a:moveTo>
                <a:lnTo>
                  <a:pt x="0" y="0"/>
                </a:lnTo>
                <a:lnTo>
                  <a:pt x="0" y="2856136"/>
                </a:lnTo>
                <a:lnTo>
                  <a:pt x="4760226" y="2856136"/>
                </a:lnTo>
                <a:lnTo>
                  <a:pt x="4760226" y="0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862026" y="9258300"/>
            <a:ext cx="1411578" cy="1519869"/>
          </a:xfrm>
          <a:custGeom>
            <a:avLst/>
            <a:gdLst/>
            <a:ahLst/>
            <a:cxnLst/>
            <a:rect r="r" b="b" t="t" l="l"/>
            <a:pathLst>
              <a:path h="1519869" w="1411578">
                <a:moveTo>
                  <a:pt x="0" y="0"/>
                </a:moveTo>
                <a:lnTo>
                  <a:pt x="1411578" y="0"/>
                </a:lnTo>
                <a:lnTo>
                  <a:pt x="1411578" y="1519869"/>
                </a:lnTo>
                <a:lnTo>
                  <a:pt x="0" y="1519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584538" y="9258300"/>
            <a:ext cx="1411578" cy="1519869"/>
          </a:xfrm>
          <a:custGeom>
            <a:avLst/>
            <a:gdLst/>
            <a:ahLst/>
            <a:cxnLst/>
            <a:rect r="r" b="b" t="t" l="l"/>
            <a:pathLst>
              <a:path h="1519869" w="1411578">
                <a:moveTo>
                  <a:pt x="0" y="0"/>
                </a:moveTo>
                <a:lnTo>
                  <a:pt x="1411578" y="0"/>
                </a:lnTo>
                <a:lnTo>
                  <a:pt x="1411578" y="1519869"/>
                </a:lnTo>
                <a:lnTo>
                  <a:pt x="0" y="1519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723282" y="9258300"/>
            <a:ext cx="1411578" cy="1519869"/>
          </a:xfrm>
          <a:custGeom>
            <a:avLst/>
            <a:gdLst/>
            <a:ahLst/>
            <a:cxnLst/>
            <a:rect r="r" b="b" t="t" l="l"/>
            <a:pathLst>
              <a:path h="1519869" w="1411578">
                <a:moveTo>
                  <a:pt x="0" y="0"/>
                </a:moveTo>
                <a:lnTo>
                  <a:pt x="1411578" y="0"/>
                </a:lnTo>
                <a:lnTo>
                  <a:pt x="1411578" y="1519869"/>
                </a:lnTo>
                <a:lnTo>
                  <a:pt x="0" y="1519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445794" y="9258300"/>
            <a:ext cx="1411578" cy="1519869"/>
          </a:xfrm>
          <a:custGeom>
            <a:avLst/>
            <a:gdLst/>
            <a:ahLst/>
            <a:cxnLst/>
            <a:rect r="r" b="b" t="t" l="l"/>
            <a:pathLst>
              <a:path h="1519869" w="1411578">
                <a:moveTo>
                  <a:pt x="0" y="0"/>
                </a:moveTo>
                <a:lnTo>
                  <a:pt x="1411578" y="0"/>
                </a:lnTo>
                <a:lnTo>
                  <a:pt x="1411578" y="1519869"/>
                </a:lnTo>
                <a:lnTo>
                  <a:pt x="0" y="1519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292654" y="9258300"/>
            <a:ext cx="1411578" cy="1519869"/>
          </a:xfrm>
          <a:custGeom>
            <a:avLst/>
            <a:gdLst/>
            <a:ahLst/>
            <a:cxnLst/>
            <a:rect r="r" b="b" t="t" l="l"/>
            <a:pathLst>
              <a:path h="1519869" w="1411578">
                <a:moveTo>
                  <a:pt x="0" y="0"/>
                </a:moveTo>
                <a:lnTo>
                  <a:pt x="1411578" y="0"/>
                </a:lnTo>
                <a:lnTo>
                  <a:pt x="1411578" y="1519869"/>
                </a:lnTo>
                <a:lnTo>
                  <a:pt x="0" y="1519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015166" y="9258300"/>
            <a:ext cx="1411578" cy="1519869"/>
          </a:xfrm>
          <a:custGeom>
            <a:avLst/>
            <a:gdLst/>
            <a:ahLst/>
            <a:cxnLst/>
            <a:rect r="r" b="b" t="t" l="l"/>
            <a:pathLst>
              <a:path h="1519869" w="1411578">
                <a:moveTo>
                  <a:pt x="0" y="0"/>
                </a:moveTo>
                <a:lnTo>
                  <a:pt x="1411578" y="0"/>
                </a:lnTo>
                <a:lnTo>
                  <a:pt x="1411578" y="1519869"/>
                </a:lnTo>
                <a:lnTo>
                  <a:pt x="0" y="1519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153910" y="9258300"/>
            <a:ext cx="1411578" cy="1519869"/>
          </a:xfrm>
          <a:custGeom>
            <a:avLst/>
            <a:gdLst/>
            <a:ahLst/>
            <a:cxnLst/>
            <a:rect r="r" b="b" t="t" l="l"/>
            <a:pathLst>
              <a:path h="1519869" w="1411578">
                <a:moveTo>
                  <a:pt x="0" y="0"/>
                </a:moveTo>
                <a:lnTo>
                  <a:pt x="1411578" y="0"/>
                </a:lnTo>
                <a:lnTo>
                  <a:pt x="1411578" y="1519869"/>
                </a:lnTo>
                <a:lnTo>
                  <a:pt x="0" y="1519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876422" y="9258300"/>
            <a:ext cx="1411578" cy="1519869"/>
          </a:xfrm>
          <a:custGeom>
            <a:avLst/>
            <a:gdLst/>
            <a:ahLst/>
            <a:cxnLst/>
            <a:rect r="r" b="b" t="t" l="l"/>
            <a:pathLst>
              <a:path h="1519869" w="1411578">
                <a:moveTo>
                  <a:pt x="0" y="0"/>
                </a:moveTo>
                <a:lnTo>
                  <a:pt x="1411578" y="0"/>
                </a:lnTo>
                <a:lnTo>
                  <a:pt x="1411578" y="1519869"/>
                </a:lnTo>
                <a:lnTo>
                  <a:pt x="0" y="15198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5848" y="1848093"/>
            <a:ext cx="1259630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49"/>
              </a:lnSpc>
              <a:spcBef>
                <a:spcPct val="0"/>
              </a:spcBef>
            </a:pPr>
            <a:r>
              <a:rPr lang="en-US" sz="7499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ecuri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y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 Tr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in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i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g 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&amp; Awa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re</a:t>
            </a:r>
            <a:r>
              <a:rPr lang="en-US" sz="7499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ness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5529" y="7162778"/>
            <a:ext cx="3700639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We ed</a:t>
            </a: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ucate staff on security best practices and threat recognition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98749" y="7162778"/>
            <a:ext cx="3700639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Training programs hel</a:t>
            </a: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p employees identify and respond to manipulation attempts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5529" y="6102664"/>
            <a:ext cx="3700639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Employee security training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98749" y="6102664"/>
            <a:ext cx="3700639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Phishing and social engineering defense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52175" y="7184835"/>
            <a:ext cx="3700639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Organizat</a:t>
            </a:r>
            <a:r>
              <a:rPr lang="en-US" sz="19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ion-wide commitment to security as everyone's responsibility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52175" y="6124721"/>
            <a:ext cx="3700639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culture development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075090" y="4169017"/>
            <a:ext cx="5460207" cy="3378503"/>
          </a:xfrm>
          <a:custGeom>
            <a:avLst/>
            <a:gdLst/>
            <a:ahLst/>
            <a:cxnLst/>
            <a:rect r="r" b="b" t="t" l="l"/>
            <a:pathLst>
              <a:path h="3378503" w="5460207">
                <a:moveTo>
                  <a:pt x="0" y="0"/>
                </a:moveTo>
                <a:lnTo>
                  <a:pt x="5460208" y="0"/>
                </a:lnTo>
                <a:lnTo>
                  <a:pt x="5460208" y="3378503"/>
                </a:lnTo>
                <a:lnTo>
                  <a:pt x="0" y="3378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28497" y="4169017"/>
            <a:ext cx="5460207" cy="3378503"/>
          </a:xfrm>
          <a:custGeom>
            <a:avLst/>
            <a:gdLst/>
            <a:ahLst/>
            <a:cxnLst/>
            <a:rect r="r" b="b" t="t" l="l"/>
            <a:pathLst>
              <a:path h="3378503" w="5460207">
                <a:moveTo>
                  <a:pt x="0" y="0"/>
                </a:moveTo>
                <a:lnTo>
                  <a:pt x="5460208" y="0"/>
                </a:lnTo>
                <a:lnTo>
                  <a:pt x="5460208" y="3378503"/>
                </a:lnTo>
                <a:lnTo>
                  <a:pt x="0" y="3378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98749" y="4169017"/>
            <a:ext cx="4092208" cy="1295866"/>
          </a:xfrm>
          <a:custGeom>
            <a:avLst/>
            <a:gdLst/>
            <a:ahLst/>
            <a:cxnLst/>
            <a:rect r="r" b="b" t="t" l="l"/>
            <a:pathLst>
              <a:path h="1295866" w="4092208">
                <a:moveTo>
                  <a:pt x="0" y="0"/>
                </a:moveTo>
                <a:lnTo>
                  <a:pt x="4092208" y="0"/>
                </a:lnTo>
                <a:lnTo>
                  <a:pt x="4092208" y="1295866"/>
                </a:lnTo>
                <a:lnTo>
                  <a:pt x="0" y="1295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11651" y="4169017"/>
            <a:ext cx="4092208" cy="1295866"/>
          </a:xfrm>
          <a:custGeom>
            <a:avLst/>
            <a:gdLst/>
            <a:ahLst/>
            <a:cxnLst/>
            <a:rect r="r" b="b" t="t" l="l"/>
            <a:pathLst>
              <a:path h="1295866" w="4092208">
                <a:moveTo>
                  <a:pt x="0" y="0"/>
                </a:moveTo>
                <a:lnTo>
                  <a:pt x="4092208" y="0"/>
                </a:lnTo>
                <a:lnTo>
                  <a:pt x="4092208" y="1295866"/>
                </a:lnTo>
                <a:lnTo>
                  <a:pt x="0" y="1295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95792" y="4169017"/>
            <a:ext cx="4092208" cy="1295866"/>
          </a:xfrm>
          <a:custGeom>
            <a:avLst/>
            <a:gdLst/>
            <a:ahLst/>
            <a:cxnLst/>
            <a:rect r="r" b="b" t="t" l="l"/>
            <a:pathLst>
              <a:path h="1295866" w="4092208">
                <a:moveTo>
                  <a:pt x="0" y="0"/>
                </a:moveTo>
                <a:lnTo>
                  <a:pt x="4092208" y="0"/>
                </a:lnTo>
                <a:lnTo>
                  <a:pt x="4092208" y="1295866"/>
                </a:lnTo>
                <a:lnTo>
                  <a:pt x="0" y="1295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3768800" y="8893569"/>
            <a:ext cx="4079045" cy="1291697"/>
          </a:xfrm>
          <a:custGeom>
            <a:avLst/>
            <a:gdLst/>
            <a:ahLst/>
            <a:cxnLst/>
            <a:rect r="r" b="b" t="t" l="l"/>
            <a:pathLst>
              <a:path h="1291697" w="4079045">
                <a:moveTo>
                  <a:pt x="0" y="0"/>
                </a:moveTo>
                <a:lnTo>
                  <a:pt x="4079045" y="0"/>
                </a:lnTo>
                <a:lnTo>
                  <a:pt x="4079045" y="1291697"/>
                </a:lnTo>
                <a:lnTo>
                  <a:pt x="0" y="1291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400000">
            <a:off x="10219079" y="8893569"/>
            <a:ext cx="4079045" cy="1291697"/>
          </a:xfrm>
          <a:custGeom>
            <a:avLst/>
            <a:gdLst/>
            <a:ahLst/>
            <a:cxnLst/>
            <a:rect r="r" b="b" t="t" l="l"/>
            <a:pathLst>
              <a:path h="1291697" w="4079045">
                <a:moveTo>
                  <a:pt x="0" y="0"/>
                </a:moveTo>
                <a:lnTo>
                  <a:pt x="4079044" y="0"/>
                </a:lnTo>
                <a:lnTo>
                  <a:pt x="4079044" y="1291697"/>
                </a:lnTo>
                <a:lnTo>
                  <a:pt x="0" y="1291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378576" y="4591095"/>
            <a:ext cx="934545" cy="1104809"/>
            <a:chOff x="0" y="0"/>
            <a:chExt cx="355720" cy="420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5720" cy="420529"/>
            </a:xfrm>
            <a:custGeom>
              <a:avLst/>
              <a:gdLst/>
              <a:ahLst/>
              <a:cxnLst/>
              <a:rect r="r" b="b" t="t" l="l"/>
              <a:pathLst>
                <a:path h="420529" w="355720">
                  <a:moveTo>
                    <a:pt x="355720" y="0"/>
                  </a:moveTo>
                  <a:lnTo>
                    <a:pt x="355720" y="306229"/>
                  </a:lnTo>
                  <a:lnTo>
                    <a:pt x="177860" y="420529"/>
                  </a:lnTo>
                  <a:lnTo>
                    <a:pt x="0" y="306229"/>
                  </a:lnTo>
                  <a:lnTo>
                    <a:pt x="0" y="0"/>
                  </a:lnTo>
                  <a:lnTo>
                    <a:pt x="355720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355720" cy="372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76728" y="4591095"/>
            <a:ext cx="934545" cy="1104809"/>
            <a:chOff x="0" y="0"/>
            <a:chExt cx="355720" cy="420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5720" cy="420529"/>
            </a:xfrm>
            <a:custGeom>
              <a:avLst/>
              <a:gdLst/>
              <a:ahLst/>
              <a:cxnLst/>
              <a:rect r="r" b="b" t="t" l="l"/>
              <a:pathLst>
                <a:path h="420529" w="355720">
                  <a:moveTo>
                    <a:pt x="355720" y="0"/>
                  </a:moveTo>
                  <a:lnTo>
                    <a:pt x="355720" y="306229"/>
                  </a:lnTo>
                  <a:lnTo>
                    <a:pt x="177860" y="420529"/>
                  </a:lnTo>
                  <a:lnTo>
                    <a:pt x="0" y="306229"/>
                  </a:lnTo>
                  <a:lnTo>
                    <a:pt x="0" y="0"/>
                  </a:lnTo>
                  <a:lnTo>
                    <a:pt x="355720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355720" cy="372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135222" y="4591095"/>
            <a:ext cx="934545" cy="1104809"/>
            <a:chOff x="0" y="0"/>
            <a:chExt cx="355720" cy="4205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5720" cy="420529"/>
            </a:xfrm>
            <a:custGeom>
              <a:avLst/>
              <a:gdLst/>
              <a:ahLst/>
              <a:cxnLst/>
              <a:rect r="r" b="b" t="t" l="l"/>
              <a:pathLst>
                <a:path h="420529" w="355720">
                  <a:moveTo>
                    <a:pt x="355720" y="0"/>
                  </a:moveTo>
                  <a:lnTo>
                    <a:pt x="355720" y="306229"/>
                  </a:lnTo>
                  <a:lnTo>
                    <a:pt x="177860" y="420529"/>
                  </a:lnTo>
                  <a:lnTo>
                    <a:pt x="0" y="306229"/>
                  </a:lnTo>
                  <a:lnTo>
                    <a:pt x="0" y="0"/>
                  </a:lnTo>
                  <a:lnTo>
                    <a:pt x="355720" y="0"/>
                  </a:lnTo>
                  <a:close/>
                </a:path>
              </a:pathLst>
            </a:custGeom>
            <a:solidFill>
              <a:srgbClr val="06202B"/>
            </a:solidFill>
            <a:ln w="57150" cap="sq">
              <a:solidFill>
                <a:srgbClr val="7AE2C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355720" cy="372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156668" y="3095867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-5400000">
            <a:off x="1502132" y="8640281"/>
            <a:ext cx="2346574" cy="3293437"/>
          </a:xfrm>
          <a:custGeom>
            <a:avLst/>
            <a:gdLst/>
            <a:ahLst/>
            <a:cxnLst/>
            <a:rect r="r" b="b" t="t" l="l"/>
            <a:pathLst>
              <a:path h="3293437" w="2346574">
                <a:moveTo>
                  <a:pt x="0" y="0"/>
                </a:moveTo>
                <a:lnTo>
                  <a:pt x="2346574" y="0"/>
                </a:lnTo>
                <a:lnTo>
                  <a:pt x="2346574" y="3293438"/>
                </a:lnTo>
                <a:lnTo>
                  <a:pt x="0" y="3293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14439294" y="8640281"/>
            <a:ext cx="2346574" cy="3293437"/>
          </a:xfrm>
          <a:custGeom>
            <a:avLst/>
            <a:gdLst/>
            <a:ahLst/>
            <a:cxnLst/>
            <a:rect r="r" b="b" t="t" l="l"/>
            <a:pathLst>
              <a:path h="3293437" w="2346574">
                <a:moveTo>
                  <a:pt x="0" y="0"/>
                </a:moveTo>
                <a:lnTo>
                  <a:pt x="2346574" y="0"/>
                </a:lnTo>
                <a:lnTo>
                  <a:pt x="2346574" y="3293438"/>
                </a:lnTo>
                <a:lnTo>
                  <a:pt x="0" y="3293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7975781" y="8640281"/>
            <a:ext cx="2346574" cy="3293437"/>
          </a:xfrm>
          <a:custGeom>
            <a:avLst/>
            <a:gdLst/>
            <a:ahLst/>
            <a:cxnLst/>
            <a:rect r="r" b="b" t="t" l="l"/>
            <a:pathLst>
              <a:path h="3293437" w="2346574">
                <a:moveTo>
                  <a:pt x="0" y="0"/>
                </a:moveTo>
                <a:lnTo>
                  <a:pt x="2346574" y="0"/>
                </a:lnTo>
                <a:lnTo>
                  <a:pt x="2346574" y="3293438"/>
                </a:lnTo>
                <a:lnTo>
                  <a:pt x="0" y="3293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8700" y="849630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5"/>
                </a:lnTo>
                <a:lnTo>
                  <a:pt x="0" y="4122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42637" y="838265"/>
            <a:ext cx="348203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31" id="31"/>
          <p:cNvSpPr/>
          <p:nvPr/>
        </p:nvSpPr>
        <p:spPr>
          <a:xfrm flipH="false" flipV="true" rot="0">
            <a:off x="17259300" y="0"/>
            <a:ext cx="1028700" cy="1023557"/>
          </a:xfrm>
          <a:custGeom>
            <a:avLst/>
            <a:gdLst/>
            <a:ahLst/>
            <a:cxnLst/>
            <a:rect r="r" b="b" t="t" l="l"/>
            <a:pathLst>
              <a:path h="1023557" w="1028700">
                <a:moveTo>
                  <a:pt x="0" y="1023557"/>
                </a:moveTo>
                <a:lnTo>
                  <a:pt x="1028700" y="1023557"/>
                </a:lnTo>
                <a:lnTo>
                  <a:pt x="1028700" y="0"/>
                </a:lnTo>
                <a:lnTo>
                  <a:pt x="0" y="0"/>
                </a:lnTo>
                <a:lnTo>
                  <a:pt x="0" y="1023557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true" rot="0">
            <a:off x="15224626" y="0"/>
            <a:ext cx="1028700" cy="1023557"/>
          </a:xfrm>
          <a:custGeom>
            <a:avLst/>
            <a:gdLst/>
            <a:ahLst/>
            <a:cxnLst/>
            <a:rect r="r" b="b" t="t" l="l"/>
            <a:pathLst>
              <a:path h="1023557" w="1028700">
                <a:moveTo>
                  <a:pt x="0" y="1023557"/>
                </a:moveTo>
                <a:lnTo>
                  <a:pt x="1028700" y="1023557"/>
                </a:lnTo>
                <a:lnTo>
                  <a:pt x="1028700" y="0"/>
                </a:lnTo>
                <a:lnTo>
                  <a:pt x="0" y="0"/>
                </a:lnTo>
                <a:lnTo>
                  <a:pt x="0" y="1023557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true" rot="0">
            <a:off x="16241896" y="0"/>
            <a:ext cx="1028700" cy="1023557"/>
          </a:xfrm>
          <a:custGeom>
            <a:avLst/>
            <a:gdLst/>
            <a:ahLst/>
            <a:cxnLst/>
            <a:rect r="r" b="b" t="t" l="l"/>
            <a:pathLst>
              <a:path h="1023557" w="1028700">
                <a:moveTo>
                  <a:pt x="0" y="1023557"/>
                </a:moveTo>
                <a:lnTo>
                  <a:pt x="1028700" y="1023557"/>
                </a:lnTo>
                <a:lnTo>
                  <a:pt x="1028700" y="0"/>
                </a:lnTo>
                <a:lnTo>
                  <a:pt x="0" y="0"/>
                </a:lnTo>
                <a:lnTo>
                  <a:pt x="0" y="1023557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true" rot="0">
            <a:off x="14207222" y="0"/>
            <a:ext cx="1028700" cy="1023557"/>
          </a:xfrm>
          <a:custGeom>
            <a:avLst/>
            <a:gdLst/>
            <a:ahLst/>
            <a:cxnLst/>
            <a:rect r="r" b="b" t="t" l="l"/>
            <a:pathLst>
              <a:path h="1023557" w="1028700">
                <a:moveTo>
                  <a:pt x="0" y="1023557"/>
                </a:moveTo>
                <a:lnTo>
                  <a:pt x="1028700" y="1023557"/>
                </a:lnTo>
                <a:lnTo>
                  <a:pt x="1028700" y="0"/>
                </a:lnTo>
                <a:lnTo>
                  <a:pt x="0" y="0"/>
                </a:lnTo>
                <a:lnTo>
                  <a:pt x="0" y="1023557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8702" y="4079340"/>
            <a:ext cx="4912699" cy="3929546"/>
            <a:chOff x="0" y="0"/>
            <a:chExt cx="1038482" cy="8306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482" cy="830656"/>
            </a:xfrm>
            <a:custGeom>
              <a:avLst/>
              <a:gdLst/>
              <a:ahLst/>
              <a:cxnLst/>
              <a:rect r="r" b="b" t="t" l="l"/>
              <a:pathLst>
                <a:path h="830656" w="1038482">
                  <a:moveTo>
                    <a:pt x="1038482" y="0"/>
                  </a:moveTo>
                  <a:lnTo>
                    <a:pt x="1038482" y="716356"/>
                  </a:lnTo>
                  <a:lnTo>
                    <a:pt x="519241" y="830656"/>
                  </a:lnTo>
                  <a:lnTo>
                    <a:pt x="0" y="716356"/>
                  </a:lnTo>
                  <a:lnTo>
                    <a:pt x="0" y="0"/>
                  </a:lnTo>
                  <a:lnTo>
                    <a:pt x="1038482" y="0"/>
                  </a:lnTo>
                  <a:close/>
                </a:path>
              </a:pathLst>
            </a:custGeom>
            <a:solidFill>
              <a:srgbClr val="06202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038482" cy="783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31267" y="7610731"/>
            <a:ext cx="1647569" cy="16475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E2CF"/>
            </a:solidFill>
            <a:ln w="57150" cap="sq">
              <a:solidFill>
                <a:srgbClr val="F5EED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8702" y="4079340"/>
            <a:ext cx="4912699" cy="1166471"/>
            <a:chOff x="0" y="0"/>
            <a:chExt cx="1233839" cy="2929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3839" cy="292963"/>
            </a:xfrm>
            <a:custGeom>
              <a:avLst/>
              <a:gdLst/>
              <a:ahLst/>
              <a:cxnLst/>
              <a:rect r="r" b="b" t="t" l="l"/>
              <a:pathLst>
                <a:path h="292963" w="1233839">
                  <a:moveTo>
                    <a:pt x="0" y="0"/>
                  </a:moveTo>
                  <a:lnTo>
                    <a:pt x="1233839" y="0"/>
                  </a:lnTo>
                  <a:lnTo>
                    <a:pt x="1233839" y="292963"/>
                  </a:lnTo>
                  <a:lnTo>
                    <a:pt x="0" y="292963"/>
                  </a:lnTo>
                  <a:close/>
                </a:path>
              </a:pathLst>
            </a:custGeom>
            <a:solidFill>
              <a:srgbClr val="7AE2C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33839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87651" y="4079340"/>
            <a:ext cx="4912699" cy="3929546"/>
            <a:chOff x="0" y="0"/>
            <a:chExt cx="1038482" cy="8306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482" cy="830656"/>
            </a:xfrm>
            <a:custGeom>
              <a:avLst/>
              <a:gdLst/>
              <a:ahLst/>
              <a:cxnLst/>
              <a:rect r="r" b="b" t="t" l="l"/>
              <a:pathLst>
                <a:path h="830656" w="1038482">
                  <a:moveTo>
                    <a:pt x="1038482" y="0"/>
                  </a:moveTo>
                  <a:lnTo>
                    <a:pt x="1038482" y="716356"/>
                  </a:lnTo>
                  <a:lnTo>
                    <a:pt x="519241" y="830656"/>
                  </a:lnTo>
                  <a:lnTo>
                    <a:pt x="0" y="716356"/>
                  </a:lnTo>
                  <a:lnTo>
                    <a:pt x="0" y="0"/>
                  </a:lnTo>
                  <a:lnTo>
                    <a:pt x="1038482" y="0"/>
                  </a:lnTo>
                  <a:close/>
                </a:path>
              </a:pathLst>
            </a:custGeom>
            <a:solidFill>
              <a:srgbClr val="0620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38482" cy="783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76599" y="4079340"/>
            <a:ext cx="4912699" cy="3929546"/>
            <a:chOff x="0" y="0"/>
            <a:chExt cx="1038482" cy="8306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482" cy="830656"/>
            </a:xfrm>
            <a:custGeom>
              <a:avLst/>
              <a:gdLst/>
              <a:ahLst/>
              <a:cxnLst/>
              <a:rect r="r" b="b" t="t" l="l"/>
              <a:pathLst>
                <a:path h="830656" w="1038482">
                  <a:moveTo>
                    <a:pt x="1038482" y="0"/>
                  </a:moveTo>
                  <a:lnTo>
                    <a:pt x="1038482" y="716356"/>
                  </a:lnTo>
                  <a:lnTo>
                    <a:pt x="519241" y="830656"/>
                  </a:lnTo>
                  <a:lnTo>
                    <a:pt x="0" y="716356"/>
                  </a:lnTo>
                  <a:lnTo>
                    <a:pt x="0" y="0"/>
                  </a:lnTo>
                  <a:lnTo>
                    <a:pt x="1038482" y="0"/>
                  </a:lnTo>
                  <a:close/>
                </a:path>
              </a:pathLst>
            </a:custGeom>
            <a:solidFill>
              <a:srgbClr val="06202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38482" cy="783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20216" y="7610731"/>
            <a:ext cx="1647569" cy="164756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E2CF"/>
            </a:solidFill>
            <a:ln w="57150" cap="sq">
              <a:solidFill>
                <a:srgbClr val="F5EED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09165" y="7610731"/>
            <a:ext cx="1647569" cy="164756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E2CF"/>
            </a:solidFill>
            <a:ln w="57150" cap="sq">
              <a:solidFill>
                <a:srgbClr val="F5EED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87651" y="4079340"/>
            <a:ext cx="4912699" cy="1166471"/>
            <a:chOff x="0" y="0"/>
            <a:chExt cx="1233839" cy="2929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3839" cy="292963"/>
            </a:xfrm>
            <a:custGeom>
              <a:avLst/>
              <a:gdLst/>
              <a:ahLst/>
              <a:cxnLst/>
              <a:rect r="r" b="b" t="t" l="l"/>
              <a:pathLst>
                <a:path h="292963" w="1233839">
                  <a:moveTo>
                    <a:pt x="0" y="0"/>
                  </a:moveTo>
                  <a:lnTo>
                    <a:pt x="1233839" y="0"/>
                  </a:lnTo>
                  <a:lnTo>
                    <a:pt x="1233839" y="292963"/>
                  </a:lnTo>
                  <a:lnTo>
                    <a:pt x="0" y="292963"/>
                  </a:lnTo>
                  <a:close/>
                </a:path>
              </a:pathLst>
            </a:custGeom>
            <a:solidFill>
              <a:srgbClr val="7AE2C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233839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76599" y="4079340"/>
            <a:ext cx="4912699" cy="1166471"/>
            <a:chOff x="0" y="0"/>
            <a:chExt cx="1233839" cy="2929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33839" cy="292963"/>
            </a:xfrm>
            <a:custGeom>
              <a:avLst/>
              <a:gdLst/>
              <a:ahLst/>
              <a:cxnLst/>
              <a:rect r="r" b="b" t="t" l="l"/>
              <a:pathLst>
                <a:path h="292963" w="1233839">
                  <a:moveTo>
                    <a:pt x="0" y="0"/>
                  </a:moveTo>
                  <a:lnTo>
                    <a:pt x="1233839" y="0"/>
                  </a:lnTo>
                  <a:lnTo>
                    <a:pt x="1233839" y="292963"/>
                  </a:lnTo>
                  <a:lnTo>
                    <a:pt x="0" y="292963"/>
                  </a:lnTo>
                  <a:close/>
                </a:path>
              </a:pathLst>
            </a:custGeom>
            <a:solidFill>
              <a:srgbClr val="7AE2C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233839" cy="359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1600349" y="1264725"/>
            <a:ext cx="2311193" cy="2197078"/>
          </a:xfrm>
          <a:custGeom>
            <a:avLst/>
            <a:gdLst/>
            <a:ahLst/>
            <a:cxnLst/>
            <a:rect r="r" b="b" t="t" l="l"/>
            <a:pathLst>
              <a:path h="2197078" w="2311193">
                <a:moveTo>
                  <a:pt x="0" y="0"/>
                </a:moveTo>
                <a:lnTo>
                  <a:pt x="2311194" y="0"/>
                </a:lnTo>
                <a:lnTo>
                  <a:pt x="2311194" y="2197078"/>
                </a:lnTo>
                <a:lnTo>
                  <a:pt x="0" y="2197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96122" y="1331400"/>
            <a:ext cx="8571663" cy="19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sz="6800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Cybersec</a:t>
            </a:r>
            <a:r>
              <a:rPr lang="en-US" sz="6800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urity</a:t>
            </a:r>
            <a:r>
              <a:rPr lang="en-US" sz="6800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800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M</a:t>
            </a:r>
            <a:r>
              <a:rPr lang="en-US" sz="6800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  <a:r>
              <a:rPr lang="en-US" sz="6800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turity &amp; Evolut</a:t>
            </a:r>
            <a:r>
              <a:rPr lang="en-US" sz="6800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i</a:t>
            </a:r>
            <a:r>
              <a:rPr lang="en-US" sz="6800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  <a:r>
              <a:rPr lang="en-US" sz="6800" strike="noStrike" u="none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58386" y="5656637"/>
            <a:ext cx="359333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AE2CF"/>
                </a:solidFill>
                <a:latin typeface="Poppins"/>
                <a:ea typeface="Poppins"/>
                <a:cs typeface="Poppins"/>
                <a:sym typeface="Poppins"/>
              </a:rPr>
              <a:t>We eval</a:t>
            </a:r>
            <a:r>
              <a:rPr lang="en-US" sz="1800">
                <a:solidFill>
                  <a:srgbClr val="7AE2CF"/>
                </a:solidFill>
                <a:latin typeface="Poppins"/>
                <a:ea typeface="Poppins"/>
                <a:cs typeface="Poppins"/>
                <a:sym typeface="Poppins"/>
              </a:rPr>
              <a:t>uate and improve your organization's cybersecurity capabilities over time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84932" y="5656637"/>
            <a:ext cx="3718136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AE2CF"/>
                </a:solidFill>
                <a:latin typeface="Poppins"/>
                <a:ea typeface="Poppins"/>
                <a:cs typeface="Poppins"/>
                <a:sym typeface="Poppins"/>
              </a:rPr>
              <a:t>Cont</a:t>
            </a:r>
            <a:r>
              <a:rPr lang="en-US" sz="1800">
                <a:solidFill>
                  <a:srgbClr val="7AE2CF"/>
                </a:solidFill>
                <a:latin typeface="Poppins"/>
                <a:ea typeface="Poppins"/>
                <a:cs typeface="Poppins"/>
                <a:sym typeface="Poppins"/>
              </a:rPr>
              <a:t>inuous monitoring of emerging threats keeps defenses current and effective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40295" y="4242367"/>
            <a:ext cx="3229512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maturity assessment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29244" y="4246103"/>
            <a:ext cx="3229512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Threat intelligence integration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85120" y="5656637"/>
            <a:ext cx="409565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AE2CF"/>
                </a:solidFill>
                <a:latin typeface="Poppins"/>
                <a:ea typeface="Poppins"/>
                <a:cs typeface="Poppins"/>
                <a:sym typeface="Poppins"/>
              </a:rPr>
              <a:t>Your </a:t>
            </a:r>
            <a:r>
              <a:rPr lang="en-US" sz="1800">
                <a:solidFill>
                  <a:srgbClr val="7AE2CF"/>
                </a:solidFill>
                <a:latin typeface="Poppins"/>
                <a:ea typeface="Poppins"/>
                <a:cs typeface="Poppins"/>
                <a:sym typeface="Poppins"/>
              </a:rPr>
              <a:t>security journey begins with implementing these fundamental protection strategies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56648" y="4242367"/>
            <a:ext cx="4152602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06202B"/>
                </a:solidFill>
                <a:latin typeface="Poppins Bold"/>
                <a:ea typeface="Poppins Bold"/>
                <a:cs typeface="Poppins Bold"/>
                <a:sym typeface="Poppins Bold"/>
              </a:rPr>
              <a:t>Cybersecurity transformation roadmap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6122" y="3244316"/>
            <a:ext cx="397466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Cybers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cu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000" strike="noStrike" u="none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ity Roadmap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6458839" y="1452914"/>
            <a:ext cx="3193835" cy="3106004"/>
          </a:xfrm>
          <a:custGeom>
            <a:avLst/>
            <a:gdLst/>
            <a:ahLst/>
            <a:cxnLst/>
            <a:rect r="r" b="b" t="t" l="l"/>
            <a:pathLst>
              <a:path h="3106004" w="3193835">
                <a:moveTo>
                  <a:pt x="0" y="0"/>
                </a:moveTo>
                <a:lnTo>
                  <a:pt x="3193834" y="0"/>
                </a:lnTo>
                <a:lnTo>
                  <a:pt x="3193834" y="3106005"/>
                </a:lnTo>
                <a:lnTo>
                  <a:pt x="0" y="3106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55397" y="9567704"/>
            <a:ext cx="3383453" cy="3324243"/>
          </a:xfrm>
          <a:custGeom>
            <a:avLst/>
            <a:gdLst/>
            <a:ahLst/>
            <a:cxnLst/>
            <a:rect r="r" b="b" t="t" l="l"/>
            <a:pathLst>
              <a:path h="3324243" w="3383453">
                <a:moveTo>
                  <a:pt x="0" y="0"/>
                </a:moveTo>
                <a:lnTo>
                  <a:pt x="3383453" y="0"/>
                </a:lnTo>
                <a:lnTo>
                  <a:pt x="3383453" y="3324243"/>
                </a:lnTo>
                <a:lnTo>
                  <a:pt x="0" y="3324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3955890" y="9567704"/>
            <a:ext cx="3383453" cy="3324243"/>
          </a:xfrm>
          <a:custGeom>
            <a:avLst/>
            <a:gdLst/>
            <a:ahLst/>
            <a:cxnLst/>
            <a:rect r="r" b="b" t="t" l="l"/>
            <a:pathLst>
              <a:path h="3324243" w="3383453">
                <a:moveTo>
                  <a:pt x="0" y="0"/>
                </a:moveTo>
                <a:lnTo>
                  <a:pt x="3383453" y="0"/>
                </a:lnTo>
                <a:lnTo>
                  <a:pt x="3383453" y="3324243"/>
                </a:lnTo>
                <a:lnTo>
                  <a:pt x="0" y="3324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951396" y="9567704"/>
            <a:ext cx="3383453" cy="3324243"/>
          </a:xfrm>
          <a:custGeom>
            <a:avLst/>
            <a:gdLst/>
            <a:ahLst/>
            <a:cxnLst/>
            <a:rect r="r" b="b" t="t" l="l"/>
            <a:pathLst>
              <a:path h="3324243" w="3383453">
                <a:moveTo>
                  <a:pt x="0" y="0"/>
                </a:moveTo>
                <a:lnTo>
                  <a:pt x="3383454" y="0"/>
                </a:lnTo>
                <a:lnTo>
                  <a:pt x="3383454" y="3324243"/>
                </a:lnTo>
                <a:lnTo>
                  <a:pt x="0" y="3324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453643" y="9567704"/>
            <a:ext cx="3383453" cy="3324243"/>
          </a:xfrm>
          <a:custGeom>
            <a:avLst/>
            <a:gdLst/>
            <a:ahLst/>
            <a:cxnLst/>
            <a:rect r="r" b="b" t="t" l="l"/>
            <a:pathLst>
              <a:path h="3324243" w="3383453">
                <a:moveTo>
                  <a:pt x="0" y="0"/>
                </a:moveTo>
                <a:lnTo>
                  <a:pt x="3383453" y="0"/>
                </a:lnTo>
                <a:lnTo>
                  <a:pt x="3383453" y="3324243"/>
                </a:lnTo>
                <a:lnTo>
                  <a:pt x="0" y="3324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449150" y="9567704"/>
            <a:ext cx="3383453" cy="3324243"/>
          </a:xfrm>
          <a:custGeom>
            <a:avLst/>
            <a:gdLst/>
            <a:ahLst/>
            <a:cxnLst/>
            <a:rect r="r" b="b" t="t" l="l"/>
            <a:pathLst>
              <a:path h="3324243" w="3383453">
                <a:moveTo>
                  <a:pt x="0" y="0"/>
                </a:moveTo>
                <a:lnTo>
                  <a:pt x="3383453" y="0"/>
                </a:lnTo>
                <a:lnTo>
                  <a:pt x="3383453" y="3324243"/>
                </a:lnTo>
                <a:lnTo>
                  <a:pt x="0" y="3324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169164" y="616456"/>
            <a:ext cx="412244" cy="412244"/>
          </a:xfrm>
          <a:custGeom>
            <a:avLst/>
            <a:gdLst/>
            <a:ahLst/>
            <a:cxnLst/>
            <a:rect r="r" b="b" t="t" l="l"/>
            <a:pathLst>
              <a:path h="412244" w="412244">
                <a:moveTo>
                  <a:pt x="0" y="0"/>
                </a:moveTo>
                <a:lnTo>
                  <a:pt x="412244" y="0"/>
                </a:lnTo>
                <a:lnTo>
                  <a:pt x="412244" y="412244"/>
                </a:lnTo>
                <a:lnTo>
                  <a:pt x="0" y="4122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4683101" y="605091"/>
            <a:ext cx="257619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77A7D"/>
                </a:solidFill>
                <a:latin typeface="Poppins Bold"/>
                <a:ea typeface="Poppins Bold"/>
                <a:cs typeface="Poppins Bold"/>
                <a:sym typeface="Poppins Bold"/>
              </a:rPr>
              <a:t>Arowwai Industries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3294852" y="7923893"/>
            <a:ext cx="920398" cy="1021246"/>
          </a:xfrm>
          <a:custGeom>
            <a:avLst/>
            <a:gdLst/>
            <a:ahLst/>
            <a:cxnLst/>
            <a:rect r="r" b="b" t="t" l="l"/>
            <a:pathLst>
              <a:path h="1021246" w="920398">
                <a:moveTo>
                  <a:pt x="0" y="0"/>
                </a:moveTo>
                <a:lnTo>
                  <a:pt x="920398" y="0"/>
                </a:lnTo>
                <a:lnTo>
                  <a:pt x="920398" y="1021246"/>
                </a:lnTo>
                <a:lnTo>
                  <a:pt x="0" y="10212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4142688" y="7974710"/>
            <a:ext cx="780521" cy="919612"/>
          </a:xfrm>
          <a:custGeom>
            <a:avLst/>
            <a:gdLst/>
            <a:ahLst/>
            <a:cxnLst/>
            <a:rect r="r" b="b" t="t" l="l"/>
            <a:pathLst>
              <a:path h="919612" w="780521">
                <a:moveTo>
                  <a:pt x="0" y="0"/>
                </a:moveTo>
                <a:lnTo>
                  <a:pt x="780521" y="0"/>
                </a:lnTo>
                <a:lnTo>
                  <a:pt x="780521" y="919612"/>
                </a:lnTo>
                <a:lnTo>
                  <a:pt x="0" y="919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8571643" y="8203426"/>
            <a:ext cx="1144715" cy="462179"/>
          </a:xfrm>
          <a:custGeom>
            <a:avLst/>
            <a:gdLst/>
            <a:ahLst/>
            <a:cxnLst/>
            <a:rect r="r" b="b" t="t" l="l"/>
            <a:pathLst>
              <a:path h="462179" w="1144715">
                <a:moveTo>
                  <a:pt x="0" y="0"/>
                </a:moveTo>
                <a:lnTo>
                  <a:pt x="1144714" y="0"/>
                </a:lnTo>
                <a:lnTo>
                  <a:pt x="1144714" y="462179"/>
                </a:lnTo>
                <a:lnTo>
                  <a:pt x="0" y="4621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2630" y="2761495"/>
            <a:ext cx="1298725" cy="1004888"/>
          </a:xfrm>
          <a:custGeom>
            <a:avLst/>
            <a:gdLst/>
            <a:ahLst/>
            <a:cxnLst/>
            <a:rect r="r" b="b" t="t" l="l"/>
            <a:pathLst>
              <a:path h="1004888" w="1298725">
                <a:moveTo>
                  <a:pt x="0" y="0"/>
                </a:moveTo>
                <a:lnTo>
                  <a:pt x="1298725" y="0"/>
                </a:lnTo>
                <a:lnTo>
                  <a:pt x="1298725" y="1004888"/>
                </a:lnTo>
                <a:lnTo>
                  <a:pt x="0" y="1004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35271" y="2798884"/>
            <a:ext cx="1464738" cy="930109"/>
          </a:xfrm>
          <a:custGeom>
            <a:avLst/>
            <a:gdLst/>
            <a:ahLst/>
            <a:cxnLst/>
            <a:rect r="r" b="b" t="t" l="l"/>
            <a:pathLst>
              <a:path h="930109" w="1464738">
                <a:moveTo>
                  <a:pt x="0" y="0"/>
                </a:moveTo>
                <a:lnTo>
                  <a:pt x="1464739" y="0"/>
                </a:lnTo>
                <a:lnTo>
                  <a:pt x="1464739" y="930109"/>
                </a:lnTo>
                <a:lnTo>
                  <a:pt x="0" y="930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16361" y="2632296"/>
            <a:ext cx="1299009" cy="1263287"/>
          </a:xfrm>
          <a:custGeom>
            <a:avLst/>
            <a:gdLst/>
            <a:ahLst/>
            <a:cxnLst/>
            <a:rect r="r" b="b" t="t" l="l"/>
            <a:pathLst>
              <a:path h="1263287" w="1299009">
                <a:moveTo>
                  <a:pt x="0" y="0"/>
                </a:moveTo>
                <a:lnTo>
                  <a:pt x="1299009" y="0"/>
                </a:lnTo>
                <a:lnTo>
                  <a:pt x="1299009" y="1263286"/>
                </a:lnTo>
                <a:lnTo>
                  <a:pt x="0" y="1263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64062" y="2632296"/>
            <a:ext cx="1399763" cy="1263287"/>
          </a:xfrm>
          <a:custGeom>
            <a:avLst/>
            <a:gdLst/>
            <a:ahLst/>
            <a:cxnLst/>
            <a:rect r="r" b="b" t="t" l="l"/>
            <a:pathLst>
              <a:path h="1263287" w="1399763">
                <a:moveTo>
                  <a:pt x="0" y="0"/>
                </a:moveTo>
                <a:lnTo>
                  <a:pt x="1399764" y="0"/>
                </a:lnTo>
                <a:lnTo>
                  <a:pt x="1399764" y="1263286"/>
                </a:lnTo>
                <a:lnTo>
                  <a:pt x="0" y="12632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91617" y="2702205"/>
            <a:ext cx="1872445" cy="1123467"/>
          </a:xfrm>
          <a:custGeom>
            <a:avLst/>
            <a:gdLst/>
            <a:ahLst/>
            <a:cxnLst/>
            <a:rect r="r" b="b" t="t" l="l"/>
            <a:pathLst>
              <a:path h="1123467" w="1872445">
                <a:moveTo>
                  <a:pt x="0" y="0"/>
                </a:moveTo>
                <a:lnTo>
                  <a:pt x="1872445" y="0"/>
                </a:lnTo>
                <a:lnTo>
                  <a:pt x="1872445" y="1123467"/>
                </a:lnTo>
                <a:lnTo>
                  <a:pt x="0" y="1123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61922" y="2632296"/>
            <a:ext cx="900092" cy="1263287"/>
          </a:xfrm>
          <a:custGeom>
            <a:avLst/>
            <a:gdLst/>
            <a:ahLst/>
            <a:cxnLst/>
            <a:rect r="r" b="b" t="t" l="l"/>
            <a:pathLst>
              <a:path h="1263287" w="900092">
                <a:moveTo>
                  <a:pt x="0" y="0"/>
                </a:moveTo>
                <a:lnTo>
                  <a:pt x="900092" y="0"/>
                </a:lnTo>
                <a:lnTo>
                  <a:pt x="900092" y="1263286"/>
                </a:lnTo>
                <a:lnTo>
                  <a:pt x="0" y="12632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19758" y="2632296"/>
            <a:ext cx="1067477" cy="1263287"/>
          </a:xfrm>
          <a:custGeom>
            <a:avLst/>
            <a:gdLst/>
            <a:ahLst/>
            <a:cxnLst/>
            <a:rect r="r" b="b" t="t" l="l"/>
            <a:pathLst>
              <a:path h="1263287" w="1067477">
                <a:moveTo>
                  <a:pt x="0" y="0"/>
                </a:moveTo>
                <a:lnTo>
                  <a:pt x="1067477" y="0"/>
                </a:lnTo>
                <a:lnTo>
                  <a:pt x="1067477" y="1263286"/>
                </a:lnTo>
                <a:lnTo>
                  <a:pt x="0" y="12632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98062" y="2693516"/>
            <a:ext cx="1330433" cy="1140847"/>
          </a:xfrm>
          <a:custGeom>
            <a:avLst/>
            <a:gdLst/>
            <a:ahLst/>
            <a:cxnLst/>
            <a:rect r="r" b="b" t="t" l="l"/>
            <a:pathLst>
              <a:path h="1140847" w="1330433">
                <a:moveTo>
                  <a:pt x="0" y="0"/>
                </a:moveTo>
                <a:lnTo>
                  <a:pt x="1330434" y="0"/>
                </a:lnTo>
                <a:lnTo>
                  <a:pt x="1330434" y="1140846"/>
                </a:lnTo>
                <a:lnTo>
                  <a:pt x="0" y="114084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11667" y="2663134"/>
            <a:ext cx="1432620" cy="1201610"/>
          </a:xfrm>
          <a:custGeom>
            <a:avLst/>
            <a:gdLst/>
            <a:ahLst/>
            <a:cxnLst/>
            <a:rect r="r" b="b" t="t" l="l"/>
            <a:pathLst>
              <a:path h="1201610" w="1432620">
                <a:moveTo>
                  <a:pt x="0" y="0"/>
                </a:moveTo>
                <a:lnTo>
                  <a:pt x="1432619" y="0"/>
                </a:lnTo>
                <a:lnTo>
                  <a:pt x="1432619" y="1201610"/>
                </a:lnTo>
                <a:lnTo>
                  <a:pt x="0" y="120161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76121" y="2762248"/>
            <a:ext cx="1064596" cy="1003382"/>
          </a:xfrm>
          <a:custGeom>
            <a:avLst/>
            <a:gdLst/>
            <a:ahLst/>
            <a:cxnLst/>
            <a:rect r="r" b="b" t="t" l="l"/>
            <a:pathLst>
              <a:path h="1003382" w="1064596">
                <a:moveTo>
                  <a:pt x="0" y="0"/>
                </a:moveTo>
                <a:lnTo>
                  <a:pt x="1064596" y="0"/>
                </a:lnTo>
                <a:lnTo>
                  <a:pt x="1064596" y="1003382"/>
                </a:lnTo>
                <a:lnTo>
                  <a:pt x="0" y="10033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72630" y="6577695"/>
            <a:ext cx="1462356" cy="1438592"/>
          </a:xfrm>
          <a:custGeom>
            <a:avLst/>
            <a:gdLst/>
            <a:ahLst/>
            <a:cxnLst/>
            <a:rect r="r" b="b" t="t" l="l"/>
            <a:pathLst>
              <a:path h="1438592" w="1462356">
                <a:moveTo>
                  <a:pt x="0" y="0"/>
                </a:moveTo>
                <a:lnTo>
                  <a:pt x="1462355" y="0"/>
                </a:lnTo>
                <a:lnTo>
                  <a:pt x="1462355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85598" y="6577695"/>
            <a:ext cx="1458649" cy="1438592"/>
          </a:xfrm>
          <a:custGeom>
            <a:avLst/>
            <a:gdLst/>
            <a:ahLst/>
            <a:cxnLst/>
            <a:rect r="r" b="b" t="t" l="l"/>
            <a:pathLst>
              <a:path h="1438592" w="1458649">
                <a:moveTo>
                  <a:pt x="0" y="0"/>
                </a:moveTo>
                <a:lnTo>
                  <a:pt x="1458649" y="0"/>
                </a:lnTo>
                <a:lnTo>
                  <a:pt x="1458649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74483" y="4700550"/>
            <a:ext cx="1422408" cy="1438592"/>
          </a:xfrm>
          <a:custGeom>
            <a:avLst/>
            <a:gdLst/>
            <a:ahLst/>
            <a:cxnLst/>
            <a:rect r="r" b="b" t="t" l="l"/>
            <a:pathLst>
              <a:path h="1438592" w="1422408">
                <a:moveTo>
                  <a:pt x="0" y="0"/>
                </a:moveTo>
                <a:lnTo>
                  <a:pt x="1422408" y="0"/>
                </a:lnTo>
                <a:lnTo>
                  <a:pt x="1422408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845677" y="4700550"/>
            <a:ext cx="1464216" cy="1438592"/>
          </a:xfrm>
          <a:custGeom>
            <a:avLst/>
            <a:gdLst/>
            <a:ahLst/>
            <a:cxnLst/>
            <a:rect r="r" b="b" t="t" l="l"/>
            <a:pathLst>
              <a:path h="1438592" w="1464216">
                <a:moveTo>
                  <a:pt x="0" y="0"/>
                </a:moveTo>
                <a:lnTo>
                  <a:pt x="1464217" y="0"/>
                </a:lnTo>
                <a:lnTo>
                  <a:pt x="1464217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58679" y="4700550"/>
            <a:ext cx="1464216" cy="1438592"/>
          </a:xfrm>
          <a:custGeom>
            <a:avLst/>
            <a:gdLst/>
            <a:ahLst/>
            <a:cxnLst/>
            <a:rect r="r" b="b" t="t" l="l"/>
            <a:pathLst>
              <a:path h="1438592" w="1464216">
                <a:moveTo>
                  <a:pt x="0" y="0"/>
                </a:moveTo>
                <a:lnTo>
                  <a:pt x="1464217" y="0"/>
                </a:lnTo>
                <a:lnTo>
                  <a:pt x="1464217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471682" y="4700550"/>
            <a:ext cx="1454961" cy="1438592"/>
          </a:xfrm>
          <a:custGeom>
            <a:avLst/>
            <a:gdLst/>
            <a:ahLst/>
            <a:cxnLst/>
            <a:rect r="r" b="b" t="t" l="l"/>
            <a:pathLst>
              <a:path h="1438592" w="1454961">
                <a:moveTo>
                  <a:pt x="0" y="0"/>
                </a:moveTo>
                <a:lnTo>
                  <a:pt x="1454960" y="0"/>
                </a:lnTo>
                <a:lnTo>
                  <a:pt x="1454960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75428" y="4700550"/>
            <a:ext cx="1445822" cy="1438592"/>
          </a:xfrm>
          <a:custGeom>
            <a:avLst/>
            <a:gdLst/>
            <a:ahLst/>
            <a:cxnLst/>
            <a:rect r="r" b="b" t="t" l="l"/>
            <a:pathLst>
              <a:path h="1438592" w="1445822">
                <a:moveTo>
                  <a:pt x="0" y="0"/>
                </a:moveTo>
                <a:lnTo>
                  <a:pt x="1445822" y="0"/>
                </a:lnTo>
                <a:lnTo>
                  <a:pt x="1445822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070036" y="4700550"/>
            <a:ext cx="1471706" cy="1438592"/>
          </a:xfrm>
          <a:custGeom>
            <a:avLst/>
            <a:gdLst/>
            <a:ahLst/>
            <a:cxnLst/>
            <a:rect r="r" b="b" t="t" l="l"/>
            <a:pathLst>
              <a:path h="1438592" w="1471706">
                <a:moveTo>
                  <a:pt x="0" y="0"/>
                </a:moveTo>
                <a:lnTo>
                  <a:pt x="1471706" y="0"/>
                </a:lnTo>
                <a:lnTo>
                  <a:pt x="1471706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890527" y="4700550"/>
            <a:ext cx="1336093" cy="1438592"/>
          </a:xfrm>
          <a:custGeom>
            <a:avLst/>
            <a:gdLst/>
            <a:ahLst/>
            <a:cxnLst/>
            <a:rect r="r" b="b" t="t" l="l"/>
            <a:pathLst>
              <a:path h="1438592" w="1336093">
                <a:moveTo>
                  <a:pt x="0" y="0"/>
                </a:moveTo>
                <a:lnTo>
                  <a:pt x="1336093" y="0"/>
                </a:lnTo>
                <a:lnTo>
                  <a:pt x="1336093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575406" y="4700550"/>
            <a:ext cx="1500488" cy="1438592"/>
          </a:xfrm>
          <a:custGeom>
            <a:avLst/>
            <a:gdLst/>
            <a:ahLst/>
            <a:cxnLst/>
            <a:rect r="r" b="b" t="t" l="l"/>
            <a:pathLst>
              <a:path h="1438592" w="1500488">
                <a:moveTo>
                  <a:pt x="0" y="0"/>
                </a:moveTo>
                <a:lnTo>
                  <a:pt x="1500488" y="0"/>
                </a:lnTo>
                <a:lnTo>
                  <a:pt x="1500488" y="1438593"/>
                </a:lnTo>
                <a:lnTo>
                  <a:pt x="0" y="143859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749105" y="6849034"/>
            <a:ext cx="895915" cy="895915"/>
          </a:xfrm>
          <a:custGeom>
            <a:avLst/>
            <a:gdLst/>
            <a:ahLst/>
            <a:cxnLst/>
            <a:rect r="r" b="b" t="t" l="l"/>
            <a:pathLst>
              <a:path h="895915" w="895915">
                <a:moveTo>
                  <a:pt x="0" y="0"/>
                </a:moveTo>
                <a:lnTo>
                  <a:pt x="895915" y="0"/>
                </a:lnTo>
                <a:lnTo>
                  <a:pt x="895915" y="895915"/>
                </a:lnTo>
                <a:lnTo>
                  <a:pt x="0" y="89591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801377" y="7145681"/>
            <a:ext cx="1592738" cy="302620"/>
          </a:xfrm>
          <a:custGeom>
            <a:avLst/>
            <a:gdLst/>
            <a:ahLst/>
            <a:cxnLst/>
            <a:rect r="r" b="b" t="t" l="l"/>
            <a:pathLst>
              <a:path h="302620" w="1592738">
                <a:moveTo>
                  <a:pt x="0" y="0"/>
                </a:moveTo>
                <a:lnTo>
                  <a:pt x="1592738" y="0"/>
                </a:lnTo>
                <a:lnTo>
                  <a:pt x="1592738" y="302621"/>
                </a:lnTo>
                <a:lnTo>
                  <a:pt x="0" y="302621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546515" y="6849034"/>
            <a:ext cx="1344713" cy="895915"/>
          </a:xfrm>
          <a:custGeom>
            <a:avLst/>
            <a:gdLst/>
            <a:ahLst/>
            <a:cxnLst/>
            <a:rect r="r" b="b" t="t" l="l"/>
            <a:pathLst>
              <a:path h="895915" w="1344713">
                <a:moveTo>
                  <a:pt x="0" y="0"/>
                </a:moveTo>
                <a:lnTo>
                  <a:pt x="1344713" y="0"/>
                </a:lnTo>
                <a:lnTo>
                  <a:pt x="1344713" y="895915"/>
                </a:lnTo>
                <a:lnTo>
                  <a:pt x="0" y="895915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043628" y="6849034"/>
            <a:ext cx="884716" cy="895915"/>
          </a:xfrm>
          <a:custGeom>
            <a:avLst/>
            <a:gdLst/>
            <a:ahLst/>
            <a:cxnLst/>
            <a:rect r="r" b="b" t="t" l="l"/>
            <a:pathLst>
              <a:path h="895915" w="884716">
                <a:moveTo>
                  <a:pt x="0" y="0"/>
                </a:moveTo>
                <a:lnTo>
                  <a:pt x="884716" y="0"/>
                </a:lnTo>
                <a:lnTo>
                  <a:pt x="884716" y="895915"/>
                </a:lnTo>
                <a:lnTo>
                  <a:pt x="0" y="895915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011968" y="7172559"/>
            <a:ext cx="1592738" cy="248865"/>
          </a:xfrm>
          <a:custGeom>
            <a:avLst/>
            <a:gdLst/>
            <a:ahLst/>
            <a:cxnLst/>
            <a:rect r="r" b="b" t="t" l="l"/>
            <a:pathLst>
              <a:path h="248865" w="1592738">
                <a:moveTo>
                  <a:pt x="0" y="0"/>
                </a:moveTo>
                <a:lnTo>
                  <a:pt x="1592738" y="0"/>
                </a:lnTo>
                <a:lnTo>
                  <a:pt x="1592738" y="248865"/>
                </a:lnTo>
                <a:lnTo>
                  <a:pt x="0" y="248865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329517" y="1095375"/>
            <a:ext cx="7628966" cy="82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0"/>
              </a:lnSpc>
            </a:pPr>
            <a:r>
              <a:rPr lang="en-US" sz="5900">
                <a:solidFill>
                  <a:srgbClr val="06202B"/>
                </a:solidFill>
                <a:latin typeface="Anton"/>
                <a:ea typeface="Anton"/>
                <a:cs typeface="Anton"/>
                <a:sym typeface="Anton"/>
              </a:rPr>
              <a:t>Resource Page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852356" y="6786368"/>
            <a:ext cx="920398" cy="1021246"/>
          </a:xfrm>
          <a:custGeom>
            <a:avLst/>
            <a:gdLst/>
            <a:ahLst/>
            <a:cxnLst/>
            <a:rect r="r" b="b" t="t" l="l"/>
            <a:pathLst>
              <a:path h="1021246" w="920398">
                <a:moveTo>
                  <a:pt x="0" y="0"/>
                </a:moveTo>
                <a:lnTo>
                  <a:pt x="920398" y="0"/>
                </a:lnTo>
                <a:lnTo>
                  <a:pt x="920398" y="1021247"/>
                </a:lnTo>
                <a:lnTo>
                  <a:pt x="0" y="1021247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175605" y="6786368"/>
            <a:ext cx="780521" cy="919612"/>
          </a:xfrm>
          <a:custGeom>
            <a:avLst/>
            <a:gdLst/>
            <a:ahLst/>
            <a:cxnLst/>
            <a:rect r="r" b="b" t="t" l="l"/>
            <a:pathLst>
              <a:path h="919612" w="780521">
                <a:moveTo>
                  <a:pt x="0" y="0"/>
                </a:moveTo>
                <a:lnTo>
                  <a:pt x="780521" y="0"/>
                </a:lnTo>
                <a:lnTo>
                  <a:pt x="780521" y="919613"/>
                </a:lnTo>
                <a:lnTo>
                  <a:pt x="0" y="919613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925154" y="7065902"/>
            <a:ext cx="1144715" cy="462179"/>
          </a:xfrm>
          <a:custGeom>
            <a:avLst/>
            <a:gdLst/>
            <a:ahLst/>
            <a:cxnLst/>
            <a:rect r="r" b="b" t="t" l="l"/>
            <a:pathLst>
              <a:path h="462179" w="1144715">
                <a:moveTo>
                  <a:pt x="0" y="0"/>
                </a:moveTo>
                <a:lnTo>
                  <a:pt x="1144715" y="0"/>
                </a:lnTo>
                <a:lnTo>
                  <a:pt x="1144715" y="462179"/>
                </a:lnTo>
                <a:lnTo>
                  <a:pt x="0" y="462179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DAHS8H7AIFw</dc:identifier>
  <dcterms:modified xsi:type="dcterms:W3CDTF">2011-08-01T06:04:30Z</dcterms:modified>
  <cp:revision>1</cp:revision>
  <dc:title>Cybersecurity Roadmap Illustrative Green Presentation</dc:title>
</cp:coreProperties>
</file>