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ntonio Bold" charset="1" panose="02000803000000000000"/>
      <p:regular r:id="rId16"/>
    </p:embeddedFont>
    <p:embeddedFont>
      <p:font typeface="Poppins"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jpe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9.jpeg" Type="http://schemas.openxmlformats.org/officeDocument/2006/relationships/image"/><Relationship Id="rId8" Target="../media/image10.jpeg" Type="http://schemas.openxmlformats.org/officeDocument/2006/relationships/image"/><Relationship Id="rId9" Target="../media/image1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313" r="0" b="-9313"/>
            </a:stretch>
          </a:blipFill>
        </p:spPr>
      </p:sp>
      <p:sp>
        <p:nvSpPr>
          <p:cNvPr name="Freeform 3" id="3"/>
          <p:cNvSpPr/>
          <p:nvPr/>
        </p:nvSpPr>
        <p:spPr>
          <a:xfrm flipH="false" flipV="false" rot="0">
            <a:off x="1028700"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69149" y="486034"/>
            <a:ext cx="549780" cy="568365"/>
          </a:xfrm>
          <a:custGeom>
            <a:avLst/>
            <a:gdLst/>
            <a:ahLst/>
            <a:cxnLst/>
            <a:rect r="r" b="b" t="t" l="l"/>
            <a:pathLst>
              <a:path h="568365" w="549780">
                <a:moveTo>
                  <a:pt x="0" y="0"/>
                </a:moveTo>
                <a:lnTo>
                  <a:pt x="549781" y="0"/>
                </a:lnTo>
                <a:lnTo>
                  <a:pt x="549781" y="568364"/>
                </a:lnTo>
                <a:lnTo>
                  <a:pt x="0" y="5683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309117"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4824100" y="346707"/>
            <a:ext cx="2435200" cy="847018"/>
            <a:chOff x="0" y="0"/>
            <a:chExt cx="641369" cy="223083"/>
          </a:xfrm>
        </p:grpSpPr>
        <p:sp>
          <p:nvSpPr>
            <p:cNvPr name="Freeform 7" id="7"/>
            <p:cNvSpPr/>
            <p:nvPr/>
          </p:nvSpPr>
          <p:spPr>
            <a:xfrm flipH="false" flipV="false" rot="0">
              <a:off x="0" y="0"/>
              <a:ext cx="641369" cy="223083"/>
            </a:xfrm>
            <a:custGeom>
              <a:avLst/>
              <a:gdLst/>
              <a:ahLst/>
              <a:cxnLst/>
              <a:rect r="r" b="b" t="t" l="l"/>
              <a:pathLst>
                <a:path h="223083" w="641369">
                  <a:moveTo>
                    <a:pt x="320685" y="0"/>
                  </a:moveTo>
                  <a:cubicBezTo>
                    <a:pt x="143575" y="0"/>
                    <a:pt x="0" y="49939"/>
                    <a:pt x="0" y="111541"/>
                  </a:cubicBezTo>
                  <a:cubicBezTo>
                    <a:pt x="0" y="173144"/>
                    <a:pt x="143575" y="223083"/>
                    <a:pt x="320685" y="223083"/>
                  </a:cubicBezTo>
                  <a:cubicBezTo>
                    <a:pt x="497794" y="223083"/>
                    <a:pt x="641369" y="173144"/>
                    <a:pt x="641369" y="111541"/>
                  </a:cubicBezTo>
                  <a:cubicBezTo>
                    <a:pt x="641369" y="49939"/>
                    <a:pt x="497794" y="0"/>
                    <a:pt x="320685" y="0"/>
                  </a:cubicBezTo>
                  <a:close/>
                </a:path>
              </a:pathLst>
            </a:custGeom>
            <a:ln w="38100" cap="sq">
              <a:solidFill>
                <a:srgbClr val="FFFFFF"/>
              </a:solidFill>
              <a:prstDash val="solid"/>
              <a:miter/>
            </a:ln>
          </p:spPr>
        </p:sp>
        <p:sp>
          <p:nvSpPr>
            <p:cNvPr name="TextBox 8" id="8"/>
            <p:cNvSpPr txBox="true"/>
            <p:nvPr/>
          </p:nvSpPr>
          <p:spPr>
            <a:xfrm>
              <a:off x="60128" y="-26711"/>
              <a:ext cx="521113" cy="228880"/>
            </a:xfrm>
            <a:prstGeom prst="rect">
              <a:avLst/>
            </a:prstGeom>
          </p:spPr>
          <p:txBody>
            <a:bodyPr anchor="ctr" rtlCol="false" tIns="50800" lIns="50800" bIns="50800" rIns="50800"/>
            <a:lstStyle/>
            <a:p>
              <a:pPr algn="ctr">
                <a:lnSpc>
                  <a:spcPts val="2799"/>
                </a:lnSpc>
              </a:pPr>
            </a:p>
          </p:txBody>
        </p:sp>
      </p:grpSp>
      <p:grpSp>
        <p:nvGrpSpPr>
          <p:cNvPr name="Group 9" id="9"/>
          <p:cNvGrpSpPr/>
          <p:nvPr/>
        </p:nvGrpSpPr>
        <p:grpSpPr>
          <a:xfrm rot="0">
            <a:off x="8247452" y="9276520"/>
            <a:ext cx="2085268" cy="288481"/>
            <a:chOff x="0" y="0"/>
            <a:chExt cx="797876" cy="110380"/>
          </a:xfrm>
        </p:grpSpPr>
        <p:sp>
          <p:nvSpPr>
            <p:cNvPr name="Freeform 10" id="10"/>
            <p:cNvSpPr/>
            <p:nvPr/>
          </p:nvSpPr>
          <p:spPr>
            <a:xfrm flipH="false" flipV="false" rot="0">
              <a:off x="0" y="0"/>
              <a:ext cx="797876" cy="110380"/>
            </a:xfrm>
            <a:custGeom>
              <a:avLst/>
              <a:gdLst/>
              <a:ahLst/>
              <a:cxnLst/>
              <a:rect r="r" b="b" t="t" l="l"/>
              <a:pathLst>
                <a:path h="110380" w="797876">
                  <a:moveTo>
                    <a:pt x="0" y="0"/>
                  </a:moveTo>
                  <a:lnTo>
                    <a:pt x="797876" y="0"/>
                  </a:lnTo>
                  <a:lnTo>
                    <a:pt x="797876" y="110380"/>
                  </a:lnTo>
                  <a:lnTo>
                    <a:pt x="0" y="110380"/>
                  </a:lnTo>
                  <a:close/>
                </a:path>
              </a:pathLst>
            </a:custGeom>
            <a:ln w="9525" cap="sq">
              <a:solidFill>
                <a:srgbClr val="000000"/>
              </a:solidFill>
              <a:prstDash val="solid"/>
              <a:miter/>
            </a:ln>
          </p:spPr>
        </p:sp>
        <p:sp>
          <p:nvSpPr>
            <p:cNvPr name="TextBox 11" id="11"/>
            <p:cNvSpPr txBox="true"/>
            <p:nvPr/>
          </p:nvSpPr>
          <p:spPr>
            <a:xfrm>
              <a:off x="0" y="-47625"/>
              <a:ext cx="797876" cy="158005"/>
            </a:xfrm>
            <a:prstGeom prst="rect">
              <a:avLst/>
            </a:prstGeom>
          </p:spPr>
          <p:txBody>
            <a:bodyPr anchor="ctr" rtlCol="false" tIns="50800" lIns="50800" bIns="50800" rIns="50800"/>
            <a:lstStyle/>
            <a:p>
              <a:pPr algn="ctr">
                <a:lnSpc>
                  <a:spcPts val="2799"/>
                </a:lnSpc>
              </a:pPr>
            </a:p>
          </p:txBody>
        </p:sp>
      </p:grpSp>
      <p:grpSp>
        <p:nvGrpSpPr>
          <p:cNvPr name="Group 12" id="12"/>
          <p:cNvGrpSpPr/>
          <p:nvPr/>
        </p:nvGrpSpPr>
        <p:grpSpPr>
          <a:xfrm rot="0">
            <a:off x="8247452" y="9616689"/>
            <a:ext cx="2085268" cy="288481"/>
            <a:chOff x="0" y="0"/>
            <a:chExt cx="797876" cy="110380"/>
          </a:xfrm>
        </p:grpSpPr>
        <p:sp>
          <p:nvSpPr>
            <p:cNvPr name="Freeform 13" id="13"/>
            <p:cNvSpPr/>
            <p:nvPr/>
          </p:nvSpPr>
          <p:spPr>
            <a:xfrm flipH="false" flipV="false" rot="0">
              <a:off x="0" y="0"/>
              <a:ext cx="797876" cy="110380"/>
            </a:xfrm>
            <a:custGeom>
              <a:avLst/>
              <a:gdLst/>
              <a:ahLst/>
              <a:cxnLst/>
              <a:rect r="r" b="b" t="t" l="l"/>
              <a:pathLst>
                <a:path h="110380" w="797876">
                  <a:moveTo>
                    <a:pt x="0" y="0"/>
                  </a:moveTo>
                  <a:lnTo>
                    <a:pt x="797876" y="0"/>
                  </a:lnTo>
                  <a:lnTo>
                    <a:pt x="797876" y="110380"/>
                  </a:lnTo>
                  <a:lnTo>
                    <a:pt x="0" y="110380"/>
                  </a:lnTo>
                  <a:close/>
                </a:path>
              </a:pathLst>
            </a:custGeom>
            <a:ln w="9525" cap="sq">
              <a:solidFill>
                <a:srgbClr val="FFFFFF"/>
              </a:solidFill>
              <a:prstDash val="solid"/>
              <a:miter/>
            </a:ln>
          </p:spPr>
        </p:sp>
        <p:sp>
          <p:nvSpPr>
            <p:cNvPr name="TextBox 14" id="14"/>
            <p:cNvSpPr txBox="true"/>
            <p:nvPr/>
          </p:nvSpPr>
          <p:spPr>
            <a:xfrm>
              <a:off x="0" y="-47625"/>
              <a:ext cx="797876" cy="158005"/>
            </a:xfrm>
            <a:prstGeom prst="rect">
              <a:avLst/>
            </a:prstGeom>
          </p:spPr>
          <p:txBody>
            <a:bodyPr anchor="ctr" rtlCol="false" tIns="50800" lIns="50800" bIns="50800" rIns="50800"/>
            <a:lstStyle/>
            <a:p>
              <a:pPr algn="ctr">
                <a:lnSpc>
                  <a:spcPts val="2799"/>
                </a:lnSpc>
              </a:pPr>
            </a:p>
          </p:txBody>
        </p:sp>
      </p:grpSp>
      <p:sp>
        <p:nvSpPr>
          <p:cNvPr name="Freeform 15" id="15"/>
          <p:cNvSpPr/>
          <p:nvPr/>
        </p:nvSpPr>
        <p:spPr>
          <a:xfrm flipH="false" flipV="false" rot="0">
            <a:off x="16508059" y="9258300"/>
            <a:ext cx="646870" cy="646870"/>
          </a:xfrm>
          <a:custGeom>
            <a:avLst/>
            <a:gdLst/>
            <a:ahLst/>
            <a:cxnLst/>
            <a:rect r="r" b="b" t="t" l="l"/>
            <a:pathLst>
              <a:path h="646870" w="646870">
                <a:moveTo>
                  <a:pt x="0" y="0"/>
                </a:moveTo>
                <a:lnTo>
                  <a:pt x="646871" y="0"/>
                </a:lnTo>
                <a:lnTo>
                  <a:pt x="646871" y="646870"/>
                </a:lnTo>
                <a:lnTo>
                  <a:pt x="0" y="6468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0" y="3796032"/>
            <a:ext cx="18288000" cy="5414643"/>
          </a:xfrm>
          <a:prstGeom prst="rect">
            <a:avLst/>
          </a:prstGeom>
        </p:spPr>
        <p:txBody>
          <a:bodyPr anchor="t" rtlCol="false" tIns="0" lIns="0" bIns="0" rIns="0">
            <a:spAutoFit/>
          </a:bodyPr>
          <a:lstStyle/>
          <a:p>
            <a:pPr algn="ctr">
              <a:lnSpc>
                <a:spcPts val="42204"/>
              </a:lnSpc>
            </a:pPr>
            <a:r>
              <a:rPr lang="en-US" b="true" sz="36699" spc="-2201">
                <a:solidFill>
                  <a:srgbClr val="FFFFFF"/>
                </a:solidFill>
                <a:latin typeface="Antonio Bold"/>
                <a:ea typeface="Antonio Bold"/>
                <a:cs typeface="Antonio Bold"/>
                <a:sym typeface="Antonio Bold"/>
              </a:rPr>
              <a:t>PITCH DECK</a:t>
            </a:r>
          </a:p>
        </p:txBody>
      </p:sp>
      <p:sp>
        <p:nvSpPr>
          <p:cNvPr name="TextBox 17" id="17"/>
          <p:cNvSpPr txBox="true"/>
          <p:nvPr/>
        </p:nvSpPr>
        <p:spPr>
          <a:xfrm rot="0">
            <a:off x="15296485" y="476643"/>
            <a:ext cx="1490431" cy="529997"/>
          </a:xfrm>
          <a:prstGeom prst="rect">
            <a:avLst/>
          </a:prstGeom>
        </p:spPr>
        <p:txBody>
          <a:bodyPr anchor="t" rtlCol="false" tIns="0" lIns="0" bIns="0" rIns="0">
            <a:spAutoFit/>
          </a:bodyPr>
          <a:lstStyle/>
          <a:p>
            <a:pPr algn="ctr">
              <a:lnSpc>
                <a:spcPts val="4387"/>
              </a:lnSpc>
              <a:spcBef>
                <a:spcPct val="0"/>
              </a:spcBef>
            </a:pPr>
            <a:r>
              <a:rPr lang="en-US" b="true" sz="3133">
                <a:solidFill>
                  <a:srgbClr val="FFFFFF"/>
                </a:solidFill>
                <a:latin typeface="Antonio Bold"/>
                <a:ea typeface="Antonio Bold"/>
                <a:cs typeface="Antonio Bold"/>
                <a:sym typeface="Antonio Bold"/>
              </a:rPr>
              <a:t>BORCELLE</a:t>
            </a:r>
          </a:p>
        </p:txBody>
      </p:sp>
      <p:sp>
        <p:nvSpPr>
          <p:cNvPr name="TextBox 18" id="18"/>
          <p:cNvSpPr txBox="true"/>
          <p:nvPr/>
        </p:nvSpPr>
        <p:spPr>
          <a:xfrm rot="0">
            <a:off x="8585991" y="9320630"/>
            <a:ext cx="1485046" cy="181212"/>
          </a:xfrm>
          <a:prstGeom prst="rect">
            <a:avLst/>
          </a:prstGeom>
        </p:spPr>
        <p:txBody>
          <a:bodyPr anchor="t" rtlCol="false" tIns="0" lIns="0" bIns="0" rIns="0">
            <a:spAutoFit/>
          </a:bodyPr>
          <a:lstStyle/>
          <a:p>
            <a:pPr algn="ctr">
              <a:lnSpc>
                <a:spcPts val="1541"/>
              </a:lnSpc>
              <a:spcBef>
                <a:spcPct val="0"/>
              </a:spcBef>
            </a:pPr>
            <a:r>
              <a:rPr lang="en-US" b="true" sz="1101">
                <a:solidFill>
                  <a:srgbClr val="FFFFFF"/>
                </a:solidFill>
                <a:latin typeface="Antonio Bold"/>
                <a:ea typeface="Antonio Bold"/>
                <a:cs typeface="Antonio Bold"/>
                <a:sym typeface="Antonio Bold"/>
              </a:rPr>
              <a:t>@reallygreatsite</a:t>
            </a:r>
          </a:p>
        </p:txBody>
      </p:sp>
      <p:sp>
        <p:nvSpPr>
          <p:cNvPr name="TextBox 19" id="19"/>
          <p:cNvSpPr txBox="true"/>
          <p:nvPr/>
        </p:nvSpPr>
        <p:spPr>
          <a:xfrm rot="0">
            <a:off x="3890953" y="9257470"/>
            <a:ext cx="3978599" cy="647700"/>
          </a:xfrm>
          <a:prstGeom prst="rect">
            <a:avLst/>
          </a:prstGeom>
        </p:spPr>
        <p:txBody>
          <a:bodyPr anchor="t" rtlCol="false" tIns="0" lIns="0" bIns="0" rIns="0">
            <a:spAutoFit/>
          </a:bodyPr>
          <a:lstStyle/>
          <a:p>
            <a:pPr algn="just">
              <a:lnSpc>
                <a:spcPts val="1680"/>
              </a:lnSpc>
            </a:pPr>
            <a:r>
              <a:rPr lang="en-US" sz="1400">
                <a:solidFill>
                  <a:srgbClr val="FFFFFF"/>
                </a:solidFill>
                <a:latin typeface="Poppins"/>
                <a:ea typeface="Poppins"/>
                <a:cs typeface="Poppins"/>
                <a:sym typeface="Poppins"/>
              </a:rPr>
              <a:t>Lorem ipsum dolor sit amet, c</a:t>
            </a:r>
            <a:r>
              <a:rPr lang="en-US" sz="1400">
                <a:solidFill>
                  <a:srgbClr val="FFFFFF"/>
                </a:solidFill>
                <a:latin typeface="Poppins"/>
                <a:ea typeface="Poppins"/>
                <a:cs typeface="Poppins"/>
                <a:sym typeface="Poppins"/>
              </a:rPr>
              <a:t>onsectetur adipiscing elit, sed do eiusmod tempor incididunt ut labore et dolore magna aliqua. </a:t>
            </a:r>
          </a:p>
        </p:txBody>
      </p:sp>
      <p:sp>
        <p:nvSpPr>
          <p:cNvPr name="TextBox 20" id="20"/>
          <p:cNvSpPr txBox="true"/>
          <p:nvPr/>
        </p:nvSpPr>
        <p:spPr>
          <a:xfrm rot="0">
            <a:off x="1133070" y="9200320"/>
            <a:ext cx="2581863" cy="704850"/>
          </a:xfrm>
          <a:prstGeom prst="rect">
            <a:avLst/>
          </a:prstGeom>
        </p:spPr>
        <p:txBody>
          <a:bodyPr anchor="t" rtlCol="false" tIns="0" lIns="0" bIns="0" rIns="0">
            <a:spAutoFit/>
          </a:bodyPr>
          <a:lstStyle/>
          <a:p>
            <a:pPr algn="l">
              <a:lnSpc>
                <a:spcPts val="5879"/>
              </a:lnSpc>
              <a:spcBef>
                <a:spcPct val="0"/>
              </a:spcBef>
            </a:pPr>
            <a:r>
              <a:rPr lang="en-US" b="true" sz="4199">
                <a:solidFill>
                  <a:srgbClr val="FFFFFF"/>
                </a:solidFill>
                <a:latin typeface="Antonio Bold"/>
                <a:ea typeface="Antonio Bold"/>
                <a:cs typeface="Antonio Bold"/>
                <a:sym typeface="Antonio Bold"/>
              </a:rPr>
              <a:t>AARON LOEB</a:t>
            </a:r>
          </a:p>
        </p:txBody>
      </p:sp>
      <p:sp>
        <p:nvSpPr>
          <p:cNvPr name="TextBox 21" id="21"/>
          <p:cNvSpPr txBox="true"/>
          <p:nvPr/>
        </p:nvSpPr>
        <p:spPr>
          <a:xfrm rot="0">
            <a:off x="8585991" y="9660799"/>
            <a:ext cx="1485046" cy="181212"/>
          </a:xfrm>
          <a:prstGeom prst="rect">
            <a:avLst/>
          </a:prstGeom>
        </p:spPr>
        <p:txBody>
          <a:bodyPr anchor="t" rtlCol="false" tIns="0" lIns="0" bIns="0" rIns="0">
            <a:spAutoFit/>
          </a:bodyPr>
          <a:lstStyle/>
          <a:p>
            <a:pPr algn="ctr">
              <a:lnSpc>
                <a:spcPts val="1541"/>
              </a:lnSpc>
              <a:spcBef>
                <a:spcPct val="0"/>
              </a:spcBef>
            </a:pPr>
            <a:r>
              <a:rPr lang="en-US" b="true" sz="1101">
                <a:solidFill>
                  <a:srgbClr val="FFFFFF"/>
                </a:solidFill>
                <a:latin typeface="Antonio Bold"/>
                <a:ea typeface="Antonio Bold"/>
                <a:cs typeface="Antonio Bold"/>
                <a:sym typeface="Antonio Bold"/>
              </a:rPr>
              <a:t>www.reallygreatsite.com</a:t>
            </a:r>
          </a:p>
        </p:txBody>
      </p:sp>
      <p:sp>
        <p:nvSpPr>
          <p:cNvPr name="TextBox 22" id="22"/>
          <p:cNvSpPr txBox="true"/>
          <p:nvPr/>
        </p:nvSpPr>
        <p:spPr>
          <a:xfrm rot="0">
            <a:off x="10713720" y="9257470"/>
            <a:ext cx="2675596" cy="647700"/>
          </a:xfrm>
          <a:prstGeom prst="rect">
            <a:avLst/>
          </a:prstGeom>
        </p:spPr>
        <p:txBody>
          <a:bodyPr anchor="t" rtlCol="false" tIns="0" lIns="0" bIns="0" rIns="0">
            <a:spAutoFit/>
          </a:bodyPr>
          <a:lstStyle/>
          <a:p>
            <a:pPr algn="just">
              <a:lnSpc>
                <a:spcPts val="1680"/>
              </a:lnSpc>
            </a:pPr>
            <a:r>
              <a:rPr lang="en-US" sz="1400">
                <a:solidFill>
                  <a:srgbClr val="FFFFFF"/>
                </a:solidFill>
                <a:latin typeface="Poppins"/>
                <a:ea typeface="Poppins"/>
                <a:cs typeface="Poppins"/>
                <a:sym typeface="Poppins"/>
              </a:rPr>
              <a:t>Lorem ipsum dolor sit amet, c</a:t>
            </a:r>
            <a:r>
              <a:rPr lang="en-US" sz="1400">
                <a:solidFill>
                  <a:srgbClr val="FFFFFF"/>
                </a:solidFill>
                <a:latin typeface="Poppins"/>
                <a:ea typeface="Poppins"/>
                <a:cs typeface="Poppins"/>
                <a:sym typeface="Poppins"/>
              </a:rPr>
              <a:t>onsectetur adipiscing elit, sed do eiusmod tempor.</a:t>
            </a:r>
          </a:p>
        </p:txBody>
      </p:sp>
      <p:sp>
        <p:nvSpPr>
          <p:cNvPr name="TextBox 23" id="23"/>
          <p:cNvSpPr txBox="true"/>
          <p:nvPr/>
        </p:nvSpPr>
        <p:spPr>
          <a:xfrm rot="0">
            <a:off x="13648272" y="9239250"/>
            <a:ext cx="2675596" cy="647700"/>
          </a:xfrm>
          <a:prstGeom prst="rect">
            <a:avLst/>
          </a:prstGeom>
        </p:spPr>
        <p:txBody>
          <a:bodyPr anchor="t" rtlCol="false" tIns="0" lIns="0" bIns="0" rIns="0">
            <a:spAutoFit/>
          </a:bodyPr>
          <a:lstStyle/>
          <a:p>
            <a:pPr algn="just">
              <a:lnSpc>
                <a:spcPts val="1680"/>
              </a:lnSpc>
            </a:pPr>
            <a:r>
              <a:rPr lang="en-US" sz="1400">
                <a:solidFill>
                  <a:srgbClr val="FFFFFF"/>
                </a:solidFill>
                <a:latin typeface="Poppins"/>
                <a:ea typeface="Poppins"/>
                <a:cs typeface="Poppins"/>
                <a:sym typeface="Poppins"/>
              </a:rPr>
              <a:t>Lorem ipsum dolor sit amet, c</a:t>
            </a:r>
            <a:r>
              <a:rPr lang="en-US" sz="1400">
                <a:solidFill>
                  <a:srgbClr val="FFFFFF"/>
                </a:solidFill>
                <a:latin typeface="Poppins"/>
                <a:ea typeface="Poppins"/>
                <a:cs typeface="Poppins"/>
                <a:sym typeface="Poppins"/>
              </a:rPr>
              <a:t>onsectetur adipiscing elit, sed do eiusmod tempor.</a:t>
            </a:r>
          </a:p>
        </p:txBody>
      </p:sp>
      <p:grpSp>
        <p:nvGrpSpPr>
          <p:cNvPr name="Group 24" id="24"/>
          <p:cNvGrpSpPr/>
          <p:nvPr/>
        </p:nvGrpSpPr>
        <p:grpSpPr>
          <a:xfrm rot="0">
            <a:off x="8247452" y="9284144"/>
            <a:ext cx="2085268" cy="288481"/>
            <a:chOff x="0" y="0"/>
            <a:chExt cx="797876" cy="110380"/>
          </a:xfrm>
        </p:grpSpPr>
        <p:sp>
          <p:nvSpPr>
            <p:cNvPr name="Freeform 25" id="25"/>
            <p:cNvSpPr/>
            <p:nvPr/>
          </p:nvSpPr>
          <p:spPr>
            <a:xfrm flipH="false" flipV="false" rot="0">
              <a:off x="0" y="0"/>
              <a:ext cx="797876" cy="110380"/>
            </a:xfrm>
            <a:custGeom>
              <a:avLst/>
              <a:gdLst/>
              <a:ahLst/>
              <a:cxnLst/>
              <a:rect r="r" b="b" t="t" l="l"/>
              <a:pathLst>
                <a:path h="110380" w="797876">
                  <a:moveTo>
                    <a:pt x="0" y="0"/>
                  </a:moveTo>
                  <a:lnTo>
                    <a:pt x="797876" y="0"/>
                  </a:lnTo>
                  <a:lnTo>
                    <a:pt x="797876" y="110380"/>
                  </a:lnTo>
                  <a:lnTo>
                    <a:pt x="0" y="110380"/>
                  </a:lnTo>
                  <a:close/>
                </a:path>
              </a:pathLst>
            </a:custGeom>
            <a:ln w="9525" cap="sq">
              <a:solidFill>
                <a:srgbClr val="FFFFFF"/>
              </a:solidFill>
              <a:prstDash val="solid"/>
              <a:miter/>
            </a:ln>
          </p:spPr>
        </p:sp>
        <p:sp>
          <p:nvSpPr>
            <p:cNvPr name="TextBox 26" id="26"/>
            <p:cNvSpPr txBox="true"/>
            <p:nvPr/>
          </p:nvSpPr>
          <p:spPr>
            <a:xfrm>
              <a:off x="0" y="-47625"/>
              <a:ext cx="797876" cy="158005"/>
            </a:xfrm>
            <a:prstGeom prst="rect">
              <a:avLst/>
            </a:prstGeom>
          </p:spPr>
          <p:txBody>
            <a:bodyPr anchor="ctr" rtlCol="false" tIns="50800" lIns="50800" bIns="50800" rIns="50800"/>
            <a:lstStyle/>
            <a:p>
              <a:pPr algn="ctr">
                <a:lnSpc>
                  <a:spcPts val="279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313" r="0" b="-9313"/>
            </a:stretch>
          </a:blipFill>
        </p:spPr>
      </p:sp>
      <p:sp>
        <p:nvSpPr>
          <p:cNvPr name="Freeform 3" id="3"/>
          <p:cNvSpPr/>
          <p:nvPr/>
        </p:nvSpPr>
        <p:spPr>
          <a:xfrm flipH="false" flipV="false" rot="0">
            <a:off x="16508059" y="9258300"/>
            <a:ext cx="646870" cy="646870"/>
          </a:xfrm>
          <a:custGeom>
            <a:avLst/>
            <a:gdLst/>
            <a:ahLst/>
            <a:cxnLst/>
            <a:rect r="r" b="b" t="t" l="l"/>
            <a:pathLst>
              <a:path h="646870" w="646870">
                <a:moveTo>
                  <a:pt x="0" y="0"/>
                </a:moveTo>
                <a:lnTo>
                  <a:pt x="646871" y="0"/>
                </a:lnTo>
                <a:lnTo>
                  <a:pt x="646871" y="646870"/>
                </a:lnTo>
                <a:lnTo>
                  <a:pt x="0" y="646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133070" y="9200320"/>
            <a:ext cx="2581863" cy="704850"/>
          </a:xfrm>
          <a:prstGeom prst="rect">
            <a:avLst/>
          </a:prstGeom>
        </p:spPr>
        <p:txBody>
          <a:bodyPr anchor="t" rtlCol="false" tIns="0" lIns="0" bIns="0" rIns="0">
            <a:spAutoFit/>
          </a:bodyPr>
          <a:lstStyle/>
          <a:p>
            <a:pPr algn="l">
              <a:lnSpc>
                <a:spcPts val="5879"/>
              </a:lnSpc>
              <a:spcBef>
                <a:spcPct val="0"/>
              </a:spcBef>
            </a:pPr>
            <a:r>
              <a:rPr lang="en-US" b="true" sz="4199">
                <a:solidFill>
                  <a:srgbClr val="FFFFFF"/>
                </a:solidFill>
                <a:latin typeface="Antonio Bold"/>
                <a:ea typeface="Antonio Bold"/>
                <a:cs typeface="Antonio Bold"/>
                <a:sym typeface="Antonio Bold"/>
              </a:rPr>
              <a:t>AARON LOEB</a:t>
            </a:r>
          </a:p>
        </p:txBody>
      </p:sp>
      <p:sp>
        <p:nvSpPr>
          <p:cNvPr name="TextBox 5" id="5"/>
          <p:cNvSpPr txBox="true"/>
          <p:nvPr/>
        </p:nvSpPr>
        <p:spPr>
          <a:xfrm rot="0">
            <a:off x="1028700" y="2721628"/>
            <a:ext cx="8115300" cy="2421872"/>
          </a:xfrm>
          <a:prstGeom prst="rect">
            <a:avLst/>
          </a:prstGeom>
        </p:spPr>
        <p:txBody>
          <a:bodyPr anchor="t" rtlCol="false" tIns="0" lIns="0" bIns="0" rIns="0">
            <a:spAutoFit/>
          </a:bodyPr>
          <a:lstStyle/>
          <a:p>
            <a:pPr algn="l">
              <a:lnSpc>
                <a:spcPts val="18129"/>
              </a:lnSpc>
            </a:pPr>
            <a:r>
              <a:rPr lang="en-US" b="true" sz="18499" spc="-1109">
                <a:solidFill>
                  <a:srgbClr val="FFFFFF"/>
                </a:solidFill>
                <a:latin typeface="Antonio Bold"/>
                <a:ea typeface="Antonio Bold"/>
                <a:cs typeface="Antonio Bold"/>
                <a:sym typeface="Antonio Bold"/>
              </a:rPr>
              <a:t>PROBLEM</a:t>
            </a:r>
          </a:p>
        </p:txBody>
      </p:sp>
      <p:sp>
        <p:nvSpPr>
          <p:cNvPr name="TextBox 6" id="6"/>
          <p:cNvSpPr txBox="true"/>
          <p:nvPr/>
        </p:nvSpPr>
        <p:spPr>
          <a:xfrm rot="0">
            <a:off x="8131874" y="5766435"/>
            <a:ext cx="9127426" cy="2421891"/>
          </a:xfrm>
          <a:prstGeom prst="rect">
            <a:avLst/>
          </a:prstGeom>
        </p:spPr>
        <p:txBody>
          <a:bodyPr anchor="t" rtlCol="false" tIns="0" lIns="0" bIns="0" rIns="0">
            <a:spAutoFit/>
          </a:bodyPr>
          <a:lstStyle/>
          <a:p>
            <a:pPr algn="r">
              <a:lnSpc>
                <a:spcPts val="18130"/>
              </a:lnSpc>
            </a:pPr>
            <a:r>
              <a:rPr lang="en-US" b="true" sz="18500" spc="-1110">
                <a:solidFill>
                  <a:srgbClr val="FFFFFF"/>
                </a:solidFill>
                <a:latin typeface="Antonio Bold"/>
                <a:ea typeface="Antonio Bold"/>
                <a:cs typeface="Antonio Bold"/>
                <a:sym typeface="Antonio Bold"/>
              </a:rPr>
              <a:t>STATEMENT</a:t>
            </a:r>
          </a:p>
        </p:txBody>
      </p:sp>
      <p:sp>
        <p:nvSpPr>
          <p:cNvPr name="TextBox 7" id="7"/>
          <p:cNvSpPr txBox="true"/>
          <p:nvPr/>
        </p:nvSpPr>
        <p:spPr>
          <a:xfrm rot="0">
            <a:off x="9144000" y="2747010"/>
            <a:ext cx="8115300" cy="1885950"/>
          </a:xfrm>
          <a:prstGeom prst="rect">
            <a:avLst/>
          </a:prstGeom>
        </p:spPr>
        <p:txBody>
          <a:bodyPr anchor="t" rtlCol="false" tIns="0" lIns="0" bIns="0" rIns="0">
            <a:spAutoFit/>
          </a:bodyPr>
          <a:lstStyle/>
          <a:p>
            <a:pPr algn="just">
              <a:lnSpc>
                <a:spcPts val="2160"/>
              </a:lnSpc>
            </a:pPr>
            <a:r>
              <a:rPr lang="en-US" sz="1800">
                <a:solidFill>
                  <a:srgbClr val="FFFFFF"/>
                </a:solidFill>
                <a:latin typeface="Poppins"/>
                <a:ea typeface="Poppins"/>
                <a:cs typeface="Poppins"/>
                <a:sym typeface="Poppins"/>
              </a:rPr>
              <a:t>Lorem ipsum dolor sit amet, c</a:t>
            </a:r>
            <a:r>
              <a:rPr lang="en-US" sz="1800">
                <a:solidFill>
                  <a:srgbClr val="FFFFFF"/>
                </a:solidFill>
                <a:latin typeface="Poppins"/>
                <a:ea typeface="Poppins"/>
                <a:cs typeface="Poppins"/>
                <a:sym typeface="Poppins"/>
              </a:rPr>
              <a:t>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sp>
        <p:nvSpPr>
          <p:cNvPr name="TextBox 8" id="8"/>
          <p:cNvSpPr txBox="true"/>
          <p:nvPr/>
        </p:nvSpPr>
        <p:spPr>
          <a:xfrm rot="0">
            <a:off x="1133070" y="5829618"/>
            <a:ext cx="6998804" cy="1885950"/>
          </a:xfrm>
          <a:prstGeom prst="rect">
            <a:avLst/>
          </a:prstGeom>
        </p:spPr>
        <p:txBody>
          <a:bodyPr anchor="t" rtlCol="false" tIns="0" lIns="0" bIns="0" rIns="0">
            <a:spAutoFit/>
          </a:bodyPr>
          <a:lstStyle/>
          <a:p>
            <a:pPr algn="just">
              <a:lnSpc>
                <a:spcPts val="2160"/>
              </a:lnSpc>
            </a:pPr>
            <a:r>
              <a:rPr lang="en-US" sz="1800">
                <a:solidFill>
                  <a:srgbClr val="FFFFFF"/>
                </a:solidFill>
                <a:latin typeface="Poppins"/>
                <a:ea typeface="Poppins"/>
                <a:cs typeface="Poppins"/>
                <a:sym typeface="Poppins"/>
              </a:rPr>
              <a:t>Lorem ipsum dolor sit amet, c</a:t>
            </a:r>
            <a:r>
              <a:rPr lang="en-US" sz="1800">
                <a:solidFill>
                  <a:srgbClr val="FFFFFF"/>
                </a:solidFill>
                <a:latin typeface="Poppins"/>
                <a:ea typeface="Poppins"/>
                <a:cs typeface="Poppins"/>
                <a:sym typeface="Poppins"/>
              </a:rPr>
              <a:t>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sp>
        <p:nvSpPr>
          <p:cNvPr name="AutoShape 9" id="9"/>
          <p:cNvSpPr/>
          <p:nvPr/>
        </p:nvSpPr>
        <p:spPr>
          <a:xfrm>
            <a:off x="1028700" y="9087268"/>
            <a:ext cx="16230600" cy="0"/>
          </a:xfrm>
          <a:prstGeom prst="line">
            <a:avLst/>
          </a:prstGeom>
          <a:ln cap="flat" w="19050">
            <a:solidFill>
              <a:srgbClr val="FFFFFF"/>
            </a:solidFill>
            <a:prstDash val="solid"/>
            <a:headEnd type="none" len="sm" w="sm"/>
            <a:tailEnd type="none" len="sm" w="sm"/>
          </a:ln>
        </p:spPr>
      </p:sp>
      <p:sp>
        <p:nvSpPr>
          <p:cNvPr name="AutoShape 10" id="10"/>
          <p:cNvSpPr/>
          <p:nvPr/>
        </p:nvSpPr>
        <p:spPr>
          <a:xfrm>
            <a:off x="1028700" y="1340503"/>
            <a:ext cx="16230600" cy="0"/>
          </a:xfrm>
          <a:prstGeom prst="line">
            <a:avLst/>
          </a:prstGeom>
          <a:ln cap="flat" w="19050">
            <a:solidFill>
              <a:srgbClr val="FFFFFF"/>
            </a:solidFill>
            <a:prstDash val="solid"/>
            <a:headEnd type="none" len="sm" w="sm"/>
            <a:tailEnd type="none" len="sm" w="sm"/>
          </a:ln>
        </p:spPr>
      </p:sp>
      <p:sp>
        <p:nvSpPr>
          <p:cNvPr name="Freeform 11" id="11"/>
          <p:cNvSpPr/>
          <p:nvPr/>
        </p:nvSpPr>
        <p:spPr>
          <a:xfrm flipH="false" flipV="false" rot="0">
            <a:off x="1028700"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669149" y="486034"/>
            <a:ext cx="549780" cy="568365"/>
          </a:xfrm>
          <a:custGeom>
            <a:avLst/>
            <a:gdLst/>
            <a:ahLst/>
            <a:cxnLst/>
            <a:rect r="r" b="b" t="t" l="l"/>
            <a:pathLst>
              <a:path h="568365" w="549780">
                <a:moveTo>
                  <a:pt x="0" y="0"/>
                </a:moveTo>
                <a:lnTo>
                  <a:pt x="549781" y="0"/>
                </a:lnTo>
                <a:lnTo>
                  <a:pt x="549781"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2309117"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14824100" y="346707"/>
            <a:ext cx="2435200" cy="847018"/>
            <a:chOff x="0" y="0"/>
            <a:chExt cx="641369" cy="223083"/>
          </a:xfrm>
        </p:grpSpPr>
        <p:sp>
          <p:nvSpPr>
            <p:cNvPr name="Freeform 15" id="15"/>
            <p:cNvSpPr/>
            <p:nvPr/>
          </p:nvSpPr>
          <p:spPr>
            <a:xfrm flipH="false" flipV="false" rot="0">
              <a:off x="0" y="0"/>
              <a:ext cx="641369" cy="223083"/>
            </a:xfrm>
            <a:custGeom>
              <a:avLst/>
              <a:gdLst/>
              <a:ahLst/>
              <a:cxnLst/>
              <a:rect r="r" b="b" t="t" l="l"/>
              <a:pathLst>
                <a:path h="223083" w="641369">
                  <a:moveTo>
                    <a:pt x="320685" y="0"/>
                  </a:moveTo>
                  <a:cubicBezTo>
                    <a:pt x="143575" y="0"/>
                    <a:pt x="0" y="49939"/>
                    <a:pt x="0" y="111541"/>
                  </a:cubicBezTo>
                  <a:cubicBezTo>
                    <a:pt x="0" y="173144"/>
                    <a:pt x="143575" y="223083"/>
                    <a:pt x="320685" y="223083"/>
                  </a:cubicBezTo>
                  <a:cubicBezTo>
                    <a:pt x="497794" y="223083"/>
                    <a:pt x="641369" y="173144"/>
                    <a:pt x="641369" y="111541"/>
                  </a:cubicBezTo>
                  <a:cubicBezTo>
                    <a:pt x="641369" y="49939"/>
                    <a:pt x="497794" y="0"/>
                    <a:pt x="320685" y="0"/>
                  </a:cubicBezTo>
                  <a:close/>
                </a:path>
              </a:pathLst>
            </a:custGeom>
            <a:ln w="38100" cap="sq">
              <a:solidFill>
                <a:srgbClr val="FFFFFF"/>
              </a:solidFill>
              <a:prstDash val="solid"/>
              <a:miter/>
            </a:ln>
          </p:spPr>
        </p:sp>
        <p:sp>
          <p:nvSpPr>
            <p:cNvPr name="TextBox 16" id="16"/>
            <p:cNvSpPr txBox="true"/>
            <p:nvPr/>
          </p:nvSpPr>
          <p:spPr>
            <a:xfrm>
              <a:off x="60128" y="-26711"/>
              <a:ext cx="521113" cy="228880"/>
            </a:xfrm>
            <a:prstGeom prst="rect">
              <a:avLst/>
            </a:prstGeom>
          </p:spPr>
          <p:txBody>
            <a:bodyPr anchor="ctr" rtlCol="false" tIns="50800" lIns="50800" bIns="50800" rIns="50800"/>
            <a:lstStyle/>
            <a:p>
              <a:pPr algn="ctr">
                <a:lnSpc>
                  <a:spcPts val="2799"/>
                </a:lnSpc>
              </a:pPr>
            </a:p>
          </p:txBody>
        </p:sp>
      </p:grpSp>
      <p:sp>
        <p:nvSpPr>
          <p:cNvPr name="TextBox 17" id="17"/>
          <p:cNvSpPr txBox="true"/>
          <p:nvPr/>
        </p:nvSpPr>
        <p:spPr>
          <a:xfrm rot="0">
            <a:off x="15296485" y="476643"/>
            <a:ext cx="1490431" cy="529997"/>
          </a:xfrm>
          <a:prstGeom prst="rect">
            <a:avLst/>
          </a:prstGeom>
        </p:spPr>
        <p:txBody>
          <a:bodyPr anchor="t" rtlCol="false" tIns="0" lIns="0" bIns="0" rIns="0">
            <a:spAutoFit/>
          </a:bodyPr>
          <a:lstStyle/>
          <a:p>
            <a:pPr algn="ctr">
              <a:lnSpc>
                <a:spcPts val="4387"/>
              </a:lnSpc>
              <a:spcBef>
                <a:spcPct val="0"/>
              </a:spcBef>
            </a:pPr>
            <a:r>
              <a:rPr lang="en-US" b="true" sz="3133">
                <a:solidFill>
                  <a:srgbClr val="FFFFFF"/>
                </a:solidFill>
                <a:latin typeface="Antonio Bold"/>
                <a:ea typeface="Antonio Bold"/>
                <a:cs typeface="Antonio Bold"/>
                <a:sym typeface="Antonio Bold"/>
              </a:rPr>
              <a:t>BORCELLE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313" r="0" b="-9313"/>
            </a:stretch>
          </a:blipFill>
        </p:spPr>
      </p:sp>
      <p:sp>
        <p:nvSpPr>
          <p:cNvPr name="Freeform 3" id="3"/>
          <p:cNvSpPr/>
          <p:nvPr/>
        </p:nvSpPr>
        <p:spPr>
          <a:xfrm flipH="false" flipV="false" rot="0">
            <a:off x="16508059" y="9258300"/>
            <a:ext cx="646870" cy="646870"/>
          </a:xfrm>
          <a:custGeom>
            <a:avLst/>
            <a:gdLst/>
            <a:ahLst/>
            <a:cxnLst/>
            <a:rect r="r" b="b" t="t" l="l"/>
            <a:pathLst>
              <a:path h="646870" w="646870">
                <a:moveTo>
                  <a:pt x="0" y="0"/>
                </a:moveTo>
                <a:lnTo>
                  <a:pt x="646871" y="0"/>
                </a:lnTo>
                <a:lnTo>
                  <a:pt x="646871" y="646870"/>
                </a:lnTo>
                <a:lnTo>
                  <a:pt x="0" y="646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028700" y="9087268"/>
            <a:ext cx="16230600" cy="0"/>
          </a:xfrm>
          <a:prstGeom prst="line">
            <a:avLst/>
          </a:prstGeom>
          <a:ln cap="flat" w="19050">
            <a:solidFill>
              <a:srgbClr val="FFFFFF"/>
            </a:solidFill>
            <a:prstDash val="solid"/>
            <a:headEnd type="none" len="sm" w="sm"/>
            <a:tailEnd type="none" len="sm" w="sm"/>
          </a:ln>
        </p:spPr>
      </p:sp>
      <p:sp>
        <p:nvSpPr>
          <p:cNvPr name="AutoShape 5" id="5"/>
          <p:cNvSpPr/>
          <p:nvPr/>
        </p:nvSpPr>
        <p:spPr>
          <a:xfrm>
            <a:off x="1028700" y="1340503"/>
            <a:ext cx="16230600" cy="0"/>
          </a:xfrm>
          <a:prstGeom prst="line">
            <a:avLst/>
          </a:prstGeom>
          <a:ln cap="flat" w="19050">
            <a:solidFill>
              <a:srgbClr val="FFFFFF"/>
            </a:solidFill>
            <a:prstDash val="solid"/>
            <a:headEnd type="none" len="sm" w="sm"/>
            <a:tailEnd type="none" len="sm" w="sm"/>
          </a:ln>
        </p:spPr>
      </p:sp>
      <p:sp>
        <p:nvSpPr>
          <p:cNvPr name="Freeform 6" id="6"/>
          <p:cNvSpPr/>
          <p:nvPr/>
        </p:nvSpPr>
        <p:spPr>
          <a:xfrm flipH="false" flipV="false" rot="0">
            <a:off x="1028700"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69149" y="486034"/>
            <a:ext cx="549780" cy="568365"/>
          </a:xfrm>
          <a:custGeom>
            <a:avLst/>
            <a:gdLst/>
            <a:ahLst/>
            <a:cxnLst/>
            <a:rect r="r" b="b" t="t" l="l"/>
            <a:pathLst>
              <a:path h="568365" w="549780">
                <a:moveTo>
                  <a:pt x="0" y="0"/>
                </a:moveTo>
                <a:lnTo>
                  <a:pt x="549781" y="0"/>
                </a:lnTo>
                <a:lnTo>
                  <a:pt x="549781"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309117"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4824100" y="346707"/>
            <a:ext cx="2435200" cy="847018"/>
            <a:chOff x="0" y="0"/>
            <a:chExt cx="641369" cy="223083"/>
          </a:xfrm>
        </p:grpSpPr>
        <p:sp>
          <p:nvSpPr>
            <p:cNvPr name="Freeform 10" id="10"/>
            <p:cNvSpPr/>
            <p:nvPr/>
          </p:nvSpPr>
          <p:spPr>
            <a:xfrm flipH="false" flipV="false" rot="0">
              <a:off x="0" y="0"/>
              <a:ext cx="641369" cy="223083"/>
            </a:xfrm>
            <a:custGeom>
              <a:avLst/>
              <a:gdLst/>
              <a:ahLst/>
              <a:cxnLst/>
              <a:rect r="r" b="b" t="t" l="l"/>
              <a:pathLst>
                <a:path h="223083" w="641369">
                  <a:moveTo>
                    <a:pt x="320685" y="0"/>
                  </a:moveTo>
                  <a:cubicBezTo>
                    <a:pt x="143575" y="0"/>
                    <a:pt x="0" y="49939"/>
                    <a:pt x="0" y="111541"/>
                  </a:cubicBezTo>
                  <a:cubicBezTo>
                    <a:pt x="0" y="173144"/>
                    <a:pt x="143575" y="223083"/>
                    <a:pt x="320685" y="223083"/>
                  </a:cubicBezTo>
                  <a:cubicBezTo>
                    <a:pt x="497794" y="223083"/>
                    <a:pt x="641369" y="173144"/>
                    <a:pt x="641369" y="111541"/>
                  </a:cubicBezTo>
                  <a:cubicBezTo>
                    <a:pt x="641369" y="49939"/>
                    <a:pt x="497794" y="0"/>
                    <a:pt x="320685" y="0"/>
                  </a:cubicBezTo>
                  <a:close/>
                </a:path>
              </a:pathLst>
            </a:custGeom>
            <a:ln w="38100" cap="sq">
              <a:solidFill>
                <a:srgbClr val="FFFFFF"/>
              </a:solidFill>
              <a:prstDash val="solid"/>
              <a:miter/>
            </a:ln>
          </p:spPr>
        </p:sp>
        <p:sp>
          <p:nvSpPr>
            <p:cNvPr name="TextBox 11" id="11"/>
            <p:cNvSpPr txBox="true"/>
            <p:nvPr/>
          </p:nvSpPr>
          <p:spPr>
            <a:xfrm>
              <a:off x="60128" y="-26711"/>
              <a:ext cx="521113" cy="228880"/>
            </a:xfrm>
            <a:prstGeom prst="rect">
              <a:avLst/>
            </a:prstGeom>
          </p:spPr>
          <p:txBody>
            <a:bodyPr anchor="ctr" rtlCol="false" tIns="50800" lIns="50800" bIns="50800" rIns="50800"/>
            <a:lstStyle/>
            <a:p>
              <a:pPr algn="ctr">
                <a:lnSpc>
                  <a:spcPts val="2799"/>
                </a:lnSpc>
              </a:pPr>
            </a:p>
          </p:txBody>
        </p:sp>
      </p:grpSp>
      <p:sp>
        <p:nvSpPr>
          <p:cNvPr name="TextBox 12" id="12"/>
          <p:cNvSpPr txBox="true"/>
          <p:nvPr/>
        </p:nvSpPr>
        <p:spPr>
          <a:xfrm rot="0">
            <a:off x="1133070" y="9200320"/>
            <a:ext cx="2581863" cy="704850"/>
          </a:xfrm>
          <a:prstGeom prst="rect">
            <a:avLst/>
          </a:prstGeom>
        </p:spPr>
        <p:txBody>
          <a:bodyPr anchor="t" rtlCol="false" tIns="0" lIns="0" bIns="0" rIns="0">
            <a:spAutoFit/>
          </a:bodyPr>
          <a:lstStyle/>
          <a:p>
            <a:pPr algn="l">
              <a:lnSpc>
                <a:spcPts val="5879"/>
              </a:lnSpc>
              <a:spcBef>
                <a:spcPct val="0"/>
              </a:spcBef>
            </a:pPr>
            <a:r>
              <a:rPr lang="en-US" b="true" sz="4199">
                <a:solidFill>
                  <a:srgbClr val="FFFFFF"/>
                </a:solidFill>
                <a:latin typeface="Antonio Bold"/>
                <a:ea typeface="Antonio Bold"/>
                <a:cs typeface="Antonio Bold"/>
                <a:sym typeface="Antonio Bold"/>
              </a:rPr>
              <a:t>AARON LOEB</a:t>
            </a:r>
          </a:p>
        </p:txBody>
      </p:sp>
      <p:sp>
        <p:nvSpPr>
          <p:cNvPr name="TextBox 13" id="13"/>
          <p:cNvSpPr txBox="true"/>
          <p:nvPr/>
        </p:nvSpPr>
        <p:spPr>
          <a:xfrm rot="0">
            <a:off x="15296485" y="476643"/>
            <a:ext cx="1490431" cy="529997"/>
          </a:xfrm>
          <a:prstGeom prst="rect">
            <a:avLst/>
          </a:prstGeom>
        </p:spPr>
        <p:txBody>
          <a:bodyPr anchor="t" rtlCol="false" tIns="0" lIns="0" bIns="0" rIns="0">
            <a:spAutoFit/>
          </a:bodyPr>
          <a:lstStyle/>
          <a:p>
            <a:pPr algn="ctr">
              <a:lnSpc>
                <a:spcPts val="4387"/>
              </a:lnSpc>
              <a:spcBef>
                <a:spcPct val="0"/>
              </a:spcBef>
            </a:pPr>
            <a:r>
              <a:rPr lang="en-US" b="true" sz="3133">
                <a:solidFill>
                  <a:srgbClr val="FFFFFF"/>
                </a:solidFill>
                <a:latin typeface="Antonio Bold"/>
                <a:ea typeface="Antonio Bold"/>
                <a:cs typeface="Antonio Bold"/>
                <a:sym typeface="Antonio Bold"/>
              </a:rPr>
              <a:t>BORCELLE</a:t>
            </a:r>
          </a:p>
        </p:txBody>
      </p:sp>
      <p:sp>
        <p:nvSpPr>
          <p:cNvPr name="TextBox 14" id="14"/>
          <p:cNvSpPr txBox="true"/>
          <p:nvPr/>
        </p:nvSpPr>
        <p:spPr>
          <a:xfrm rot="0">
            <a:off x="1028700" y="2721628"/>
            <a:ext cx="8115300" cy="2421872"/>
          </a:xfrm>
          <a:prstGeom prst="rect">
            <a:avLst/>
          </a:prstGeom>
        </p:spPr>
        <p:txBody>
          <a:bodyPr anchor="t" rtlCol="false" tIns="0" lIns="0" bIns="0" rIns="0">
            <a:spAutoFit/>
          </a:bodyPr>
          <a:lstStyle/>
          <a:p>
            <a:pPr algn="l">
              <a:lnSpc>
                <a:spcPts val="18129"/>
              </a:lnSpc>
            </a:pPr>
            <a:r>
              <a:rPr lang="en-US" b="true" sz="18499" spc="-1109">
                <a:solidFill>
                  <a:srgbClr val="FFFFFF"/>
                </a:solidFill>
                <a:latin typeface="Antonio Bold"/>
                <a:ea typeface="Antonio Bold"/>
                <a:cs typeface="Antonio Bold"/>
                <a:sym typeface="Antonio Bold"/>
              </a:rPr>
              <a:t>SOLUTION</a:t>
            </a:r>
          </a:p>
        </p:txBody>
      </p:sp>
      <p:sp>
        <p:nvSpPr>
          <p:cNvPr name="TextBox 15" id="15"/>
          <p:cNvSpPr txBox="true"/>
          <p:nvPr/>
        </p:nvSpPr>
        <p:spPr>
          <a:xfrm rot="0">
            <a:off x="1133070" y="6105525"/>
            <a:ext cx="6998804" cy="1885950"/>
          </a:xfrm>
          <a:prstGeom prst="rect">
            <a:avLst/>
          </a:prstGeom>
        </p:spPr>
        <p:txBody>
          <a:bodyPr anchor="t" rtlCol="false" tIns="0" lIns="0" bIns="0" rIns="0">
            <a:spAutoFit/>
          </a:bodyPr>
          <a:lstStyle/>
          <a:p>
            <a:pPr algn="just">
              <a:lnSpc>
                <a:spcPts val="2160"/>
              </a:lnSpc>
            </a:pPr>
            <a:r>
              <a:rPr lang="en-US" sz="1800">
                <a:solidFill>
                  <a:srgbClr val="FFFFFF"/>
                </a:solidFill>
                <a:latin typeface="Poppins"/>
                <a:ea typeface="Poppins"/>
                <a:cs typeface="Poppins"/>
                <a:sym typeface="Poppins"/>
              </a:rPr>
              <a:t>Lorem ipsum dolor sit amet, c</a:t>
            </a:r>
            <a:r>
              <a:rPr lang="en-US" sz="1800">
                <a:solidFill>
                  <a:srgbClr val="FFFFFF"/>
                </a:solidFill>
                <a:latin typeface="Poppins"/>
                <a:ea typeface="Poppins"/>
                <a:cs typeface="Poppins"/>
                <a:sym typeface="Poppins"/>
              </a:rPr>
              <a:t>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grpSp>
        <p:nvGrpSpPr>
          <p:cNvPr name="Group 16" id="16"/>
          <p:cNvGrpSpPr/>
          <p:nvPr/>
        </p:nvGrpSpPr>
        <p:grpSpPr>
          <a:xfrm rot="0">
            <a:off x="11446451" y="1750403"/>
            <a:ext cx="5812849" cy="6786195"/>
            <a:chOff x="0" y="0"/>
            <a:chExt cx="2269152" cy="2649115"/>
          </a:xfrm>
        </p:grpSpPr>
        <p:sp>
          <p:nvSpPr>
            <p:cNvPr name="Freeform 17" id="17"/>
            <p:cNvSpPr/>
            <p:nvPr/>
          </p:nvSpPr>
          <p:spPr>
            <a:xfrm flipH="false" flipV="false" rot="0">
              <a:off x="0" y="0"/>
              <a:ext cx="2269152" cy="2649115"/>
            </a:xfrm>
            <a:custGeom>
              <a:avLst/>
              <a:gdLst/>
              <a:ahLst/>
              <a:cxnLst/>
              <a:rect r="r" b="b" t="t" l="l"/>
              <a:pathLst>
                <a:path h="2649115" w="2269152">
                  <a:moveTo>
                    <a:pt x="0" y="0"/>
                  </a:moveTo>
                  <a:lnTo>
                    <a:pt x="2269152" y="0"/>
                  </a:lnTo>
                  <a:lnTo>
                    <a:pt x="2269152" y="2649115"/>
                  </a:lnTo>
                  <a:lnTo>
                    <a:pt x="0" y="2649115"/>
                  </a:lnTo>
                  <a:close/>
                </a:path>
              </a:pathLst>
            </a:custGeom>
            <a:blipFill>
              <a:blip r:embed="rId7"/>
              <a:stretch>
                <a:fillRect l="-37479" t="0" r="-37479"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313" r="0" b="-9313"/>
            </a:stretch>
          </a:blipFill>
        </p:spPr>
      </p:sp>
      <p:sp>
        <p:nvSpPr>
          <p:cNvPr name="Freeform 3" id="3"/>
          <p:cNvSpPr/>
          <p:nvPr/>
        </p:nvSpPr>
        <p:spPr>
          <a:xfrm flipH="false" flipV="false" rot="0">
            <a:off x="16508059" y="9258300"/>
            <a:ext cx="646870" cy="646870"/>
          </a:xfrm>
          <a:custGeom>
            <a:avLst/>
            <a:gdLst/>
            <a:ahLst/>
            <a:cxnLst/>
            <a:rect r="r" b="b" t="t" l="l"/>
            <a:pathLst>
              <a:path h="646870" w="646870">
                <a:moveTo>
                  <a:pt x="0" y="0"/>
                </a:moveTo>
                <a:lnTo>
                  <a:pt x="646871" y="0"/>
                </a:lnTo>
                <a:lnTo>
                  <a:pt x="646871" y="646870"/>
                </a:lnTo>
                <a:lnTo>
                  <a:pt x="0" y="646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028700" y="9087268"/>
            <a:ext cx="16230600" cy="0"/>
          </a:xfrm>
          <a:prstGeom prst="line">
            <a:avLst/>
          </a:prstGeom>
          <a:ln cap="flat" w="19050">
            <a:solidFill>
              <a:srgbClr val="FFFFFF"/>
            </a:solidFill>
            <a:prstDash val="solid"/>
            <a:headEnd type="none" len="sm" w="sm"/>
            <a:tailEnd type="none" len="sm" w="sm"/>
          </a:ln>
        </p:spPr>
      </p:sp>
      <p:sp>
        <p:nvSpPr>
          <p:cNvPr name="AutoShape 5" id="5"/>
          <p:cNvSpPr/>
          <p:nvPr/>
        </p:nvSpPr>
        <p:spPr>
          <a:xfrm>
            <a:off x="1028700" y="1340503"/>
            <a:ext cx="16230600" cy="0"/>
          </a:xfrm>
          <a:prstGeom prst="line">
            <a:avLst/>
          </a:prstGeom>
          <a:ln cap="flat" w="19050">
            <a:solidFill>
              <a:srgbClr val="FFFFFF"/>
            </a:solidFill>
            <a:prstDash val="solid"/>
            <a:headEnd type="none" len="sm" w="sm"/>
            <a:tailEnd type="none" len="sm" w="sm"/>
          </a:ln>
        </p:spPr>
      </p:sp>
      <p:sp>
        <p:nvSpPr>
          <p:cNvPr name="Freeform 6" id="6"/>
          <p:cNvSpPr/>
          <p:nvPr/>
        </p:nvSpPr>
        <p:spPr>
          <a:xfrm flipH="false" flipV="false" rot="0">
            <a:off x="1028700"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69149" y="486034"/>
            <a:ext cx="549780" cy="568365"/>
          </a:xfrm>
          <a:custGeom>
            <a:avLst/>
            <a:gdLst/>
            <a:ahLst/>
            <a:cxnLst/>
            <a:rect r="r" b="b" t="t" l="l"/>
            <a:pathLst>
              <a:path h="568365" w="549780">
                <a:moveTo>
                  <a:pt x="0" y="0"/>
                </a:moveTo>
                <a:lnTo>
                  <a:pt x="549781" y="0"/>
                </a:lnTo>
                <a:lnTo>
                  <a:pt x="549781"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309117"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4824100" y="346707"/>
            <a:ext cx="2435200" cy="847018"/>
            <a:chOff x="0" y="0"/>
            <a:chExt cx="641369" cy="223083"/>
          </a:xfrm>
        </p:grpSpPr>
        <p:sp>
          <p:nvSpPr>
            <p:cNvPr name="Freeform 10" id="10"/>
            <p:cNvSpPr/>
            <p:nvPr/>
          </p:nvSpPr>
          <p:spPr>
            <a:xfrm flipH="false" flipV="false" rot="0">
              <a:off x="0" y="0"/>
              <a:ext cx="641369" cy="223083"/>
            </a:xfrm>
            <a:custGeom>
              <a:avLst/>
              <a:gdLst/>
              <a:ahLst/>
              <a:cxnLst/>
              <a:rect r="r" b="b" t="t" l="l"/>
              <a:pathLst>
                <a:path h="223083" w="641369">
                  <a:moveTo>
                    <a:pt x="320685" y="0"/>
                  </a:moveTo>
                  <a:cubicBezTo>
                    <a:pt x="143575" y="0"/>
                    <a:pt x="0" y="49939"/>
                    <a:pt x="0" y="111541"/>
                  </a:cubicBezTo>
                  <a:cubicBezTo>
                    <a:pt x="0" y="173144"/>
                    <a:pt x="143575" y="223083"/>
                    <a:pt x="320685" y="223083"/>
                  </a:cubicBezTo>
                  <a:cubicBezTo>
                    <a:pt x="497794" y="223083"/>
                    <a:pt x="641369" y="173144"/>
                    <a:pt x="641369" y="111541"/>
                  </a:cubicBezTo>
                  <a:cubicBezTo>
                    <a:pt x="641369" y="49939"/>
                    <a:pt x="497794" y="0"/>
                    <a:pt x="320685" y="0"/>
                  </a:cubicBezTo>
                  <a:close/>
                </a:path>
              </a:pathLst>
            </a:custGeom>
            <a:ln w="38100" cap="sq">
              <a:solidFill>
                <a:srgbClr val="FFFFFF"/>
              </a:solidFill>
              <a:prstDash val="solid"/>
              <a:miter/>
            </a:ln>
          </p:spPr>
        </p:sp>
        <p:sp>
          <p:nvSpPr>
            <p:cNvPr name="TextBox 11" id="11"/>
            <p:cNvSpPr txBox="true"/>
            <p:nvPr/>
          </p:nvSpPr>
          <p:spPr>
            <a:xfrm>
              <a:off x="60128" y="-26711"/>
              <a:ext cx="521113" cy="228880"/>
            </a:xfrm>
            <a:prstGeom prst="rect">
              <a:avLst/>
            </a:prstGeom>
          </p:spPr>
          <p:txBody>
            <a:bodyPr anchor="ctr" rtlCol="false" tIns="50800" lIns="50800" bIns="50800" rIns="50800"/>
            <a:lstStyle/>
            <a:p>
              <a:pPr algn="ctr">
                <a:lnSpc>
                  <a:spcPts val="2799"/>
                </a:lnSpc>
              </a:pPr>
            </a:p>
          </p:txBody>
        </p:sp>
      </p:grpSp>
      <p:sp>
        <p:nvSpPr>
          <p:cNvPr name="TextBox 12" id="12"/>
          <p:cNvSpPr txBox="true"/>
          <p:nvPr/>
        </p:nvSpPr>
        <p:spPr>
          <a:xfrm rot="0">
            <a:off x="1133070" y="9200320"/>
            <a:ext cx="2581863" cy="704850"/>
          </a:xfrm>
          <a:prstGeom prst="rect">
            <a:avLst/>
          </a:prstGeom>
        </p:spPr>
        <p:txBody>
          <a:bodyPr anchor="t" rtlCol="false" tIns="0" lIns="0" bIns="0" rIns="0">
            <a:spAutoFit/>
          </a:bodyPr>
          <a:lstStyle/>
          <a:p>
            <a:pPr algn="l">
              <a:lnSpc>
                <a:spcPts val="5879"/>
              </a:lnSpc>
              <a:spcBef>
                <a:spcPct val="0"/>
              </a:spcBef>
            </a:pPr>
            <a:r>
              <a:rPr lang="en-US" b="true" sz="4199">
                <a:solidFill>
                  <a:srgbClr val="FFFFFF"/>
                </a:solidFill>
                <a:latin typeface="Antonio Bold"/>
                <a:ea typeface="Antonio Bold"/>
                <a:cs typeface="Antonio Bold"/>
                <a:sym typeface="Antonio Bold"/>
              </a:rPr>
              <a:t>AARON LOEB</a:t>
            </a:r>
          </a:p>
        </p:txBody>
      </p:sp>
      <p:sp>
        <p:nvSpPr>
          <p:cNvPr name="TextBox 13" id="13"/>
          <p:cNvSpPr txBox="true"/>
          <p:nvPr/>
        </p:nvSpPr>
        <p:spPr>
          <a:xfrm rot="0">
            <a:off x="15296485" y="476643"/>
            <a:ext cx="1490431" cy="529997"/>
          </a:xfrm>
          <a:prstGeom prst="rect">
            <a:avLst/>
          </a:prstGeom>
        </p:spPr>
        <p:txBody>
          <a:bodyPr anchor="t" rtlCol="false" tIns="0" lIns="0" bIns="0" rIns="0">
            <a:spAutoFit/>
          </a:bodyPr>
          <a:lstStyle/>
          <a:p>
            <a:pPr algn="ctr">
              <a:lnSpc>
                <a:spcPts val="4387"/>
              </a:lnSpc>
              <a:spcBef>
                <a:spcPct val="0"/>
              </a:spcBef>
            </a:pPr>
            <a:r>
              <a:rPr lang="en-US" b="true" sz="3133">
                <a:solidFill>
                  <a:srgbClr val="FFFFFF"/>
                </a:solidFill>
                <a:latin typeface="Antonio Bold"/>
                <a:ea typeface="Antonio Bold"/>
                <a:cs typeface="Antonio Bold"/>
                <a:sym typeface="Antonio Bold"/>
              </a:rPr>
              <a:t>BORCELLE</a:t>
            </a:r>
          </a:p>
        </p:txBody>
      </p:sp>
      <p:sp>
        <p:nvSpPr>
          <p:cNvPr name="TextBox 14" id="14"/>
          <p:cNvSpPr txBox="true"/>
          <p:nvPr/>
        </p:nvSpPr>
        <p:spPr>
          <a:xfrm rot="0">
            <a:off x="6737179" y="2397743"/>
            <a:ext cx="10417751" cy="4717397"/>
          </a:xfrm>
          <a:prstGeom prst="rect">
            <a:avLst/>
          </a:prstGeom>
        </p:spPr>
        <p:txBody>
          <a:bodyPr anchor="t" rtlCol="false" tIns="0" lIns="0" bIns="0" rIns="0">
            <a:spAutoFit/>
          </a:bodyPr>
          <a:lstStyle/>
          <a:p>
            <a:pPr algn="r">
              <a:lnSpc>
                <a:spcPts val="18129"/>
              </a:lnSpc>
            </a:pPr>
            <a:r>
              <a:rPr lang="en-US" b="true" sz="18499" spc="-1109">
                <a:solidFill>
                  <a:srgbClr val="FFFFFF"/>
                </a:solidFill>
                <a:latin typeface="Antonio Bold"/>
                <a:ea typeface="Antonio Bold"/>
                <a:cs typeface="Antonio Bold"/>
                <a:sym typeface="Antonio Bold"/>
              </a:rPr>
              <a:t>MARKET OPPORTUNITY</a:t>
            </a:r>
          </a:p>
        </p:txBody>
      </p:sp>
      <p:pic>
        <p:nvPicPr>
          <p:cNvPr name="Picture 15" id="15"/>
          <p:cNvPicPr>
            <a:picLocks noChangeAspect="true"/>
          </p:cNvPicPr>
          <p:nvPr/>
        </p:nvPicPr>
        <p:blipFill>
          <a:blip r:embed="rId7"/>
          <a:stretch>
            <a:fillRect/>
          </a:stretch>
        </p:blipFill>
        <p:spPr>
          <a:xfrm rot="0">
            <a:off x="455620" y="1096953"/>
            <a:ext cx="6526666" cy="8129394"/>
          </a:xfrm>
          <a:prstGeom prst="rect">
            <a:avLst/>
          </a:prstGeom>
        </p:spPr>
      </p:pic>
      <p:sp>
        <p:nvSpPr>
          <p:cNvPr name="TextBox 16" id="16"/>
          <p:cNvSpPr txBox="true"/>
          <p:nvPr/>
        </p:nvSpPr>
        <p:spPr>
          <a:xfrm rot="0">
            <a:off x="7429568" y="7258015"/>
            <a:ext cx="9725362" cy="819150"/>
          </a:xfrm>
          <a:prstGeom prst="rect">
            <a:avLst/>
          </a:prstGeom>
        </p:spPr>
        <p:txBody>
          <a:bodyPr anchor="t" rtlCol="false" tIns="0" lIns="0" bIns="0" rIns="0">
            <a:spAutoFit/>
          </a:bodyPr>
          <a:lstStyle/>
          <a:p>
            <a:pPr algn="just">
              <a:lnSpc>
                <a:spcPts val="2160"/>
              </a:lnSpc>
            </a:pPr>
            <a:r>
              <a:rPr lang="en-US" sz="1800">
                <a:solidFill>
                  <a:srgbClr val="FFFFFF"/>
                </a:solidFill>
                <a:latin typeface="Poppins"/>
                <a:ea typeface="Poppins"/>
                <a:cs typeface="Poppins"/>
                <a:sym typeface="Poppins"/>
              </a:rPr>
              <a:t>Lorem ipsum dolor sit amet, c</a:t>
            </a:r>
            <a:r>
              <a:rPr lang="en-US" sz="1800">
                <a:solidFill>
                  <a:srgbClr val="FFFFFF"/>
                </a:solidFill>
                <a:latin typeface="Poppins"/>
                <a:ea typeface="Poppins"/>
                <a:cs typeface="Poppins"/>
                <a:sym typeface="Poppins"/>
              </a:rPr>
              <a:t>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313" r="0" b="-9313"/>
            </a:stretch>
          </a:blipFill>
        </p:spPr>
      </p:sp>
      <p:sp>
        <p:nvSpPr>
          <p:cNvPr name="Freeform 3" id="3"/>
          <p:cNvSpPr/>
          <p:nvPr/>
        </p:nvSpPr>
        <p:spPr>
          <a:xfrm flipH="false" flipV="false" rot="0">
            <a:off x="16508059" y="9258300"/>
            <a:ext cx="646870" cy="646870"/>
          </a:xfrm>
          <a:custGeom>
            <a:avLst/>
            <a:gdLst/>
            <a:ahLst/>
            <a:cxnLst/>
            <a:rect r="r" b="b" t="t" l="l"/>
            <a:pathLst>
              <a:path h="646870" w="646870">
                <a:moveTo>
                  <a:pt x="0" y="0"/>
                </a:moveTo>
                <a:lnTo>
                  <a:pt x="646871" y="0"/>
                </a:lnTo>
                <a:lnTo>
                  <a:pt x="646871" y="646870"/>
                </a:lnTo>
                <a:lnTo>
                  <a:pt x="0" y="646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028700" y="9087268"/>
            <a:ext cx="16230600" cy="0"/>
          </a:xfrm>
          <a:prstGeom prst="line">
            <a:avLst/>
          </a:prstGeom>
          <a:ln cap="flat" w="19050">
            <a:solidFill>
              <a:srgbClr val="FFFFFF"/>
            </a:solidFill>
            <a:prstDash val="solid"/>
            <a:headEnd type="none" len="sm" w="sm"/>
            <a:tailEnd type="none" len="sm" w="sm"/>
          </a:ln>
        </p:spPr>
      </p:sp>
      <p:sp>
        <p:nvSpPr>
          <p:cNvPr name="AutoShape 5" id="5"/>
          <p:cNvSpPr/>
          <p:nvPr/>
        </p:nvSpPr>
        <p:spPr>
          <a:xfrm>
            <a:off x="1028700" y="1340503"/>
            <a:ext cx="16230600" cy="0"/>
          </a:xfrm>
          <a:prstGeom prst="line">
            <a:avLst/>
          </a:prstGeom>
          <a:ln cap="flat" w="19050">
            <a:solidFill>
              <a:srgbClr val="FFFFFF"/>
            </a:solidFill>
            <a:prstDash val="solid"/>
            <a:headEnd type="none" len="sm" w="sm"/>
            <a:tailEnd type="none" len="sm" w="sm"/>
          </a:ln>
        </p:spPr>
      </p:sp>
      <p:sp>
        <p:nvSpPr>
          <p:cNvPr name="Freeform 6" id="6"/>
          <p:cNvSpPr/>
          <p:nvPr/>
        </p:nvSpPr>
        <p:spPr>
          <a:xfrm flipH="false" flipV="false" rot="0">
            <a:off x="1028700"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69149" y="486034"/>
            <a:ext cx="549780" cy="568365"/>
          </a:xfrm>
          <a:custGeom>
            <a:avLst/>
            <a:gdLst/>
            <a:ahLst/>
            <a:cxnLst/>
            <a:rect r="r" b="b" t="t" l="l"/>
            <a:pathLst>
              <a:path h="568365" w="549780">
                <a:moveTo>
                  <a:pt x="0" y="0"/>
                </a:moveTo>
                <a:lnTo>
                  <a:pt x="549781" y="0"/>
                </a:lnTo>
                <a:lnTo>
                  <a:pt x="549781"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309117"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4824100" y="346707"/>
            <a:ext cx="2435200" cy="847018"/>
            <a:chOff x="0" y="0"/>
            <a:chExt cx="641369" cy="223083"/>
          </a:xfrm>
        </p:grpSpPr>
        <p:sp>
          <p:nvSpPr>
            <p:cNvPr name="Freeform 10" id="10"/>
            <p:cNvSpPr/>
            <p:nvPr/>
          </p:nvSpPr>
          <p:spPr>
            <a:xfrm flipH="false" flipV="false" rot="0">
              <a:off x="0" y="0"/>
              <a:ext cx="641369" cy="223083"/>
            </a:xfrm>
            <a:custGeom>
              <a:avLst/>
              <a:gdLst/>
              <a:ahLst/>
              <a:cxnLst/>
              <a:rect r="r" b="b" t="t" l="l"/>
              <a:pathLst>
                <a:path h="223083" w="641369">
                  <a:moveTo>
                    <a:pt x="320685" y="0"/>
                  </a:moveTo>
                  <a:cubicBezTo>
                    <a:pt x="143575" y="0"/>
                    <a:pt x="0" y="49939"/>
                    <a:pt x="0" y="111541"/>
                  </a:cubicBezTo>
                  <a:cubicBezTo>
                    <a:pt x="0" y="173144"/>
                    <a:pt x="143575" y="223083"/>
                    <a:pt x="320685" y="223083"/>
                  </a:cubicBezTo>
                  <a:cubicBezTo>
                    <a:pt x="497794" y="223083"/>
                    <a:pt x="641369" y="173144"/>
                    <a:pt x="641369" y="111541"/>
                  </a:cubicBezTo>
                  <a:cubicBezTo>
                    <a:pt x="641369" y="49939"/>
                    <a:pt x="497794" y="0"/>
                    <a:pt x="320685" y="0"/>
                  </a:cubicBezTo>
                  <a:close/>
                </a:path>
              </a:pathLst>
            </a:custGeom>
            <a:ln w="38100" cap="sq">
              <a:solidFill>
                <a:srgbClr val="FFFFFF"/>
              </a:solidFill>
              <a:prstDash val="solid"/>
              <a:miter/>
            </a:ln>
          </p:spPr>
        </p:sp>
        <p:sp>
          <p:nvSpPr>
            <p:cNvPr name="TextBox 11" id="11"/>
            <p:cNvSpPr txBox="true"/>
            <p:nvPr/>
          </p:nvSpPr>
          <p:spPr>
            <a:xfrm>
              <a:off x="60128" y="-26711"/>
              <a:ext cx="521113" cy="228880"/>
            </a:xfrm>
            <a:prstGeom prst="rect">
              <a:avLst/>
            </a:prstGeom>
          </p:spPr>
          <p:txBody>
            <a:bodyPr anchor="ctr" rtlCol="false" tIns="50800" lIns="50800" bIns="50800" rIns="50800"/>
            <a:lstStyle/>
            <a:p>
              <a:pPr algn="ctr">
                <a:lnSpc>
                  <a:spcPts val="2799"/>
                </a:lnSpc>
              </a:pPr>
            </a:p>
          </p:txBody>
        </p:sp>
      </p:grpSp>
      <p:sp>
        <p:nvSpPr>
          <p:cNvPr name="TextBox 12" id="12"/>
          <p:cNvSpPr txBox="true"/>
          <p:nvPr/>
        </p:nvSpPr>
        <p:spPr>
          <a:xfrm rot="0">
            <a:off x="1133070" y="9200320"/>
            <a:ext cx="2581863" cy="704850"/>
          </a:xfrm>
          <a:prstGeom prst="rect">
            <a:avLst/>
          </a:prstGeom>
        </p:spPr>
        <p:txBody>
          <a:bodyPr anchor="t" rtlCol="false" tIns="0" lIns="0" bIns="0" rIns="0">
            <a:spAutoFit/>
          </a:bodyPr>
          <a:lstStyle/>
          <a:p>
            <a:pPr algn="l">
              <a:lnSpc>
                <a:spcPts val="5879"/>
              </a:lnSpc>
              <a:spcBef>
                <a:spcPct val="0"/>
              </a:spcBef>
            </a:pPr>
            <a:r>
              <a:rPr lang="en-US" b="true" sz="4199">
                <a:solidFill>
                  <a:srgbClr val="FFFFFF"/>
                </a:solidFill>
                <a:latin typeface="Antonio Bold"/>
                <a:ea typeface="Antonio Bold"/>
                <a:cs typeface="Antonio Bold"/>
                <a:sym typeface="Antonio Bold"/>
              </a:rPr>
              <a:t>AARON LOEB</a:t>
            </a:r>
          </a:p>
        </p:txBody>
      </p:sp>
      <p:sp>
        <p:nvSpPr>
          <p:cNvPr name="TextBox 13" id="13"/>
          <p:cNvSpPr txBox="true"/>
          <p:nvPr/>
        </p:nvSpPr>
        <p:spPr>
          <a:xfrm rot="0">
            <a:off x="15296485" y="476643"/>
            <a:ext cx="1490431" cy="529997"/>
          </a:xfrm>
          <a:prstGeom prst="rect">
            <a:avLst/>
          </a:prstGeom>
        </p:spPr>
        <p:txBody>
          <a:bodyPr anchor="t" rtlCol="false" tIns="0" lIns="0" bIns="0" rIns="0">
            <a:spAutoFit/>
          </a:bodyPr>
          <a:lstStyle/>
          <a:p>
            <a:pPr algn="ctr">
              <a:lnSpc>
                <a:spcPts val="4387"/>
              </a:lnSpc>
              <a:spcBef>
                <a:spcPct val="0"/>
              </a:spcBef>
            </a:pPr>
            <a:r>
              <a:rPr lang="en-US" b="true" sz="3133">
                <a:solidFill>
                  <a:srgbClr val="FFFFFF"/>
                </a:solidFill>
                <a:latin typeface="Antonio Bold"/>
                <a:ea typeface="Antonio Bold"/>
                <a:cs typeface="Antonio Bold"/>
                <a:sym typeface="Antonio Bold"/>
              </a:rPr>
              <a:t>BORCELLE</a:t>
            </a:r>
          </a:p>
        </p:txBody>
      </p:sp>
      <p:sp>
        <p:nvSpPr>
          <p:cNvPr name="TextBox 14" id="14"/>
          <p:cNvSpPr txBox="true"/>
          <p:nvPr/>
        </p:nvSpPr>
        <p:spPr>
          <a:xfrm rot="0">
            <a:off x="8875635" y="4042350"/>
            <a:ext cx="8279295" cy="4717397"/>
          </a:xfrm>
          <a:prstGeom prst="rect">
            <a:avLst/>
          </a:prstGeom>
        </p:spPr>
        <p:txBody>
          <a:bodyPr anchor="t" rtlCol="false" tIns="0" lIns="0" bIns="0" rIns="0">
            <a:spAutoFit/>
          </a:bodyPr>
          <a:lstStyle/>
          <a:p>
            <a:pPr algn="r">
              <a:lnSpc>
                <a:spcPts val="18129"/>
              </a:lnSpc>
            </a:pPr>
            <a:r>
              <a:rPr lang="en-US" b="true" sz="18499" spc="-1109">
                <a:solidFill>
                  <a:srgbClr val="FFFFFF"/>
                </a:solidFill>
                <a:latin typeface="Antonio Bold"/>
                <a:ea typeface="Antonio Bold"/>
                <a:cs typeface="Antonio Bold"/>
                <a:sym typeface="Antonio Bold"/>
              </a:rPr>
              <a:t>SERVICE OVERVIEW</a:t>
            </a:r>
          </a:p>
        </p:txBody>
      </p:sp>
      <p:sp>
        <p:nvSpPr>
          <p:cNvPr name="TextBox 15" id="15"/>
          <p:cNvSpPr txBox="true"/>
          <p:nvPr/>
        </p:nvSpPr>
        <p:spPr>
          <a:xfrm rot="0">
            <a:off x="1028700" y="4954781"/>
            <a:ext cx="6826964" cy="1085850"/>
          </a:xfrm>
          <a:prstGeom prst="rect">
            <a:avLst/>
          </a:prstGeom>
        </p:spPr>
        <p:txBody>
          <a:bodyPr anchor="t" rtlCol="false" tIns="0" lIns="0" bIns="0" rIns="0">
            <a:spAutoFit/>
          </a:bodyPr>
          <a:lstStyle/>
          <a:p>
            <a:pPr algn="just">
              <a:lnSpc>
                <a:spcPts val="2160"/>
              </a:lnSpc>
            </a:pPr>
            <a:r>
              <a:rPr lang="en-US" sz="1800">
                <a:solidFill>
                  <a:srgbClr val="FFFFFF"/>
                </a:solidFill>
                <a:latin typeface="Poppins"/>
                <a:ea typeface="Poppins"/>
                <a:cs typeface="Poppins"/>
                <a:sym typeface="Poppins"/>
              </a:rPr>
              <a:t>Lorem ipsum dolor sit amet, c</a:t>
            </a:r>
            <a:r>
              <a:rPr lang="en-US" sz="1800">
                <a:solidFill>
                  <a:srgbClr val="FFFFFF"/>
                </a:solidFill>
                <a:latin typeface="Poppins"/>
                <a:ea typeface="Poppins"/>
                <a:cs typeface="Poppins"/>
                <a:sym typeface="Poppins"/>
              </a:rPr>
              <a:t>onsectetur adipiscing elit, sed do eiusmod tempor incididunt ut labore et dolore magna aliqua. Ut enim ad minim veniam, quis nostrud exercitation ullamco laboris nisi ut aliquip ex ea commodo consequat.</a:t>
            </a:r>
          </a:p>
        </p:txBody>
      </p:sp>
      <p:sp>
        <p:nvSpPr>
          <p:cNvPr name="TextBox 16" id="16"/>
          <p:cNvSpPr txBox="true"/>
          <p:nvPr/>
        </p:nvSpPr>
        <p:spPr>
          <a:xfrm rot="0">
            <a:off x="1028700" y="2482726"/>
            <a:ext cx="6826964" cy="1085850"/>
          </a:xfrm>
          <a:prstGeom prst="rect">
            <a:avLst/>
          </a:prstGeom>
        </p:spPr>
        <p:txBody>
          <a:bodyPr anchor="t" rtlCol="false" tIns="0" lIns="0" bIns="0" rIns="0">
            <a:spAutoFit/>
          </a:bodyPr>
          <a:lstStyle/>
          <a:p>
            <a:pPr algn="just">
              <a:lnSpc>
                <a:spcPts val="2160"/>
              </a:lnSpc>
            </a:pPr>
            <a:r>
              <a:rPr lang="en-US" sz="1800">
                <a:solidFill>
                  <a:srgbClr val="FFFFFF"/>
                </a:solidFill>
                <a:latin typeface="Poppins"/>
                <a:ea typeface="Poppins"/>
                <a:cs typeface="Poppins"/>
                <a:sym typeface="Poppins"/>
              </a:rPr>
              <a:t>Lorem ipsum dolor sit amet, c</a:t>
            </a:r>
            <a:r>
              <a:rPr lang="en-US" sz="1800">
                <a:solidFill>
                  <a:srgbClr val="FFFFFF"/>
                </a:solidFill>
                <a:latin typeface="Poppins"/>
                <a:ea typeface="Poppins"/>
                <a:cs typeface="Poppins"/>
                <a:sym typeface="Poppins"/>
              </a:rPr>
              <a:t>onsectetur adipiscing elit, sed do eiusmod tempor incididunt ut labore et dolore magna aliqua. Ut enim ad minim veniam, quis nostrud exercitation ullamco laboris nisi ut aliquip ex ea commodo consequat.</a:t>
            </a:r>
          </a:p>
        </p:txBody>
      </p:sp>
      <p:sp>
        <p:nvSpPr>
          <p:cNvPr name="TextBox 17" id="17"/>
          <p:cNvSpPr txBox="true"/>
          <p:nvPr/>
        </p:nvSpPr>
        <p:spPr>
          <a:xfrm rot="0">
            <a:off x="1028700" y="4330576"/>
            <a:ext cx="6998804" cy="396240"/>
          </a:xfrm>
          <a:prstGeom prst="rect">
            <a:avLst/>
          </a:prstGeom>
        </p:spPr>
        <p:txBody>
          <a:bodyPr anchor="t" rtlCol="false" tIns="0" lIns="0" bIns="0" rIns="0">
            <a:spAutoFit/>
          </a:bodyPr>
          <a:lstStyle/>
          <a:p>
            <a:pPr algn="l">
              <a:lnSpc>
                <a:spcPts val="3359"/>
              </a:lnSpc>
              <a:spcBef>
                <a:spcPct val="0"/>
              </a:spcBef>
            </a:pPr>
            <a:r>
              <a:rPr lang="en-US" b="true" sz="2400">
                <a:solidFill>
                  <a:srgbClr val="FFFFFF"/>
                </a:solidFill>
                <a:latin typeface="Antonio Bold"/>
                <a:ea typeface="Antonio Bold"/>
                <a:cs typeface="Antonio Bold"/>
                <a:sym typeface="Antonio Bold"/>
              </a:rPr>
              <a:t>PRODUCT 2</a:t>
            </a:r>
          </a:p>
        </p:txBody>
      </p:sp>
      <p:sp>
        <p:nvSpPr>
          <p:cNvPr name="TextBox 18" id="18"/>
          <p:cNvSpPr txBox="true"/>
          <p:nvPr/>
        </p:nvSpPr>
        <p:spPr>
          <a:xfrm rot="0">
            <a:off x="1028700" y="1857886"/>
            <a:ext cx="6998804" cy="396240"/>
          </a:xfrm>
          <a:prstGeom prst="rect">
            <a:avLst/>
          </a:prstGeom>
        </p:spPr>
        <p:txBody>
          <a:bodyPr anchor="t" rtlCol="false" tIns="0" lIns="0" bIns="0" rIns="0">
            <a:spAutoFit/>
          </a:bodyPr>
          <a:lstStyle/>
          <a:p>
            <a:pPr algn="l">
              <a:lnSpc>
                <a:spcPts val="3359"/>
              </a:lnSpc>
              <a:spcBef>
                <a:spcPct val="0"/>
              </a:spcBef>
            </a:pPr>
            <a:r>
              <a:rPr lang="en-US" b="true" sz="2400">
                <a:solidFill>
                  <a:srgbClr val="FFFFFF"/>
                </a:solidFill>
                <a:latin typeface="Antonio Bold"/>
                <a:ea typeface="Antonio Bold"/>
                <a:cs typeface="Antonio Bold"/>
                <a:sym typeface="Antonio Bold"/>
              </a:rPr>
              <a:t>PRODUCT 1</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313" r="0" b="-9313"/>
            </a:stretch>
          </a:blipFill>
        </p:spPr>
      </p:sp>
      <p:sp>
        <p:nvSpPr>
          <p:cNvPr name="Freeform 3" id="3"/>
          <p:cNvSpPr/>
          <p:nvPr/>
        </p:nvSpPr>
        <p:spPr>
          <a:xfrm flipH="false" flipV="false" rot="0">
            <a:off x="16508059" y="9258300"/>
            <a:ext cx="646870" cy="646870"/>
          </a:xfrm>
          <a:custGeom>
            <a:avLst/>
            <a:gdLst/>
            <a:ahLst/>
            <a:cxnLst/>
            <a:rect r="r" b="b" t="t" l="l"/>
            <a:pathLst>
              <a:path h="646870" w="646870">
                <a:moveTo>
                  <a:pt x="0" y="0"/>
                </a:moveTo>
                <a:lnTo>
                  <a:pt x="646871" y="0"/>
                </a:lnTo>
                <a:lnTo>
                  <a:pt x="646871" y="646870"/>
                </a:lnTo>
                <a:lnTo>
                  <a:pt x="0" y="646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028700" y="9087268"/>
            <a:ext cx="16230600" cy="0"/>
          </a:xfrm>
          <a:prstGeom prst="line">
            <a:avLst/>
          </a:prstGeom>
          <a:ln cap="flat" w="19050">
            <a:solidFill>
              <a:srgbClr val="FFFFFF"/>
            </a:solidFill>
            <a:prstDash val="solid"/>
            <a:headEnd type="none" len="sm" w="sm"/>
            <a:tailEnd type="none" len="sm" w="sm"/>
          </a:ln>
        </p:spPr>
      </p:sp>
      <p:sp>
        <p:nvSpPr>
          <p:cNvPr name="AutoShape 5" id="5"/>
          <p:cNvSpPr/>
          <p:nvPr/>
        </p:nvSpPr>
        <p:spPr>
          <a:xfrm>
            <a:off x="1028700" y="1340503"/>
            <a:ext cx="16230600" cy="0"/>
          </a:xfrm>
          <a:prstGeom prst="line">
            <a:avLst/>
          </a:prstGeom>
          <a:ln cap="flat" w="19050">
            <a:solidFill>
              <a:srgbClr val="FFFFFF"/>
            </a:solidFill>
            <a:prstDash val="solid"/>
            <a:headEnd type="none" len="sm" w="sm"/>
            <a:tailEnd type="none" len="sm" w="sm"/>
          </a:ln>
        </p:spPr>
      </p:sp>
      <p:sp>
        <p:nvSpPr>
          <p:cNvPr name="Freeform 6" id="6"/>
          <p:cNvSpPr/>
          <p:nvPr/>
        </p:nvSpPr>
        <p:spPr>
          <a:xfrm flipH="false" flipV="false" rot="0">
            <a:off x="1028700"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69149" y="486034"/>
            <a:ext cx="549780" cy="568365"/>
          </a:xfrm>
          <a:custGeom>
            <a:avLst/>
            <a:gdLst/>
            <a:ahLst/>
            <a:cxnLst/>
            <a:rect r="r" b="b" t="t" l="l"/>
            <a:pathLst>
              <a:path h="568365" w="549780">
                <a:moveTo>
                  <a:pt x="0" y="0"/>
                </a:moveTo>
                <a:lnTo>
                  <a:pt x="549781" y="0"/>
                </a:lnTo>
                <a:lnTo>
                  <a:pt x="549781"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309117"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4824100" y="346707"/>
            <a:ext cx="2435200" cy="847018"/>
            <a:chOff x="0" y="0"/>
            <a:chExt cx="641369" cy="223083"/>
          </a:xfrm>
        </p:grpSpPr>
        <p:sp>
          <p:nvSpPr>
            <p:cNvPr name="Freeform 10" id="10"/>
            <p:cNvSpPr/>
            <p:nvPr/>
          </p:nvSpPr>
          <p:spPr>
            <a:xfrm flipH="false" flipV="false" rot="0">
              <a:off x="0" y="0"/>
              <a:ext cx="641369" cy="223083"/>
            </a:xfrm>
            <a:custGeom>
              <a:avLst/>
              <a:gdLst/>
              <a:ahLst/>
              <a:cxnLst/>
              <a:rect r="r" b="b" t="t" l="l"/>
              <a:pathLst>
                <a:path h="223083" w="641369">
                  <a:moveTo>
                    <a:pt x="320685" y="0"/>
                  </a:moveTo>
                  <a:cubicBezTo>
                    <a:pt x="143575" y="0"/>
                    <a:pt x="0" y="49939"/>
                    <a:pt x="0" y="111541"/>
                  </a:cubicBezTo>
                  <a:cubicBezTo>
                    <a:pt x="0" y="173144"/>
                    <a:pt x="143575" y="223083"/>
                    <a:pt x="320685" y="223083"/>
                  </a:cubicBezTo>
                  <a:cubicBezTo>
                    <a:pt x="497794" y="223083"/>
                    <a:pt x="641369" y="173144"/>
                    <a:pt x="641369" y="111541"/>
                  </a:cubicBezTo>
                  <a:cubicBezTo>
                    <a:pt x="641369" y="49939"/>
                    <a:pt x="497794" y="0"/>
                    <a:pt x="320685" y="0"/>
                  </a:cubicBezTo>
                  <a:close/>
                </a:path>
              </a:pathLst>
            </a:custGeom>
            <a:ln w="38100" cap="sq">
              <a:solidFill>
                <a:srgbClr val="FFFFFF"/>
              </a:solidFill>
              <a:prstDash val="solid"/>
              <a:miter/>
            </a:ln>
          </p:spPr>
        </p:sp>
        <p:sp>
          <p:nvSpPr>
            <p:cNvPr name="TextBox 11" id="11"/>
            <p:cNvSpPr txBox="true"/>
            <p:nvPr/>
          </p:nvSpPr>
          <p:spPr>
            <a:xfrm>
              <a:off x="60128" y="-26711"/>
              <a:ext cx="521113" cy="228880"/>
            </a:xfrm>
            <a:prstGeom prst="rect">
              <a:avLst/>
            </a:prstGeom>
          </p:spPr>
          <p:txBody>
            <a:bodyPr anchor="ctr" rtlCol="false" tIns="50800" lIns="50800" bIns="50800" rIns="50800"/>
            <a:lstStyle/>
            <a:p>
              <a:pPr algn="ctr">
                <a:lnSpc>
                  <a:spcPts val="2799"/>
                </a:lnSpc>
              </a:pPr>
            </a:p>
          </p:txBody>
        </p:sp>
      </p:grpSp>
      <p:sp>
        <p:nvSpPr>
          <p:cNvPr name="TextBox 12" id="12"/>
          <p:cNvSpPr txBox="true"/>
          <p:nvPr/>
        </p:nvSpPr>
        <p:spPr>
          <a:xfrm rot="0">
            <a:off x="1133070" y="9200320"/>
            <a:ext cx="2581863" cy="704850"/>
          </a:xfrm>
          <a:prstGeom prst="rect">
            <a:avLst/>
          </a:prstGeom>
        </p:spPr>
        <p:txBody>
          <a:bodyPr anchor="t" rtlCol="false" tIns="0" lIns="0" bIns="0" rIns="0">
            <a:spAutoFit/>
          </a:bodyPr>
          <a:lstStyle/>
          <a:p>
            <a:pPr algn="l">
              <a:lnSpc>
                <a:spcPts val="5879"/>
              </a:lnSpc>
              <a:spcBef>
                <a:spcPct val="0"/>
              </a:spcBef>
            </a:pPr>
            <a:r>
              <a:rPr lang="en-US" b="true" sz="4199">
                <a:solidFill>
                  <a:srgbClr val="FFFFFF"/>
                </a:solidFill>
                <a:latin typeface="Antonio Bold"/>
                <a:ea typeface="Antonio Bold"/>
                <a:cs typeface="Antonio Bold"/>
                <a:sym typeface="Antonio Bold"/>
              </a:rPr>
              <a:t>AARON LOEB</a:t>
            </a:r>
          </a:p>
        </p:txBody>
      </p:sp>
      <p:sp>
        <p:nvSpPr>
          <p:cNvPr name="TextBox 13" id="13"/>
          <p:cNvSpPr txBox="true"/>
          <p:nvPr/>
        </p:nvSpPr>
        <p:spPr>
          <a:xfrm rot="0">
            <a:off x="15296485" y="476643"/>
            <a:ext cx="1490431" cy="529997"/>
          </a:xfrm>
          <a:prstGeom prst="rect">
            <a:avLst/>
          </a:prstGeom>
        </p:spPr>
        <p:txBody>
          <a:bodyPr anchor="t" rtlCol="false" tIns="0" lIns="0" bIns="0" rIns="0">
            <a:spAutoFit/>
          </a:bodyPr>
          <a:lstStyle/>
          <a:p>
            <a:pPr algn="ctr">
              <a:lnSpc>
                <a:spcPts val="4387"/>
              </a:lnSpc>
              <a:spcBef>
                <a:spcPct val="0"/>
              </a:spcBef>
            </a:pPr>
            <a:r>
              <a:rPr lang="en-US" b="true" sz="3133">
                <a:solidFill>
                  <a:srgbClr val="FFFFFF"/>
                </a:solidFill>
                <a:latin typeface="Antonio Bold"/>
                <a:ea typeface="Antonio Bold"/>
                <a:cs typeface="Antonio Bold"/>
                <a:sym typeface="Antonio Bold"/>
              </a:rPr>
              <a:t>BORCELLE</a:t>
            </a:r>
          </a:p>
        </p:txBody>
      </p:sp>
      <p:sp>
        <p:nvSpPr>
          <p:cNvPr name="TextBox 14" id="14"/>
          <p:cNvSpPr txBox="true"/>
          <p:nvPr/>
        </p:nvSpPr>
        <p:spPr>
          <a:xfrm rot="0">
            <a:off x="914140" y="2273953"/>
            <a:ext cx="11009645" cy="2421872"/>
          </a:xfrm>
          <a:prstGeom prst="rect">
            <a:avLst/>
          </a:prstGeom>
        </p:spPr>
        <p:txBody>
          <a:bodyPr anchor="t" rtlCol="false" tIns="0" lIns="0" bIns="0" rIns="0">
            <a:spAutoFit/>
          </a:bodyPr>
          <a:lstStyle/>
          <a:p>
            <a:pPr algn="just">
              <a:lnSpc>
                <a:spcPts val="18129"/>
              </a:lnSpc>
            </a:pPr>
            <a:r>
              <a:rPr lang="en-US" b="true" sz="18499" spc="-1109">
                <a:solidFill>
                  <a:srgbClr val="FFFFFF"/>
                </a:solidFill>
                <a:latin typeface="Antonio Bold"/>
                <a:ea typeface="Antonio Bold"/>
                <a:cs typeface="Antonio Bold"/>
                <a:sym typeface="Antonio Bold"/>
              </a:rPr>
              <a:t>OUR BUSINESS</a:t>
            </a:r>
          </a:p>
        </p:txBody>
      </p:sp>
      <p:sp>
        <p:nvSpPr>
          <p:cNvPr name="TextBox 15" id="15"/>
          <p:cNvSpPr txBox="true"/>
          <p:nvPr/>
        </p:nvSpPr>
        <p:spPr>
          <a:xfrm rot="0">
            <a:off x="8980005" y="6204222"/>
            <a:ext cx="8279295" cy="2421872"/>
          </a:xfrm>
          <a:prstGeom prst="rect">
            <a:avLst/>
          </a:prstGeom>
        </p:spPr>
        <p:txBody>
          <a:bodyPr anchor="t" rtlCol="false" tIns="0" lIns="0" bIns="0" rIns="0">
            <a:spAutoFit/>
          </a:bodyPr>
          <a:lstStyle/>
          <a:p>
            <a:pPr algn="r">
              <a:lnSpc>
                <a:spcPts val="18129"/>
              </a:lnSpc>
            </a:pPr>
            <a:r>
              <a:rPr lang="en-US" b="true" sz="18499" spc="-1109">
                <a:solidFill>
                  <a:srgbClr val="FFFFFF"/>
                </a:solidFill>
                <a:latin typeface="Antonio Bold"/>
                <a:ea typeface="Antonio Bold"/>
                <a:cs typeface="Antonio Bold"/>
                <a:sym typeface="Antonio Bold"/>
              </a:rPr>
              <a:t>MODEL</a:t>
            </a:r>
          </a:p>
        </p:txBody>
      </p:sp>
      <p:sp>
        <p:nvSpPr>
          <p:cNvPr name="TextBox 16" id="16"/>
          <p:cNvSpPr txBox="true"/>
          <p:nvPr/>
        </p:nvSpPr>
        <p:spPr>
          <a:xfrm rot="0">
            <a:off x="12245401" y="2095963"/>
            <a:ext cx="5013899" cy="2952750"/>
          </a:xfrm>
          <a:prstGeom prst="rect">
            <a:avLst/>
          </a:prstGeom>
        </p:spPr>
        <p:txBody>
          <a:bodyPr anchor="t" rtlCol="false" tIns="0" lIns="0" bIns="0" rIns="0">
            <a:spAutoFit/>
          </a:bodyPr>
          <a:lstStyle/>
          <a:p>
            <a:pPr algn="just">
              <a:lnSpc>
                <a:spcPts val="2160"/>
              </a:lnSpc>
            </a:pPr>
            <a:r>
              <a:rPr lang="en-US" sz="1800">
                <a:solidFill>
                  <a:srgbClr val="FFFFFF"/>
                </a:solidFill>
                <a:latin typeface="Poppins"/>
                <a:ea typeface="Poppins"/>
                <a:cs typeface="Poppins"/>
                <a:sym typeface="Poppins"/>
              </a:rPr>
              <a:t>Lorem ipsum dolor sit amet, c</a:t>
            </a:r>
            <a:r>
              <a:rPr lang="en-US" sz="1800">
                <a:solidFill>
                  <a:srgbClr val="FFFFFF"/>
                </a:solidFill>
                <a:latin typeface="Poppins"/>
                <a:ea typeface="Poppins"/>
                <a:cs typeface="Poppins"/>
                <a:sym typeface="Poppins"/>
              </a:rPr>
              <a:t>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grpSp>
        <p:nvGrpSpPr>
          <p:cNvPr name="Group 17" id="17"/>
          <p:cNvGrpSpPr/>
          <p:nvPr/>
        </p:nvGrpSpPr>
        <p:grpSpPr>
          <a:xfrm rot="0">
            <a:off x="1028700" y="5143500"/>
            <a:ext cx="10433440" cy="3482594"/>
            <a:chOff x="0" y="0"/>
            <a:chExt cx="4072885" cy="1359494"/>
          </a:xfrm>
        </p:grpSpPr>
        <p:sp>
          <p:nvSpPr>
            <p:cNvPr name="Freeform 18" id="18"/>
            <p:cNvSpPr/>
            <p:nvPr/>
          </p:nvSpPr>
          <p:spPr>
            <a:xfrm flipH="false" flipV="false" rot="0">
              <a:off x="0" y="0"/>
              <a:ext cx="4072884" cy="1359494"/>
            </a:xfrm>
            <a:custGeom>
              <a:avLst/>
              <a:gdLst/>
              <a:ahLst/>
              <a:cxnLst/>
              <a:rect r="r" b="b" t="t" l="l"/>
              <a:pathLst>
                <a:path h="1359494" w="4072884">
                  <a:moveTo>
                    <a:pt x="0" y="0"/>
                  </a:moveTo>
                  <a:lnTo>
                    <a:pt x="4072884" y="0"/>
                  </a:lnTo>
                  <a:lnTo>
                    <a:pt x="4072884" y="1359494"/>
                  </a:lnTo>
                  <a:lnTo>
                    <a:pt x="0" y="1359494"/>
                  </a:lnTo>
                  <a:close/>
                </a:path>
              </a:pathLst>
            </a:custGeom>
            <a:blipFill>
              <a:blip r:embed="rId7"/>
              <a:stretch>
                <a:fillRect l="0" t="-117072" r="0" b="-182862"/>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313" r="0" b="-9313"/>
            </a:stretch>
          </a:blipFill>
        </p:spPr>
      </p:sp>
      <p:sp>
        <p:nvSpPr>
          <p:cNvPr name="Freeform 3" id="3"/>
          <p:cNvSpPr/>
          <p:nvPr/>
        </p:nvSpPr>
        <p:spPr>
          <a:xfrm flipH="false" flipV="false" rot="0">
            <a:off x="16508059" y="9258300"/>
            <a:ext cx="646870" cy="646870"/>
          </a:xfrm>
          <a:custGeom>
            <a:avLst/>
            <a:gdLst/>
            <a:ahLst/>
            <a:cxnLst/>
            <a:rect r="r" b="b" t="t" l="l"/>
            <a:pathLst>
              <a:path h="646870" w="646870">
                <a:moveTo>
                  <a:pt x="0" y="0"/>
                </a:moveTo>
                <a:lnTo>
                  <a:pt x="646871" y="0"/>
                </a:lnTo>
                <a:lnTo>
                  <a:pt x="646871" y="646870"/>
                </a:lnTo>
                <a:lnTo>
                  <a:pt x="0" y="646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028700" y="9087268"/>
            <a:ext cx="16230600" cy="0"/>
          </a:xfrm>
          <a:prstGeom prst="line">
            <a:avLst/>
          </a:prstGeom>
          <a:ln cap="flat" w="19050">
            <a:solidFill>
              <a:srgbClr val="FFFFFF"/>
            </a:solidFill>
            <a:prstDash val="solid"/>
            <a:headEnd type="none" len="sm" w="sm"/>
            <a:tailEnd type="none" len="sm" w="sm"/>
          </a:ln>
        </p:spPr>
      </p:sp>
      <p:sp>
        <p:nvSpPr>
          <p:cNvPr name="AutoShape 5" id="5"/>
          <p:cNvSpPr/>
          <p:nvPr/>
        </p:nvSpPr>
        <p:spPr>
          <a:xfrm>
            <a:off x="1028700" y="1340503"/>
            <a:ext cx="16230600" cy="0"/>
          </a:xfrm>
          <a:prstGeom prst="line">
            <a:avLst/>
          </a:prstGeom>
          <a:ln cap="flat" w="19050">
            <a:solidFill>
              <a:srgbClr val="FFFFFF"/>
            </a:solidFill>
            <a:prstDash val="solid"/>
            <a:headEnd type="none" len="sm" w="sm"/>
            <a:tailEnd type="none" len="sm" w="sm"/>
          </a:ln>
        </p:spPr>
      </p:sp>
      <p:sp>
        <p:nvSpPr>
          <p:cNvPr name="Freeform 6" id="6"/>
          <p:cNvSpPr/>
          <p:nvPr/>
        </p:nvSpPr>
        <p:spPr>
          <a:xfrm flipH="false" flipV="false" rot="0">
            <a:off x="1028700"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69149" y="486034"/>
            <a:ext cx="549780" cy="568365"/>
          </a:xfrm>
          <a:custGeom>
            <a:avLst/>
            <a:gdLst/>
            <a:ahLst/>
            <a:cxnLst/>
            <a:rect r="r" b="b" t="t" l="l"/>
            <a:pathLst>
              <a:path h="568365" w="549780">
                <a:moveTo>
                  <a:pt x="0" y="0"/>
                </a:moveTo>
                <a:lnTo>
                  <a:pt x="549781" y="0"/>
                </a:lnTo>
                <a:lnTo>
                  <a:pt x="549781"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309117"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4824100" y="346707"/>
            <a:ext cx="2435200" cy="847018"/>
            <a:chOff x="0" y="0"/>
            <a:chExt cx="641369" cy="223083"/>
          </a:xfrm>
        </p:grpSpPr>
        <p:sp>
          <p:nvSpPr>
            <p:cNvPr name="Freeform 10" id="10"/>
            <p:cNvSpPr/>
            <p:nvPr/>
          </p:nvSpPr>
          <p:spPr>
            <a:xfrm flipH="false" flipV="false" rot="0">
              <a:off x="0" y="0"/>
              <a:ext cx="641369" cy="223083"/>
            </a:xfrm>
            <a:custGeom>
              <a:avLst/>
              <a:gdLst/>
              <a:ahLst/>
              <a:cxnLst/>
              <a:rect r="r" b="b" t="t" l="l"/>
              <a:pathLst>
                <a:path h="223083" w="641369">
                  <a:moveTo>
                    <a:pt x="320685" y="0"/>
                  </a:moveTo>
                  <a:cubicBezTo>
                    <a:pt x="143575" y="0"/>
                    <a:pt x="0" y="49939"/>
                    <a:pt x="0" y="111541"/>
                  </a:cubicBezTo>
                  <a:cubicBezTo>
                    <a:pt x="0" y="173144"/>
                    <a:pt x="143575" y="223083"/>
                    <a:pt x="320685" y="223083"/>
                  </a:cubicBezTo>
                  <a:cubicBezTo>
                    <a:pt x="497794" y="223083"/>
                    <a:pt x="641369" y="173144"/>
                    <a:pt x="641369" y="111541"/>
                  </a:cubicBezTo>
                  <a:cubicBezTo>
                    <a:pt x="641369" y="49939"/>
                    <a:pt x="497794" y="0"/>
                    <a:pt x="320685" y="0"/>
                  </a:cubicBezTo>
                  <a:close/>
                </a:path>
              </a:pathLst>
            </a:custGeom>
            <a:ln w="38100" cap="sq">
              <a:solidFill>
                <a:srgbClr val="FFFFFF"/>
              </a:solidFill>
              <a:prstDash val="solid"/>
              <a:miter/>
            </a:ln>
          </p:spPr>
        </p:sp>
        <p:sp>
          <p:nvSpPr>
            <p:cNvPr name="TextBox 11" id="11"/>
            <p:cNvSpPr txBox="true"/>
            <p:nvPr/>
          </p:nvSpPr>
          <p:spPr>
            <a:xfrm>
              <a:off x="60128" y="-26711"/>
              <a:ext cx="521113" cy="228880"/>
            </a:xfrm>
            <a:prstGeom prst="rect">
              <a:avLst/>
            </a:prstGeom>
          </p:spPr>
          <p:txBody>
            <a:bodyPr anchor="ctr" rtlCol="false" tIns="50800" lIns="50800" bIns="50800" rIns="50800"/>
            <a:lstStyle/>
            <a:p>
              <a:pPr algn="ctr">
                <a:lnSpc>
                  <a:spcPts val="2799"/>
                </a:lnSpc>
              </a:pPr>
            </a:p>
          </p:txBody>
        </p:sp>
      </p:grpSp>
      <p:sp>
        <p:nvSpPr>
          <p:cNvPr name="TextBox 12" id="12"/>
          <p:cNvSpPr txBox="true"/>
          <p:nvPr/>
        </p:nvSpPr>
        <p:spPr>
          <a:xfrm rot="0">
            <a:off x="1133070" y="9200320"/>
            <a:ext cx="2581863" cy="704850"/>
          </a:xfrm>
          <a:prstGeom prst="rect">
            <a:avLst/>
          </a:prstGeom>
        </p:spPr>
        <p:txBody>
          <a:bodyPr anchor="t" rtlCol="false" tIns="0" lIns="0" bIns="0" rIns="0">
            <a:spAutoFit/>
          </a:bodyPr>
          <a:lstStyle/>
          <a:p>
            <a:pPr algn="l">
              <a:lnSpc>
                <a:spcPts val="5879"/>
              </a:lnSpc>
              <a:spcBef>
                <a:spcPct val="0"/>
              </a:spcBef>
            </a:pPr>
            <a:r>
              <a:rPr lang="en-US" b="true" sz="4199">
                <a:solidFill>
                  <a:srgbClr val="FFFFFF"/>
                </a:solidFill>
                <a:latin typeface="Antonio Bold"/>
                <a:ea typeface="Antonio Bold"/>
                <a:cs typeface="Antonio Bold"/>
                <a:sym typeface="Antonio Bold"/>
              </a:rPr>
              <a:t>AARON LOEB</a:t>
            </a:r>
          </a:p>
        </p:txBody>
      </p:sp>
      <p:sp>
        <p:nvSpPr>
          <p:cNvPr name="TextBox 13" id="13"/>
          <p:cNvSpPr txBox="true"/>
          <p:nvPr/>
        </p:nvSpPr>
        <p:spPr>
          <a:xfrm rot="0">
            <a:off x="15296485" y="476643"/>
            <a:ext cx="1490431" cy="529997"/>
          </a:xfrm>
          <a:prstGeom prst="rect">
            <a:avLst/>
          </a:prstGeom>
        </p:spPr>
        <p:txBody>
          <a:bodyPr anchor="t" rtlCol="false" tIns="0" lIns="0" bIns="0" rIns="0">
            <a:spAutoFit/>
          </a:bodyPr>
          <a:lstStyle/>
          <a:p>
            <a:pPr algn="ctr">
              <a:lnSpc>
                <a:spcPts val="4387"/>
              </a:lnSpc>
              <a:spcBef>
                <a:spcPct val="0"/>
              </a:spcBef>
            </a:pPr>
            <a:r>
              <a:rPr lang="en-US" b="true" sz="3133">
                <a:solidFill>
                  <a:srgbClr val="FFFFFF"/>
                </a:solidFill>
                <a:latin typeface="Antonio Bold"/>
                <a:ea typeface="Antonio Bold"/>
                <a:cs typeface="Antonio Bold"/>
                <a:sym typeface="Antonio Bold"/>
              </a:rPr>
              <a:t>BORCELLE</a:t>
            </a:r>
          </a:p>
        </p:txBody>
      </p:sp>
      <p:sp>
        <p:nvSpPr>
          <p:cNvPr name="TextBox 14" id="14"/>
          <p:cNvSpPr txBox="true"/>
          <p:nvPr/>
        </p:nvSpPr>
        <p:spPr>
          <a:xfrm rot="0">
            <a:off x="860094" y="6185295"/>
            <a:ext cx="16567811" cy="2421872"/>
          </a:xfrm>
          <a:prstGeom prst="rect">
            <a:avLst/>
          </a:prstGeom>
        </p:spPr>
        <p:txBody>
          <a:bodyPr anchor="t" rtlCol="false" tIns="0" lIns="0" bIns="0" rIns="0">
            <a:spAutoFit/>
          </a:bodyPr>
          <a:lstStyle/>
          <a:p>
            <a:pPr algn="ctr">
              <a:lnSpc>
                <a:spcPts val="18129"/>
              </a:lnSpc>
            </a:pPr>
            <a:r>
              <a:rPr lang="en-US" b="true" sz="18499" spc="-1109">
                <a:solidFill>
                  <a:srgbClr val="FFFFFF"/>
                </a:solidFill>
                <a:latin typeface="Antonio Bold"/>
                <a:ea typeface="Antonio Bold"/>
                <a:cs typeface="Antonio Bold"/>
                <a:sym typeface="Antonio Bold"/>
              </a:rPr>
              <a:t>COMPETITIVE ANALYSIS</a:t>
            </a:r>
          </a:p>
        </p:txBody>
      </p:sp>
      <p:sp>
        <p:nvSpPr>
          <p:cNvPr name="TextBox 15" id="15"/>
          <p:cNvSpPr txBox="true"/>
          <p:nvPr/>
        </p:nvSpPr>
        <p:spPr>
          <a:xfrm rot="0">
            <a:off x="1028700" y="2230347"/>
            <a:ext cx="5197274" cy="2686050"/>
          </a:xfrm>
          <a:prstGeom prst="rect">
            <a:avLst/>
          </a:prstGeom>
        </p:spPr>
        <p:txBody>
          <a:bodyPr anchor="t" rtlCol="false" tIns="0" lIns="0" bIns="0" rIns="0">
            <a:spAutoFit/>
          </a:bodyPr>
          <a:lstStyle/>
          <a:p>
            <a:pPr algn="just">
              <a:lnSpc>
                <a:spcPts val="2160"/>
              </a:lnSpc>
            </a:pPr>
            <a:r>
              <a:rPr lang="en-US" sz="1800">
                <a:solidFill>
                  <a:srgbClr val="FFFFFF"/>
                </a:solidFill>
                <a:latin typeface="Poppins"/>
                <a:ea typeface="Poppins"/>
                <a:cs typeface="Poppins"/>
                <a:sym typeface="Poppins"/>
              </a:rPr>
              <a:t>Lorem ipsum dolor sit amet, c</a:t>
            </a:r>
            <a:r>
              <a:rPr lang="en-US" sz="1800">
                <a:solidFill>
                  <a:srgbClr val="FFFFFF"/>
                </a:solidFill>
                <a:latin typeface="Poppins"/>
                <a:ea typeface="Poppins"/>
                <a:cs typeface="Poppins"/>
                <a:sym typeface="Poppins"/>
              </a:rPr>
              <a:t>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a:t>
            </a:r>
          </a:p>
        </p:txBody>
      </p:sp>
      <p:grpSp>
        <p:nvGrpSpPr>
          <p:cNvPr name="Group 16" id="16"/>
          <p:cNvGrpSpPr/>
          <p:nvPr/>
        </p:nvGrpSpPr>
        <p:grpSpPr>
          <a:xfrm rot="0">
            <a:off x="10603369" y="1841601"/>
            <a:ext cx="6655931" cy="3482594"/>
            <a:chOff x="0" y="0"/>
            <a:chExt cx="2598264" cy="1359494"/>
          </a:xfrm>
        </p:grpSpPr>
        <p:sp>
          <p:nvSpPr>
            <p:cNvPr name="Freeform 17" id="17"/>
            <p:cNvSpPr/>
            <p:nvPr/>
          </p:nvSpPr>
          <p:spPr>
            <a:xfrm flipH="false" flipV="false" rot="0">
              <a:off x="0" y="0"/>
              <a:ext cx="2598264" cy="1359494"/>
            </a:xfrm>
            <a:custGeom>
              <a:avLst/>
              <a:gdLst/>
              <a:ahLst/>
              <a:cxnLst/>
              <a:rect r="r" b="b" t="t" l="l"/>
              <a:pathLst>
                <a:path h="1359494" w="2598264">
                  <a:moveTo>
                    <a:pt x="0" y="0"/>
                  </a:moveTo>
                  <a:lnTo>
                    <a:pt x="2598264" y="0"/>
                  </a:lnTo>
                  <a:lnTo>
                    <a:pt x="2598264" y="1359494"/>
                  </a:lnTo>
                  <a:lnTo>
                    <a:pt x="0" y="1359494"/>
                  </a:lnTo>
                  <a:close/>
                </a:path>
              </a:pathLst>
            </a:custGeom>
            <a:blipFill>
              <a:blip r:embed="rId7"/>
              <a:stretch>
                <a:fillRect l="0" t="-56582" r="0" b="-98553"/>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313" r="0" b="-9313"/>
            </a:stretch>
          </a:blipFill>
        </p:spPr>
      </p:sp>
      <p:sp>
        <p:nvSpPr>
          <p:cNvPr name="Freeform 3" id="3"/>
          <p:cNvSpPr/>
          <p:nvPr/>
        </p:nvSpPr>
        <p:spPr>
          <a:xfrm flipH="false" flipV="false" rot="0">
            <a:off x="16508059" y="9258300"/>
            <a:ext cx="646870" cy="646870"/>
          </a:xfrm>
          <a:custGeom>
            <a:avLst/>
            <a:gdLst/>
            <a:ahLst/>
            <a:cxnLst/>
            <a:rect r="r" b="b" t="t" l="l"/>
            <a:pathLst>
              <a:path h="646870" w="646870">
                <a:moveTo>
                  <a:pt x="0" y="0"/>
                </a:moveTo>
                <a:lnTo>
                  <a:pt x="646871" y="0"/>
                </a:lnTo>
                <a:lnTo>
                  <a:pt x="646871" y="646870"/>
                </a:lnTo>
                <a:lnTo>
                  <a:pt x="0" y="646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028700" y="9087268"/>
            <a:ext cx="16230600" cy="0"/>
          </a:xfrm>
          <a:prstGeom prst="line">
            <a:avLst/>
          </a:prstGeom>
          <a:ln cap="flat" w="19050">
            <a:solidFill>
              <a:srgbClr val="FFFFFF"/>
            </a:solidFill>
            <a:prstDash val="solid"/>
            <a:headEnd type="none" len="sm" w="sm"/>
            <a:tailEnd type="none" len="sm" w="sm"/>
          </a:ln>
        </p:spPr>
      </p:sp>
      <p:sp>
        <p:nvSpPr>
          <p:cNvPr name="AutoShape 5" id="5"/>
          <p:cNvSpPr/>
          <p:nvPr/>
        </p:nvSpPr>
        <p:spPr>
          <a:xfrm>
            <a:off x="1028700" y="1340503"/>
            <a:ext cx="16230600" cy="0"/>
          </a:xfrm>
          <a:prstGeom prst="line">
            <a:avLst/>
          </a:prstGeom>
          <a:ln cap="flat" w="19050">
            <a:solidFill>
              <a:srgbClr val="FFFFFF"/>
            </a:solidFill>
            <a:prstDash val="solid"/>
            <a:headEnd type="none" len="sm" w="sm"/>
            <a:tailEnd type="none" len="sm" w="sm"/>
          </a:ln>
        </p:spPr>
      </p:sp>
      <p:sp>
        <p:nvSpPr>
          <p:cNvPr name="Freeform 6" id="6"/>
          <p:cNvSpPr/>
          <p:nvPr/>
        </p:nvSpPr>
        <p:spPr>
          <a:xfrm flipH="false" flipV="false" rot="0">
            <a:off x="1028700"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69149" y="486034"/>
            <a:ext cx="549780" cy="568365"/>
          </a:xfrm>
          <a:custGeom>
            <a:avLst/>
            <a:gdLst/>
            <a:ahLst/>
            <a:cxnLst/>
            <a:rect r="r" b="b" t="t" l="l"/>
            <a:pathLst>
              <a:path h="568365" w="549780">
                <a:moveTo>
                  <a:pt x="0" y="0"/>
                </a:moveTo>
                <a:lnTo>
                  <a:pt x="549781" y="0"/>
                </a:lnTo>
                <a:lnTo>
                  <a:pt x="549781"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309117"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4824100" y="346707"/>
            <a:ext cx="2435200" cy="847018"/>
            <a:chOff x="0" y="0"/>
            <a:chExt cx="641369" cy="223083"/>
          </a:xfrm>
        </p:grpSpPr>
        <p:sp>
          <p:nvSpPr>
            <p:cNvPr name="Freeform 10" id="10"/>
            <p:cNvSpPr/>
            <p:nvPr/>
          </p:nvSpPr>
          <p:spPr>
            <a:xfrm flipH="false" flipV="false" rot="0">
              <a:off x="0" y="0"/>
              <a:ext cx="641369" cy="223083"/>
            </a:xfrm>
            <a:custGeom>
              <a:avLst/>
              <a:gdLst/>
              <a:ahLst/>
              <a:cxnLst/>
              <a:rect r="r" b="b" t="t" l="l"/>
              <a:pathLst>
                <a:path h="223083" w="641369">
                  <a:moveTo>
                    <a:pt x="320685" y="0"/>
                  </a:moveTo>
                  <a:cubicBezTo>
                    <a:pt x="143575" y="0"/>
                    <a:pt x="0" y="49939"/>
                    <a:pt x="0" y="111541"/>
                  </a:cubicBezTo>
                  <a:cubicBezTo>
                    <a:pt x="0" y="173144"/>
                    <a:pt x="143575" y="223083"/>
                    <a:pt x="320685" y="223083"/>
                  </a:cubicBezTo>
                  <a:cubicBezTo>
                    <a:pt x="497794" y="223083"/>
                    <a:pt x="641369" y="173144"/>
                    <a:pt x="641369" y="111541"/>
                  </a:cubicBezTo>
                  <a:cubicBezTo>
                    <a:pt x="641369" y="49939"/>
                    <a:pt x="497794" y="0"/>
                    <a:pt x="320685" y="0"/>
                  </a:cubicBezTo>
                  <a:close/>
                </a:path>
              </a:pathLst>
            </a:custGeom>
            <a:ln w="38100" cap="sq">
              <a:solidFill>
                <a:srgbClr val="FFFFFF"/>
              </a:solidFill>
              <a:prstDash val="solid"/>
              <a:miter/>
            </a:ln>
          </p:spPr>
        </p:sp>
        <p:sp>
          <p:nvSpPr>
            <p:cNvPr name="TextBox 11" id="11"/>
            <p:cNvSpPr txBox="true"/>
            <p:nvPr/>
          </p:nvSpPr>
          <p:spPr>
            <a:xfrm>
              <a:off x="60128" y="-26711"/>
              <a:ext cx="521113" cy="228880"/>
            </a:xfrm>
            <a:prstGeom prst="rect">
              <a:avLst/>
            </a:prstGeom>
          </p:spPr>
          <p:txBody>
            <a:bodyPr anchor="ctr" rtlCol="false" tIns="50800" lIns="50800" bIns="50800" rIns="50800"/>
            <a:lstStyle/>
            <a:p>
              <a:pPr algn="ctr">
                <a:lnSpc>
                  <a:spcPts val="2799"/>
                </a:lnSpc>
              </a:pPr>
            </a:p>
          </p:txBody>
        </p:sp>
      </p:grpSp>
      <p:grpSp>
        <p:nvGrpSpPr>
          <p:cNvPr name="Group 12" id="12"/>
          <p:cNvGrpSpPr/>
          <p:nvPr/>
        </p:nvGrpSpPr>
        <p:grpSpPr>
          <a:xfrm rot="0">
            <a:off x="6312412" y="1670370"/>
            <a:ext cx="5343146" cy="3364061"/>
            <a:chOff x="0" y="0"/>
            <a:chExt cx="2085795" cy="1313223"/>
          </a:xfrm>
        </p:grpSpPr>
        <p:sp>
          <p:nvSpPr>
            <p:cNvPr name="Freeform 13" id="13"/>
            <p:cNvSpPr/>
            <p:nvPr/>
          </p:nvSpPr>
          <p:spPr>
            <a:xfrm flipH="false" flipV="false" rot="0">
              <a:off x="0" y="0"/>
              <a:ext cx="2085795" cy="1313223"/>
            </a:xfrm>
            <a:custGeom>
              <a:avLst/>
              <a:gdLst/>
              <a:ahLst/>
              <a:cxnLst/>
              <a:rect r="r" b="b" t="t" l="l"/>
              <a:pathLst>
                <a:path h="1313223" w="2085795">
                  <a:moveTo>
                    <a:pt x="0" y="0"/>
                  </a:moveTo>
                  <a:lnTo>
                    <a:pt x="2085795" y="0"/>
                  </a:lnTo>
                  <a:lnTo>
                    <a:pt x="2085795" y="1313223"/>
                  </a:lnTo>
                  <a:lnTo>
                    <a:pt x="0" y="1313223"/>
                  </a:lnTo>
                  <a:close/>
                </a:path>
              </a:pathLst>
            </a:custGeom>
            <a:blipFill>
              <a:blip r:embed="rId7"/>
              <a:stretch>
                <a:fillRect l="-12130" t="-10818" r="-17343" b="-26401"/>
              </a:stretch>
            </a:blipFill>
          </p:spPr>
        </p:sp>
      </p:grpSp>
      <p:grpSp>
        <p:nvGrpSpPr>
          <p:cNvPr name="Group 14" id="14"/>
          <p:cNvGrpSpPr/>
          <p:nvPr/>
        </p:nvGrpSpPr>
        <p:grpSpPr>
          <a:xfrm rot="0">
            <a:off x="6312412" y="5252569"/>
            <a:ext cx="5343146" cy="3364061"/>
            <a:chOff x="0" y="0"/>
            <a:chExt cx="2085795" cy="1313223"/>
          </a:xfrm>
        </p:grpSpPr>
        <p:sp>
          <p:nvSpPr>
            <p:cNvPr name="Freeform 15" id="15"/>
            <p:cNvSpPr/>
            <p:nvPr/>
          </p:nvSpPr>
          <p:spPr>
            <a:xfrm flipH="false" flipV="false" rot="0">
              <a:off x="0" y="0"/>
              <a:ext cx="2085795" cy="1313223"/>
            </a:xfrm>
            <a:custGeom>
              <a:avLst/>
              <a:gdLst/>
              <a:ahLst/>
              <a:cxnLst/>
              <a:rect r="r" b="b" t="t" l="l"/>
              <a:pathLst>
                <a:path h="1313223" w="2085795">
                  <a:moveTo>
                    <a:pt x="0" y="0"/>
                  </a:moveTo>
                  <a:lnTo>
                    <a:pt x="2085795" y="0"/>
                  </a:lnTo>
                  <a:lnTo>
                    <a:pt x="2085795" y="1313223"/>
                  </a:lnTo>
                  <a:lnTo>
                    <a:pt x="0" y="1313223"/>
                  </a:lnTo>
                  <a:close/>
                </a:path>
              </a:pathLst>
            </a:custGeom>
            <a:blipFill>
              <a:blip r:embed="rId8"/>
              <a:stretch>
                <a:fillRect l="0" t="-27469" r="0" b="-110559"/>
              </a:stretch>
            </a:blipFill>
          </p:spPr>
        </p:sp>
      </p:grpSp>
      <p:grpSp>
        <p:nvGrpSpPr>
          <p:cNvPr name="Group 16" id="16"/>
          <p:cNvGrpSpPr/>
          <p:nvPr/>
        </p:nvGrpSpPr>
        <p:grpSpPr>
          <a:xfrm rot="0">
            <a:off x="11916154" y="1673878"/>
            <a:ext cx="5343146" cy="3364061"/>
            <a:chOff x="0" y="0"/>
            <a:chExt cx="2085795" cy="1313223"/>
          </a:xfrm>
        </p:grpSpPr>
        <p:sp>
          <p:nvSpPr>
            <p:cNvPr name="Freeform 17" id="17"/>
            <p:cNvSpPr/>
            <p:nvPr/>
          </p:nvSpPr>
          <p:spPr>
            <a:xfrm flipH="false" flipV="false" rot="0">
              <a:off x="0" y="0"/>
              <a:ext cx="2085795" cy="1313223"/>
            </a:xfrm>
            <a:custGeom>
              <a:avLst/>
              <a:gdLst/>
              <a:ahLst/>
              <a:cxnLst/>
              <a:rect r="r" b="b" t="t" l="l"/>
              <a:pathLst>
                <a:path h="1313223" w="2085795">
                  <a:moveTo>
                    <a:pt x="0" y="0"/>
                  </a:moveTo>
                  <a:lnTo>
                    <a:pt x="2085795" y="0"/>
                  </a:lnTo>
                  <a:lnTo>
                    <a:pt x="2085795" y="1313223"/>
                  </a:lnTo>
                  <a:lnTo>
                    <a:pt x="0" y="1313223"/>
                  </a:lnTo>
                  <a:close/>
                </a:path>
              </a:pathLst>
            </a:custGeom>
            <a:blipFill>
              <a:blip r:embed="rId9"/>
              <a:stretch>
                <a:fillRect l="-87286" t="-109225" r="-13647" b="-244337"/>
              </a:stretch>
            </a:blipFill>
          </p:spPr>
        </p:sp>
      </p:grpSp>
      <p:grpSp>
        <p:nvGrpSpPr>
          <p:cNvPr name="Group 18" id="18"/>
          <p:cNvGrpSpPr/>
          <p:nvPr/>
        </p:nvGrpSpPr>
        <p:grpSpPr>
          <a:xfrm rot="0">
            <a:off x="11916154" y="5252569"/>
            <a:ext cx="5343146" cy="3364061"/>
            <a:chOff x="0" y="0"/>
            <a:chExt cx="2085795" cy="1313223"/>
          </a:xfrm>
        </p:grpSpPr>
        <p:sp>
          <p:nvSpPr>
            <p:cNvPr name="Freeform 19" id="19"/>
            <p:cNvSpPr/>
            <p:nvPr/>
          </p:nvSpPr>
          <p:spPr>
            <a:xfrm flipH="false" flipV="false" rot="0">
              <a:off x="0" y="0"/>
              <a:ext cx="2085795" cy="1313223"/>
            </a:xfrm>
            <a:custGeom>
              <a:avLst/>
              <a:gdLst/>
              <a:ahLst/>
              <a:cxnLst/>
              <a:rect r="r" b="b" t="t" l="l"/>
              <a:pathLst>
                <a:path h="1313223" w="2085795">
                  <a:moveTo>
                    <a:pt x="0" y="0"/>
                  </a:moveTo>
                  <a:lnTo>
                    <a:pt x="2085795" y="0"/>
                  </a:lnTo>
                  <a:lnTo>
                    <a:pt x="2085795" y="1313223"/>
                  </a:lnTo>
                  <a:lnTo>
                    <a:pt x="0" y="1313223"/>
                  </a:lnTo>
                  <a:close/>
                </a:path>
              </a:pathLst>
            </a:custGeom>
            <a:blipFill>
              <a:blip r:embed="rId10"/>
              <a:stretch>
                <a:fillRect l="-4928" t="-10060" r="-32089" b="-34758"/>
              </a:stretch>
            </a:blipFill>
          </p:spPr>
        </p:sp>
      </p:grpSp>
      <p:sp>
        <p:nvSpPr>
          <p:cNvPr name="TextBox 20" id="20"/>
          <p:cNvSpPr txBox="true"/>
          <p:nvPr/>
        </p:nvSpPr>
        <p:spPr>
          <a:xfrm rot="0">
            <a:off x="1133070" y="9200320"/>
            <a:ext cx="2581863" cy="704850"/>
          </a:xfrm>
          <a:prstGeom prst="rect">
            <a:avLst/>
          </a:prstGeom>
        </p:spPr>
        <p:txBody>
          <a:bodyPr anchor="t" rtlCol="false" tIns="0" lIns="0" bIns="0" rIns="0">
            <a:spAutoFit/>
          </a:bodyPr>
          <a:lstStyle/>
          <a:p>
            <a:pPr algn="l">
              <a:lnSpc>
                <a:spcPts val="5879"/>
              </a:lnSpc>
              <a:spcBef>
                <a:spcPct val="0"/>
              </a:spcBef>
            </a:pPr>
            <a:r>
              <a:rPr lang="en-US" b="true" sz="4199">
                <a:solidFill>
                  <a:srgbClr val="FFFFFF"/>
                </a:solidFill>
                <a:latin typeface="Antonio Bold"/>
                <a:ea typeface="Antonio Bold"/>
                <a:cs typeface="Antonio Bold"/>
                <a:sym typeface="Antonio Bold"/>
              </a:rPr>
              <a:t>AARON LOEB</a:t>
            </a:r>
          </a:p>
        </p:txBody>
      </p:sp>
      <p:sp>
        <p:nvSpPr>
          <p:cNvPr name="TextBox 21" id="21"/>
          <p:cNvSpPr txBox="true"/>
          <p:nvPr/>
        </p:nvSpPr>
        <p:spPr>
          <a:xfrm rot="0">
            <a:off x="15296485" y="476643"/>
            <a:ext cx="1490431" cy="529997"/>
          </a:xfrm>
          <a:prstGeom prst="rect">
            <a:avLst/>
          </a:prstGeom>
        </p:spPr>
        <p:txBody>
          <a:bodyPr anchor="t" rtlCol="false" tIns="0" lIns="0" bIns="0" rIns="0">
            <a:spAutoFit/>
          </a:bodyPr>
          <a:lstStyle/>
          <a:p>
            <a:pPr algn="ctr">
              <a:lnSpc>
                <a:spcPts val="4387"/>
              </a:lnSpc>
              <a:spcBef>
                <a:spcPct val="0"/>
              </a:spcBef>
            </a:pPr>
            <a:r>
              <a:rPr lang="en-US" b="true" sz="3133">
                <a:solidFill>
                  <a:srgbClr val="FFFFFF"/>
                </a:solidFill>
                <a:latin typeface="Antonio Bold"/>
                <a:ea typeface="Antonio Bold"/>
                <a:cs typeface="Antonio Bold"/>
                <a:sym typeface="Antonio Bold"/>
              </a:rPr>
              <a:t>BORCELLE</a:t>
            </a:r>
          </a:p>
        </p:txBody>
      </p:sp>
      <p:sp>
        <p:nvSpPr>
          <p:cNvPr name="TextBox 22" id="22"/>
          <p:cNvSpPr txBox="true"/>
          <p:nvPr/>
        </p:nvSpPr>
        <p:spPr>
          <a:xfrm rot="0">
            <a:off x="860094" y="6185295"/>
            <a:ext cx="4813522" cy="2421872"/>
          </a:xfrm>
          <a:prstGeom prst="rect">
            <a:avLst/>
          </a:prstGeom>
        </p:spPr>
        <p:txBody>
          <a:bodyPr anchor="t" rtlCol="false" tIns="0" lIns="0" bIns="0" rIns="0">
            <a:spAutoFit/>
          </a:bodyPr>
          <a:lstStyle/>
          <a:p>
            <a:pPr algn="l">
              <a:lnSpc>
                <a:spcPts val="18129"/>
              </a:lnSpc>
            </a:pPr>
            <a:r>
              <a:rPr lang="en-US" b="true" sz="18499" spc="-1109">
                <a:solidFill>
                  <a:srgbClr val="FFFFFF"/>
                </a:solidFill>
                <a:latin typeface="Antonio Bold"/>
                <a:ea typeface="Antonio Bold"/>
                <a:cs typeface="Antonio Bold"/>
                <a:sym typeface="Antonio Bold"/>
              </a:rPr>
              <a:t>TEAM</a:t>
            </a:r>
          </a:p>
        </p:txBody>
      </p:sp>
      <p:grpSp>
        <p:nvGrpSpPr>
          <p:cNvPr name="Group 23" id="23"/>
          <p:cNvGrpSpPr/>
          <p:nvPr/>
        </p:nvGrpSpPr>
        <p:grpSpPr>
          <a:xfrm rot="0">
            <a:off x="6312412" y="4392146"/>
            <a:ext cx="5343146" cy="645793"/>
            <a:chOff x="0" y="0"/>
            <a:chExt cx="1407248" cy="170085"/>
          </a:xfrm>
        </p:grpSpPr>
        <p:sp>
          <p:nvSpPr>
            <p:cNvPr name="Freeform 24" id="24"/>
            <p:cNvSpPr/>
            <p:nvPr/>
          </p:nvSpPr>
          <p:spPr>
            <a:xfrm flipH="false" flipV="false" rot="0">
              <a:off x="0" y="0"/>
              <a:ext cx="1407248" cy="170085"/>
            </a:xfrm>
            <a:custGeom>
              <a:avLst/>
              <a:gdLst/>
              <a:ahLst/>
              <a:cxnLst/>
              <a:rect r="r" b="b" t="t" l="l"/>
              <a:pathLst>
                <a:path h="170085" w="1407248">
                  <a:moveTo>
                    <a:pt x="0" y="0"/>
                  </a:moveTo>
                  <a:lnTo>
                    <a:pt x="1407248" y="0"/>
                  </a:lnTo>
                  <a:lnTo>
                    <a:pt x="1407248" y="170085"/>
                  </a:lnTo>
                  <a:lnTo>
                    <a:pt x="0" y="170085"/>
                  </a:lnTo>
                  <a:close/>
                </a:path>
              </a:pathLst>
            </a:custGeom>
            <a:solidFill>
              <a:srgbClr val="FFFFFF"/>
            </a:solidFill>
          </p:spPr>
        </p:sp>
        <p:sp>
          <p:nvSpPr>
            <p:cNvPr name="TextBox 25" id="25"/>
            <p:cNvSpPr txBox="true"/>
            <p:nvPr/>
          </p:nvSpPr>
          <p:spPr>
            <a:xfrm>
              <a:off x="0" y="-47625"/>
              <a:ext cx="1407248" cy="217710"/>
            </a:xfrm>
            <a:prstGeom prst="rect">
              <a:avLst/>
            </a:prstGeom>
          </p:spPr>
          <p:txBody>
            <a:bodyPr anchor="ctr" rtlCol="false" tIns="50800" lIns="50800" bIns="50800" rIns="50800"/>
            <a:lstStyle/>
            <a:p>
              <a:pPr algn="ctr">
                <a:lnSpc>
                  <a:spcPts val="2799"/>
                </a:lnSpc>
              </a:pPr>
            </a:p>
          </p:txBody>
        </p:sp>
      </p:grpSp>
      <p:grpSp>
        <p:nvGrpSpPr>
          <p:cNvPr name="Group 26" id="26"/>
          <p:cNvGrpSpPr/>
          <p:nvPr/>
        </p:nvGrpSpPr>
        <p:grpSpPr>
          <a:xfrm rot="0">
            <a:off x="11916154" y="7961374"/>
            <a:ext cx="5343146" cy="645793"/>
            <a:chOff x="0" y="0"/>
            <a:chExt cx="1407248" cy="170085"/>
          </a:xfrm>
        </p:grpSpPr>
        <p:sp>
          <p:nvSpPr>
            <p:cNvPr name="Freeform 27" id="27"/>
            <p:cNvSpPr/>
            <p:nvPr/>
          </p:nvSpPr>
          <p:spPr>
            <a:xfrm flipH="false" flipV="false" rot="0">
              <a:off x="0" y="0"/>
              <a:ext cx="1407248" cy="170085"/>
            </a:xfrm>
            <a:custGeom>
              <a:avLst/>
              <a:gdLst/>
              <a:ahLst/>
              <a:cxnLst/>
              <a:rect r="r" b="b" t="t" l="l"/>
              <a:pathLst>
                <a:path h="170085" w="1407248">
                  <a:moveTo>
                    <a:pt x="0" y="0"/>
                  </a:moveTo>
                  <a:lnTo>
                    <a:pt x="1407248" y="0"/>
                  </a:lnTo>
                  <a:lnTo>
                    <a:pt x="1407248" y="170085"/>
                  </a:lnTo>
                  <a:lnTo>
                    <a:pt x="0" y="170085"/>
                  </a:lnTo>
                  <a:close/>
                </a:path>
              </a:pathLst>
            </a:custGeom>
            <a:solidFill>
              <a:srgbClr val="FFFFFF"/>
            </a:solidFill>
          </p:spPr>
        </p:sp>
        <p:sp>
          <p:nvSpPr>
            <p:cNvPr name="TextBox 28" id="28"/>
            <p:cNvSpPr txBox="true"/>
            <p:nvPr/>
          </p:nvSpPr>
          <p:spPr>
            <a:xfrm>
              <a:off x="0" y="-47625"/>
              <a:ext cx="1407248" cy="217710"/>
            </a:xfrm>
            <a:prstGeom prst="rect">
              <a:avLst/>
            </a:prstGeom>
          </p:spPr>
          <p:txBody>
            <a:bodyPr anchor="ctr" rtlCol="false" tIns="50800" lIns="50800" bIns="50800" rIns="50800"/>
            <a:lstStyle/>
            <a:p>
              <a:pPr algn="ctr">
                <a:lnSpc>
                  <a:spcPts val="2799"/>
                </a:lnSpc>
              </a:pPr>
            </a:p>
          </p:txBody>
        </p:sp>
      </p:grpSp>
      <p:grpSp>
        <p:nvGrpSpPr>
          <p:cNvPr name="Group 29" id="29"/>
          <p:cNvGrpSpPr/>
          <p:nvPr/>
        </p:nvGrpSpPr>
        <p:grpSpPr>
          <a:xfrm rot="0">
            <a:off x="6312412" y="7961374"/>
            <a:ext cx="5343146" cy="645793"/>
            <a:chOff x="0" y="0"/>
            <a:chExt cx="1407248" cy="170085"/>
          </a:xfrm>
        </p:grpSpPr>
        <p:sp>
          <p:nvSpPr>
            <p:cNvPr name="Freeform 30" id="30"/>
            <p:cNvSpPr/>
            <p:nvPr/>
          </p:nvSpPr>
          <p:spPr>
            <a:xfrm flipH="false" flipV="false" rot="0">
              <a:off x="0" y="0"/>
              <a:ext cx="1407248" cy="170085"/>
            </a:xfrm>
            <a:custGeom>
              <a:avLst/>
              <a:gdLst/>
              <a:ahLst/>
              <a:cxnLst/>
              <a:rect r="r" b="b" t="t" l="l"/>
              <a:pathLst>
                <a:path h="170085" w="1407248">
                  <a:moveTo>
                    <a:pt x="0" y="0"/>
                  </a:moveTo>
                  <a:lnTo>
                    <a:pt x="1407248" y="0"/>
                  </a:lnTo>
                  <a:lnTo>
                    <a:pt x="1407248" y="170085"/>
                  </a:lnTo>
                  <a:lnTo>
                    <a:pt x="0" y="170085"/>
                  </a:lnTo>
                  <a:close/>
                </a:path>
              </a:pathLst>
            </a:custGeom>
            <a:solidFill>
              <a:srgbClr val="FFFFFF"/>
            </a:solidFill>
          </p:spPr>
        </p:sp>
        <p:sp>
          <p:nvSpPr>
            <p:cNvPr name="TextBox 31" id="31"/>
            <p:cNvSpPr txBox="true"/>
            <p:nvPr/>
          </p:nvSpPr>
          <p:spPr>
            <a:xfrm>
              <a:off x="0" y="-47625"/>
              <a:ext cx="1407248" cy="217710"/>
            </a:xfrm>
            <a:prstGeom prst="rect">
              <a:avLst/>
            </a:prstGeom>
          </p:spPr>
          <p:txBody>
            <a:bodyPr anchor="ctr" rtlCol="false" tIns="50800" lIns="50800" bIns="50800" rIns="50800"/>
            <a:lstStyle/>
            <a:p>
              <a:pPr algn="ctr">
                <a:lnSpc>
                  <a:spcPts val="2799"/>
                </a:lnSpc>
              </a:pPr>
            </a:p>
          </p:txBody>
        </p:sp>
      </p:grpSp>
      <p:grpSp>
        <p:nvGrpSpPr>
          <p:cNvPr name="Group 32" id="32"/>
          <p:cNvGrpSpPr/>
          <p:nvPr/>
        </p:nvGrpSpPr>
        <p:grpSpPr>
          <a:xfrm rot="0">
            <a:off x="11916154" y="4392146"/>
            <a:ext cx="5343146" cy="645793"/>
            <a:chOff x="0" y="0"/>
            <a:chExt cx="1407248" cy="170085"/>
          </a:xfrm>
        </p:grpSpPr>
        <p:sp>
          <p:nvSpPr>
            <p:cNvPr name="Freeform 33" id="33"/>
            <p:cNvSpPr/>
            <p:nvPr/>
          </p:nvSpPr>
          <p:spPr>
            <a:xfrm flipH="false" flipV="false" rot="0">
              <a:off x="0" y="0"/>
              <a:ext cx="1407248" cy="170085"/>
            </a:xfrm>
            <a:custGeom>
              <a:avLst/>
              <a:gdLst/>
              <a:ahLst/>
              <a:cxnLst/>
              <a:rect r="r" b="b" t="t" l="l"/>
              <a:pathLst>
                <a:path h="170085" w="1407248">
                  <a:moveTo>
                    <a:pt x="0" y="0"/>
                  </a:moveTo>
                  <a:lnTo>
                    <a:pt x="1407248" y="0"/>
                  </a:lnTo>
                  <a:lnTo>
                    <a:pt x="1407248" y="170085"/>
                  </a:lnTo>
                  <a:lnTo>
                    <a:pt x="0" y="170085"/>
                  </a:lnTo>
                  <a:close/>
                </a:path>
              </a:pathLst>
            </a:custGeom>
            <a:solidFill>
              <a:srgbClr val="FFFFFF"/>
            </a:solidFill>
          </p:spPr>
        </p:sp>
        <p:sp>
          <p:nvSpPr>
            <p:cNvPr name="TextBox 34" id="34"/>
            <p:cNvSpPr txBox="true"/>
            <p:nvPr/>
          </p:nvSpPr>
          <p:spPr>
            <a:xfrm>
              <a:off x="0" y="-47625"/>
              <a:ext cx="1407248" cy="217710"/>
            </a:xfrm>
            <a:prstGeom prst="rect">
              <a:avLst/>
            </a:prstGeom>
          </p:spPr>
          <p:txBody>
            <a:bodyPr anchor="ctr" rtlCol="false" tIns="50800" lIns="50800" bIns="50800" rIns="50800"/>
            <a:lstStyle/>
            <a:p>
              <a:pPr algn="ctr">
                <a:lnSpc>
                  <a:spcPts val="2799"/>
                </a:lnSpc>
              </a:pPr>
            </a:p>
          </p:txBody>
        </p:sp>
      </p:grpSp>
      <p:sp>
        <p:nvSpPr>
          <p:cNvPr name="TextBox 35" id="35"/>
          <p:cNvSpPr txBox="true"/>
          <p:nvPr/>
        </p:nvSpPr>
        <p:spPr>
          <a:xfrm rot="0">
            <a:off x="6544996" y="4497873"/>
            <a:ext cx="3164991" cy="39624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Antonio Bold"/>
                <a:ea typeface="Antonio Bold"/>
                <a:cs typeface="Antonio Bold"/>
                <a:sym typeface="Antonio Bold"/>
              </a:rPr>
              <a:t>JULIANA SILVA</a:t>
            </a:r>
          </a:p>
        </p:txBody>
      </p:sp>
      <p:sp>
        <p:nvSpPr>
          <p:cNvPr name="Freeform 36" id="36"/>
          <p:cNvSpPr/>
          <p:nvPr/>
        </p:nvSpPr>
        <p:spPr>
          <a:xfrm flipH="false" flipV="false" rot="0">
            <a:off x="11166869" y="4575717"/>
            <a:ext cx="278651" cy="278651"/>
          </a:xfrm>
          <a:custGeom>
            <a:avLst/>
            <a:gdLst/>
            <a:ahLst/>
            <a:cxnLst/>
            <a:rect r="r" b="b" t="t" l="l"/>
            <a:pathLst>
              <a:path h="278651" w="278651">
                <a:moveTo>
                  <a:pt x="0" y="0"/>
                </a:moveTo>
                <a:lnTo>
                  <a:pt x="278652" y="0"/>
                </a:lnTo>
                <a:lnTo>
                  <a:pt x="278652" y="278652"/>
                </a:lnTo>
                <a:lnTo>
                  <a:pt x="0" y="278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7" id="37"/>
          <p:cNvSpPr txBox="true"/>
          <p:nvPr/>
        </p:nvSpPr>
        <p:spPr>
          <a:xfrm rot="0">
            <a:off x="6533722" y="8067100"/>
            <a:ext cx="3164991" cy="39624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Antonio Bold"/>
                <a:ea typeface="Antonio Bold"/>
                <a:cs typeface="Antonio Bold"/>
                <a:sym typeface="Antonio Bold"/>
              </a:rPr>
              <a:t>CLAUDIA ALVEZ</a:t>
            </a:r>
          </a:p>
        </p:txBody>
      </p:sp>
      <p:sp>
        <p:nvSpPr>
          <p:cNvPr name="Freeform 38" id="38"/>
          <p:cNvSpPr/>
          <p:nvPr/>
        </p:nvSpPr>
        <p:spPr>
          <a:xfrm flipH="false" flipV="false" rot="0">
            <a:off x="11155596" y="8144945"/>
            <a:ext cx="278651" cy="278651"/>
          </a:xfrm>
          <a:custGeom>
            <a:avLst/>
            <a:gdLst/>
            <a:ahLst/>
            <a:cxnLst/>
            <a:rect r="r" b="b" t="t" l="l"/>
            <a:pathLst>
              <a:path h="278651" w="278651">
                <a:moveTo>
                  <a:pt x="0" y="0"/>
                </a:moveTo>
                <a:lnTo>
                  <a:pt x="278651" y="0"/>
                </a:lnTo>
                <a:lnTo>
                  <a:pt x="278651" y="278651"/>
                </a:lnTo>
                <a:lnTo>
                  <a:pt x="0" y="27865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9" id="39"/>
          <p:cNvSpPr txBox="true"/>
          <p:nvPr/>
        </p:nvSpPr>
        <p:spPr>
          <a:xfrm rot="0">
            <a:off x="12137464" y="4497873"/>
            <a:ext cx="3164991" cy="39624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Antonio Bold"/>
                <a:ea typeface="Antonio Bold"/>
                <a:cs typeface="Antonio Bold"/>
                <a:sym typeface="Antonio Bold"/>
              </a:rPr>
              <a:t>OLIVIA WILSON</a:t>
            </a:r>
          </a:p>
        </p:txBody>
      </p:sp>
      <p:sp>
        <p:nvSpPr>
          <p:cNvPr name="Freeform 40" id="40"/>
          <p:cNvSpPr/>
          <p:nvPr/>
        </p:nvSpPr>
        <p:spPr>
          <a:xfrm flipH="false" flipV="false" rot="0">
            <a:off x="16759338" y="4575717"/>
            <a:ext cx="278651" cy="278651"/>
          </a:xfrm>
          <a:custGeom>
            <a:avLst/>
            <a:gdLst/>
            <a:ahLst/>
            <a:cxnLst/>
            <a:rect r="r" b="b" t="t" l="l"/>
            <a:pathLst>
              <a:path h="278651" w="278651">
                <a:moveTo>
                  <a:pt x="0" y="0"/>
                </a:moveTo>
                <a:lnTo>
                  <a:pt x="278652" y="0"/>
                </a:lnTo>
                <a:lnTo>
                  <a:pt x="278652" y="278652"/>
                </a:lnTo>
                <a:lnTo>
                  <a:pt x="0" y="2786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41" id="41"/>
          <p:cNvSpPr txBox="true"/>
          <p:nvPr/>
        </p:nvSpPr>
        <p:spPr>
          <a:xfrm rot="0">
            <a:off x="12137464" y="8067100"/>
            <a:ext cx="3164991" cy="39624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Antonio Bold"/>
                <a:ea typeface="Antonio Bold"/>
                <a:cs typeface="Antonio Bold"/>
                <a:sym typeface="Antonio Bold"/>
              </a:rPr>
              <a:t>SAMIRA HADID</a:t>
            </a:r>
          </a:p>
        </p:txBody>
      </p:sp>
      <p:sp>
        <p:nvSpPr>
          <p:cNvPr name="Freeform 42" id="42"/>
          <p:cNvSpPr/>
          <p:nvPr/>
        </p:nvSpPr>
        <p:spPr>
          <a:xfrm flipH="false" flipV="false" rot="0">
            <a:off x="16759338" y="8144945"/>
            <a:ext cx="278651" cy="278651"/>
          </a:xfrm>
          <a:custGeom>
            <a:avLst/>
            <a:gdLst/>
            <a:ahLst/>
            <a:cxnLst/>
            <a:rect r="r" b="b" t="t" l="l"/>
            <a:pathLst>
              <a:path h="278651" w="278651">
                <a:moveTo>
                  <a:pt x="0" y="0"/>
                </a:moveTo>
                <a:lnTo>
                  <a:pt x="278652" y="0"/>
                </a:lnTo>
                <a:lnTo>
                  <a:pt x="278652" y="278651"/>
                </a:lnTo>
                <a:lnTo>
                  <a:pt x="0" y="27865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313" r="0" b="-9313"/>
            </a:stretch>
          </a:blipFill>
        </p:spPr>
      </p:sp>
      <p:sp>
        <p:nvSpPr>
          <p:cNvPr name="Freeform 3" id="3"/>
          <p:cNvSpPr/>
          <p:nvPr/>
        </p:nvSpPr>
        <p:spPr>
          <a:xfrm flipH="false" flipV="false" rot="0">
            <a:off x="16508059" y="9258300"/>
            <a:ext cx="646870" cy="646870"/>
          </a:xfrm>
          <a:custGeom>
            <a:avLst/>
            <a:gdLst/>
            <a:ahLst/>
            <a:cxnLst/>
            <a:rect r="r" b="b" t="t" l="l"/>
            <a:pathLst>
              <a:path h="646870" w="646870">
                <a:moveTo>
                  <a:pt x="0" y="0"/>
                </a:moveTo>
                <a:lnTo>
                  <a:pt x="646871" y="0"/>
                </a:lnTo>
                <a:lnTo>
                  <a:pt x="646871" y="646870"/>
                </a:lnTo>
                <a:lnTo>
                  <a:pt x="0" y="646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028700" y="9087268"/>
            <a:ext cx="16230600" cy="0"/>
          </a:xfrm>
          <a:prstGeom prst="line">
            <a:avLst/>
          </a:prstGeom>
          <a:ln cap="flat" w="19050">
            <a:solidFill>
              <a:srgbClr val="FFFFFF"/>
            </a:solidFill>
            <a:prstDash val="solid"/>
            <a:headEnd type="none" len="sm" w="sm"/>
            <a:tailEnd type="none" len="sm" w="sm"/>
          </a:ln>
        </p:spPr>
      </p:sp>
      <p:sp>
        <p:nvSpPr>
          <p:cNvPr name="AutoShape 5" id="5"/>
          <p:cNvSpPr/>
          <p:nvPr/>
        </p:nvSpPr>
        <p:spPr>
          <a:xfrm>
            <a:off x="1028700" y="1340503"/>
            <a:ext cx="16230600" cy="0"/>
          </a:xfrm>
          <a:prstGeom prst="line">
            <a:avLst/>
          </a:prstGeom>
          <a:ln cap="flat" w="19050">
            <a:solidFill>
              <a:srgbClr val="FFFFFF"/>
            </a:solidFill>
            <a:prstDash val="solid"/>
            <a:headEnd type="none" len="sm" w="sm"/>
            <a:tailEnd type="none" len="sm" w="sm"/>
          </a:ln>
        </p:spPr>
      </p:sp>
      <p:sp>
        <p:nvSpPr>
          <p:cNvPr name="Freeform 6" id="6"/>
          <p:cNvSpPr/>
          <p:nvPr/>
        </p:nvSpPr>
        <p:spPr>
          <a:xfrm flipH="false" flipV="false" rot="0">
            <a:off x="1028700"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69149" y="486034"/>
            <a:ext cx="549780" cy="568365"/>
          </a:xfrm>
          <a:custGeom>
            <a:avLst/>
            <a:gdLst/>
            <a:ahLst/>
            <a:cxnLst/>
            <a:rect r="r" b="b" t="t" l="l"/>
            <a:pathLst>
              <a:path h="568365" w="549780">
                <a:moveTo>
                  <a:pt x="0" y="0"/>
                </a:moveTo>
                <a:lnTo>
                  <a:pt x="549781" y="0"/>
                </a:lnTo>
                <a:lnTo>
                  <a:pt x="549781"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309117"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4824100" y="346707"/>
            <a:ext cx="2435200" cy="847018"/>
            <a:chOff x="0" y="0"/>
            <a:chExt cx="641369" cy="223083"/>
          </a:xfrm>
        </p:grpSpPr>
        <p:sp>
          <p:nvSpPr>
            <p:cNvPr name="Freeform 10" id="10"/>
            <p:cNvSpPr/>
            <p:nvPr/>
          </p:nvSpPr>
          <p:spPr>
            <a:xfrm flipH="false" flipV="false" rot="0">
              <a:off x="0" y="0"/>
              <a:ext cx="641369" cy="223083"/>
            </a:xfrm>
            <a:custGeom>
              <a:avLst/>
              <a:gdLst/>
              <a:ahLst/>
              <a:cxnLst/>
              <a:rect r="r" b="b" t="t" l="l"/>
              <a:pathLst>
                <a:path h="223083" w="641369">
                  <a:moveTo>
                    <a:pt x="320685" y="0"/>
                  </a:moveTo>
                  <a:cubicBezTo>
                    <a:pt x="143575" y="0"/>
                    <a:pt x="0" y="49939"/>
                    <a:pt x="0" y="111541"/>
                  </a:cubicBezTo>
                  <a:cubicBezTo>
                    <a:pt x="0" y="173144"/>
                    <a:pt x="143575" y="223083"/>
                    <a:pt x="320685" y="223083"/>
                  </a:cubicBezTo>
                  <a:cubicBezTo>
                    <a:pt x="497794" y="223083"/>
                    <a:pt x="641369" y="173144"/>
                    <a:pt x="641369" y="111541"/>
                  </a:cubicBezTo>
                  <a:cubicBezTo>
                    <a:pt x="641369" y="49939"/>
                    <a:pt x="497794" y="0"/>
                    <a:pt x="320685" y="0"/>
                  </a:cubicBezTo>
                  <a:close/>
                </a:path>
              </a:pathLst>
            </a:custGeom>
            <a:ln w="38100" cap="sq">
              <a:solidFill>
                <a:srgbClr val="FFFFFF"/>
              </a:solidFill>
              <a:prstDash val="solid"/>
              <a:miter/>
            </a:ln>
          </p:spPr>
        </p:sp>
        <p:sp>
          <p:nvSpPr>
            <p:cNvPr name="TextBox 11" id="11"/>
            <p:cNvSpPr txBox="true"/>
            <p:nvPr/>
          </p:nvSpPr>
          <p:spPr>
            <a:xfrm>
              <a:off x="60128" y="-26711"/>
              <a:ext cx="521113" cy="228880"/>
            </a:xfrm>
            <a:prstGeom prst="rect">
              <a:avLst/>
            </a:prstGeom>
          </p:spPr>
          <p:txBody>
            <a:bodyPr anchor="ctr" rtlCol="false" tIns="50800" lIns="50800" bIns="50800" rIns="50800"/>
            <a:lstStyle/>
            <a:p>
              <a:pPr algn="ctr">
                <a:lnSpc>
                  <a:spcPts val="2799"/>
                </a:lnSpc>
              </a:pPr>
            </a:p>
          </p:txBody>
        </p:sp>
      </p:grpSp>
      <p:sp>
        <p:nvSpPr>
          <p:cNvPr name="TextBox 12" id="12"/>
          <p:cNvSpPr txBox="true"/>
          <p:nvPr/>
        </p:nvSpPr>
        <p:spPr>
          <a:xfrm rot="0">
            <a:off x="1133070" y="9200320"/>
            <a:ext cx="2581863" cy="704850"/>
          </a:xfrm>
          <a:prstGeom prst="rect">
            <a:avLst/>
          </a:prstGeom>
        </p:spPr>
        <p:txBody>
          <a:bodyPr anchor="t" rtlCol="false" tIns="0" lIns="0" bIns="0" rIns="0">
            <a:spAutoFit/>
          </a:bodyPr>
          <a:lstStyle/>
          <a:p>
            <a:pPr algn="l">
              <a:lnSpc>
                <a:spcPts val="5879"/>
              </a:lnSpc>
              <a:spcBef>
                <a:spcPct val="0"/>
              </a:spcBef>
            </a:pPr>
            <a:r>
              <a:rPr lang="en-US" b="true" sz="4199">
                <a:solidFill>
                  <a:srgbClr val="FFFFFF"/>
                </a:solidFill>
                <a:latin typeface="Antonio Bold"/>
                <a:ea typeface="Antonio Bold"/>
                <a:cs typeface="Antonio Bold"/>
                <a:sym typeface="Antonio Bold"/>
              </a:rPr>
              <a:t>AARON LOEB</a:t>
            </a:r>
          </a:p>
        </p:txBody>
      </p:sp>
      <p:sp>
        <p:nvSpPr>
          <p:cNvPr name="TextBox 13" id="13"/>
          <p:cNvSpPr txBox="true"/>
          <p:nvPr/>
        </p:nvSpPr>
        <p:spPr>
          <a:xfrm rot="0">
            <a:off x="15296485" y="476643"/>
            <a:ext cx="1490431" cy="529997"/>
          </a:xfrm>
          <a:prstGeom prst="rect">
            <a:avLst/>
          </a:prstGeom>
        </p:spPr>
        <p:txBody>
          <a:bodyPr anchor="t" rtlCol="false" tIns="0" lIns="0" bIns="0" rIns="0">
            <a:spAutoFit/>
          </a:bodyPr>
          <a:lstStyle/>
          <a:p>
            <a:pPr algn="ctr">
              <a:lnSpc>
                <a:spcPts val="4387"/>
              </a:lnSpc>
              <a:spcBef>
                <a:spcPct val="0"/>
              </a:spcBef>
            </a:pPr>
            <a:r>
              <a:rPr lang="en-US" b="true" sz="3133">
                <a:solidFill>
                  <a:srgbClr val="FFFFFF"/>
                </a:solidFill>
                <a:latin typeface="Antonio Bold"/>
                <a:ea typeface="Antonio Bold"/>
                <a:cs typeface="Antonio Bold"/>
                <a:sym typeface="Antonio Bold"/>
              </a:rPr>
              <a:t>BORCELLE</a:t>
            </a:r>
          </a:p>
        </p:txBody>
      </p:sp>
      <p:sp>
        <p:nvSpPr>
          <p:cNvPr name="TextBox 14" id="14"/>
          <p:cNvSpPr txBox="true"/>
          <p:nvPr/>
        </p:nvSpPr>
        <p:spPr>
          <a:xfrm rot="0">
            <a:off x="1028700" y="3104491"/>
            <a:ext cx="8910835" cy="2421872"/>
          </a:xfrm>
          <a:prstGeom prst="rect">
            <a:avLst/>
          </a:prstGeom>
        </p:spPr>
        <p:txBody>
          <a:bodyPr anchor="t" rtlCol="false" tIns="0" lIns="0" bIns="0" rIns="0">
            <a:spAutoFit/>
          </a:bodyPr>
          <a:lstStyle/>
          <a:p>
            <a:pPr algn="l">
              <a:lnSpc>
                <a:spcPts val="18129"/>
              </a:lnSpc>
            </a:pPr>
            <a:r>
              <a:rPr lang="en-US" b="true" sz="18499" spc="-1109">
                <a:solidFill>
                  <a:srgbClr val="FFFFFF"/>
                </a:solidFill>
                <a:latin typeface="Antonio Bold"/>
                <a:ea typeface="Antonio Bold"/>
                <a:cs typeface="Antonio Bold"/>
                <a:sym typeface="Antonio Bold"/>
              </a:rPr>
              <a:t>STATISTIC</a:t>
            </a:r>
          </a:p>
        </p:txBody>
      </p:sp>
      <p:pic>
        <p:nvPicPr>
          <p:cNvPr name="Picture 15" id="15"/>
          <p:cNvPicPr>
            <a:picLocks noChangeAspect="true"/>
          </p:cNvPicPr>
          <p:nvPr/>
        </p:nvPicPr>
        <p:blipFill>
          <a:blip r:embed="rId7"/>
          <a:stretch>
            <a:fillRect/>
          </a:stretch>
        </p:blipFill>
        <p:spPr>
          <a:xfrm rot="0">
            <a:off x="9278784" y="1268492"/>
            <a:ext cx="8706018" cy="7890785"/>
          </a:xfrm>
          <a:prstGeom prst="rect">
            <a:avLst/>
          </a:prstGeom>
        </p:spPr>
      </p:pic>
      <p:sp>
        <p:nvSpPr>
          <p:cNvPr name="TextBox 16" id="16"/>
          <p:cNvSpPr txBox="true"/>
          <p:nvPr/>
        </p:nvSpPr>
        <p:spPr>
          <a:xfrm rot="0">
            <a:off x="1133070" y="5783537"/>
            <a:ext cx="6686217" cy="1352550"/>
          </a:xfrm>
          <a:prstGeom prst="rect">
            <a:avLst/>
          </a:prstGeom>
        </p:spPr>
        <p:txBody>
          <a:bodyPr anchor="t" rtlCol="false" tIns="0" lIns="0" bIns="0" rIns="0">
            <a:spAutoFit/>
          </a:bodyPr>
          <a:lstStyle/>
          <a:p>
            <a:pPr algn="just">
              <a:lnSpc>
                <a:spcPts val="2160"/>
              </a:lnSpc>
            </a:pPr>
            <a:r>
              <a:rPr lang="en-US" sz="1800">
                <a:solidFill>
                  <a:srgbClr val="FFFFFF"/>
                </a:solidFill>
                <a:latin typeface="Poppins"/>
                <a:ea typeface="Poppins"/>
                <a:cs typeface="Poppins"/>
                <a:sym typeface="Poppins"/>
              </a:rPr>
              <a:t>Lorem ipsum dolor sit amet, c</a:t>
            </a:r>
            <a:r>
              <a:rPr lang="en-US" sz="1800">
                <a:solidFill>
                  <a:srgbClr val="FFFFFF"/>
                </a:solidFill>
                <a:latin typeface="Poppins"/>
                <a:ea typeface="Poppins"/>
                <a:cs typeface="Poppins"/>
                <a:sym typeface="Poppins"/>
              </a:rPr>
              <a:t>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313" r="0" b="-9313"/>
            </a:stretch>
          </a:blipFill>
        </p:spPr>
      </p:sp>
      <p:sp>
        <p:nvSpPr>
          <p:cNvPr name="Freeform 3" id="3"/>
          <p:cNvSpPr/>
          <p:nvPr/>
        </p:nvSpPr>
        <p:spPr>
          <a:xfrm flipH="false" flipV="false" rot="0">
            <a:off x="16508059" y="9258300"/>
            <a:ext cx="646870" cy="646870"/>
          </a:xfrm>
          <a:custGeom>
            <a:avLst/>
            <a:gdLst/>
            <a:ahLst/>
            <a:cxnLst/>
            <a:rect r="r" b="b" t="t" l="l"/>
            <a:pathLst>
              <a:path h="646870" w="646870">
                <a:moveTo>
                  <a:pt x="0" y="0"/>
                </a:moveTo>
                <a:lnTo>
                  <a:pt x="646871" y="0"/>
                </a:lnTo>
                <a:lnTo>
                  <a:pt x="646871" y="646870"/>
                </a:lnTo>
                <a:lnTo>
                  <a:pt x="0" y="646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669149" y="486034"/>
            <a:ext cx="549780" cy="568365"/>
          </a:xfrm>
          <a:custGeom>
            <a:avLst/>
            <a:gdLst/>
            <a:ahLst/>
            <a:cxnLst/>
            <a:rect r="r" b="b" t="t" l="l"/>
            <a:pathLst>
              <a:path h="568365" w="549780">
                <a:moveTo>
                  <a:pt x="0" y="0"/>
                </a:moveTo>
                <a:lnTo>
                  <a:pt x="549781" y="0"/>
                </a:lnTo>
                <a:lnTo>
                  <a:pt x="549781"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2309117" y="486034"/>
            <a:ext cx="549780" cy="568365"/>
          </a:xfrm>
          <a:custGeom>
            <a:avLst/>
            <a:gdLst/>
            <a:ahLst/>
            <a:cxnLst/>
            <a:rect r="r" b="b" t="t" l="l"/>
            <a:pathLst>
              <a:path h="568365" w="549780">
                <a:moveTo>
                  <a:pt x="0" y="0"/>
                </a:moveTo>
                <a:lnTo>
                  <a:pt x="549780" y="0"/>
                </a:lnTo>
                <a:lnTo>
                  <a:pt x="549780" y="568364"/>
                </a:lnTo>
                <a:lnTo>
                  <a:pt x="0" y="568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4824100" y="346707"/>
            <a:ext cx="2435200" cy="847018"/>
            <a:chOff x="0" y="0"/>
            <a:chExt cx="641369" cy="223083"/>
          </a:xfrm>
        </p:grpSpPr>
        <p:sp>
          <p:nvSpPr>
            <p:cNvPr name="Freeform 8" id="8"/>
            <p:cNvSpPr/>
            <p:nvPr/>
          </p:nvSpPr>
          <p:spPr>
            <a:xfrm flipH="false" flipV="false" rot="0">
              <a:off x="0" y="0"/>
              <a:ext cx="641369" cy="223083"/>
            </a:xfrm>
            <a:custGeom>
              <a:avLst/>
              <a:gdLst/>
              <a:ahLst/>
              <a:cxnLst/>
              <a:rect r="r" b="b" t="t" l="l"/>
              <a:pathLst>
                <a:path h="223083" w="641369">
                  <a:moveTo>
                    <a:pt x="320685" y="0"/>
                  </a:moveTo>
                  <a:cubicBezTo>
                    <a:pt x="143575" y="0"/>
                    <a:pt x="0" y="49939"/>
                    <a:pt x="0" y="111541"/>
                  </a:cubicBezTo>
                  <a:cubicBezTo>
                    <a:pt x="0" y="173144"/>
                    <a:pt x="143575" y="223083"/>
                    <a:pt x="320685" y="223083"/>
                  </a:cubicBezTo>
                  <a:cubicBezTo>
                    <a:pt x="497794" y="223083"/>
                    <a:pt x="641369" y="173144"/>
                    <a:pt x="641369" y="111541"/>
                  </a:cubicBezTo>
                  <a:cubicBezTo>
                    <a:pt x="641369" y="49939"/>
                    <a:pt x="497794" y="0"/>
                    <a:pt x="320685" y="0"/>
                  </a:cubicBezTo>
                  <a:close/>
                </a:path>
              </a:pathLst>
            </a:custGeom>
            <a:ln w="38100" cap="sq">
              <a:solidFill>
                <a:srgbClr val="FFFFFF"/>
              </a:solidFill>
              <a:prstDash val="solid"/>
              <a:miter/>
            </a:ln>
          </p:spPr>
        </p:sp>
        <p:sp>
          <p:nvSpPr>
            <p:cNvPr name="TextBox 9" id="9"/>
            <p:cNvSpPr txBox="true"/>
            <p:nvPr/>
          </p:nvSpPr>
          <p:spPr>
            <a:xfrm>
              <a:off x="60128" y="-26711"/>
              <a:ext cx="521113" cy="228880"/>
            </a:xfrm>
            <a:prstGeom prst="rect">
              <a:avLst/>
            </a:prstGeom>
          </p:spPr>
          <p:txBody>
            <a:bodyPr anchor="ctr" rtlCol="false" tIns="50800" lIns="50800" bIns="50800" rIns="50800"/>
            <a:lstStyle/>
            <a:p>
              <a:pPr algn="ctr">
                <a:lnSpc>
                  <a:spcPts val="2799"/>
                </a:lnSpc>
              </a:pPr>
            </a:p>
          </p:txBody>
        </p:sp>
      </p:grpSp>
      <p:sp>
        <p:nvSpPr>
          <p:cNvPr name="TextBox 10" id="10"/>
          <p:cNvSpPr txBox="true"/>
          <p:nvPr/>
        </p:nvSpPr>
        <p:spPr>
          <a:xfrm rot="0">
            <a:off x="1303590" y="3486150"/>
            <a:ext cx="13296120" cy="3943350"/>
          </a:xfrm>
          <a:prstGeom prst="rect">
            <a:avLst/>
          </a:prstGeom>
        </p:spPr>
        <p:txBody>
          <a:bodyPr anchor="t" rtlCol="false" tIns="0" lIns="0" bIns="0" rIns="0">
            <a:spAutoFit/>
          </a:bodyPr>
          <a:lstStyle/>
          <a:p>
            <a:pPr algn="l">
              <a:lnSpc>
                <a:spcPts val="29400"/>
              </a:lnSpc>
            </a:pPr>
            <a:r>
              <a:rPr lang="en-US" b="true" sz="30000" spc="-1800">
                <a:solidFill>
                  <a:srgbClr val="FFFFFF"/>
                </a:solidFill>
                <a:latin typeface="Antonio Bold"/>
                <a:ea typeface="Antonio Bold"/>
                <a:cs typeface="Antonio Bold"/>
                <a:sym typeface="Antonio Bold"/>
              </a:rPr>
              <a:t>THANK YOU</a:t>
            </a:r>
          </a:p>
        </p:txBody>
      </p:sp>
      <p:grpSp>
        <p:nvGrpSpPr>
          <p:cNvPr name="Group 11" id="11"/>
          <p:cNvGrpSpPr/>
          <p:nvPr/>
        </p:nvGrpSpPr>
        <p:grpSpPr>
          <a:xfrm rot="0">
            <a:off x="8071433" y="9276520"/>
            <a:ext cx="2085268" cy="288481"/>
            <a:chOff x="0" y="0"/>
            <a:chExt cx="797876" cy="110380"/>
          </a:xfrm>
        </p:grpSpPr>
        <p:sp>
          <p:nvSpPr>
            <p:cNvPr name="Freeform 12" id="12"/>
            <p:cNvSpPr/>
            <p:nvPr/>
          </p:nvSpPr>
          <p:spPr>
            <a:xfrm flipH="false" flipV="false" rot="0">
              <a:off x="0" y="0"/>
              <a:ext cx="797876" cy="110380"/>
            </a:xfrm>
            <a:custGeom>
              <a:avLst/>
              <a:gdLst/>
              <a:ahLst/>
              <a:cxnLst/>
              <a:rect r="r" b="b" t="t" l="l"/>
              <a:pathLst>
                <a:path h="110380" w="797876">
                  <a:moveTo>
                    <a:pt x="0" y="0"/>
                  </a:moveTo>
                  <a:lnTo>
                    <a:pt x="797876" y="0"/>
                  </a:lnTo>
                  <a:lnTo>
                    <a:pt x="797876" y="110380"/>
                  </a:lnTo>
                  <a:lnTo>
                    <a:pt x="0" y="110380"/>
                  </a:lnTo>
                  <a:close/>
                </a:path>
              </a:pathLst>
            </a:custGeom>
            <a:ln w="9525" cap="sq">
              <a:solidFill>
                <a:srgbClr val="FFFFFF"/>
              </a:solidFill>
              <a:prstDash val="solid"/>
              <a:miter/>
            </a:ln>
          </p:spPr>
        </p:sp>
        <p:sp>
          <p:nvSpPr>
            <p:cNvPr name="TextBox 13" id="13"/>
            <p:cNvSpPr txBox="true"/>
            <p:nvPr/>
          </p:nvSpPr>
          <p:spPr>
            <a:xfrm>
              <a:off x="0" y="-47625"/>
              <a:ext cx="797876" cy="158005"/>
            </a:xfrm>
            <a:prstGeom prst="rect">
              <a:avLst/>
            </a:prstGeom>
          </p:spPr>
          <p:txBody>
            <a:bodyPr anchor="ctr" rtlCol="false" tIns="50800" lIns="50800" bIns="50800" rIns="50800"/>
            <a:lstStyle/>
            <a:p>
              <a:pPr algn="ctr">
                <a:lnSpc>
                  <a:spcPts val="2799"/>
                </a:lnSpc>
              </a:pPr>
            </a:p>
          </p:txBody>
        </p:sp>
      </p:grpSp>
      <p:grpSp>
        <p:nvGrpSpPr>
          <p:cNvPr name="Group 14" id="14"/>
          <p:cNvGrpSpPr/>
          <p:nvPr/>
        </p:nvGrpSpPr>
        <p:grpSpPr>
          <a:xfrm rot="0">
            <a:off x="8071433" y="9616689"/>
            <a:ext cx="2085268" cy="288481"/>
            <a:chOff x="0" y="0"/>
            <a:chExt cx="797876" cy="110380"/>
          </a:xfrm>
        </p:grpSpPr>
        <p:sp>
          <p:nvSpPr>
            <p:cNvPr name="Freeform 15" id="15"/>
            <p:cNvSpPr/>
            <p:nvPr/>
          </p:nvSpPr>
          <p:spPr>
            <a:xfrm flipH="false" flipV="false" rot="0">
              <a:off x="0" y="0"/>
              <a:ext cx="797876" cy="110380"/>
            </a:xfrm>
            <a:custGeom>
              <a:avLst/>
              <a:gdLst/>
              <a:ahLst/>
              <a:cxnLst/>
              <a:rect r="r" b="b" t="t" l="l"/>
              <a:pathLst>
                <a:path h="110380" w="797876">
                  <a:moveTo>
                    <a:pt x="0" y="0"/>
                  </a:moveTo>
                  <a:lnTo>
                    <a:pt x="797876" y="0"/>
                  </a:lnTo>
                  <a:lnTo>
                    <a:pt x="797876" y="110380"/>
                  </a:lnTo>
                  <a:lnTo>
                    <a:pt x="0" y="110380"/>
                  </a:lnTo>
                  <a:close/>
                </a:path>
              </a:pathLst>
            </a:custGeom>
            <a:ln w="9525" cap="sq">
              <a:solidFill>
                <a:srgbClr val="FFFFFF"/>
              </a:solidFill>
              <a:prstDash val="solid"/>
              <a:miter/>
            </a:ln>
          </p:spPr>
        </p:sp>
        <p:sp>
          <p:nvSpPr>
            <p:cNvPr name="TextBox 16" id="16"/>
            <p:cNvSpPr txBox="true"/>
            <p:nvPr/>
          </p:nvSpPr>
          <p:spPr>
            <a:xfrm>
              <a:off x="0" y="-47625"/>
              <a:ext cx="797876" cy="158005"/>
            </a:xfrm>
            <a:prstGeom prst="rect">
              <a:avLst/>
            </a:prstGeom>
          </p:spPr>
          <p:txBody>
            <a:bodyPr anchor="ctr" rtlCol="false" tIns="50800" lIns="50800" bIns="50800" rIns="50800"/>
            <a:lstStyle/>
            <a:p>
              <a:pPr algn="ctr">
                <a:lnSpc>
                  <a:spcPts val="2799"/>
                </a:lnSpc>
              </a:pPr>
            </a:p>
          </p:txBody>
        </p:sp>
      </p:grpSp>
      <p:grpSp>
        <p:nvGrpSpPr>
          <p:cNvPr name="Group 17" id="17"/>
          <p:cNvGrpSpPr/>
          <p:nvPr/>
        </p:nvGrpSpPr>
        <p:grpSpPr>
          <a:xfrm rot="0">
            <a:off x="14865208" y="3354043"/>
            <a:ext cx="2660488" cy="3422109"/>
            <a:chOff x="0" y="0"/>
            <a:chExt cx="700705" cy="901296"/>
          </a:xfrm>
        </p:grpSpPr>
        <p:sp>
          <p:nvSpPr>
            <p:cNvPr name="Freeform 18" id="18"/>
            <p:cNvSpPr/>
            <p:nvPr/>
          </p:nvSpPr>
          <p:spPr>
            <a:xfrm flipH="false" flipV="false" rot="0">
              <a:off x="0" y="0"/>
              <a:ext cx="700705" cy="901296"/>
            </a:xfrm>
            <a:custGeom>
              <a:avLst/>
              <a:gdLst/>
              <a:ahLst/>
              <a:cxnLst/>
              <a:rect r="r" b="b" t="t" l="l"/>
              <a:pathLst>
                <a:path h="901296" w="700705">
                  <a:moveTo>
                    <a:pt x="0" y="0"/>
                  </a:moveTo>
                  <a:lnTo>
                    <a:pt x="700705" y="0"/>
                  </a:lnTo>
                  <a:lnTo>
                    <a:pt x="700705" y="901296"/>
                  </a:lnTo>
                  <a:lnTo>
                    <a:pt x="0" y="901296"/>
                  </a:lnTo>
                  <a:close/>
                </a:path>
              </a:pathLst>
            </a:custGeom>
            <a:solidFill>
              <a:srgbClr val="FFFFFF"/>
            </a:solidFill>
            <a:ln w="38100" cap="sq">
              <a:solidFill>
                <a:srgbClr val="FFFFFF"/>
              </a:solidFill>
              <a:prstDash val="solid"/>
              <a:miter/>
            </a:ln>
          </p:spPr>
        </p:sp>
        <p:sp>
          <p:nvSpPr>
            <p:cNvPr name="TextBox 19" id="19"/>
            <p:cNvSpPr txBox="true"/>
            <p:nvPr/>
          </p:nvSpPr>
          <p:spPr>
            <a:xfrm>
              <a:off x="0" y="-47625"/>
              <a:ext cx="700705" cy="948921"/>
            </a:xfrm>
            <a:prstGeom prst="rect">
              <a:avLst/>
            </a:prstGeom>
          </p:spPr>
          <p:txBody>
            <a:bodyPr anchor="ctr" rtlCol="false" tIns="50800" lIns="50800" bIns="50800" rIns="50800"/>
            <a:lstStyle/>
            <a:p>
              <a:pPr algn="ctr">
                <a:lnSpc>
                  <a:spcPts val="2799"/>
                </a:lnSpc>
              </a:pPr>
            </a:p>
          </p:txBody>
        </p:sp>
      </p:grpSp>
      <p:sp>
        <p:nvSpPr>
          <p:cNvPr name="TextBox 20" id="20"/>
          <p:cNvSpPr txBox="true"/>
          <p:nvPr/>
        </p:nvSpPr>
        <p:spPr>
          <a:xfrm rot="0">
            <a:off x="1133070" y="9200320"/>
            <a:ext cx="2581863" cy="704850"/>
          </a:xfrm>
          <a:prstGeom prst="rect">
            <a:avLst/>
          </a:prstGeom>
        </p:spPr>
        <p:txBody>
          <a:bodyPr anchor="t" rtlCol="false" tIns="0" lIns="0" bIns="0" rIns="0">
            <a:spAutoFit/>
          </a:bodyPr>
          <a:lstStyle/>
          <a:p>
            <a:pPr algn="l">
              <a:lnSpc>
                <a:spcPts val="5879"/>
              </a:lnSpc>
              <a:spcBef>
                <a:spcPct val="0"/>
              </a:spcBef>
            </a:pPr>
            <a:r>
              <a:rPr lang="en-US" b="true" sz="4199">
                <a:solidFill>
                  <a:srgbClr val="FFFFFF"/>
                </a:solidFill>
                <a:latin typeface="Antonio Bold"/>
                <a:ea typeface="Antonio Bold"/>
                <a:cs typeface="Antonio Bold"/>
                <a:sym typeface="Antonio Bold"/>
              </a:rPr>
              <a:t>AARON LOEB</a:t>
            </a:r>
          </a:p>
        </p:txBody>
      </p:sp>
      <p:sp>
        <p:nvSpPr>
          <p:cNvPr name="TextBox 21" id="21"/>
          <p:cNvSpPr txBox="true"/>
          <p:nvPr/>
        </p:nvSpPr>
        <p:spPr>
          <a:xfrm rot="0">
            <a:off x="15296485" y="476643"/>
            <a:ext cx="1490431" cy="529997"/>
          </a:xfrm>
          <a:prstGeom prst="rect">
            <a:avLst/>
          </a:prstGeom>
        </p:spPr>
        <p:txBody>
          <a:bodyPr anchor="t" rtlCol="false" tIns="0" lIns="0" bIns="0" rIns="0">
            <a:spAutoFit/>
          </a:bodyPr>
          <a:lstStyle/>
          <a:p>
            <a:pPr algn="ctr">
              <a:lnSpc>
                <a:spcPts val="4387"/>
              </a:lnSpc>
              <a:spcBef>
                <a:spcPct val="0"/>
              </a:spcBef>
            </a:pPr>
            <a:r>
              <a:rPr lang="en-US" b="true" sz="3133">
                <a:solidFill>
                  <a:srgbClr val="FFFFFF"/>
                </a:solidFill>
                <a:latin typeface="Antonio Bold"/>
                <a:ea typeface="Antonio Bold"/>
                <a:cs typeface="Antonio Bold"/>
                <a:sym typeface="Antonio Bold"/>
              </a:rPr>
              <a:t>BORCELLE</a:t>
            </a:r>
          </a:p>
        </p:txBody>
      </p:sp>
      <p:sp>
        <p:nvSpPr>
          <p:cNvPr name="TextBox 22" id="22"/>
          <p:cNvSpPr txBox="true"/>
          <p:nvPr/>
        </p:nvSpPr>
        <p:spPr>
          <a:xfrm rot="0">
            <a:off x="8409971" y="9320630"/>
            <a:ext cx="1485046" cy="181212"/>
          </a:xfrm>
          <a:prstGeom prst="rect">
            <a:avLst/>
          </a:prstGeom>
        </p:spPr>
        <p:txBody>
          <a:bodyPr anchor="t" rtlCol="false" tIns="0" lIns="0" bIns="0" rIns="0">
            <a:spAutoFit/>
          </a:bodyPr>
          <a:lstStyle/>
          <a:p>
            <a:pPr algn="ctr">
              <a:lnSpc>
                <a:spcPts val="1541"/>
              </a:lnSpc>
              <a:spcBef>
                <a:spcPct val="0"/>
              </a:spcBef>
            </a:pPr>
            <a:r>
              <a:rPr lang="en-US" b="true" sz="1101">
                <a:solidFill>
                  <a:srgbClr val="FFFFFF"/>
                </a:solidFill>
                <a:latin typeface="Antonio Bold"/>
                <a:ea typeface="Antonio Bold"/>
                <a:cs typeface="Antonio Bold"/>
                <a:sym typeface="Antonio Bold"/>
              </a:rPr>
              <a:t>@reallygreatsite</a:t>
            </a:r>
          </a:p>
        </p:txBody>
      </p:sp>
      <p:sp>
        <p:nvSpPr>
          <p:cNvPr name="TextBox 23" id="23"/>
          <p:cNvSpPr txBox="true"/>
          <p:nvPr/>
        </p:nvSpPr>
        <p:spPr>
          <a:xfrm rot="0">
            <a:off x="3714933" y="9257470"/>
            <a:ext cx="3978599" cy="647700"/>
          </a:xfrm>
          <a:prstGeom prst="rect">
            <a:avLst/>
          </a:prstGeom>
        </p:spPr>
        <p:txBody>
          <a:bodyPr anchor="t" rtlCol="false" tIns="0" lIns="0" bIns="0" rIns="0">
            <a:spAutoFit/>
          </a:bodyPr>
          <a:lstStyle/>
          <a:p>
            <a:pPr algn="just">
              <a:lnSpc>
                <a:spcPts val="1680"/>
              </a:lnSpc>
            </a:pPr>
            <a:r>
              <a:rPr lang="en-US" sz="1400">
                <a:solidFill>
                  <a:srgbClr val="FFFFFF"/>
                </a:solidFill>
                <a:latin typeface="Poppins"/>
                <a:ea typeface="Poppins"/>
                <a:cs typeface="Poppins"/>
                <a:sym typeface="Poppins"/>
              </a:rPr>
              <a:t>Lorem ipsum dolor sit amet, c</a:t>
            </a:r>
            <a:r>
              <a:rPr lang="en-US" sz="1400">
                <a:solidFill>
                  <a:srgbClr val="FFFFFF"/>
                </a:solidFill>
                <a:latin typeface="Poppins"/>
                <a:ea typeface="Poppins"/>
                <a:cs typeface="Poppins"/>
                <a:sym typeface="Poppins"/>
              </a:rPr>
              <a:t>onsectetur adipiscing elit, sed do eiusmod tempor incididunt ut labore et dolore magna aliqua. </a:t>
            </a:r>
          </a:p>
        </p:txBody>
      </p:sp>
      <p:sp>
        <p:nvSpPr>
          <p:cNvPr name="TextBox 24" id="24"/>
          <p:cNvSpPr txBox="true"/>
          <p:nvPr/>
        </p:nvSpPr>
        <p:spPr>
          <a:xfrm rot="0">
            <a:off x="8409971" y="9660799"/>
            <a:ext cx="1485046" cy="181212"/>
          </a:xfrm>
          <a:prstGeom prst="rect">
            <a:avLst/>
          </a:prstGeom>
        </p:spPr>
        <p:txBody>
          <a:bodyPr anchor="t" rtlCol="false" tIns="0" lIns="0" bIns="0" rIns="0">
            <a:spAutoFit/>
          </a:bodyPr>
          <a:lstStyle/>
          <a:p>
            <a:pPr algn="ctr">
              <a:lnSpc>
                <a:spcPts val="1541"/>
              </a:lnSpc>
              <a:spcBef>
                <a:spcPct val="0"/>
              </a:spcBef>
            </a:pPr>
            <a:r>
              <a:rPr lang="en-US" b="true" sz="1101">
                <a:solidFill>
                  <a:srgbClr val="FFFFFF"/>
                </a:solidFill>
                <a:latin typeface="Antonio Bold"/>
                <a:ea typeface="Antonio Bold"/>
                <a:cs typeface="Antonio Bold"/>
                <a:sym typeface="Antonio Bold"/>
              </a:rPr>
              <a:t>www.reallygreatsite.com</a:t>
            </a:r>
          </a:p>
        </p:txBody>
      </p:sp>
      <p:sp>
        <p:nvSpPr>
          <p:cNvPr name="TextBox 25" id="25"/>
          <p:cNvSpPr txBox="true"/>
          <p:nvPr/>
        </p:nvSpPr>
        <p:spPr>
          <a:xfrm rot="0">
            <a:off x="10537701" y="9257470"/>
            <a:ext cx="2675596" cy="647700"/>
          </a:xfrm>
          <a:prstGeom prst="rect">
            <a:avLst/>
          </a:prstGeom>
        </p:spPr>
        <p:txBody>
          <a:bodyPr anchor="t" rtlCol="false" tIns="0" lIns="0" bIns="0" rIns="0">
            <a:spAutoFit/>
          </a:bodyPr>
          <a:lstStyle/>
          <a:p>
            <a:pPr algn="just">
              <a:lnSpc>
                <a:spcPts val="1680"/>
              </a:lnSpc>
            </a:pPr>
            <a:r>
              <a:rPr lang="en-US" sz="1400">
                <a:solidFill>
                  <a:srgbClr val="FFFFFF"/>
                </a:solidFill>
                <a:latin typeface="Poppins"/>
                <a:ea typeface="Poppins"/>
                <a:cs typeface="Poppins"/>
                <a:sym typeface="Poppins"/>
              </a:rPr>
              <a:t>Lorem ipsum dolor sit amet, c</a:t>
            </a:r>
            <a:r>
              <a:rPr lang="en-US" sz="1400">
                <a:solidFill>
                  <a:srgbClr val="FFFFFF"/>
                </a:solidFill>
                <a:latin typeface="Poppins"/>
                <a:ea typeface="Poppins"/>
                <a:cs typeface="Poppins"/>
                <a:sym typeface="Poppins"/>
              </a:rPr>
              <a:t>onsectetur adipiscing elit, sed do eiusmod tempor.</a:t>
            </a:r>
          </a:p>
        </p:txBody>
      </p:sp>
      <p:sp>
        <p:nvSpPr>
          <p:cNvPr name="TextBox 26" id="26"/>
          <p:cNvSpPr txBox="true"/>
          <p:nvPr/>
        </p:nvSpPr>
        <p:spPr>
          <a:xfrm rot="0">
            <a:off x="13472252" y="9239250"/>
            <a:ext cx="2675596" cy="647700"/>
          </a:xfrm>
          <a:prstGeom prst="rect">
            <a:avLst/>
          </a:prstGeom>
        </p:spPr>
        <p:txBody>
          <a:bodyPr anchor="t" rtlCol="false" tIns="0" lIns="0" bIns="0" rIns="0">
            <a:spAutoFit/>
          </a:bodyPr>
          <a:lstStyle/>
          <a:p>
            <a:pPr algn="just">
              <a:lnSpc>
                <a:spcPts val="1680"/>
              </a:lnSpc>
            </a:pPr>
            <a:r>
              <a:rPr lang="en-US" sz="1400">
                <a:solidFill>
                  <a:srgbClr val="FFFFFF"/>
                </a:solidFill>
                <a:latin typeface="Poppins"/>
                <a:ea typeface="Poppins"/>
                <a:cs typeface="Poppins"/>
                <a:sym typeface="Poppins"/>
              </a:rPr>
              <a:t>Lorem ipsum dolor sit amet, c</a:t>
            </a:r>
            <a:r>
              <a:rPr lang="en-US" sz="1400">
                <a:solidFill>
                  <a:srgbClr val="FFFFFF"/>
                </a:solidFill>
                <a:latin typeface="Poppins"/>
                <a:ea typeface="Poppins"/>
                <a:cs typeface="Poppins"/>
                <a:sym typeface="Poppins"/>
              </a:rPr>
              <a:t>onsectetur adipiscing elit, sed do eiusmod tempor.</a:t>
            </a:r>
          </a:p>
        </p:txBody>
      </p:sp>
      <p:sp>
        <p:nvSpPr>
          <p:cNvPr name="Freeform 27" id="27"/>
          <p:cNvSpPr/>
          <p:nvPr/>
        </p:nvSpPr>
        <p:spPr>
          <a:xfrm flipH="false" flipV="false" rot="0">
            <a:off x="15126501" y="3654601"/>
            <a:ext cx="2137902" cy="2137902"/>
          </a:xfrm>
          <a:custGeom>
            <a:avLst/>
            <a:gdLst/>
            <a:ahLst/>
            <a:cxnLst/>
            <a:rect r="r" b="b" t="t" l="l"/>
            <a:pathLst>
              <a:path h="2137902" w="2137902">
                <a:moveTo>
                  <a:pt x="0" y="0"/>
                </a:moveTo>
                <a:lnTo>
                  <a:pt x="2137902" y="0"/>
                </a:lnTo>
                <a:lnTo>
                  <a:pt x="2137902" y="2137902"/>
                </a:lnTo>
                <a:lnTo>
                  <a:pt x="0" y="21379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DAHTRDAuV74</dc:identifier>
  <dcterms:modified xsi:type="dcterms:W3CDTF">2011-08-01T06:04:30Z</dcterms:modified>
  <cp:revision>1</cp:revision>
  <dc:title>Black And White Space Bold Pitch Deck Presentation</dc:title>
</cp:coreProperties>
</file>