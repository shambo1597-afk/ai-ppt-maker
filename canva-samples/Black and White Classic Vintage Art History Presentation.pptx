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to Serif Display ExtraCondensed Bold Italics" charset="1" panose="02020806080505090204"/>
      <p:regular r:id="rId16"/>
    </p:embeddedFont>
    <p:embeddedFont>
      <p:font typeface="Noto Serif Display Italics" charset="1" panose="02020502080505090204"/>
      <p:regular r:id="rId17"/>
    </p:embeddedFont>
    <p:embeddedFont>
      <p:font typeface="Questrial" charset="1" panose="02000000000000000000"/>
      <p:regular r:id="rId18"/>
    </p:embeddedFont>
    <p:embeddedFont>
      <p:font typeface="Noto Serif Display ExtraCondensed Italics" charset="1" panose="02020506080505090204"/>
      <p:regular r:id="rId19"/>
    </p:embeddedFont>
    <p:embeddedFont>
      <p:font typeface="Lora Italics" charset="1" panose="00000500000000000000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66" r="0" b="-9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54"/>
            <a:ext cx="18288000" cy="4572000"/>
            <a:chOff x="0" y="0"/>
            <a:chExt cx="24384000" cy="6096000"/>
          </a:xfrm>
        </p:grpSpPr>
        <p:sp>
          <p:nvSpPr>
            <p:cNvPr name="Freeform 4" id="4"/>
            <p:cNvSpPr/>
            <p:nvPr/>
          </p:nvSpPr>
          <p:spPr>
            <a:xfrm flipH="false" flipV="true" rot="0">
              <a:off x="0" y="0"/>
              <a:ext cx="1219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2192000">
                  <a:moveTo>
                    <a:pt x="0" y="6096000"/>
                  </a:moveTo>
                  <a:lnTo>
                    <a:pt x="12192000" y="6096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true" rot="0">
              <a:off x="12192000" y="0"/>
              <a:ext cx="1219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2192000">
                  <a:moveTo>
                    <a:pt x="0" y="6096000"/>
                  </a:moveTo>
                  <a:lnTo>
                    <a:pt x="12192000" y="6096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09600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5715000"/>
            <a:ext cx="18288000" cy="4572000"/>
            <a:chOff x="0" y="0"/>
            <a:chExt cx="24384000" cy="609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192000" y="0"/>
              <a:ext cx="12192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096000"/>
                  </a:lnTo>
                  <a:lnTo>
                    <a:pt x="0" y="609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true" rot="-5400000">
            <a:off x="-2286000" y="2857500"/>
            <a:ext cx="9144000" cy="4572000"/>
          </a:xfrm>
          <a:custGeom>
            <a:avLst/>
            <a:gdLst/>
            <a:ahLst/>
            <a:cxnLst/>
            <a:rect r="r" b="b" t="t" l="l"/>
            <a:pathLst>
              <a:path h="4572000" w="9144000">
                <a:moveTo>
                  <a:pt x="0" y="4572000"/>
                </a:moveTo>
                <a:lnTo>
                  <a:pt x="9144000" y="4572000"/>
                </a:lnTo>
                <a:lnTo>
                  <a:pt x="914400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9070" y="3086229"/>
            <a:ext cx="5918749" cy="380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19"/>
              </a:lnSpc>
            </a:pPr>
            <a:r>
              <a:rPr lang="en-US" b="true" sz="30129" i="true" spc="-1988">
                <a:solidFill>
                  <a:srgbClr val="F6F0E4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art- 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-5400000">
            <a:off x="11430000" y="2857500"/>
            <a:ext cx="9144000" cy="4572000"/>
          </a:xfrm>
          <a:custGeom>
            <a:avLst/>
            <a:gdLst/>
            <a:ahLst/>
            <a:cxnLst/>
            <a:rect r="r" b="b" t="t" l="l"/>
            <a:pathLst>
              <a:path h="4572000" w="9144000">
                <a:moveTo>
                  <a:pt x="9144000" y="0"/>
                </a:moveTo>
                <a:lnTo>
                  <a:pt x="0" y="0"/>
                </a:lnTo>
                <a:lnTo>
                  <a:pt x="0" y="4572000"/>
                </a:lnTo>
                <a:lnTo>
                  <a:pt x="9144000" y="4572000"/>
                </a:lnTo>
                <a:lnTo>
                  <a:pt x="91440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31277" y="2389319"/>
            <a:ext cx="10628023" cy="437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21"/>
              </a:lnSpc>
              <a:spcBef>
                <a:spcPct val="0"/>
              </a:spcBef>
            </a:pPr>
            <a:r>
              <a:rPr lang="en-US" sz="25515" i="true" spc="-1071">
                <a:solidFill>
                  <a:srgbClr val="F6F0E4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history</a:t>
            </a:r>
          </a:p>
        </p:txBody>
      </p:sp>
      <p:grpSp>
        <p:nvGrpSpPr>
          <p:cNvPr name="Group 13" id="13"/>
          <p:cNvGrpSpPr/>
          <p:nvPr/>
        </p:nvGrpSpPr>
        <p:grpSpPr>
          <a:xfrm rot="-944610">
            <a:off x="6335194" y="3796568"/>
            <a:ext cx="10400386" cy="2693863"/>
            <a:chOff x="0" y="0"/>
            <a:chExt cx="1855218" cy="4805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55218" cy="480531"/>
            </a:xfrm>
            <a:custGeom>
              <a:avLst/>
              <a:gdLst/>
              <a:ahLst/>
              <a:cxnLst/>
              <a:rect r="r" b="b" t="t" l="l"/>
              <a:pathLst>
                <a:path h="480531" w="1855218">
                  <a:moveTo>
                    <a:pt x="927609" y="0"/>
                  </a:moveTo>
                  <a:cubicBezTo>
                    <a:pt x="415305" y="0"/>
                    <a:pt x="0" y="107570"/>
                    <a:pt x="0" y="240265"/>
                  </a:cubicBezTo>
                  <a:cubicBezTo>
                    <a:pt x="0" y="372960"/>
                    <a:pt x="415305" y="480531"/>
                    <a:pt x="927609" y="480531"/>
                  </a:cubicBezTo>
                  <a:cubicBezTo>
                    <a:pt x="1439913" y="480531"/>
                    <a:pt x="1855218" y="372960"/>
                    <a:pt x="1855218" y="240265"/>
                  </a:cubicBezTo>
                  <a:cubicBezTo>
                    <a:pt x="1855218" y="107570"/>
                    <a:pt x="1439913" y="0"/>
                    <a:pt x="927609" y="0"/>
                  </a:cubicBezTo>
                  <a:close/>
                </a:path>
              </a:pathLst>
            </a:custGeom>
            <a:ln w="19050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73927" y="111725"/>
              <a:ext cx="1507364" cy="323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259300" y="244460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0" y="0"/>
                </a:lnTo>
                <a:lnTo>
                  <a:pt x="784240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44460" y="244460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0" y="0"/>
                </a:lnTo>
                <a:lnTo>
                  <a:pt x="784240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44460" y="9258300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0" y="0"/>
                </a:lnTo>
                <a:lnTo>
                  <a:pt x="784240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259300" y="9258300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0" y="0"/>
                </a:lnTo>
                <a:lnTo>
                  <a:pt x="784240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67451" y="9443728"/>
            <a:ext cx="335309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www.reallygreatsite.com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67451" y="523875"/>
            <a:ext cx="3353099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68478" cy="10287000"/>
            <a:chOff x="0" y="0"/>
            <a:chExt cx="5584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497" cy="812800"/>
            </a:xfrm>
            <a:custGeom>
              <a:avLst/>
              <a:gdLst/>
              <a:ahLst/>
              <a:cxnLst/>
              <a:rect r="r" b="b" t="t" l="l"/>
              <a:pathLst>
                <a:path h="812800" w="558497">
                  <a:moveTo>
                    <a:pt x="0" y="0"/>
                  </a:moveTo>
                  <a:lnTo>
                    <a:pt x="558497" y="0"/>
                  </a:lnTo>
                  <a:lnTo>
                    <a:pt x="5584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20284" t="0" r="-201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-368380" y="2571750"/>
            <a:ext cx="10287000" cy="5143500"/>
          </a:xfrm>
          <a:custGeom>
            <a:avLst/>
            <a:gdLst/>
            <a:ahLst/>
            <a:cxnLst/>
            <a:rect r="r" b="b" t="t" l="l"/>
            <a:pathLst>
              <a:path h="5143500" w="10287000">
                <a:moveTo>
                  <a:pt x="0" y="0"/>
                </a:moveTo>
                <a:lnTo>
                  <a:pt x="10287000" y="0"/>
                </a:lnTo>
                <a:lnTo>
                  <a:pt x="10287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3004" y="0"/>
            <a:ext cx="1028700" cy="10287000"/>
            <a:chOff x="0" y="0"/>
            <a:chExt cx="8128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">
                  <a:moveTo>
                    <a:pt x="0" y="0"/>
                  </a:moveTo>
                  <a:lnTo>
                    <a:pt x="81280" y="0"/>
                  </a:lnTo>
                  <a:lnTo>
                    <a:pt x="812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60658" t="0" r="-136683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449556" y="1563118"/>
            <a:ext cx="6168065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Ancient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11025" y="3037693"/>
            <a:ext cx="4757582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Beginnings</a:t>
            </a:r>
          </a:p>
        </p:txBody>
      </p:sp>
      <p:grpSp>
        <p:nvGrpSpPr>
          <p:cNvPr name="Group 9" id="9"/>
          <p:cNvGrpSpPr/>
          <p:nvPr/>
        </p:nvGrpSpPr>
        <p:grpSpPr>
          <a:xfrm rot="-723485">
            <a:off x="8348342" y="1713867"/>
            <a:ext cx="6692595" cy="1258692"/>
            <a:chOff x="0" y="0"/>
            <a:chExt cx="1762659" cy="3315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459739" y="7051433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59739" y="5440362"/>
            <a:ext cx="715788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Explore the origins of painting from prehistoric cave art to the monumental works of ancient civilizations like Egypt and Mesopotamia.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14337" y="2250083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723777"/>
            <a:ext cx="18288000" cy="4563223"/>
            <a:chOff x="0" y="0"/>
            <a:chExt cx="1444978" cy="3605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360551"/>
            </a:xfrm>
            <a:custGeom>
              <a:avLst/>
              <a:gdLst/>
              <a:ahLst/>
              <a:cxnLst/>
              <a:rect r="r" b="b" t="t" l="l"/>
              <a:pathLst>
                <a:path h="360551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360551"/>
                  </a:lnTo>
                  <a:lnTo>
                    <a:pt x="0" y="360551"/>
                  </a:lnTo>
                  <a:close/>
                </a:path>
              </a:pathLst>
            </a:custGeom>
            <a:blipFill>
              <a:blip r:embed="rId2"/>
              <a:stretch>
                <a:fillRect l="0" t="-81670" r="0" b="-1254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723485">
            <a:off x="1086341" y="2202757"/>
            <a:ext cx="6692595" cy="1258692"/>
            <a:chOff x="0" y="0"/>
            <a:chExt cx="1762659" cy="3315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61628" y="2052008"/>
            <a:ext cx="6493991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Classical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52336" y="2738972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9024" y="3526583"/>
            <a:ext cx="4757582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Ant</a:t>
            </a: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iquity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7518" y="3247357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7518" y="1636287"/>
            <a:ext cx="715788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</a:t>
            </a: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lve into the painting and frescoes of Ancient Greece and Rome, highlighting the focus on realism, proportion, and mythological themes.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0" y="5354287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018" y="0"/>
            <a:ext cx="1028700" cy="10287000"/>
            <a:chOff x="0" y="0"/>
            <a:chExt cx="8128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">
                  <a:moveTo>
                    <a:pt x="0" y="0"/>
                  </a:moveTo>
                  <a:lnTo>
                    <a:pt x="81280" y="0"/>
                  </a:lnTo>
                  <a:lnTo>
                    <a:pt x="812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12871" t="0" r="-35712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19522" y="0"/>
            <a:ext cx="7068478" cy="10287000"/>
            <a:chOff x="0" y="0"/>
            <a:chExt cx="55849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497" cy="812800"/>
            </a:xfrm>
            <a:custGeom>
              <a:avLst/>
              <a:gdLst/>
              <a:ahLst/>
              <a:cxnLst/>
              <a:rect r="r" b="b" t="t" l="l"/>
              <a:pathLst>
                <a:path h="812800" w="558497">
                  <a:moveTo>
                    <a:pt x="0" y="0"/>
                  </a:moveTo>
                  <a:lnTo>
                    <a:pt x="558497" y="0"/>
                  </a:lnTo>
                  <a:lnTo>
                    <a:pt x="5584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0274" r="0" b="-1027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8411260" y="2571750"/>
            <a:ext cx="10287000" cy="5143500"/>
          </a:xfrm>
          <a:custGeom>
            <a:avLst/>
            <a:gdLst/>
            <a:ahLst/>
            <a:cxnLst/>
            <a:rect r="r" b="b" t="t" l="l"/>
            <a:pathLst>
              <a:path h="5143500" w="10287000">
                <a:moveTo>
                  <a:pt x="0" y="0"/>
                </a:moveTo>
                <a:lnTo>
                  <a:pt x="10287000" y="0"/>
                </a:lnTo>
                <a:lnTo>
                  <a:pt x="10287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723485">
            <a:off x="2274290" y="6302642"/>
            <a:ext cx="6692595" cy="1258692"/>
            <a:chOff x="0" y="0"/>
            <a:chExt cx="1762659" cy="331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968096" y="6151893"/>
            <a:ext cx="6575473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Medieval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9568" y="7626468"/>
            <a:ext cx="2964987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Art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240285" y="6838857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76661" y="3527355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76661" y="1916284"/>
            <a:ext cx="715788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</a:t>
            </a: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over the religious and symbolic paintings of the Middle Ages, including Byzantine icons and illuminated manuscripts.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563223"/>
            <a:chOff x="0" y="0"/>
            <a:chExt cx="1444978" cy="3605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360551"/>
            </a:xfrm>
            <a:custGeom>
              <a:avLst/>
              <a:gdLst/>
              <a:ahLst/>
              <a:cxnLst/>
              <a:rect r="r" b="b" t="t" l="l"/>
              <a:pathLst>
                <a:path h="360551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360551"/>
                  </a:lnTo>
                  <a:lnTo>
                    <a:pt x="0" y="360551"/>
                  </a:lnTo>
                  <a:close/>
                </a:path>
              </a:pathLst>
            </a:custGeom>
            <a:blipFill>
              <a:blip r:embed="rId2"/>
              <a:stretch>
                <a:fillRect l="0" t="-75557" r="0" b="-8894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true" rot="-10800000">
            <a:off x="0" y="-4317395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9144000"/>
                </a:moveTo>
                <a:lnTo>
                  <a:pt x="18288000" y="9144000"/>
                </a:lnTo>
                <a:lnTo>
                  <a:pt x="18288000" y="0"/>
                </a:lnTo>
                <a:lnTo>
                  <a:pt x="0" y="0"/>
                </a:lnTo>
                <a:lnTo>
                  <a:pt x="0" y="9144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738762">
            <a:off x="9643144" y="6567551"/>
            <a:ext cx="8166559" cy="1258692"/>
            <a:chOff x="0" y="0"/>
            <a:chExt cx="2150863" cy="3315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0863" cy="331507"/>
            </a:xfrm>
            <a:custGeom>
              <a:avLst/>
              <a:gdLst/>
              <a:ahLst/>
              <a:cxnLst/>
              <a:rect r="r" b="b" t="t" l="l"/>
              <a:pathLst>
                <a:path h="331507" w="2150863">
                  <a:moveTo>
                    <a:pt x="1075432" y="0"/>
                  </a:moveTo>
                  <a:cubicBezTo>
                    <a:pt x="481487" y="0"/>
                    <a:pt x="0" y="74210"/>
                    <a:pt x="0" y="165754"/>
                  </a:cubicBezTo>
                  <a:cubicBezTo>
                    <a:pt x="0" y="257297"/>
                    <a:pt x="481487" y="331507"/>
                    <a:pt x="1075432" y="331507"/>
                  </a:cubicBezTo>
                  <a:cubicBezTo>
                    <a:pt x="1669376" y="331507"/>
                    <a:pt x="2150863" y="257297"/>
                    <a:pt x="2150863" y="165754"/>
                  </a:cubicBezTo>
                  <a:cubicBezTo>
                    <a:pt x="2150863" y="74210"/>
                    <a:pt x="1669376" y="0"/>
                    <a:pt x="1075432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201643" y="97754"/>
              <a:ext cx="1747576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14322" y="6268680"/>
            <a:ext cx="7588492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Renaissance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625400" y="7954834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49866" y="7799814"/>
            <a:ext cx="4757582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Rev</a:t>
            </a: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ival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0471" y="7693539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0471" y="6082468"/>
            <a:ext cx="715788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vestigate the rebirth of classical painting ideals during the Renaissance, featuring masters like Leonardo da Vinci, Michelangelo, and Raphael.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5399" y="0"/>
            <a:ext cx="7068478" cy="10287000"/>
            <a:chOff x="0" y="0"/>
            <a:chExt cx="5584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497" cy="812800"/>
            </a:xfrm>
            <a:custGeom>
              <a:avLst/>
              <a:gdLst/>
              <a:ahLst/>
              <a:cxnLst/>
              <a:rect r="r" b="b" t="t" l="l"/>
              <a:pathLst>
                <a:path h="812800" w="558497">
                  <a:moveTo>
                    <a:pt x="0" y="0"/>
                  </a:moveTo>
                  <a:lnTo>
                    <a:pt x="558497" y="0"/>
                  </a:lnTo>
                  <a:lnTo>
                    <a:pt x="5584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3307" t="0" r="-1330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5187265" y="2571750"/>
            <a:ext cx="10287000" cy="5143500"/>
          </a:xfrm>
          <a:custGeom>
            <a:avLst/>
            <a:gdLst/>
            <a:ahLst/>
            <a:cxnLst/>
            <a:rect r="r" b="b" t="t" l="l"/>
            <a:pathLst>
              <a:path h="5143500" w="10287000">
                <a:moveTo>
                  <a:pt x="0" y="0"/>
                </a:moveTo>
                <a:lnTo>
                  <a:pt x="10287000" y="0"/>
                </a:lnTo>
                <a:lnTo>
                  <a:pt x="10287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400000">
            <a:off x="2824299" y="2571750"/>
            <a:ext cx="10287000" cy="5143500"/>
          </a:xfrm>
          <a:custGeom>
            <a:avLst/>
            <a:gdLst/>
            <a:ahLst/>
            <a:cxnLst/>
            <a:rect r="r" b="b" t="t" l="l"/>
            <a:pathLst>
              <a:path h="5143500" w="10287000">
                <a:moveTo>
                  <a:pt x="10287000" y="5143500"/>
                </a:moveTo>
                <a:lnTo>
                  <a:pt x="0" y="5143500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51435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23485">
            <a:off x="10388405" y="1713867"/>
            <a:ext cx="6692595" cy="1258692"/>
            <a:chOff x="0" y="0"/>
            <a:chExt cx="1762659" cy="3315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489619" y="1563118"/>
            <a:ext cx="6168065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Baroque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475060" y="2524282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0" y="0"/>
                </a:lnTo>
                <a:lnTo>
                  <a:pt x="784240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788718">
            <a:off x="489736" y="7488497"/>
            <a:ext cx="6692595" cy="1258692"/>
            <a:chOff x="0" y="0"/>
            <a:chExt cx="1762659" cy="3315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90950" y="7337747"/>
            <a:ext cx="6168065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Rococo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6709" y="7463725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373943" y="3110587"/>
            <a:ext cx="1885357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and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34703" y="6024497"/>
            <a:ext cx="3403938" cy="283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830" y="1747266"/>
            <a:ext cx="3244719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vestigate the rebirth of classical painting ideals during the Renaissance, featuring masters like Leonardo da Vinci, Michelangelo, and Raphael.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68478" cy="10287000"/>
            <a:chOff x="0" y="0"/>
            <a:chExt cx="5584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497" cy="812800"/>
            </a:xfrm>
            <a:custGeom>
              <a:avLst/>
              <a:gdLst/>
              <a:ahLst/>
              <a:cxnLst/>
              <a:rect r="r" b="b" t="t" l="l"/>
              <a:pathLst>
                <a:path h="812800" w="558497">
                  <a:moveTo>
                    <a:pt x="0" y="0"/>
                  </a:moveTo>
                  <a:lnTo>
                    <a:pt x="558497" y="0"/>
                  </a:lnTo>
                  <a:lnTo>
                    <a:pt x="5584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0289" t="-2597" r="-34335" b="-217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-368380" y="2571750"/>
            <a:ext cx="10287000" cy="5143500"/>
          </a:xfrm>
          <a:custGeom>
            <a:avLst/>
            <a:gdLst/>
            <a:ahLst/>
            <a:cxnLst/>
            <a:rect r="r" b="b" t="t" l="l"/>
            <a:pathLst>
              <a:path h="5143500" w="10287000">
                <a:moveTo>
                  <a:pt x="0" y="0"/>
                </a:moveTo>
                <a:lnTo>
                  <a:pt x="10287000" y="0"/>
                </a:lnTo>
                <a:lnTo>
                  <a:pt x="10287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3004" y="0"/>
            <a:ext cx="1028700" cy="10287000"/>
            <a:chOff x="0" y="0"/>
            <a:chExt cx="8128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">
                  <a:moveTo>
                    <a:pt x="0" y="0"/>
                  </a:moveTo>
                  <a:lnTo>
                    <a:pt x="81280" y="0"/>
                  </a:lnTo>
                  <a:lnTo>
                    <a:pt x="812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899423" t="-1584" r="-130693" b="-309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723485">
            <a:off x="8348342" y="1713867"/>
            <a:ext cx="6692595" cy="1258692"/>
            <a:chOff x="0" y="0"/>
            <a:chExt cx="1762659" cy="331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49556" y="1563118"/>
            <a:ext cx="6168065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The Age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18041" y="2524282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70283" y="3343249"/>
            <a:ext cx="6183510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of E</a:t>
            </a: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nlightenment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59739" y="7051433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59739" y="5440362"/>
            <a:ext cx="715788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Examine the Enlightenment's focus on reason and science in painting, particularly in Neoclassicism and artists like Jacques-Louis David.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723777"/>
            <a:ext cx="18288000" cy="4563223"/>
            <a:chOff x="0" y="0"/>
            <a:chExt cx="1444978" cy="3605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4978" cy="360551"/>
            </a:xfrm>
            <a:custGeom>
              <a:avLst/>
              <a:gdLst/>
              <a:ahLst/>
              <a:cxnLst/>
              <a:rect r="r" b="b" t="t" l="l"/>
              <a:pathLst>
                <a:path h="360551" w="1444978">
                  <a:moveTo>
                    <a:pt x="0" y="0"/>
                  </a:moveTo>
                  <a:lnTo>
                    <a:pt x="1444978" y="0"/>
                  </a:lnTo>
                  <a:lnTo>
                    <a:pt x="1444978" y="360551"/>
                  </a:lnTo>
                  <a:lnTo>
                    <a:pt x="0" y="360551"/>
                  </a:lnTo>
                  <a:close/>
                </a:path>
              </a:pathLst>
            </a:custGeom>
            <a:blipFill>
              <a:blip r:embed="rId2"/>
              <a:stretch>
                <a:fillRect l="0" t="-65273" r="0" b="-13580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723485">
            <a:off x="1086341" y="2202757"/>
            <a:ext cx="6692595" cy="1258692"/>
            <a:chOff x="0" y="0"/>
            <a:chExt cx="1762659" cy="3315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62659" cy="331507"/>
            </a:xfrm>
            <a:custGeom>
              <a:avLst/>
              <a:gdLst/>
              <a:ahLst/>
              <a:cxnLst/>
              <a:rect r="r" b="b" t="t" l="l"/>
              <a:pathLst>
                <a:path h="331507" w="1762659">
                  <a:moveTo>
                    <a:pt x="881329" y="0"/>
                  </a:moveTo>
                  <a:cubicBezTo>
                    <a:pt x="394585" y="0"/>
                    <a:pt x="0" y="74210"/>
                    <a:pt x="0" y="165754"/>
                  </a:cubicBezTo>
                  <a:cubicBezTo>
                    <a:pt x="0" y="257297"/>
                    <a:pt x="394585" y="331507"/>
                    <a:pt x="881329" y="331507"/>
                  </a:cubicBezTo>
                  <a:cubicBezTo>
                    <a:pt x="1368074" y="331507"/>
                    <a:pt x="1762659" y="257297"/>
                    <a:pt x="1762659" y="165754"/>
                  </a:cubicBezTo>
                  <a:cubicBezTo>
                    <a:pt x="1762659" y="74210"/>
                    <a:pt x="1368074" y="0"/>
                    <a:pt x="88132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65249" y="97754"/>
              <a:ext cx="1432160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61628" y="2052008"/>
            <a:ext cx="6493991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Modern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52336" y="2738972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9024" y="3526583"/>
            <a:ext cx="4757582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Movements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37518" y="3493201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7518" y="1636287"/>
            <a:ext cx="7157882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Ana</a:t>
            </a: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lyze the break from traditional painting in the 19th and 20th centuries, with movements such as Impressionism, Cubism, and Surrealism, led by artists like Monet, Picasso, and Dalí.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800000">
            <a:off x="0" y="5354287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7018" y="0"/>
            <a:ext cx="1028700" cy="10287000"/>
            <a:chOff x="0" y="0"/>
            <a:chExt cx="8128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">
                  <a:moveTo>
                    <a:pt x="0" y="0"/>
                  </a:moveTo>
                  <a:lnTo>
                    <a:pt x="81280" y="0"/>
                  </a:lnTo>
                  <a:lnTo>
                    <a:pt x="8128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692499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58413" y="0"/>
            <a:ext cx="7068478" cy="10287000"/>
            <a:chOff x="0" y="0"/>
            <a:chExt cx="558497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497" cy="812800"/>
            </a:xfrm>
            <a:custGeom>
              <a:avLst/>
              <a:gdLst/>
              <a:ahLst/>
              <a:cxnLst/>
              <a:rect r="r" b="b" t="t" l="l"/>
              <a:pathLst>
                <a:path h="812800" w="558497">
                  <a:moveTo>
                    <a:pt x="0" y="0"/>
                  </a:moveTo>
                  <a:lnTo>
                    <a:pt x="558497" y="0"/>
                  </a:lnTo>
                  <a:lnTo>
                    <a:pt x="5584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667" t="0" r="-76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9450150" y="2571750"/>
            <a:ext cx="10287000" cy="5143500"/>
          </a:xfrm>
          <a:custGeom>
            <a:avLst/>
            <a:gdLst/>
            <a:ahLst/>
            <a:cxnLst/>
            <a:rect r="r" b="b" t="t" l="l"/>
            <a:pathLst>
              <a:path h="5143500" w="10287000">
                <a:moveTo>
                  <a:pt x="0" y="0"/>
                </a:moveTo>
                <a:lnTo>
                  <a:pt x="10287000" y="0"/>
                </a:lnTo>
                <a:lnTo>
                  <a:pt x="10287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452390">
            <a:off x="1688843" y="6209511"/>
            <a:ext cx="10532523" cy="1258692"/>
            <a:chOff x="0" y="0"/>
            <a:chExt cx="2773998" cy="3315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3998" cy="331507"/>
            </a:xfrm>
            <a:custGeom>
              <a:avLst/>
              <a:gdLst/>
              <a:ahLst/>
              <a:cxnLst/>
              <a:rect r="r" b="b" t="t" l="l"/>
              <a:pathLst>
                <a:path h="331507" w="2773998">
                  <a:moveTo>
                    <a:pt x="1386999" y="0"/>
                  </a:moveTo>
                  <a:cubicBezTo>
                    <a:pt x="620981" y="0"/>
                    <a:pt x="0" y="74210"/>
                    <a:pt x="0" y="165754"/>
                  </a:cubicBezTo>
                  <a:cubicBezTo>
                    <a:pt x="0" y="257297"/>
                    <a:pt x="620981" y="331507"/>
                    <a:pt x="1386999" y="331507"/>
                  </a:cubicBezTo>
                  <a:cubicBezTo>
                    <a:pt x="2153017" y="331507"/>
                    <a:pt x="2773998" y="257297"/>
                    <a:pt x="2773998" y="165754"/>
                  </a:cubicBezTo>
                  <a:cubicBezTo>
                    <a:pt x="2773998" y="74210"/>
                    <a:pt x="2153017" y="0"/>
                    <a:pt x="1386999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260062" y="97754"/>
              <a:ext cx="2253873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944419" y="7782996"/>
            <a:ext cx="4818693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Expression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634543" y="7978736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68096" y="6151893"/>
            <a:ext cx="9651402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Contemporary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0902" y="3588466"/>
            <a:ext cx="7157882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6F0E4"/>
                </a:solidFill>
                <a:latin typeface="Questrial"/>
                <a:ea typeface="Questrial"/>
                <a:cs typeface="Questrial"/>
                <a:sym typeface="Questrial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60902" y="1977395"/>
            <a:ext cx="715788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Reflect </a:t>
            </a:r>
            <a:r>
              <a:rPr lang="en-US" b="true" sz="2199" spc="-63">
                <a:solidFill>
                  <a:srgbClr val="F6F0E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 the diverse and global nature of contemporary painting, encompassing new media, installations, and performance art.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465" r="0" b="-52465"/>
            </a:stretch>
          </a:blipFill>
        </p:spPr>
      </p:sp>
      <p:grpSp>
        <p:nvGrpSpPr>
          <p:cNvPr name="Group 3" id="3"/>
          <p:cNvGrpSpPr/>
          <p:nvPr/>
        </p:nvGrpSpPr>
        <p:grpSpPr>
          <a:xfrm rot="-738762">
            <a:off x="4821344" y="4261810"/>
            <a:ext cx="8166559" cy="1258692"/>
            <a:chOff x="0" y="0"/>
            <a:chExt cx="2150863" cy="331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50863" cy="331507"/>
            </a:xfrm>
            <a:custGeom>
              <a:avLst/>
              <a:gdLst/>
              <a:ahLst/>
              <a:cxnLst/>
              <a:rect r="r" b="b" t="t" l="l"/>
              <a:pathLst>
                <a:path h="331507" w="2150863">
                  <a:moveTo>
                    <a:pt x="1075432" y="0"/>
                  </a:moveTo>
                  <a:cubicBezTo>
                    <a:pt x="481487" y="0"/>
                    <a:pt x="0" y="74210"/>
                    <a:pt x="0" y="165754"/>
                  </a:cubicBezTo>
                  <a:cubicBezTo>
                    <a:pt x="0" y="257297"/>
                    <a:pt x="481487" y="331507"/>
                    <a:pt x="1075432" y="331507"/>
                  </a:cubicBezTo>
                  <a:cubicBezTo>
                    <a:pt x="1669376" y="331507"/>
                    <a:pt x="2150863" y="257297"/>
                    <a:pt x="2150863" y="165754"/>
                  </a:cubicBezTo>
                  <a:cubicBezTo>
                    <a:pt x="2150863" y="74210"/>
                    <a:pt x="1669376" y="0"/>
                    <a:pt x="1075432" y="0"/>
                  </a:cubicBezTo>
                  <a:close/>
                </a:path>
              </a:pathLst>
            </a:custGeom>
            <a:ln w="9525" cap="sq">
              <a:solidFill>
                <a:srgbClr val="F6F0E4">
                  <a:alpha val="80000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201643" y="97754"/>
              <a:ext cx="1747576" cy="20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18448" y="4044421"/>
            <a:ext cx="7588492" cy="174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9"/>
              </a:lnSpc>
            </a:pPr>
            <a:r>
              <a:rPr lang="en-US" sz="13890" i="true" spc="-916">
                <a:solidFill>
                  <a:srgbClr val="F6F0E4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612432" y="3405539"/>
            <a:ext cx="784240" cy="784240"/>
          </a:xfrm>
          <a:custGeom>
            <a:avLst/>
            <a:gdLst/>
            <a:ahLst/>
            <a:cxnLst/>
            <a:rect r="r" b="b" t="t" l="l"/>
            <a:pathLst>
              <a:path h="784240" w="784240">
                <a:moveTo>
                  <a:pt x="0" y="0"/>
                </a:moveTo>
                <a:lnTo>
                  <a:pt x="784241" y="0"/>
                </a:lnTo>
                <a:lnTo>
                  <a:pt x="784241" y="784240"/>
                </a:lnTo>
                <a:lnTo>
                  <a:pt x="0" y="7842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50285" y="5575555"/>
            <a:ext cx="7161289" cy="979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  <a:spcBef>
                <a:spcPct val="0"/>
              </a:spcBef>
            </a:pPr>
            <a:r>
              <a:rPr lang="en-US" sz="5668" i="true">
                <a:solidFill>
                  <a:srgbClr val="F6F0E4"/>
                </a:solidFill>
                <a:latin typeface="Lora Italics"/>
                <a:ea typeface="Lora Italics"/>
                <a:cs typeface="Lora Italics"/>
                <a:sym typeface="Lora Italics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DAHTRDpoYvU</dc:identifier>
  <dcterms:modified xsi:type="dcterms:W3CDTF">2011-08-01T06:04:30Z</dcterms:modified>
  <cp:revision>1</cp:revision>
  <dc:title>Black and White Classic Vintage Art History Presentation</dc:title>
</cp:coreProperties>
</file>