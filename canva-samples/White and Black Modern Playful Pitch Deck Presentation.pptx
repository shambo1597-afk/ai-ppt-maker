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e Petit Cochon" charset="1" panose="00000500000000000000"/>
      <p:regular r:id="rId19"/>
    </p:embeddedFont>
    <p:embeddedFont>
      <p:font typeface="Aileron" charset="1" panose="00000500000000000000"/>
      <p:regular r:id="rId20"/>
    </p:embeddedFont>
    <p:embeddedFont>
      <p:font typeface="Aileron Bold" charset="1" panose="00000800000000000000"/>
      <p:regular r:id="rId21"/>
    </p:embeddedFont>
    <p:embeddedFont>
      <p:font typeface="Aileron Italics" charset="1" panose="00000500000000000000"/>
      <p:regular r:id="rId22"/>
    </p:embeddedFont>
    <p:embeddedFont>
      <p:font typeface="Aileron Bold Italics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93024" y="1879813"/>
            <a:ext cx="9501952" cy="2182608"/>
            <a:chOff x="0" y="0"/>
            <a:chExt cx="2983206" cy="685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3206" cy="685245"/>
            </a:xfrm>
            <a:custGeom>
              <a:avLst/>
              <a:gdLst/>
              <a:ahLst/>
              <a:cxnLst/>
              <a:rect r="r" b="b" t="t" l="l"/>
              <a:pathLst>
                <a:path h="685245" w="2983206">
                  <a:moveTo>
                    <a:pt x="0" y="0"/>
                  </a:moveTo>
                  <a:lnTo>
                    <a:pt x="2983206" y="0"/>
                  </a:lnTo>
                  <a:lnTo>
                    <a:pt x="2983206" y="685245"/>
                  </a:lnTo>
                  <a:lnTo>
                    <a:pt x="0" y="685245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83206" cy="732870"/>
            </a:xfrm>
            <a:prstGeom prst="rect">
              <a:avLst/>
            </a:prstGeom>
          </p:spPr>
          <p:txBody>
            <a:bodyPr anchor="ctr" rtlCol="false" tIns="22607" lIns="22607" bIns="22607" rIns="22607"/>
            <a:lstStyle/>
            <a:p>
              <a:pPr algn="ctr">
                <a:lnSpc>
                  <a:spcPts val="317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24824" y="5363607"/>
            <a:ext cx="2437088" cy="6840950"/>
          </a:xfrm>
          <a:custGeom>
            <a:avLst/>
            <a:gdLst/>
            <a:ahLst/>
            <a:cxnLst/>
            <a:rect r="r" b="b" t="t" l="l"/>
            <a:pathLst>
              <a:path h="6840950" w="2437088">
                <a:moveTo>
                  <a:pt x="0" y="0"/>
                </a:moveTo>
                <a:lnTo>
                  <a:pt x="2437089" y="0"/>
                </a:lnTo>
                <a:lnTo>
                  <a:pt x="2437089" y="6840950"/>
                </a:lnTo>
                <a:lnTo>
                  <a:pt x="0" y="6840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91761" y="2536587"/>
            <a:ext cx="9303215" cy="204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0"/>
              </a:lnSpc>
            </a:pPr>
            <a:r>
              <a:rPr lang="en-US" sz="18000" spc="-900">
                <a:solidFill>
                  <a:srgbClr val="FFFCF6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PITCH DECK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33070" y="4597797"/>
            <a:ext cx="6420598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spc="-36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P</a:t>
            </a:r>
            <a:r>
              <a:rPr lang="en-US" sz="1800" spc="-36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resented by Rosa Maria Aguado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16525" y="2296893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113985"/>
            <a:ext cx="6126247" cy="2144315"/>
            <a:chOff x="0" y="0"/>
            <a:chExt cx="5052759" cy="17685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2759" cy="1768571"/>
            </a:xfrm>
            <a:custGeom>
              <a:avLst/>
              <a:gdLst/>
              <a:ahLst/>
              <a:cxnLst/>
              <a:rect r="r" b="b" t="t" l="l"/>
              <a:pathLst>
                <a:path h="1768571" w="5052759">
                  <a:moveTo>
                    <a:pt x="0" y="0"/>
                  </a:moveTo>
                  <a:lnTo>
                    <a:pt x="5052759" y="0"/>
                  </a:lnTo>
                  <a:lnTo>
                    <a:pt x="5052759" y="1768571"/>
                  </a:lnTo>
                  <a:lnTo>
                    <a:pt x="0" y="1768571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52759" cy="1825721"/>
            </a:xfrm>
            <a:prstGeom prst="rect">
              <a:avLst/>
            </a:prstGeom>
          </p:spPr>
          <p:txBody>
            <a:bodyPr anchor="ctr" rtlCol="false" tIns="28941" lIns="28941" bIns="28941" rIns="28941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20353" y="3420900"/>
            <a:ext cx="2028124" cy="3800414"/>
          </a:xfrm>
          <a:custGeom>
            <a:avLst/>
            <a:gdLst/>
            <a:ahLst/>
            <a:cxnLst/>
            <a:rect r="r" b="b" t="t" l="l"/>
            <a:pathLst>
              <a:path h="3800414" w="2028124">
                <a:moveTo>
                  <a:pt x="0" y="0"/>
                </a:moveTo>
                <a:lnTo>
                  <a:pt x="2028124" y="0"/>
                </a:lnTo>
                <a:lnTo>
                  <a:pt x="2028124" y="3800414"/>
                </a:lnTo>
                <a:lnTo>
                  <a:pt x="0" y="3800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4979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76350"/>
            <a:ext cx="693348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6499" spc="-324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WHAT’S IN IT FOR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18775" y="2778837"/>
            <a:ext cx="812791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Philippine specialty coffee industry 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Gen Z &amp; Millennials = 7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5% of café spenders nationwide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Experiential café category projected to double by 2050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17817" y="2162843"/>
            <a:ext cx="802887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₱40B (8–10% CAGR)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18775" y="4763215"/>
            <a:ext cx="812791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High-gross margin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Low-labor model via minimal-contact “Hole in Wall”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setup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Tech-first café IP ready for white-label licensing (future revenue stream)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17817" y="4079973"/>
            <a:ext cx="802887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 65–70% on core products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2251" y="7450813"/>
            <a:ext cx="5581046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15% equity stake in first-mover café-tech hybrid brand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Early exit optionality via Intellectual Property licensing or acquisition by lifestyle conglomerates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Regional expansion rights to replicate model in other Asian markets.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18775" y="6750130"/>
            <a:ext cx="812791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₱35M in Revenue 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₱7M in N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et Profit 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120%+ ROI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17817" y="6066888"/>
            <a:ext cx="802887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Compelling Growth &amp; Returns in Year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31387" y="8732582"/>
            <a:ext cx="8127913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White-label licensing across SEA hotels, co-working spaces, airports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Built for tech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int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egration &amp; social virality — scalable both physically and digitally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30430" y="8049340"/>
            <a:ext cx="802887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5 cafés by 2052 → ₱100M+ projected valuation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57283" y="2502073"/>
            <a:ext cx="1806531" cy="1932119"/>
          </a:xfrm>
          <a:custGeom>
            <a:avLst/>
            <a:gdLst/>
            <a:ahLst/>
            <a:cxnLst/>
            <a:rect r="r" b="b" t="t" l="l"/>
            <a:pathLst>
              <a:path h="1932119" w="1806531">
                <a:moveTo>
                  <a:pt x="0" y="0"/>
                </a:moveTo>
                <a:lnTo>
                  <a:pt x="1806532" y="0"/>
                </a:lnTo>
                <a:lnTo>
                  <a:pt x="1806532" y="1932119"/>
                </a:lnTo>
                <a:lnTo>
                  <a:pt x="0" y="1932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86265" y="7326181"/>
            <a:ext cx="1775134" cy="1932119"/>
          </a:xfrm>
          <a:custGeom>
            <a:avLst/>
            <a:gdLst/>
            <a:ahLst/>
            <a:cxnLst/>
            <a:rect r="r" b="b" t="t" l="l"/>
            <a:pathLst>
              <a:path h="1932119" w="1775134">
                <a:moveTo>
                  <a:pt x="0" y="0"/>
                </a:moveTo>
                <a:lnTo>
                  <a:pt x="1775134" y="0"/>
                </a:lnTo>
                <a:lnTo>
                  <a:pt x="1775134" y="1932119"/>
                </a:lnTo>
                <a:lnTo>
                  <a:pt x="0" y="19321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914127"/>
            <a:ext cx="1859665" cy="1932119"/>
          </a:xfrm>
          <a:custGeom>
            <a:avLst/>
            <a:gdLst/>
            <a:ahLst/>
            <a:cxnLst/>
            <a:rect r="r" b="b" t="t" l="l"/>
            <a:pathLst>
              <a:path h="1932119" w="1859665">
                <a:moveTo>
                  <a:pt x="0" y="0"/>
                </a:moveTo>
                <a:lnTo>
                  <a:pt x="1859665" y="0"/>
                </a:lnTo>
                <a:lnTo>
                  <a:pt x="1859665" y="1932119"/>
                </a:lnTo>
                <a:lnTo>
                  <a:pt x="0" y="19321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76350"/>
            <a:ext cx="5584831" cy="138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6499" spc="-324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HUMANS BEHIND THE WALL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00204" y="3687432"/>
            <a:ext cx="5645813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Founder &amp; CEO</a:t>
            </a:r>
          </a:p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5+ years in digital storytelling with hospitality design.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31823" y="3095810"/>
            <a:ext cx="551419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Rosa Maria Aguado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17094" y="7669081"/>
            <a:ext cx="5542206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Daniel Gallego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35582" y="5259381"/>
            <a:ext cx="5523718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Cahaya Dewi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92357" y="8243280"/>
            <a:ext cx="566694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Co-Founder &amp; CTO</a:t>
            </a:r>
          </a:p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5+ years in 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software engineering for retail analytics startups and building the sens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ory AI engine.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92357" y="5851836"/>
            <a:ext cx="566694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Co-Founder &amp; COO</a:t>
            </a:r>
          </a:p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5+ years in c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afé operations, susta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inability, and community-driven branding.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44000" y="1028700"/>
            <a:ext cx="8115300" cy="930448"/>
            <a:chOff x="0" y="0"/>
            <a:chExt cx="6693275" cy="7674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93275" cy="767408"/>
            </a:xfrm>
            <a:custGeom>
              <a:avLst/>
              <a:gdLst/>
              <a:ahLst/>
              <a:cxnLst/>
              <a:rect r="r" b="b" t="t" l="l"/>
              <a:pathLst>
                <a:path h="767408" w="6693275">
                  <a:moveTo>
                    <a:pt x="0" y="0"/>
                  </a:moveTo>
                  <a:lnTo>
                    <a:pt x="6693275" y="0"/>
                  </a:lnTo>
                  <a:lnTo>
                    <a:pt x="6693275" y="767408"/>
                  </a:lnTo>
                  <a:lnTo>
                    <a:pt x="0" y="767408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6693275" cy="824558"/>
            </a:xfrm>
            <a:prstGeom prst="rect">
              <a:avLst/>
            </a:prstGeom>
          </p:spPr>
          <p:txBody>
            <a:bodyPr anchor="ctr" rtlCol="false" tIns="28941" lIns="28941" bIns="28941" rIns="28941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395079" y="1253894"/>
            <a:ext cx="7613141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80"/>
              </a:lnSpc>
            </a:pP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Our Advisers are l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ocal roasters, green packaging pioneers, and experiential designers. They’re not just baristas, they’re experience engineers.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76350"/>
            <a:ext cx="5353732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6499" spc="-324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OUR PURPOSE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41558" y="6608444"/>
            <a:ext cx="7190514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To craft a mindful coffee ritual that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merges human warmth, mystery, and technology — creating moments of calm and curiosity in an overstimulated world.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26361" y="6018727"/>
            <a:ext cx="710571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Mission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27702" y="7919085"/>
            <a:ext cx="711798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Vision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14329" y="8511540"/>
            <a:ext cx="7244971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To become the wo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rld’s leading sensorial c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afé network, redefining how people experience coffee: contact-minimal, emot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ionally-rich, and tech-enhanced.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56754" y="4321848"/>
            <a:ext cx="7302546" cy="1134905"/>
            <a:chOff x="0" y="0"/>
            <a:chExt cx="6022938" cy="9360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22938" cy="936038"/>
            </a:xfrm>
            <a:custGeom>
              <a:avLst/>
              <a:gdLst/>
              <a:ahLst/>
              <a:cxnLst/>
              <a:rect r="r" b="b" t="t" l="l"/>
              <a:pathLst>
                <a:path h="936038" w="6022938">
                  <a:moveTo>
                    <a:pt x="0" y="0"/>
                  </a:moveTo>
                  <a:lnTo>
                    <a:pt x="6022938" y="0"/>
                  </a:lnTo>
                  <a:lnTo>
                    <a:pt x="6022938" y="936038"/>
                  </a:lnTo>
                  <a:lnTo>
                    <a:pt x="0" y="936038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6022938" cy="993188"/>
            </a:xfrm>
            <a:prstGeom prst="rect">
              <a:avLst/>
            </a:prstGeom>
          </p:spPr>
          <p:txBody>
            <a:bodyPr anchor="ctr" rtlCol="false" tIns="28941" lIns="28941" bIns="28941" rIns="28941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407078" y="4773095"/>
            <a:ext cx="6598734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“We d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on’t just serve coffee — we serve curiosity.”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26317" y="5563557"/>
            <a:ext cx="2228194" cy="6254581"/>
          </a:xfrm>
          <a:custGeom>
            <a:avLst/>
            <a:gdLst/>
            <a:ahLst/>
            <a:cxnLst/>
            <a:rect r="r" b="b" t="t" l="l"/>
            <a:pathLst>
              <a:path h="6254581" w="2228194">
                <a:moveTo>
                  <a:pt x="0" y="0"/>
                </a:moveTo>
                <a:lnTo>
                  <a:pt x="2228194" y="0"/>
                </a:lnTo>
                <a:lnTo>
                  <a:pt x="2228194" y="6254581"/>
                </a:lnTo>
                <a:lnTo>
                  <a:pt x="0" y="6254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780925" y="4321848"/>
            <a:ext cx="5299027" cy="5193047"/>
          </a:xfrm>
          <a:custGeom>
            <a:avLst/>
            <a:gdLst/>
            <a:ahLst/>
            <a:cxnLst/>
            <a:rect r="r" b="b" t="t" l="l"/>
            <a:pathLst>
              <a:path h="5193047" w="5299027">
                <a:moveTo>
                  <a:pt x="0" y="0"/>
                </a:moveTo>
                <a:lnTo>
                  <a:pt x="5299027" y="0"/>
                </a:lnTo>
                <a:lnTo>
                  <a:pt x="5299027" y="5193046"/>
                </a:lnTo>
                <a:lnTo>
                  <a:pt x="0" y="51930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95431" y="1375085"/>
            <a:ext cx="7663869" cy="1341507"/>
            <a:chOff x="0" y="0"/>
            <a:chExt cx="6320947" cy="1106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20947" cy="1106438"/>
            </a:xfrm>
            <a:custGeom>
              <a:avLst/>
              <a:gdLst/>
              <a:ahLst/>
              <a:cxnLst/>
              <a:rect r="r" b="b" t="t" l="l"/>
              <a:pathLst>
                <a:path h="1106438" w="6320947">
                  <a:moveTo>
                    <a:pt x="0" y="0"/>
                  </a:moveTo>
                  <a:lnTo>
                    <a:pt x="6320947" y="0"/>
                  </a:lnTo>
                  <a:lnTo>
                    <a:pt x="6320947" y="1106438"/>
                  </a:lnTo>
                  <a:lnTo>
                    <a:pt x="0" y="1106438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320947" cy="1163588"/>
            </a:xfrm>
            <a:prstGeom prst="rect">
              <a:avLst/>
            </a:prstGeom>
          </p:spPr>
          <p:txBody>
            <a:bodyPr anchor="ctr" rtlCol="false" tIns="28941" lIns="28941" bIns="28941" rIns="28941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91432" y="6172200"/>
            <a:ext cx="3919347" cy="4114800"/>
          </a:xfrm>
          <a:custGeom>
            <a:avLst/>
            <a:gdLst/>
            <a:ahLst/>
            <a:cxnLst/>
            <a:rect r="r" b="b" t="t" l="l"/>
            <a:pathLst>
              <a:path h="4114800" w="3919347">
                <a:moveTo>
                  <a:pt x="0" y="0"/>
                </a:moveTo>
                <a:lnTo>
                  <a:pt x="3919347" y="0"/>
                </a:lnTo>
                <a:lnTo>
                  <a:pt x="39193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00835">
            <a:off x="1061039" y="8707193"/>
            <a:ext cx="1282581" cy="2102592"/>
          </a:xfrm>
          <a:custGeom>
            <a:avLst/>
            <a:gdLst/>
            <a:ahLst/>
            <a:cxnLst/>
            <a:rect r="r" b="b" t="t" l="l"/>
            <a:pathLst>
              <a:path h="2102592" w="1282581">
                <a:moveTo>
                  <a:pt x="0" y="0"/>
                </a:moveTo>
                <a:lnTo>
                  <a:pt x="1282581" y="0"/>
                </a:lnTo>
                <a:lnTo>
                  <a:pt x="1282581" y="2102592"/>
                </a:lnTo>
                <a:lnTo>
                  <a:pt x="0" y="2102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76350"/>
            <a:ext cx="694387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6499" spc="-324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THE PROBLEM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95431" y="4103368"/>
            <a:ext cx="7663869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Every café looks the same — eye-catching but predictable.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5431" y="5737859"/>
            <a:ext cx="7663869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Consumers crav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e analog experiences, not screens and noise.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5431" y="7372349"/>
            <a:ext cx="7663869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Post-pandemic consciousness calls for minimal-contact yet personal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service.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95431" y="9006840"/>
            <a:ext cx="7663869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Cafés no longer surprise, inspire, or engage — they just serve caffeine.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15150" y="3335716"/>
            <a:ext cx="402458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Experience Fatigue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15150" y="4973953"/>
            <a:ext cx="402458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Digital Burnout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24914" y="6608444"/>
            <a:ext cx="402458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Hygiene &amp; Anonymity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5150" y="8242934"/>
            <a:ext cx="402458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Emotional Disconnect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19049" y="1681983"/>
            <a:ext cx="723568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800" i="true" spc="-36">
                <a:solidFill>
                  <a:srgbClr val="FFFCF6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The Café Culture Parad</a:t>
            </a:r>
            <a:r>
              <a:rPr lang="en-US" b="true" sz="1800" i="true" spc="-36">
                <a:solidFill>
                  <a:srgbClr val="FFFCF6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ox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: In a world overflowing with cafés, something essential has been lost — wonder. </a:t>
            </a:r>
            <a:r>
              <a:rPr lang="en-US" b="true" sz="1800" i="true" spc="-36">
                <a:solidFill>
                  <a:srgbClr val="FFFCF6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74% 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of Gen Zs and Millennials say they’re looking for “new experiences that feel personal, not performative”.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13691" y="1328298"/>
            <a:ext cx="7645609" cy="1140643"/>
            <a:chOff x="0" y="0"/>
            <a:chExt cx="6305886" cy="9407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05886" cy="940771"/>
            </a:xfrm>
            <a:custGeom>
              <a:avLst/>
              <a:gdLst/>
              <a:ahLst/>
              <a:cxnLst/>
              <a:rect r="r" b="b" t="t" l="l"/>
              <a:pathLst>
                <a:path h="940771" w="6305886">
                  <a:moveTo>
                    <a:pt x="0" y="0"/>
                  </a:moveTo>
                  <a:lnTo>
                    <a:pt x="6305886" y="0"/>
                  </a:lnTo>
                  <a:lnTo>
                    <a:pt x="6305886" y="940771"/>
                  </a:lnTo>
                  <a:lnTo>
                    <a:pt x="0" y="940771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305886" cy="997921"/>
            </a:xfrm>
            <a:prstGeom prst="rect">
              <a:avLst/>
            </a:prstGeom>
          </p:spPr>
          <p:txBody>
            <a:bodyPr anchor="ctr" rtlCol="false" tIns="28941" lIns="28941" bIns="28941" rIns="28941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60882" y="5977889"/>
            <a:ext cx="4006976" cy="4483330"/>
          </a:xfrm>
          <a:custGeom>
            <a:avLst/>
            <a:gdLst/>
            <a:ahLst/>
            <a:cxnLst/>
            <a:rect r="r" b="b" t="t" l="l"/>
            <a:pathLst>
              <a:path h="4483330" w="4006976">
                <a:moveTo>
                  <a:pt x="0" y="0"/>
                </a:moveTo>
                <a:lnTo>
                  <a:pt x="4006976" y="0"/>
                </a:lnTo>
                <a:lnTo>
                  <a:pt x="4006976" y="4483330"/>
                </a:lnTo>
                <a:lnTo>
                  <a:pt x="0" y="4483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673062">
            <a:off x="914129" y="7570340"/>
            <a:ext cx="1637168" cy="4280177"/>
          </a:xfrm>
          <a:custGeom>
            <a:avLst/>
            <a:gdLst/>
            <a:ahLst/>
            <a:cxnLst/>
            <a:rect r="r" b="b" t="t" l="l"/>
            <a:pathLst>
              <a:path h="4280177" w="1637168">
                <a:moveTo>
                  <a:pt x="0" y="0"/>
                </a:moveTo>
                <a:lnTo>
                  <a:pt x="1637167" y="0"/>
                </a:lnTo>
                <a:lnTo>
                  <a:pt x="1637167" y="4280177"/>
                </a:lnTo>
                <a:lnTo>
                  <a:pt x="0" y="42801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76350"/>
            <a:ext cx="694387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6499" spc="-324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THE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95431" y="3855718"/>
            <a:ext cx="7663869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Coffee s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erved by a mysterious hand through an artfully designed wall — no small talk, just sensory immersion.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5431" y="5490209"/>
            <a:ext cx="7663869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App-based personalization tailors your brew bas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ed on past orders, mood tags, and preferences.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5431" y="7124699"/>
            <a:ext cx="7663869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Locally sourced beans, zero single-use plastics, and smart inventory sy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stems.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95431" y="8759190"/>
            <a:ext cx="7663869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Lighti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ng, scent, and soundscapes change with every order — turning coffee into a moment.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15150" y="3088066"/>
            <a:ext cx="75441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Invisible Barista, Visible Emotions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15150" y="4726303"/>
            <a:ext cx="752589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AI + Ritual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33410" y="6360794"/>
            <a:ext cx="752589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Sustainable &amp; Mindful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5150" y="7995284"/>
            <a:ext cx="752589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Designed for Feelings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49213" y="1534765"/>
            <a:ext cx="7071084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800" i="true" spc="-36">
                <a:solidFill>
                  <a:srgbClr val="FFFCF6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Platypus: Hole in Wall Cafe  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— M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ystery brewed. Humanity, reimagined.</a:t>
            </a:r>
          </a:p>
          <a:p>
            <a:pPr algn="l">
              <a:lnSpc>
                <a:spcPts val="1980"/>
              </a:lnSpc>
            </a:pP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A sensory coffee experience where your only interaction is with a mysterious hand. 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2984321" y="435482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5" y="0"/>
                </a:lnTo>
                <a:lnTo>
                  <a:pt x="41987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0444" y="5901053"/>
            <a:ext cx="4171440" cy="4461433"/>
          </a:xfrm>
          <a:custGeom>
            <a:avLst/>
            <a:gdLst/>
            <a:ahLst/>
            <a:cxnLst/>
            <a:rect r="r" b="b" t="t" l="l"/>
            <a:pathLst>
              <a:path h="4461433" w="4171440">
                <a:moveTo>
                  <a:pt x="0" y="0"/>
                </a:moveTo>
                <a:lnTo>
                  <a:pt x="4171440" y="0"/>
                </a:lnTo>
                <a:lnTo>
                  <a:pt x="4171440" y="4461433"/>
                </a:lnTo>
                <a:lnTo>
                  <a:pt x="0" y="4461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5002" y="6904991"/>
            <a:ext cx="1475863" cy="4838896"/>
          </a:xfrm>
          <a:custGeom>
            <a:avLst/>
            <a:gdLst/>
            <a:ahLst/>
            <a:cxnLst/>
            <a:rect r="r" b="b" t="t" l="l"/>
            <a:pathLst>
              <a:path h="4838896" w="1475863">
                <a:moveTo>
                  <a:pt x="0" y="0"/>
                </a:moveTo>
                <a:lnTo>
                  <a:pt x="1475864" y="0"/>
                </a:lnTo>
                <a:lnTo>
                  <a:pt x="1475864" y="4838897"/>
                </a:lnTo>
                <a:lnTo>
                  <a:pt x="0" y="4838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76350"/>
            <a:ext cx="694387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6499" spc="-324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TARGET MARKET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7171" y="2972371"/>
            <a:ext cx="7663869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Urban G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en Z and Millennial professionals (ages 18–40) in the Philippines and Southeast Asia.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7171" y="4815204"/>
            <a:ext cx="7663869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They live in overstimulated environments and crav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e “novel calm” — quiet spaces with personality.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8911" y="6684008"/>
            <a:ext cx="7663869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Specialty Coffee Market (PH): ₱40B annual value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Growth rate: 8–10% CAGR (2045–2050)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Target share for Platypus: 0.5% in Year 1 → ₱200M in addres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sable revenue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95431" y="8775699"/>
            <a:ext cx="7663869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White-label co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ncept licensing for coworking spaces, hotels, and airport lounges across Asia.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96889" y="2204719"/>
            <a:ext cx="75441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Primary Market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96889" y="4051298"/>
            <a:ext cx="752589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Why They Care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96889" y="5920103"/>
            <a:ext cx="752589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Market Opportunity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96889" y="8011793"/>
            <a:ext cx="752589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Expansion Potential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2916525" y="420750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986493"/>
            <a:ext cx="5485083" cy="5255615"/>
            <a:chOff x="0" y="0"/>
            <a:chExt cx="1444631" cy="13841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4631" cy="1384195"/>
            </a:xfrm>
            <a:custGeom>
              <a:avLst/>
              <a:gdLst/>
              <a:ahLst/>
              <a:cxnLst/>
              <a:rect r="r" b="b" t="t" l="l"/>
              <a:pathLst>
                <a:path h="1384195" w="1444631">
                  <a:moveTo>
                    <a:pt x="0" y="0"/>
                  </a:moveTo>
                  <a:lnTo>
                    <a:pt x="1444631" y="0"/>
                  </a:lnTo>
                  <a:lnTo>
                    <a:pt x="1444631" y="1384195"/>
                  </a:lnTo>
                  <a:lnTo>
                    <a:pt x="0" y="1384195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444631" cy="1365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98912" y="6979827"/>
            <a:ext cx="4142800" cy="4142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C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872715" y="7399020"/>
            <a:ext cx="1848358" cy="5188372"/>
          </a:xfrm>
          <a:custGeom>
            <a:avLst/>
            <a:gdLst/>
            <a:ahLst/>
            <a:cxnLst/>
            <a:rect r="r" b="b" t="t" l="l"/>
            <a:pathLst>
              <a:path h="5188372" w="1848358">
                <a:moveTo>
                  <a:pt x="0" y="0"/>
                </a:moveTo>
                <a:lnTo>
                  <a:pt x="1848357" y="0"/>
                </a:lnTo>
                <a:lnTo>
                  <a:pt x="1848357" y="5188372"/>
                </a:lnTo>
                <a:lnTo>
                  <a:pt x="0" y="5188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3842" y="455873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58911" y="4878774"/>
            <a:ext cx="7663869" cy="173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1980"/>
              </a:lnSpc>
              <a:buAutoNum type="arabicPeriod" startAt="1"/>
            </a:pPr>
            <a:r>
              <a:rPr lang="en-US" b="true" sz="1800" spc="-36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Scan th</a:t>
            </a:r>
            <a:r>
              <a:rPr lang="en-US" b="true" sz="1800" spc="-36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e QR Wall: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Choose mood, drink, or let the AI decide.</a:t>
            </a:r>
          </a:p>
          <a:p>
            <a:pPr algn="l" marL="388623" indent="-194312" lvl="1">
              <a:lnSpc>
                <a:spcPts val="1980"/>
              </a:lnSpc>
              <a:buAutoNum type="arabicPeriod" startAt="1"/>
            </a:pPr>
            <a:r>
              <a:rPr lang="en-US" b="true" sz="1800" spc="-36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Pay Cashless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: Seamless integration via Fradel, Lage, and Thynk in-app wallet.</a:t>
            </a:r>
          </a:p>
          <a:p>
            <a:pPr algn="l" marL="388623" indent="-194312" lvl="1">
              <a:lnSpc>
                <a:spcPts val="1980"/>
              </a:lnSpc>
              <a:buAutoNum type="arabicPeriod" startAt="1"/>
            </a:pPr>
            <a:r>
              <a:rPr lang="en-US" b="true" sz="1800" spc="-36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Wait for the Hand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: A silent hatch opens; a mysterious hand delivers your cup.</a:t>
            </a:r>
          </a:p>
          <a:p>
            <a:pPr algn="l" marL="388623" indent="-194312" lvl="1">
              <a:lnSpc>
                <a:spcPts val="1980"/>
              </a:lnSpc>
              <a:buAutoNum type="arabicPeriod" startAt="1"/>
            </a:pPr>
            <a:r>
              <a:rPr lang="en-US" b="true" sz="1800" spc="-36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Savor the Ritual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: Music, light, and aroma shift to your personalized sensory profile.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7171" y="8000048"/>
            <a:ext cx="7663869" cy="124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Proprietary “Sensory OS” controlling light, scent, and ambient music per order.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AI Recommendation Engine learns prefer</a:t>
            </a: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ences for personalized experiences.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Analytics Dashboard for optimizing waste, supply, and inventory.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96889" y="7236142"/>
            <a:ext cx="752589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The Technology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276350"/>
            <a:ext cx="6943876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6499" spc="-324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PRODUCT OVERVIEW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78629" y="4111122"/>
            <a:ext cx="75441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The Experience Journey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275557" y="5505450"/>
          <a:ext cx="10983743" cy="3752850"/>
        </p:xfrm>
        <a:graphic>
          <a:graphicData uri="http://schemas.openxmlformats.org/drawingml/2006/table">
            <a:tbl>
              <a:tblPr/>
              <a:tblGrid>
                <a:gridCol w="2827180"/>
                <a:gridCol w="5861458"/>
                <a:gridCol w="2295105"/>
              </a:tblGrid>
              <a:tr h="750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800" spc="-36">
                          <a:solidFill>
                            <a:srgbClr val="292B2D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Retail Coffee Sales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Specialty coffee, teas, and desserts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800" spc="-36">
                          <a:solidFill>
                            <a:srgbClr val="292B2D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55%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0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800" spc="-36">
                          <a:solidFill>
                            <a:srgbClr val="292B2D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App Memberships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Loyalty rewards, early-access experiences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800" spc="-36">
                          <a:solidFill>
                            <a:srgbClr val="292B2D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15%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0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800" spc="-36">
                          <a:solidFill>
                            <a:srgbClr val="292B2D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Merch &amp; Mystery Kits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Branded coffee gear, beans, “Meet the Hand” merch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800" spc="-36">
                          <a:solidFill>
                            <a:srgbClr val="292B2D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10%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0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800" spc="-36">
                          <a:solidFill>
                            <a:srgbClr val="292B2D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White-Label Licensing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“Hole in Wall” tech setup for boutique partners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800" spc="-36">
                          <a:solidFill>
                            <a:srgbClr val="292B2D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10%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05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800" spc="-36">
                          <a:solidFill>
                            <a:srgbClr val="292B2D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Pop-ups &amp; Collabs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Thematic experiential cafés &amp; brand tie-ins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800" spc="-36">
                          <a:solidFill>
                            <a:srgbClr val="292B2D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10%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6508322" y="2611372"/>
            <a:ext cx="10750978" cy="1319343"/>
            <a:chOff x="0" y="0"/>
            <a:chExt cx="8867109" cy="10881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67109" cy="1088158"/>
            </a:xfrm>
            <a:custGeom>
              <a:avLst/>
              <a:gdLst/>
              <a:ahLst/>
              <a:cxnLst/>
              <a:rect r="r" b="b" t="t" l="l"/>
              <a:pathLst>
                <a:path h="1088158" w="8867109">
                  <a:moveTo>
                    <a:pt x="0" y="0"/>
                  </a:moveTo>
                  <a:lnTo>
                    <a:pt x="8867109" y="0"/>
                  </a:lnTo>
                  <a:lnTo>
                    <a:pt x="8867109" y="1088158"/>
                  </a:lnTo>
                  <a:lnTo>
                    <a:pt x="0" y="1088158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867109" cy="1145308"/>
            </a:xfrm>
            <a:prstGeom prst="rect">
              <a:avLst/>
            </a:prstGeom>
          </p:spPr>
          <p:txBody>
            <a:bodyPr anchor="ctr" rtlCol="false" tIns="28941" lIns="28941" bIns="28941" rIns="28941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276350"/>
            <a:ext cx="5479622" cy="138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6499" spc="-324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BUSINESS </a:t>
            </a:r>
          </a:p>
          <a:p>
            <a:pPr algn="l">
              <a:lnSpc>
                <a:spcPts val="5134"/>
              </a:lnSpc>
            </a:pPr>
            <a:r>
              <a:rPr lang="en-US" sz="6499" spc="-324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24739" y="3031013"/>
            <a:ext cx="10118143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With </a:t>
            </a:r>
            <a:r>
              <a:rPr lang="en-US" b="true" sz="1800" i="true" spc="-36">
                <a:solidFill>
                  <a:srgbClr val="FFFCF6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Multi-Stream Revenue Strategy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, b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reak-even is in </a:t>
            </a:r>
            <a:r>
              <a:rPr lang="en-US" b="true" sz="1800" i="true" spc="-36">
                <a:solidFill>
                  <a:srgbClr val="FFFCF6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18 months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 and </a:t>
            </a:r>
            <a:r>
              <a:rPr lang="en-US" b="true" sz="1800" i="true" spc="-36">
                <a:solidFill>
                  <a:srgbClr val="FFFCF6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30% YOY growth projected 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after scale.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88857" y="4712970"/>
            <a:ext cx="283529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Source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34575" y="4712970"/>
            <a:ext cx="470205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Description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26970" y="4546282"/>
            <a:ext cx="263233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% Projected Contribution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26317" y="5563557"/>
            <a:ext cx="2228194" cy="6254581"/>
          </a:xfrm>
          <a:custGeom>
            <a:avLst/>
            <a:gdLst/>
            <a:ahLst/>
            <a:cxnLst/>
            <a:rect r="r" b="b" t="t" l="l"/>
            <a:pathLst>
              <a:path h="6254581" w="2228194">
                <a:moveTo>
                  <a:pt x="0" y="0"/>
                </a:moveTo>
                <a:lnTo>
                  <a:pt x="2228194" y="0"/>
                </a:lnTo>
                <a:lnTo>
                  <a:pt x="2228194" y="6254581"/>
                </a:lnTo>
                <a:lnTo>
                  <a:pt x="0" y="6254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916525" y="4207508"/>
            <a:ext cx="4574836" cy="4483340"/>
          </a:xfrm>
          <a:custGeom>
            <a:avLst/>
            <a:gdLst/>
            <a:ahLst/>
            <a:cxnLst/>
            <a:rect r="r" b="b" t="t" l="l"/>
            <a:pathLst>
              <a:path h="4483340" w="4574836">
                <a:moveTo>
                  <a:pt x="0" y="0"/>
                </a:moveTo>
                <a:lnTo>
                  <a:pt x="4574836" y="0"/>
                </a:lnTo>
                <a:lnTo>
                  <a:pt x="4574836" y="4483340"/>
                </a:lnTo>
                <a:lnTo>
                  <a:pt x="0" y="44833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6317" y="5563557"/>
            <a:ext cx="2228194" cy="6254581"/>
          </a:xfrm>
          <a:custGeom>
            <a:avLst/>
            <a:gdLst/>
            <a:ahLst/>
            <a:cxnLst/>
            <a:rect r="r" b="b" t="t" l="l"/>
            <a:pathLst>
              <a:path h="6254581" w="2228194">
                <a:moveTo>
                  <a:pt x="0" y="0"/>
                </a:moveTo>
                <a:lnTo>
                  <a:pt x="2228194" y="0"/>
                </a:lnTo>
                <a:lnTo>
                  <a:pt x="2228194" y="6254581"/>
                </a:lnTo>
                <a:lnTo>
                  <a:pt x="0" y="6254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76350"/>
            <a:ext cx="6685622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6499" spc="-324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TRACTION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93943" y="1839697"/>
            <a:ext cx="8715141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Prototype completed (Q1 2050) — tested in Studio Showde &amp; 123 Anywhere St. Any City 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App beta 90% complete — integrates sensory controls + AI profiles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10K+ followers pre-launch across social media accounts (teaser campaign)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Partnerships with two local roasters &amp; one green packaging supplier</a:t>
            </a:r>
          </a:p>
          <a:p>
            <a:pPr algn="l" marL="388623" indent="-194312" lvl="1">
              <a:lnSpc>
                <a:spcPts val="1980"/>
              </a:lnSpc>
              <a:buFont typeface="Arial"/>
              <a:buChar char="•"/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Franchise-ready model by Year 3, with exportable tech Intellectual Property.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30083" y="1047750"/>
            <a:ext cx="857900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Milestones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40283" y="3712957"/>
            <a:ext cx="10458169" cy="6416857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680299" y="4006106"/>
            <a:ext cx="857900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Financial Projections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916525" y="4207508"/>
            <a:ext cx="4574836" cy="4483340"/>
          </a:xfrm>
          <a:custGeom>
            <a:avLst/>
            <a:gdLst/>
            <a:ahLst/>
            <a:cxnLst/>
            <a:rect r="r" b="b" t="t" l="l"/>
            <a:pathLst>
              <a:path h="4483340" w="4574836">
                <a:moveTo>
                  <a:pt x="0" y="0"/>
                </a:moveTo>
                <a:lnTo>
                  <a:pt x="4574836" y="0"/>
                </a:lnTo>
                <a:lnTo>
                  <a:pt x="4574836" y="4483340"/>
                </a:lnTo>
                <a:lnTo>
                  <a:pt x="0" y="44833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275557" y="5563557"/>
          <a:ext cx="10983743" cy="3714763"/>
        </p:xfrm>
        <a:graphic>
          <a:graphicData uri="http://schemas.openxmlformats.org/drawingml/2006/table">
            <a:tbl>
              <a:tblPr/>
              <a:tblGrid>
                <a:gridCol w="2248439"/>
                <a:gridCol w="2910717"/>
                <a:gridCol w="1494167"/>
                <a:gridCol w="4330420"/>
              </a:tblGrid>
              <a:tr h="7429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Arrowai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Minimalist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Focus on design aesthetic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Borcelle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Luxury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Quality beans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 spc="-36">
                          <a:solidFill>
                            <a:srgbClr val="292B2D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Platypus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Experiential + Sensory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 spc="-36">
                          <a:solidFill>
                            <a:srgbClr val="292B2D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Mystery, AI personalization, sensory 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Salford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Mass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Convenience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Wardiere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Automated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spc="-36">
                          <a:solidFill>
                            <a:srgbClr val="292B2D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Efficiency, but no emotional appeal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6388857" y="2374451"/>
            <a:ext cx="10870443" cy="1319343"/>
            <a:chOff x="0" y="0"/>
            <a:chExt cx="8965641" cy="10881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65641" cy="1088158"/>
            </a:xfrm>
            <a:custGeom>
              <a:avLst/>
              <a:gdLst/>
              <a:ahLst/>
              <a:cxnLst/>
              <a:rect r="r" b="b" t="t" l="l"/>
              <a:pathLst>
                <a:path h="1088158" w="8965641">
                  <a:moveTo>
                    <a:pt x="0" y="0"/>
                  </a:moveTo>
                  <a:lnTo>
                    <a:pt x="8965641" y="0"/>
                  </a:lnTo>
                  <a:lnTo>
                    <a:pt x="8965641" y="1088158"/>
                  </a:lnTo>
                  <a:lnTo>
                    <a:pt x="0" y="1088158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965641" cy="1145308"/>
            </a:xfrm>
            <a:prstGeom prst="rect">
              <a:avLst/>
            </a:prstGeom>
          </p:spPr>
          <p:txBody>
            <a:bodyPr anchor="ctr" rtlCol="false" tIns="28941" lIns="28941" bIns="28941" rIns="28941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26317" y="5563557"/>
            <a:ext cx="2228194" cy="6254581"/>
          </a:xfrm>
          <a:custGeom>
            <a:avLst/>
            <a:gdLst/>
            <a:ahLst/>
            <a:cxnLst/>
            <a:rect r="r" b="b" t="t" l="l"/>
            <a:pathLst>
              <a:path h="6254581" w="2228194">
                <a:moveTo>
                  <a:pt x="0" y="0"/>
                </a:moveTo>
                <a:lnTo>
                  <a:pt x="2228194" y="0"/>
                </a:lnTo>
                <a:lnTo>
                  <a:pt x="2228194" y="6254581"/>
                </a:lnTo>
                <a:lnTo>
                  <a:pt x="0" y="6254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76350"/>
            <a:ext cx="5479622" cy="138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6499" spc="-324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COMPETITIVE</a:t>
            </a:r>
          </a:p>
          <a:p>
            <a:pPr algn="l">
              <a:lnSpc>
                <a:spcPts val="5134"/>
              </a:lnSpc>
            </a:pPr>
            <a:r>
              <a:rPr lang="en-US" sz="6499" spc="-324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65007" y="2804734"/>
            <a:ext cx="10118143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Why W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e 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Wi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n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: Combin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e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s 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te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ch p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recision + human mystery and E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mot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ionally 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r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es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o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nan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t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,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 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s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oc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ially viral, an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d </a:t>
            </a:r>
            <a:r>
              <a:rPr lang="en-US" sz="1800" i="true" spc="-36">
                <a:solidFill>
                  <a:srgbClr val="FFFCF6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future-ready.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88857" y="4465320"/>
            <a:ext cx="178800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Brand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1915" y="4465320"/>
            <a:ext cx="1947352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Tech </a:t>
            </a:r>
          </a:p>
          <a:p>
            <a:pPr algn="ctr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Integration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22692" y="4465320"/>
            <a:ext cx="263233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Differentiator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40610" y="4465320"/>
            <a:ext cx="1867641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Experience </a:t>
            </a:r>
          </a:p>
          <a:p>
            <a:pPr algn="ctr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Type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2916525" y="420750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76350"/>
            <a:ext cx="6685622" cy="138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6499" spc="-324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FUNDING</a:t>
            </a:r>
          </a:p>
          <a:p>
            <a:pPr algn="l">
              <a:lnSpc>
                <a:spcPts val="5134"/>
              </a:lnSpc>
            </a:pPr>
            <a:r>
              <a:rPr lang="en-US" sz="6499" spc="-324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REQUEST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83407" y="8171148"/>
            <a:ext cx="687589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Ask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93061" y="6430483"/>
            <a:ext cx="683588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48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Investor Offer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0167" y="4570570"/>
            <a:ext cx="6979133" cy="1145859"/>
            <a:chOff x="0" y="0"/>
            <a:chExt cx="5756196" cy="9450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56196" cy="945073"/>
            </a:xfrm>
            <a:custGeom>
              <a:avLst/>
              <a:gdLst/>
              <a:ahLst/>
              <a:cxnLst/>
              <a:rect r="r" b="b" t="t" l="l"/>
              <a:pathLst>
                <a:path h="945073" w="5756196">
                  <a:moveTo>
                    <a:pt x="0" y="0"/>
                  </a:moveTo>
                  <a:lnTo>
                    <a:pt x="5756196" y="0"/>
                  </a:lnTo>
                  <a:lnTo>
                    <a:pt x="5756196" y="945073"/>
                  </a:lnTo>
                  <a:lnTo>
                    <a:pt x="0" y="945073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756196" cy="1002223"/>
            </a:xfrm>
            <a:prstGeom prst="rect">
              <a:avLst/>
            </a:prstGeom>
          </p:spPr>
          <p:txBody>
            <a:bodyPr anchor="ctr" rtlCol="false" tIns="28941" lIns="28941" bIns="28941" rIns="28941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14322" y="5669464"/>
            <a:ext cx="2028124" cy="5692979"/>
          </a:xfrm>
          <a:custGeom>
            <a:avLst/>
            <a:gdLst/>
            <a:ahLst/>
            <a:cxnLst/>
            <a:rect r="r" b="b" t="t" l="l"/>
            <a:pathLst>
              <a:path h="5692979" w="2028124">
                <a:moveTo>
                  <a:pt x="0" y="0"/>
                </a:moveTo>
                <a:lnTo>
                  <a:pt x="2028124" y="0"/>
                </a:lnTo>
                <a:lnTo>
                  <a:pt x="2028124" y="5692979"/>
                </a:lnTo>
                <a:lnTo>
                  <a:pt x="0" y="5692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590719" y="4908947"/>
            <a:ext cx="635803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80"/>
              </a:lnSpc>
            </a:pPr>
            <a:r>
              <a:rPr lang="en-US" sz="1800" spc="-36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Inv</a:t>
            </a:r>
            <a:r>
              <a:rPr lang="en-US" sz="1800" spc="-36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est in the café of the future — where the hand you don’t see shapes the experience you’ll never forget.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0167" y="7280113"/>
            <a:ext cx="6971543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15% equity stake + early option in regional expansion and licensing rights.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0167" y="9006840"/>
            <a:ext cx="6971543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36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₱3.5M seed investment for prototype expansion and first flagship store.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3457" y="2385221"/>
            <a:ext cx="8702920" cy="7598323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46359"/>
            <a:ext cx="16230600" cy="281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0"/>
              </a:lnSpc>
            </a:pPr>
            <a:r>
              <a:rPr lang="en-US" sz="9000" spc="-450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JOIN US IN BREWING SOMETHING UNFORGETTABLE. </a:t>
            </a:r>
          </a:p>
          <a:p>
            <a:pPr algn="ctr">
              <a:lnSpc>
                <a:spcPts val="7110"/>
              </a:lnSpc>
            </a:pPr>
            <a:r>
              <a:rPr lang="en-US" sz="9000" spc="-450">
                <a:solidFill>
                  <a:srgbClr val="292B2D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LET’S TALK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382397" y="4823008"/>
            <a:ext cx="9556840" cy="1095252"/>
            <a:chOff x="0" y="0"/>
            <a:chExt cx="3000439" cy="3438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00439" cy="343862"/>
            </a:xfrm>
            <a:custGeom>
              <a:avLst/>
              <a:gdLst/>
              <a:ahLst/>
              <a:cxnLst/>
              <a:rect r="r" b="b" t="t" l="l"/>
              <a:pathLst>
                <a:path h="343862" w="3000439">
                  <a:moveTo>
                    <a:pt x="0" y="0"/>
                  </a:moveTo>
                  <a:lnTo>
                    <a:pt x="3000439" y="0"/>
                  </a:lnTo>
                  <a:lnTo>
                    <a:pt x="3000439" y="343862"/>
                  </a:lnTo>
                  <a:lnTo>
                    <a:pt x="0" y="343862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000439" cy="391487"/>
            </a:xfrm>
            <a:prstGeom prst="rect">
              <a:avLst/>
            </a:prstGeom>
          </p:spPr>
          <p:txBody>
            <a:bodyPr anchor="ctr" rtlCol="false" tIns="22607" lIns="22607" bIns="22607" rIns="22607"/>
            <a:lstStyle/>
            <a:p>
              <a:pPr algn="ctr">
                <a:lnSpc>
                  <a:spcPts val="317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498360" y="5924115"/>
            <a:ext cx="2145161" cy="6195411"/>
          </a:xfrm>
          <a:custGeom>
            <a:avLst/>
            <a:gdLst/>
            <a:ahLst/>
            <a:cxnLst/>
            <a:rect r="r" b="b" t="t" l="l"/>
            <a:pathLst>
              <a:path h="6195411" w="2145161">
                <a:moveTo>
                  <a:pt x="0" y="0"/>
                </a:moveTo>
                <a:lnTo>
                  <a:pt x="2145161" y="0"/>
                </a:lnTo>
                <a:lnTo>
                  <a:pt x="2145161" y="6195411"/>
                </a:lnTo>
                <a:lnTo>
                  <a:pt x="0" y="6195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447291"/>
            <a:ext cx="16138881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spc="-36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hello@</a:t>
            </a:r>
            <a:r>
              <a:rPr lang="en-US" sz="1800" spc="-36">
                <a:solidFill>
                  <a:srgbClr val="FFFCF6"/>
                </a:solidFill>
                <a:latin typeface="Aileron"/>
                <a:ea typeface="Aileron"/>
                <a:cs typeface="Aileron"/>
                <a:sym typeface="Aileron"/>
              </a:rPr>
              <a:t>reallygreatsite.com / www.reallygreatsite.com / +123-456-7890 / @reallygreatsite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82397" y="6810348"/>
            <a:ext cx="9556840" cy="79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2300" spc="-11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Let’s redefine how people pause, feel, and connect in a digital world.  Your investment fuels the next generation of experiential cafés — where AI meets artistry, and every cup tells a story.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48001" y="5145715"/>
            <a:ext cx="10219829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0"/>
              </a:lnSpc>
            </a:pPr>
            <a:r>
              <a:rPr lang="en-US" sz="9000" spc="-450">
                <a:solidFill>
                  <a:srgbClr val="FFFCF6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THE HAND IS WAITING!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3074332">
            <a:off x="-3167386" y="1392758"/>
            <a:ext cx="5233243" cy="5128578"/>
          </a:xfrm>
          <a:custGeom>
            <a:avLst/>
            <a:gdLst/>
            <a:ahLst/>
            <a:cxnLst/>
            <a:rect r="r" b="b" t="t" l="l"/>
            <a:pathLst>
              <a:path h="5128578" w="5233243">
                <a:moveTo>
                  <a:pt x="0" y="0"/>
                </a:moveTo>
                <a:lnTo>
                  <a:pt x="5233243" y="0"/>
                </a:lnTo>
                <a:lnTo>
                  <a:pt x="5233243" y="5128578"/>
                </a:lnTo>
                <a:lnTo>
                  <a:pt x="0" y="5128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DAHTRB-NrBk</dc:identifier>
  <dcterms:modified xsi:type="dcterms:W3CDTF">2011-08-01T06:04:30Z</dcterms:modified>
  <cp:revision>1</cp:revision>
  <dc:title>White and Black Modern Playful Pitch Deck Presentation</dc:title>
</cp:coreProperties>
</file>