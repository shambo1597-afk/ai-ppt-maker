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Bricolage Grotesque" charset="1" panose="020B0605040402000204"/>
      <p:regular r:id="rId17"/>
    </p:embeddedFont>
    <p:embeddedFont>
      <p:font typeface="Open Sauce Bold" charset="1" panose="00000800000000000000"/>
      <p:regular r:id="rId18"/>
    </p:embeddedFont>
    <p:embeddedFont>
      <p:font typeface="Open Sauce" charset="1" panose="00000500000000000000"/>
      <p:regular r:id="rId19"/>
    </p:embeddedFont>
    <p:embeddedFont>
      <p:font typeface="Bricolage Grotesque Bold" charset="1" panose="020B060504040200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730235" y="-781974"/>
            <a:ext cx="20019133" cy="13337747"/>
          </a:xfrm>
          <a:custGeom>
            <a:avLst/>
            <a:gdLst/>
            <a:ahLst/>
            <a:cxnLst/>
            <a:rect r="r" b="b" t="t" l="l"/>
            <a:pathLst>
              <a:path h="13337747" w="20019133">
                <a:moveTo>
                  <a:pt x="0" y="0"/>
                </a:moveTo>
                <a:lnTo>
                  <a:pt x="20019133" y="0"/>
                </a:lnTo>
                <a:lnTo>
                  <a:pt x="20019133" y="13337747"/>
                </a:lnTo>
                <a:lnTo>
                  <a:pt x="0" y="13337747"/>
                </a:lnTo>
                <a:lnTo>
                  <a:pt x="0" y="0"/>
                </a:lnTo>
                <a:close/>
              </a:path>
            </a:pathLst>
          </a:custGeom>
          <a:blipFill>
            <a:blip r:embed="rId2"/>
            <a:stretch>
              <a:fillRect l="0" t="0" r="0" b="0"/>
            </a:stretch>
          </a:blipFill>
        </p:spPr>
      </p:sp>
      <p:sp>
        <p:nvSpPr>
          <p:cNvPr name="TextBox 3" id="3"/>
          <p:cNvSpPr txBox="true"/>
          <p:nvPr/>
        </p:nvSpPr>
        <p:spPr>
          <a:xfrm rot="0">
            <a:off x="1028700" y="2776855"/>
            <a:ext cx="12827627" cy="4683326"/>
          </a:xfrm>
          <a:prstGeom prst="rect">
            <a:avLst/>
          </a:prstGeom>
        </p:spPr>
        <p:txBody>
          <a:bodyPr anchor="t" rtlCol="false" tIns="0" lIns="0" bIns="0" rIns="0">
            <a:spAutoFit/>
          </a:bodyPr>
          <a:lstStyle/>
          <a:p>
            <a:pPr algn="l">
              <a:lnSpc>
                <a:spcPts val="11892"/>
              </a:lnSpc>
            </a:pPr>
            <a:r>
              <a:rPr lang="en-US" sz="14328" spc="-458">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Sales</a:t>
            </a:r>
            <a:r>
              <a:rPr lang="en-US" sz="14328" spc="-458">
                <a:solidFill>
                  <a:srgbClr val="FFFFFF"/>
                </a:solidFill>
                <a:latin typeface="Bricolage Grotesque"/>
                <a:ea typeface="Bricolage Grotesque"/>
                <a:cs typeface="Bricolage Grotesque"/>
                <a:sym typeface="Bricolage Grotesque"/>
              </a:rPr>
              <a:t> Forecast</a:t>
            </a:r>
          </a:p>
          <a:p>
            <a:pPr algn="l">
              <a:lnSpc>
                <a:spcPts val="11892"/>
              </a:lnSpc>
            </a:pPr>
            <a:r>
              <a:rPr lang="en-US" sz="14328" spc="-458">
                <a:solidFill>
                  <a:srgbClr val="FFFFFF"/>
                </a:solidFill>
                <a:latin typeface="Bricolage Grotesque"/>
                <a:ea typeface="Bricolage Grotesque"/>
                <a:cs typeface="Bricolage Grotesque"/>
                <a:sym typeface="Bricolage Grotesque"/>
              </a:rPr>
              <a:t>&amp; Priorities</a:t>
            </a:r>
          </a:p>
          <a:p>
            <a:pPr algn="l">
              <a:lnSpc>
                <a:spcPts val="11892"/>
              </a:lnSpc>
            </a:pPr>
            <a:r>
              <a:rPr lang="en-US" sz="14328" spc="-458">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2030</a:t>
            </a:r>
          </a:p>
        </p:txBody>
      </p:sp>
      <p:sp>
        <p:nvSpPr>
          <p:cNvPr name="Freeform 4" id="4"/>
          <p:cNvSpPr/>
          <p:nvPr/>
        </p:nvSpPr>
        <p:spPr>
          <a:xfrm flipH="false" flipV="false" rot="-9386320">
            <a:off x="10153979" y="-1749543"/>
            <a:ext cx="9561442" cy="6370311"/>
          </a:xfrm>
          <a:custGeom>
            <a:avLst/>
            <a:gdLst/>
            <a:ahLst/>
            <a:cxnLst/>
            <a:rect r="r" b="b" t="t" l="l"/>
            <a:pathLst>
              <a:path h="6370311" w="9561442">
                <a:moveTo>
                  <a:pt x="0" y="0"/>
                </a:moveTo>
                <a:lnTo>
                  <a:pt x="9561442" y="0"/>
                </a:lnTo>
                <a:lnTo>
                  <a:pt x="9561442" y="6370310"/>
                </a:lnTo>
                <a:lnTo>
                  <a:pt x="0" y="6370310"/>
                </a:lnTo>
                <a:lnTo>
                  <a:pt x="0" y="0"/>
                </a:lnTo>
                <a:close/>
              </a:path>
            </a:pathLst>
          </a:custGeom>
          <a:blipFill>
            <a:blip r:embed="rId3"/>
            <a:stretch>
              <a:fillRect l="0" t="0" r="0" b="0"/>
            </a:stretch>
          </a:blipFill>
        </p:spPr>
      </p:sp>
      <p:sp>
        <p:nvSpPr>
          <p:cNvPr name="Freeform 5" id="5"/>
          <p:cNvSpPr/>
          <p:nvPr/>
        </p:nvSpPr>
        <p:spPr>
          <a:xfrm flipH="false" flipV="false" rot="0">
            <a:off x="1028700" y="1036137"/>
            <a:ext cx="385989" cy="318326"/>
          </a:xfrm>
          <a:custGeom>
            <a:avLst/>
            <a:gdLst/>
            <a:ahLst/>
            <a:cxnLst/>
            <a:rect r="r" b="b" t="t" l="l"/>
            <a:pathLst>
              <a:path h="318326" w="385989">
                <a:moveTo>
                  <a:pt x="0" y="0"/>
                </a:moveTo>
                <a:lnTo>
                  <a:pt x="385989" y="0"/>
                </a:lnTo>
                <a:lnTo>
                  <a:pt x="385989" y="318326"/>
                </a:lnTo>
                <a:lnTo>
                  <a:pt x="0" y="3183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618648" y="1029944"/>
            <a:ext cx="2692948" cy="368812"/>
          </a:xfrm>
          <a:prstGeom prst="rect">
            <a:avLst/>
          </a:prstGeom>
        </p:spPr>
        <p:txBody>
          <a:bodyPr anchor="t" rtlCol="false" tIns="0" lIns="0" bIns="0" rIns="0">
            <a:spAutoFit/>
          </a:bodyPr>
          <a:lstStyle/>
          <a:p>
            <a:pPr algn="l">
              <a:lnSpc>
                <a:spcPts val="2788"/>
              </a:lnSpc>
            </a:pPr>
            <a:r>
              <a:rPr lang="en-US" sz="2681" spc="-85">
                <a:solidFill>
                  <a:srgbClr val="FFFFFF"/>
                </a:solidFill>
                <a:latin typeface="Bricolage Grotesque"/>
                <a:ea typeface="Bricolage Grotesque"/>
                <a:cs typeface="Bricolage Grotesque"/>
                <a:sym typeface="Bricolage Grotesque"/>
              </a:rPr>
              <a:t>Logo Here</a:t>
            </a:r>
          </a:p>
        </p:txBody>
      </p:sp>
      <p:sp>
        <p:nvSpPr>
          <p:cNvPr name="TextBox 7" id="7"/>
          <p:cNvSpPr txBox="true"/>
          <p:nvPr/>
        </p:nvSpPr>
        <p:spPr>
          <a:xfrm rot="0">
            <a:off x="12175420" y="9092944"/>
            <a:ext cx="5083880" cy="368812"/>
          </a:xfrm>
          <a:prstGeom prst="rect">
            <a:avLst/>
          </a:prstGeom>
        </p:spPr>
        <p:txBody>
          <a:bodyPr anchor="t" rtlCol="false" tIns="0" lIns="0" bIns="0" rIns="0">
            <a:spAutoFit/>
          </a:bodyPr>
          <a:lstStyle/>
          <a:p>
            <a:pPr algn="r">
              <a:lnSpc>
                <a:spcPts val="2788"/>
              </a:lnSpc>
            </a:pPr>
            <a:r>
              <a:rPr lang="en-US" sz="2681" spc="-85">
                <a:solidFill>
                  <a:srgbClr val="FFFFFF"/>
                </a:solidFill>
                <a:latin typeface="Bricolage Grotesque"/>
                <a:ea typeface="Bricolage Grotesque"/>
                <a:cs typeface="Bricolage Grotesque"/>
                <a:sym typeface="Bricolage Grotesque"/>
              </a:rPr>
              <a:t>January 2030</a:t>
            </a:r>
          </a:p>
        </p:txBody>
      </p:sp>
      <p:sp>
        <p:nvSpPr>
          <p:cNvPr name="TextBox 8" id="8"/>
          <p:cNvSpPr txBox="true"/>
          <p:nvPr/>
        </p:nvSpPr>
        <p:spPr>
          <a:xfrm rot="0">
            <a:off x="1028700" y="9092944"/>
            <a:ext cx="6413814" cy="368812"/>
          </a:xfrm>
          <a:prstGeom prst="rect">
            <a:avLst/>
          </a:prstGeom>
        </p:spPr>
        <p:txBody>
          <a:bodyPr anchor="t" rtlCol="false" tIns="0" lIns="0" bIns="0" rIns="0">
            <a:spAutoFit/>
          </a:bodyPr>
          <a:lstStyle/>
          <a:p>
            <a:pPr algn="l" marL="0" indent="0" lvl="0">
              <a:lnSpc>
                <a:spcPts val="2788"/>
              </a:lnSpc>
              <a:spcBef>
                <a:spcPct val="0"/>
              </a:spcBef>
            </a:pPr>
            <a:r>
              <a:rPr lang="en-US" sz="2681" spc="-85" strike="noStrike" u="none">
                <a:solidFill>
                  <a:srgbClr val="FFFFFF"/>
                </a:solidFill>
                <a:latin typeface="Bricolage Grotesque"/>
                <a:ea typeface="Bricolage Grotesque"/>
                <a:cs typeface="Bricolage Grotesque"/>
                <a:sym typeface="Bricolage Grotesque"/>
              </a:rPr>
              <a:t>Targets, focus areas &amp; execution plan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8306557">
            <a:off x="-8094840" y="-638553"/>
            <a:ext cx="20019133" cy="14181606"/>
          </a:xfrm>
          <a:custGeom>
            <a:avLst/>
            <a:gdLst/>
            <a:ahLst/>
            <a:cxnLst/>
            <a:rect r="r" b="b" t="t" l="l"/>
            <a:pathLst>
              <a:path h="14181606" w="20019133">
                <a:moveTo>
                  <a:pt x="0" y="0"/>
                </a:moveTo>
                <a:lnTo>
                  <a:pt x="20019133" y="0"/>
                </a:lnTo>
                <a:lnTo>
                  <a:pt x="20019133" y="14181606"/>
                </a:lnTo>
                <a:lnTo>
                  <a:pt x="0" y="14181606"/>
                </a:lnTo>
                <a:lnTo>
                  <a:pt x="0" y="0"/>
                </a:lnTo>
                <a:close/>
              </a:path>
            </a:pathLst>
          </a:custGeom>
          <a:blipFill>
            <a:blip r:embed="rId2">
              <a:alphaModFix amt="81000"/>
            </a:blip>
            <a:stretch>
              <a:fillRect l="-3163" t="0" r="-3163" b="0"/>
            </a:stretch>
          </a:blipFill>
        </p:spPr>
      </p:sp>
      <p:sp>
        <p:nvSpPr>
          <p:cNvPr name="Freeform 3" id="3"/>
          <p:cNvSpPr/>
          <p:nvPr/>
        </p:nvSpPr>
        <p:spPr>
          <a:xfrm flipH="false" flipV="false" rot="-5400000">
            <a:off x="2633610" y="-5124821"/>
            <a:ext cx="20019133" cy="14181606"/>
          </a:xfrm>
          <a:custGeom>
            <a:avLst/>
            <a:gdLst/>
            <a:ahLst/>
            <a:cxnLst/>
            <a:rect r="r" b="b" t="t" l="l"/>
            <a:pathLst>
              <a:path h="14181606" w="20019133">
                <a:moveTo>
                  <a:pt x="0" y="0"/>
                </a:moveTo>
                <a:lnTo>
                  <a:pt x="20019133" y="0"/>
                </a:lnTo>
                <a:lnTo>
                  <a:pt x="20019133" y="14181606"/>
                </a:lnTo>
                <a:lnTo>
                  <a:pt x="0" y="14181606"/>
                </a:lnTo>
                <a:lnTo>
                  <a:pt x="0" y="0"/>
                </a:lnTo>
                <a:close/>
              </a:path>
            </a:pathLst>
          </a:custGeom>
          <a:blipFill>
            <a:blip r:embed="rId2">
              <a:alphaModFix amt="81000"/>
            </a:blip>
            <a:stretch>
              <a:fillRect l="-3163" t="0" r="-3163" b="0"/>
            </a:stretch>
          </a:blipFill>
        </p:spPr>
      </p:sp>
      <p:grpSp>
        <p:nvGrpSpPr>
          <p:cNvPr name="Group 4" id="4"/>
          <p:cNvGrpSpPr/>
          <p:nvPr/>
        </p:nvGrpSpPr>
        <p:grpSpPr>
          <a:xfrm rot="0">
            <a:off x="8916471" y="2102374"/>
            <a:ext cx="314225" cy="314225"/>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87F1"/>
            </a:solidFill>
          </p:spPr>
        </p:sp>
        <p:sp>
          <p:nvSpPr>
            <p:cNvPr name="TextBox 6" id="6"/>
            <p:cNvSpPr txBox="true"/>
            <p:nvPr/>
          </p:nvSpPr>
          <p:spPr>
            <a:xfrm>
              <a:off x="76200" y="57150"/>
              <a:ext cx="660400" cy="679450"/>
            </a:xfrm>
            <a:prstGeom prst="rect">
              <a:avLst/>
            </a:prstGeom>
          </p:spPr>
          <p:txBody>
            <a:bodyPr anchor="ctr" rtlCol="false" tIns="0" lIns="0" bIns="0" rIns="0"/>
            <a:lstStyle/>
            <a:p>
              <a:pPr algn="ctr">
                <a:lnSpc>
                  <a:spcPts val="1820"/>
                </a:lnSpc>
              </a:pPr>
              <a:r>
                <a:rPr lang="en-US" b="true" sz="1300">
                  <a:solidFill>
                    <a:srgbClr val="FFFFFF"/>
                  </a:solidFill>
                  <a:latin typeface="Open Sauce Bold"/>
                  <a:ea typeface="Open Sauce Bold"/>
                  <a:cs typeface="Open Sauce Bold"/>
                  <a:sym typeface="Open Sauce Bold"/>
                </a:rPr>
                <a:t>1</a:t>
              </a:r>
            </a:p>
          </p:txBody>
        </p:sp>
      </p:grpSp>
      <p:sp>
        <p:nvSpPr>
          <p:cNvPr name="TextBox 7" id="7"/>
          <p:cNvSpPr txBox="true"/>
          <p:nvPr/>
        </p:nvSpPr>
        <p:spPr>
          <a:xfrm rot="0">
            <a:off x="1028700" y="3177755"/>
            <a:ext cx="6792548" cy="1966759"/>
          </a:xfrm>
          <a:prstGeom prst="rect">
            <a:avLst/>
          </a:prstGeom>
        </p:spPr>
        <p:txBody>
          <a:bodyPr anchor="t" rtlCol="false" tIns="0" lIns="0" bIns="0" rIns="0">
            <a:spAutoFit/>
          </a:bodyPr>
          <a:lstStyle/>
          <a:p>
            <a:pPr algn="l" marL="0" indent="0" lvl="0">
              <a:lnSpc>
                <a:spcPts val="7334"/>
              </a:lnSpc>
              <a:spcBef>
                <a:spcPct val="0"/>
              </a:spcBef>
            </a:pPr>
            <a:r>
              <a:rPr lang="en-US" sz="8836" spc="-282" strike="noStrike" u="none">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Purpose of this Forecast</a:t>
            </a:r>
          </a:p>
        </p:txBody>
      </p:sp>
      <p:sp>
        <p:nvSpPr>
          <p:cNvPr name="TextBox 8" id="8"/>
          <p:cNvSpPr txBox="true"/>
          <p:nvPr/>
        </p:nvSpPr>
        <p:spPr>
          <a:xfrm rot="0">
            <a:off x="1028700" y="5664676"/>
            <a:ext cx="6033365" cy="2313940"/>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name="TextBox 9" id="9"/>
          <p:cNvSpPr txBox="true"/>
          <p:nvPr/>
        </p:nvSpPr>
        <p:spPr>
          <a:xfrm rot="0">
            <a:off x="8916471" y="2621007"/>
            <a:ext cx="3903626" cy="789305"/>
          </a:xfrm>
          <a:prstGeom prst="rect">
            <a:avLst/>
          </a:prstGeom>
        </p:spPr>
        <p:txBody>
          <a:bodyPr anchor="t" rtlCol="false" tIns="0" lIns="0" bIns="0" rIns="0">
            <a:spAutoFit/>
          </a:bodyPr>
          <a:lstStyle/>
          <a:p>
            <a:pPr algn="l">
              <a:lnSpc>
                <a:spcPts val="3219"/>
              </a:lnSpc>
              <a:spcBef>
                <a:spcPct val="0"/>
              </a:spcBef>
            </a:pPr>
            <a:r>
              <a:rPr lang="en-US" b="true" sz="2299">
                <a:gradFill>
                  <a:gsLst>
                    <a:gs pos="0">
                      <a:srgbClr val="478CF6">
                        <a:alpha val="100000"/>
                      </a:srgbClr>
                    </a:gs>
                    <a:gs pos="100000">
                      <a:srgbClr val="FFFFFF">
                        <a:alpha val="100000"/>
                      </a:srgbClr>
                    </a:gs>
                  </a:gsLst>
                  <a:lin ang="2700000"/>
                </a:gradFill>
                <a:latin typeface="Open Sauce Bold"/>
                <a:ea typeface="Open Sauce Bold"/>
                <a:cs typeface="Open Sauce Bold"/>
                <a:sym typeface="Open Sauce Bold"/>
              </a:rPr>
              <a:t>A</a:t>
            </a:r>
            <a:r>
              <a:rPr lang="en-US" b="true" sz="2299">
                <a:gradFill>
                  <a:gsLst>
                    <a:gs pos="0">
                      <a:srgbClr val="478CF6">
                        <a:alpha val="100000"/>
                      </a:srgbClr>
                    </a:gs>
                    <a:gs pos="100000">
                      <a:srgbClr val="FFFFFF">
                        <a:alpha val="100000"/>
                      </a:srgbClr>
                    </a:gs>
                  </a:gsLst>
                  <a:lin ang="2700000"/>
                </a:gradFill>
                <a:latin typeface="Open Sauce Bold"/>
                <a:ea typeface="Open Sauce Bold"/>
                <a:cs typeface="Open Sauce Bold"/>
                <a:sym typeface="Open Sauce Bold"/>
              </a:rPr>
              <a:t>lign sales efforts with business goals</a:t>
            </a:r>
          </a:p>
        </p:txBody>
      </p:sp>
      <p:sp>
        <p:nvSpPr>
          <p:cNvPr name="TextBox 10" id="10"/>
          <p:cNvSpPr txBox="true"/>
          <p:nvPr/>
        </p:nvSpPr>
        <p:spPr>
          <a:xfrm rot="0">
            <a:off x="8916471" y="3523804"/>
            <a:ext cx="3903626" cy="1313815"/>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sp>
        <p:nvSpPr>
          <p:cNvPr name="TextBox 11" id="11"/>
          <p:cNvSpPr txBox="true"/>
          <p:nvPr/>
        </p:nvSpPr>
        <p:spPr>
          <a:xfrm rot="0">
            <a:off x="13355674" y="2621007"/>
            <a:ext cx="3903626" cy="789305"/>
          </a:xfrm>
          <a:prstGeom prst="rect">
            <a:avLst/>
          </a:prstGeom>
        </p:spPr>
        <p:txBody>
          <a:bodyPr anchor="t" rtlCol="false" tIns="0" lIns="0" bIns="0" rIns="0">
            <a:spAutoFit/>
          </a:bodyPr>
          <a:lstStyle/>
          <a:p>
            <a:pPr algn="l">
              <a:lnSpc>
                <a:spcPts val="3219"/>
              </a:lnSpc>
              <a:spcBef>
                <a:spcPct val="0"/>
              </a:spcBef>
            </a:pPr>
            <a:r>
              <a:rPr lang="en-US" b="true" sz="2299">
                <a:gradFill>
                  <a:gsLst>
                    <a:gs pos="0">
                      <a:srgbClr val="478CF6">
                        <a:alpha val="100000"/>
                      </a:srgbClr>
                    </a:gs>
                    <a:gs pos="100000">
                      <a:srgbClr val="FFFFFF">
                        <a:alpha val="100000"/>
                      </a:srgbClr>
                    </a:gs>
                  </a:gsLst>
                  <a:lin ang="2700000"/>
                </a:gradFill>
                <a:latin typeface="Open Sauce Bold"/>
                <a:ea typeface="Open Sauce Bold"/>
                <a:cs typeface="Open Sauce Bold"/>
                <a:sym typeface="Open Sauce Bold"/>
              </a:rPr>
              <a:t>Set</a:t>
            </a:r>
            <a:r>
              <a:rPr lang="en-US" b="true" sz="2299">
                <a:gradFill>
                  <a:gsLst>
                    <a:gs pos="0">
                      <a:srgbClr val="478CF6">
                        <a:alpha val="100000"/>
                      </a:srgbClr>
                    </a:gs>
                    <a:gs pos="100000">
                      <a:srgbClr val="FFFFFF">
                        <a:alpha val="100000"/>
                      </a:srgbClr>
                    </a:gs>
                  </a:gsLst>
                  <a:lin ang="2700000"/>
                </a:gradFill>
                <a:latin typeface="Open Sauce Bold"/>
                <a:ea typeface="Open Sauce Bold"/>
                <a:cs typeface="Open Sauce Bold"/>
                <a:sym typeface="Open Sauce Bold"/>
              </a:rPr>
              <a:t> clear expectations for 2030</a:t>
            </a:r>
          </a:p>
        </p:txBody>
      </p:sp>
      <p:sp>
        <p:nvSpPr>
          <p:cNvPr name="TextBox 12" id="12"/>
          <p:cNvSpPr txBox="true"/>
          <p:nvPr/>
        </p:nvSpPr>
        <p:spPr>
          <a:xfrm rot="0">
            <a:off x="13355674" y="3523804"/>
            <a:ext cx="3903626" cy="1313815"/>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sp>
        <p:nvSpPr>
          <p:cNvPr name="TextBox 13" id="13"/>
          <p:cNvSpPr txBox="true"/>
          <p:nvPr/>
        </p:nvSpPr>
        <p:spPr>
          <a:xfrm rot="0">
            <a:off x="8916471" y="5968015"/>
            <a:ext cx="3903626" cy="789305"/>
          </a:xfrm>
          <a:prstGeom prst="rect">
            <a:avLst/>
          </a:prstGeom>
        </p:spPr>
        <p:txBody>
          <a:bodyPr anchor="t" rtlCol="false" tIns="0" lIns="0" bIns="0" rIns="0">
            <a:spAutoFit/>
          </a:bodyPr>
          <a:lstStyle/>
          <a:p>
            <a:pPr algn="l">
              <a:lnSpc>
                <a:spcPts val="3219"/>
              </a:lnSpc>
              <a:spcBef>
                <a:spcPct val="0"/>
              </a:spcBef>
            </a:pPr>
            <a:r>
              <a:rPr lang="en-US" b="true" sz="2299">
                <a:gradFill>
                  <a:gsLst>
                    <a:gs pos="0">
                      <a:srgbClr val="478CF6">
                        <a:alpha val="100000"/>
                      </a:srgbClr>
                    </a:gs>
                    <a:gs pos="100000">
                      <a:srgbClr val="FFFFFF">
                        <a:alpha val="100000"/>
                      </a:srgbClr>
                    </a:gs>
                  </a:gsLst>
                  <a:lin ang="2700000"/>
                </a:gradFill>
                <a:latin typeface="Open Sauce Bold"/>
                <a:ea typeface="Open Sauce Bold"/>
                <a:cs typeface="Open Sauce Bold"/>
                <a:sym typeface="Open Sauce Bold"/>
              </a:rPr>
              <a:t>Focus o</a:t>
            </a:r>
            <a:r>
              <a:rPr lang="en-US" b="true" sz="2299">
                <a:gradFill>
                  <a:gsLst>
                    <a:gs pos="0">
                      <a:srgbClr val="478CF6">
                        <a:alpha val="100000"/>
                      </a:srgbClr>
                    </a:gs>
                    <a:gs pos="100000">
                      <a:srgbClr val="FFFFFF">
                        <a:alpha val="100000"/>
                      </a:srgbClr>
                    </a:gs>
                  </a:gsLst>
                  <a:lin ang="2700000"/>
                </a:gradFill>
                <a:latin typeface="Open Sauce Bold"/>
                <a:ea typeface="Open Sauce Bold"/>
                <a:cs typeface="Open Sauce Bold"/>
                <a:sym typeface="Open Sauce Bold"/>
              </a:rPr>
              <a:t>n the opportunities </a:t>
            </a:r>
          </a:p>
        </p:txBody>
      </p:sp>
      <p:sp>
        <p:nvSpPr>
          <p:cNvPr name="TextBox 14" id="14"/>
          <p:cNvSpPr txBox="true"/>
          <p:nvPr/>
        </p:nvSpPr>
        <p:spPr>
          <a:xfrm rot="0">
            <a:off x="8916471" y="6870811"/>
            <a:ext cx="3903626" cy="1313815"/>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sp>
        <p:nvSpPr>
          <p:cNvPr name="TextBox 15" id="15"/>
          <p:cNvSpPr txBox="true"/>
          <p:nvPr/>
        </p:nvSpPr>
        <p:spPr>
          <a:xfrm rot="0">
            <a:off x="13355674" y="5968015"/>
            <a:ext cx="3903626" cy="789305"/>
          </a:xfrm>
          <a:prstGeom prst="rect">
            <a:avLst/>
          </a:prstGeom>
        </p:spPr>
        <p:txBody>
          <a:bodyPr anchor="t" rtlCol="false" tIns="0" lIns="0" bIns="0" rIns="0">
            <a:spAutoFit/>
          </a:bodyPr>
          <a:lstStyle/>
          <a:p>
            <a:pPr algn="l">
              <a:lnSpc>
                <a:spcPts val="3219"/>
              </a:lnSpc>
              <a:spcBef>
                <a:spcPct val="0"/>
              </a:spcBef>
            </a:pPr>
            <a:r>
              <a:rPr lang="en-US" b="true" sz="2299">
                <a:gradFill>
                  <a:gsLst>
                    <a:gs pos="0">
                      <a:srgbClr val="478CF6">
                        <a:alpha val="100000"/>
                      </a:srgbClr>
                    </a:gs>
                    <a:gs pos="100000">
                      <a:srgbClr val="FFFFFF">
                        <a:alpha val="100000"/>
                      </a:srgbClr>
                    </a:gs>
                  </a:gsLst>
                  <a:lin ang="2700000"/>
                </a:gradFill>
                <a:latin typeface="Open Sauce Bold"/>
                <a:ea typeface="Open Sauce Bold"/>
                <a:cs typeface="Open Sauce Bold"/>
                <a:sym typeface="Open Sauce Bold"/>
              </a:rPr>
              <a:t>Aims to reduce risks and costs </a:t>
            </a:r>
          </a:p>
        </p:txBody>
      </p:sp>
      <p:sp>
        <p:nvSpPr>
          <p:cNvPr name="TextBox 16" id="16"/>
          <p:cNvSpPr txBox="true"/>
          <p:nvPr/>
        </p:nvSpPr>
        <p:spPr>
          <a:xfrm rot="0">
            <a:off x="13355674" y="6870811"/>
            <a:ext cx="3903626" cy="1313815"/>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grpSp>
        <p:nvGrpSpPr>
          <p:cNvPr name="Group 17" id="17"/>
          <p:cNvGrpSpPr/>
          <p:nvPr/>
        </p:nvGrpSpPr>
        <p:grpSpPr>
          <a:xfrm rot="0">
            <a:off x="13355674" y="2102374"/>
            <a:ext cx="314225" cy="314225"/>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87F1"/>
            </a:solidFill>
          </p:spPr>
        </p:sp>
        <p:sp>
          <p:nvSpPr>
            <p:cNvPr name="TextBox 19" id="19"/>
            <p:cNvSpPr txBox="true"/>
            <p:nvPr/>
          </p:nvSpPr>
          <p:spPr>
            <a:xfrm>
              <a:off x="76200" y="57150"/>
              <a:ext cx="660400" cy="679450"/>
            </a:xfrm>
            <a:prstGeom prst="rect">
              <a:avLst/>
            </a:prstGeom>
          </p:spPr>
          <p:txBody>
            <a:bodyPr anchor="ctr" rtlCol="false" tIns="0" lIns="0" bIns="0" rIns="0"/>
            <a:lstStyle/>
            <a:p>
              <a:pPr algn="ctr">
                <a:lnSpc>
                  <a:spcPts val="1820"/>
                </a:lnSpc>
              </a:pPr>
              <a:r>
                <a:rPr lang="en-US" b="true" sz="1300">
                  <a:solidFill>
                    <a:srgbClr val="FFFFFF"/>
                  </a:solidFill>
                  <a:latin typeface="Open Sauce Bold"/>
                  <a:ea typeface="Open Sauce Bold"/>
                  <a:cs typeface="Open Sauce Bold"/>
                  <a:sym typeface="Open Sauce Bold"/>
                </a:rPr>
                <a:t>2</a:t>
              </a:r>
            </a:p>
          </p:txBody>
        </p:sp>
      </p:grpSp>
      <p:grpSp>
        <p:nvGrpSpPr>
          <p:cNvPr name="Group 20" id="20"/>
          <p:cNvGrpSpPr/>
          <p:nvPr/>
        </p:nvGrpSpPr>
        <p:grpSpPr>
          <a:xfrm rot="0">
            <a:off x="8916471" y="5558540"/>
            <a:ext cx="314225" cy="314225"/>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87F1"/>
            </a:solidFill>
          </p:spPr>
        </p:sp>
        <p:sp>
          <p:nvSpPr>
            <p:cNvPr name="TextBox 22" id="22"/>
            <p:cNvSpPr txBox="true"/>
            <p:nvPr/>
          </p:nvSpPr>
          <p:spPr>
            <a:xfrm>
              <a:off x="76200" y="57150"/>
              <a:ext cx="660400" cy="679450"/>
            </a:xfrm>
            <a:prstGeom prst="rect">
              <a:avLst/>
            </a:prstGeom>
          </p:spPr>
          <p:txBody>
            <a:bodyPr anchor="ctr" rtlCol="false" tIns="0" lIns="0" bIns="0" rIns="0"/>
            <a:lstStyle/>
            <a:p>
              <a:pPr algn="ctr">
                <a:lnSpc>
                  <a:spcPts val="1820"/>
                </a:lnSpc>
              </a:pPr>
              <a:r>
                <a:rPr lang="en-US" b="true" sz="1300">
                  <a:solidFill>
                    <a:srgbClr val="FFFFFF"/>
                  </a:solidFill>
                  <a:latin typeface="Open Sauce Bold"/>
                  <a:ea typeface="Open Sauce Bold"/>
                  <a:cs typeface="Open Sauce Bold"/>
                  <a:sym typeface="Open Sauce Bold"/>
                </a:rPr>
                <a:t>3</a:t>
              </a:r>
            </a:p>
          </p:txBody>
        </p:sp>
      </p:grpSp>
      <p:grpSp>
        <p:nvGrpSpPr>
          <p:cNvPr name="Group 23" id="23"/>
          <p:cNvGrpSpPr/>
          <p:nvPr/>
        </p:nvGrpSpPr>
        <p:grpSpPr>
          <a:xfrm rot="0">
            <a:off x="13355674" y="5558540"/>
            <a:ext cx="314225" cy="314225"/>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187F1"/>
            </a:solidFill>
          </p:spPr>
        </p:sp>
        <p:sp>
          <p:nvSpPr>
            <p:cNvPr name="TextBox 25" id="25"/>
            <p:cNvSpPr txBox="true"/>
            <p:nvPr/>
          </p:nvSpPr>
          <p:spPr>
            <a:xfrm>
              <a:off x="76200" y="57150"/>
              <a:ext cx="660400" cy="679450"/>
            </a:xfrm>
            <a:prstGeom prst="rect">
              <a:avLst/>
            </a:prstGeom>
          </p:spPr>
          <p:txBody>
            <a:bodyPr anchor="ctr" rtlCol="false" tIns="0" lIns="0" bIns="0" rIns="0"/>
            <a:lstStyle/>
            <a:p>
              <a:pPr algn="ctr">
                <a:lnSpc>
                  <a:spcPts val="1820"/>
                </a:lnSpc>
              </a:pPr>
              <a:r>
                <a:rPr lang="en-US" b="true" sz="1300">
                  <a:solidFill>
                    <a:srgbClr val="FFFFFF"/>
                  </a:solidFill>
                  <a:latin typeface="Open Sauce Bold"/>
                  <a:ea typeface="Open Sauce Bold"/>
                  <a:cs typeface="Open Sauce Bold"/>
                  <a:sym typeface="Open Sauce Bold"/>
                </a:rPr>
                <a:t>4</a:t>
              </a:r>
            </a:p>
          </p:txBody>
        </p:sp>
      </p:grpSp>
      <p:sp>
        <p:nvSpPr>
          <p:cNvPr name="TextBox 26" id="26"/>
          <p:cNvSpPr txBox="true"/>
          <p:nvPr/>
        </p:nvSpPr>
        <p:spPr>
          <a:xfrm rot="0">
            <a:off x="12175420" y="9286875"/>
            <a:ext cx="5083880" cy="269240"/>
          </a:xfrm>
          <a:prstGeom prst="rect">
            <a:avLst/>
          </a:prstGeom>
        </p:spPr>
        <p:txBody>
          <a:bodyPr anchor="t" rtlCol="false" tIns="0" lIns="0" bIns="0" rIns="0">
            <a:spAutoFit/>
          </a:bodyPr>
          <a:lstStyle/>
          <a:p>
            <a:pPr algn="r">
              <a:lnSpc>
                <a:spcPts val="2080"/>
              </a:lnSpc>
            </a:pPr>
            <a:r>
              <a:rPr lang="en-US" sz="2000" spc="-64">
                <a:solidFill>
                  <a:srgbClr val="FFFFFF"/>
                </a:solidFill>
                <a:latin typeface="Bricolage Grotesque"/>
                <a:ea typeface="Bricolage Grotesque"/>
                <a:cs typeface="Bricolage Grotesque"/>
                <a:sym typeface="Bricolage Grotesque"/>
              </a:rPr>
              <a:t>01</a:t>
            </a:r>
          </a:p>
        </p:txBody>
      </p:sp>
      <p:sp>
        <p:nvSpPr>
          <p:cNvPr name="Freeform 27" id="27"/>
          <p:cNvSpPr/>
          <p:nvPr/>
        </p:nvSpPr>
        <p:spPr>
          <a:xfrm flipH="false" flipV="false" rot="0">
            <a:off x="1028700" y="1018652"/>
            <a:ext cx="233616" cy="192664"/>
          </a:xfrm>
          <a:custGeom>
            <a:avLst/>
            <a:gdLst/>
            <a:ahLst/>
            <a:cxnLst/>
            <a:rect r="r" b="b" t="t" l="l"/>
            <a:pathLst>
              <a:path h="192664" w="233616">
                <a:moveTo>
                  <a:pt x="0" y="0"/>
                </a:moveTo>
                <a:lnTo>
                  <a:pt x="233616" y="0"/>
                </a:lnTo>
                <a:lnTo>
                  <a:pt x="233616" y="192664"/>
                </a:lnTo>
                <a:lnTo>
                  <a:pt x="0" y="1926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8" id="28"/>
          <p:cNvSpPr txBox="true"/>
          <p:nvPr/>
        </p:nvSpPr>
        <p:spPr>
          <a:xfrm rot="0">
            <a:off x="1385760" y="1020419"/>
            <a:ext cx="1629879" cy="217704"/>
          </a:xfrm>
          <a:prstGeom prst="rect">
            <a:avLst/>
          </a:prstGeom>
        </p:spPr>
        <p:txBody>
          <a:bodyPr anchor="t" rtlCol="false" tIns="0" lIns="0" bIns="0" rIns="0">
            <a:spAutoFit/>
          </a:bodyPr>
          <a:lstStyle/>
          <a:p>
            <a:pPr algn="l">
              <a:lnSpc>
                <a:spcPts val="1687"/>
              </a:lnSpc>
            </a:pPr>
            <a:r>
              <a:rPr lang="en-US" sz="1622" spc="-51">
                <a:solidFill>
                  <a:srgbClr val="FFFFFF"/>
                </a:solidFill>
                <a:latin typeface="Bricolage Grotesque"/>
                <a:ea typeface="Bricolage Grotesque"/>
                <a:cs typeface="Bricolage Grotesque"/>
                <a:sym typeface="Bricolage Grotesque"/>
              </a:rPr>
              <a:t>Logo Here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529296" y="-1982450"/>
            <a:ext cx="20019133" cy="14181606"/>
          </a:xfrm>
          <a:custGeom>
            <a:avLst/>
            <a:gdLst/>
            <a:ahLst/>
            <a:cxnLst/>
            <a:rect r="r" b="b" t="t" l="l"/>
            <a:pathLst>
              <a:path h="14181606" w="20019133">
                <a:moveTo>
                  <a:pt x="0" y="0"/>
                </a:moveTo>
                <a:lnTo>
                  <a:pt x="20019133" y="0"/>
                </a:lnTo>
                <a:lnTo>
                  <a:pt x="20019133" y="14181606"/>
                </a:lnTo>
                <a:lnTo>
                  <a:pt x="0" y="14181606"/>
                </a:lnTo>
                <a:lnTo>
                  <a:pt x="0" y="0"/>
                </a:lnTo>
                <a:close/>
              </a:path>
            </a:pathLst>
          </a:custGeom>
          <a:blipFill>
            <a:blip r:embed="rId2">
              <a:alphaModFix amt="84000"/>
            </a:blip>
            <a:stretch>
              <a:fillRect l="-3163" t="0" r="-3163" b="0"/>
            </a:stretch>
          </a:blipFill>
        </p:spPr>
      </p:sp>
      <p:grpSp>
        <p:nvGrpSpPr>
          <p:cNvPr name="Group 3" id="3"/>
          <p:cNvGrpSpPr/>
          <p:nvPr/>
        </p:nvGrpSpPr>
        <p:grpSpPr>
          <a:xfrm rot="0">
            <a:off x="10342988" y="2022253"/>
            <a:ext cx="6982987" cy="2009558"/>
            <a:chOff x="0" y="0"/>
            <a:chExt cx="1839141" cy="529266"/>
          </a:xfrm>
        </p:grpSpPr>
        <p:sp>
          <p:nvSpPr>
            <p:cNvPr name="Freeform 4" id="4"/>
            <p:cNvSpPr/>
            <p:nvPr/>
          </p:nvSpPr>
          <p:spPr>
            <a:xfrm flipH="false" flipV="false" rot="0">
              <a:off x="0" y="0"/>
              <a:ext cx="1839141" cy="529266"/>
            </a:xfrm>
            <a:custGeom>
              <a:avLst/>
              <a:gdLst/>
              <a:ahLst/>
              <a:cxnLst/>
              <a:rect r="r" b="b" t="t" l="l"/>
              <a:pathLst>
                <a:path h="529266" w="1839141">
                  <a:moveTo>
                    <a:pt x="1839141" y="21065"/>
                  </a:moveTo>
                  <a:lnTo>
                    <a:pt x="1839141" y="508201"/>
                  </a:lnTo>
                  <a:cubicBezTo>
                    <a:pt x="1839141" y="519835"/>
                    <a:pt x="1829709" y="529266"/>
                    <a:pt x="1818076" y="529266"/>
                  </a:cubicBezTo>
                  <a:lnTo>
                    <a:pt x="21065" y="529266"/>
                  </a:lnTo>
                  <a:cubicBezTo>
                    <a:pt x="9431" y="529266"/>
                    <a:pt x="0" y="519835"/>
                    <a:pt x="0" y="508201"/>
                  </a:cubicBezTo>
                  <a:lnTo>
                    <a:pt x="0" y="21065"/>
                  </a:lnTo>
                  <a:cubicBezTo>
                    <a:pt x="0" y="9431"/>
                    <a:pt x="9431" y="0"/>
                    <a:pt x="21065" y="0"/>
                  </a:cubicBezTo>
                  <a:lnTo>
                    <a:pt x="1818076" y="0"/>
                  </a:lnTo>
                  <a:cubicBezTo>
                    <a:pt x="1829709" y="0"/>
                    <a:pt x="1839141" y="9431"/>
                    <a:pt x="1839141" y="21065"/>
                  </a:cubicBezTo>
                  <a:close/>
                </a:path>
              </a:pathLst>
            </a:custGeom>
            <a:ln w="28575" cap="sq">
              <a:gradFill>
                <a:gsLst>
                  <a:gs pos="0">
                    <a:srgbClr val="478CF6">
                      <a:alpha val="100000"/>
                    </a:srgbClr>
                  </a:gs>
                  <a:gs pos="100000">
                    <a:srgbClr val="FFFFFF">
                      <a:alpha val="100000"/>
                    </a:srgbClr>
                  </a:gs>
                </a:gsLst>
                <a:lin ang="2700000"/>
              </a:gradFill>
              <a:prstDash val="solid"/>
              <a:miter/>
            </a:ln>
          </p:spPr>
        </p:sp>
        <p:sp>
          <p:nvSpPr>
            <p:cNvPr name="TextBox 5" id="5"/>
            <p:cNvSpPr txBox="true"/>
            <p:nvPr/>
          </p:nvSpPr>
          <p:spPr>
            <a:xfrm>
              <a:off x="0" y="-47625"/>
              <a:ext cx="1839141" cy="576891"/>
            </a:xfrm>
            <a:prstGeom prst="rect">
              <a:avLst/>
            </a:prstGeom>
          </p:spPr>
          <p:txBody>
            <a:bodyPr anchor="ctr" rtlCol="false" tIns="50800" lIns="50800" bIns="50800" rIns="50800"/>
            <a:lstStyle/>
            <a:p>
              <a:pPr algn="ctr">
                <a:lnSpc>
                  <a:spcPts val="3219"/>
                </a:lnSpc>
              </a:pPr>
            </a:p>
          </p:txBody>
        </p:sp>
      </p:grpSp>
      <p:grpSp>
        <p:nvGrpSpPr>
          <p:cNvPr name="Group 6" id="6"/>
          <p:cNvGrpSpPr/>
          <p:nvPr/>
        </p:nvGrpSpPr>
        <p:grpSpPr>
          <a:xfrm rot="0">
            <a:off x="10342988" y="4383486"/>
            <a:ext cx="6982987" cy="2009558"/>
            <a:chOff x="0" y="0"/>
            <a:chExt cx="1839141" cy="529266"/>
          </a:xfrm>
        </p:grpSpPr>
        <p:sp>
          <p:nvSpPr>
            <p:cNvPr name="Freeform 7" id="7"/>
            <p:cNvSpPr/>
            <p:nvPr/>
          </p:nvSpPr>
          <p:spPr>
            <a:xfrm flipH="false" flipV="false" rot="0">
              <a:off x="0" y="0"/>
              <a:ext cx="1839141" cy="529266"/>
            </a:xfrm>
            <a:custGeom>
              <a:avLst/>
              <a:gdLst/>
              <a:ahLst/>
              <a:cxnLst/>
              <a:rect r="r" b="b" t="t" l="l"/>
              <a:pathLst>
                <a:path h="529266" w="1839141">
                  <a:moveTo>
                    <a:pt x="1839141" y="21065"/>
                  </a:moveTo>
                  <a:lnTo>
                    <a:pt x="1839141" y="508201"/>
                  </a:lnTo>
                  <a:cubicBezTo>
                    <a:pt x="1839141" y="519835"/>
                    <a:pt x="1829709" y="529266"/>
                    <a:pt x="1818076" y="529266"/>
                  </a:cubicBezTo>
                  <a:lnTo>
                    <a:pt x="21065" y="529266"/>
                  </a:lnTo>
                  <a:cubicBezTo>
                    <a:pt x="9431" y="529266"/>
                    <a:pt x="0" y="519835"/>
                    <a:pt x="0" y="508201"/>
                  </a:cubicBezTo>
                  <a:lnTo>
                    <a:pt x="0" y="21065"/>
                  </a:lnTo>
                  <a:cubicBezTo>
                    <a:pt x="0" y="9431"/>
                    <a:pt x="9431" y="0"/>
                    <a:pt x="21065" y="0"/>
                  </a:cubicBezTo>
                  <a:lnTo>
                    <a:pt x="1818076" y="0"/>
                  </a:lnTo>
                  <a:cubicBezTo>
                    <a:pt x="1829709" y="0"/>
                    <a:pt x="1839141" y="9431"/>
                    <a:pt x="1839141" y="21065"/>
                  </a:cubicBezTo>
                  <a:close/>
                </a:path>
              </a:pathLst>
            </a:custGeom>
            <a:ln w="28575" cap="sq">
              <a:gradFill>
                <a:gsLst>
                  <a:gs pos="0">
                    <a:srgbClr val="478CF6">
                      <a:alpha val="100000"/>
                    </a:srgbClr>
                  </a:gs>
                  <a:gs pos="100000">
                    <a:srgbClr val="FFFFFF">
                      <a:alpha val="100000"/>
                    </a:srgbClr>
                  </a:gs>
                </a:gsLst>
                <a:lin ang="2700000"/>
              </a:gradFill>
              <a:prstDash val="solid"/>
              <a:miter/>
            </a:ln>
          </p:spPr>
        </p:sp>
        <p:sp>
          <p:nvSpPr>
            <p:cNvPr name="TextBox 8" id="8"/>
            <p:cNvSpPr txBox="true"/>
            <p:nvPr/>
          </p:nvSpPr>
          <p:spPr>
            <a:xfrm>
              <a:off x="0" y="-47625"/>
              <a:ext cx="1839141" cy="576891"/>
            </a:xfrm>
            <a:prstGeom prst="rect">
              <a:avLst/>
            </a:prstGeom>
          </p:spPr>
          <p:txBody>
            <a:bodyPr anchor="ctr" rtlCol="false" tIns="50800" lIns="50800" bIns="50800" rIns="50800"/>
            <a:lstStyle/>
            <a:p>
              <a:pPr algn="ctr">
                <a:lnSpc>
                  <a:spcPts val="3219"/>
                </a:lnSpc>
              </a:pPr>
            </a:p>
          </p:txBody>
        </p:sp>
      </p:grpSp>
      <p:grpSp>
        <p:nvGrpSpPr>
          <p:cNvPr name="Group 9" id="9"/>
          <p:cNvGrpSpPr/>
          <p:nvPr/>
        </p:nvGrpSpPr>
        <p:grpSpPr>
          <a:xfrm rot="0">
            <a:off x="10342988" y="6744719"/>
            <a:ext cx="6982987" cy="2009558"/>
            <a:chOff x="0" y="0"/>
            <a:chExt cx="1839141" cy="529266"/>
          </a:xfrm>
        </p:grpSpPr>
        <p:sp>
          <p:nvSpPr>
            <p:cNvPr name="Freeform 10" id="10"/>
            <p:cNvSpPr/>
            <p:nvPr/>
          </p:nvSpPr>
          <p:spPr>
            <a:xfrm flipH="false" flipV="false" rot="0">
              <a:off x="0" y="0"/>
              <a:ext cx="1839141" cy="529266"/>
            </a:xfrm>
            <a:custGeom>
              <a:avLst/>
              <a:gdLst/>
              <a:ahLst/>
              <a:cxnLst/>
              <a:rect r="r" b="b" t="t" l="l"/>
              <a:pathLst>
                <a:path h="529266" w="1839141">
                  <a:moveTo>
                    <a:pt x="1839141" y="21065"/>
                  </a:moveTo>
                  <a:lnTo>
                    <a:pt x="1839141" y="508201"/>
                  </a:lnTo>
                  <a:cubicBezTo>
                    <a:pt x="1839141" y="519835"/>
                    <a:pt x="1829709" y="529266"/>
                    <a:pt x="1818076" y="529266"/>
                  </a:cubicBezTo>
                  <a:lnTo>
                    <a:pt x="21065" y="529266"/>
                  </a:lnTo>
                  <a:cubicBezTo>
                    <a:pt x="9431" y="529266"/>
                    <a:pt x="0" y="519835"/>
                    <a:pt x="0" y="508201"/>
                  </a:cubicBezTo>
                  <a:lnTo>
                    <a:pt x="0" y="21065"/>
                  </a:lnTo>
                  <a:cubicBezTo>
                    <a:pt x="0" y="9431"/>
                    <a:pt x="9431" y="0"/>
                    <a:pt x="21065" y="0"/>
                  </a:cubicBezTo>
                  <a:lnTo>
                    <a:pt x="1818076" y="0"/>
                  </a:lnTo>
                  <a:cubicBezTo>
                    <a:pt x="1829709" y="0"/>
                    <a:pt x="1839141" y="9431"/>
                    <a:pt x="1839141" y="21065"/>
                  </a:cubicBezTo>
                  <a:close/>
                </a:path>
              </a:pathLst>
            </a:custGeom>
            <a:ln w="28575" cap="sq">
              <a:gradFill>
                <a:gsLst>
                  <a:gs pos="0">
                    <a:srgbClr val="478CF6">
                      <a:alpha val="100000"/>
                    </a:srgbClr>
                  </a:gs>
                  <a:gs pos="100000">
                    <a:srgbClr val="FFFFFF">
                      <a:alpha val="100000"/>
                    </a:srgbClr>
                  </a:gs>
                </a:gsLst>
                <a:lin ang="2700000"/>
              </a:gradFill>
              <a:prstDash val="solid"/>
              <a:miter/>
            </a:ln>
          </p:spPr>
        </p:sp>
        <p:sp>
          <p:nvSpPr>
            <p:cNvPr name="TextBox 11" id="11"/>
            <p:cNvSpPr txBox="true"/>
            <p:nvPr/>
          </p:nvSpPr>
          <p:spPr>
            <a:xfrm>
              <a:off x="0" y="-47625"/>
              <a:ext cx="1839141" cy="576891"/>
            </a:xfrm>
            <a:prstGeom prst="rect">
              <a:avLst/>
            </a:prstGeom>
          </p:spPr>
          <p:txBody>
            <a:bodyPr anchor="ctr" rtlCol="false" tIns="50800" lIns="50800" bIns="50800" rIns="50800"/>
            <a:lstStyle/>
            <a:p>
              <a:pPr algn="ctr">
                <a:lnSpc>
                  <a:spcPts val="3219"/>
                </a:lnSpc>
              </a:pPr>
            </a:p>
          </p:txBody>
        </p:sp>
      </p:grpSp>
      <p:grpSp>
        <p:nvGrpSpPr>
          <p:cNvPr name="Group 12" id="12"/>
          <p:cNvGrpSpPr/>
          <p:nvPr/>
        </p:nvGrpSpPr>
        <p:grpSpPr>
          <a:xfrm rot="0">
            <a:off x="1028700" y="6984535"/>
            <a:ext cx="6360759" cy="1688468"/>
            <a:chOff x="0" y="0"/>
            <a:chExt cx="1675262" cy="444699"/>
          </a:xfrm>
        </p:grpSpPr>
        <p:sp>
          <p:nvSpPr>
            <p:cNvPr name="Freeform 13" id="13"/>
            <p:cNvSpPr/>
            <p:nvPr/>
          </p:nvSpPr>
          <p:spPr>
            <a:xfrm flipH="false" flipV="false" rot="0">
              <a:off x="0" y="0"/>
              <a:ext cx="1675262" cy="444699"/>
            </a:xfrm>
            <a:custGeom>
              <a:avLst/>
              <a:gdLst/>
              <a:ahLst/>
              <a:cxnLst/>
              <a:rect r="r" b="b" t="t" l="l"/>
              <a:pathLst>
                <a:path h="444699" w="1675262">
                  <a:moveTo>
                    <a:pt x="1675262" y="23126"/>
                  </a:moveTo>
                  <a:lnTo>
                    <a:pt x="1675262" y="421574"/>
                  </a:lnTo>
                  <a:cubicBezTo>
                    <a:pt x="1675262" y="427707"/>
                    <a:pt x="1672825" y="433589"/>
                    <a:pt x="1668488" y="437926"/>
                  </a:cubicBezTo>
                  <a:cubicBezTo>
                    <a:pt x="1664152" y="442263"/>
                    <a:pt x="1658269" y="444699"/>
                    <a:pt x="1652136" y="444699"/>
                  </a:cubicBezTo>
                  <a:lnTo>
                    <a:pt x="23126" y="444699"/>
                  </a:lnTo>
                  <a:cubicBezTo>
                    <a:pt x="10354" y="444699"/>
                    <a:pt x="0" y="434346"/>
                    <a:pt x="0" y="421574"/>
                  </a:cubicBezTo>
                  <a:lnTo>
                    <a:pt x="0" y="23126"/>
                  </a:lnTo>
                  <a:cubicBezTo>
                    <a:pt x="0" y="10354"/>
                    <a:pt x="10354" y="0"/>
                    <a:pt x="23126" y="0"/>
                  </a:cubicBezTo>
                  <a:lnTo>
                    <a:pt x="1652136" y="0"/>
                  </a:lnTo>
                  <a:cubicBezTo>
                    <a:pt x="1664908" y="0"/>
                    <a:pt x="1675262" y="10354"/>
                    <a:pt x="1675262" y="23126"/>
                  </a:cubicBezTo>
                  <a:close/>
                </a:path>
              </a:pathLst>
            </a:custGeom>
            <a:ln w="28575" cap="sq">
              <a:gradFill>
                <a:gsLst>
                  <a:gs pos="0">
                    <a:srgbClr val="478CF6">
                      <a:alpha val="100000"/>
                    </a:srgbClr>
                  </a:gs>
                  <a:gs pos="100000">
                    <a:srgbClr val="FFFFFF">
                      <a:alpha val="100000"/>
                    </a:srgbClr>
                  </a:gs>
                </a:gsLst>
                <a:lin ang="2700000"/>
              </a:gradFill>
              <a:prstDash val="solid"/>
              <a:miter/>
            </a:ln>
          </p:spPr>
        </p:sp>
        <p:sp>
          <p:nvSpPr>
            <p:cNvPr name="TextBox 14" id="14"/>
            <p:cNvSpPr txBox="true"/>
            <p:nvPr/>
          </p:nvSpPr>
          <p:spPr>
            <a:xfrm>
              <a:off x="0" y="-47625"/>
              <a:ext cx="1675262" cy="492324"/>
            </a:xfrm>
            <a:prstGeom prst="rect">
              <a:avLst/>
            </a:prstGeom>
          </p:spPr>
          <p:txBody>
            <a:bodyPr anchor="ctr" rtlCol="false" tIns="50800" lIns="50800" bIns="50800" rIns="50800"/>
            <a:lstStyle/>
            <a:p>
              <a:pPr algn="ctr">
                <a:lnSpc>
                  <a:spcPts val="3219"/>
                </a:lnSpc>
              </a:pPr>
            </a:p>
          </p:txBody>
        </p:sp>
      </p:grpSp>
      <p:sp>
        <p:nvSpPr>
          <p:cNvPr name="TextBox 15" id="15"/>
          <p:cNvSpPr txBox="true"/>
          <p:nvPr/>
        </p:nvSpPr>
        <p:spPr>
          <a:xfrm rot="0">
            <a:off x="1028700" y="2327053"/>
            <a:ext cx="8115300" cy="1966759"/>
          </a:xfrm>
          <a:prstGeom prst="rect">
            <a:avLst/>
          </a:prstGeom>
        </p:spPr>
        <p:txBody>
          <a:bodyPr anchor="t" rtlCol="false" tIns="0" lIns="0" bIns="0" rIns="0">
            <a:spAutoFit/>
          </a:bodyPr>
          <a:lstStyle/>
          <a:p>
            <a:pPr algn="l" marL="0" indent="0" lvl="0">
              <a:lnSpc>
                <a:spcPts val="7334"/>
              </a:lnSpc>
              <a:spcBef>
                <a:spcPct val="0"/>
              </a:spcBef>
            </a:pPr>
            <a:r>
              <a:rPr lang="en-US" sz="8836" spc="-282">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What w</a:t>
            </a:r>
            <a:r>
              <a:rPr lang="en-US" sz="8836" spc="-282" strike="noStrike" u="none">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e </a:t>
            </a:r>
            <a:r>
              <a:rPr lang="en-US" sz="8836" spc="-282" strike="noStrike" u="none">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expect</a:t>
            </a:r>
            <a:r>
              <a:rPr lang="en-US" sz="8836" spc="-282" strike="noStrike" u="none">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 this </a:t>
            </a:r>
            <a:r>
              <a:rPr lang="en-US" sz="8836" spc="-282" strike="noStrike" u="none">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y</a:t>
            </a:r>
            <a:r>
              <a:rPr lang="en-US" sz="8836" spc="-282" strike="noStrike" u="none">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ea</a:t>
            </a:r>
            <a:r>
              <a:rPr lang="en-US" sz="8836" spc="-282" strike="noStrike" u="none">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r</a:t>
            </a:r>
          </a:p>
        </p:txBody>
      </p:sp>
      <p:sp>
        <p:nvSpPr>
          <p:cNvPr name="TextBox 16" id="16"/>
          <p:cNvSpPr txBox="true"/>
          <p:nvPr/>
        </p:nvSpPr>
        <p:spPr>
          <a:xfrm rot="0">
            <a:off x="12175420" y="9286875"/>
            <a:ext cx="5083880" cy="269240"/>
          </a:xfrm>
          <a:prstGeom prst="rect">
            <a:avLst/>
          </a:prstGeom>
        </p:spPr>
        <p:txBody>
          <a:bodyPr anchor="t" rtlCol="false" tIns="0" lIns="0" bIns="0" rIns="0">
            <a:spAutoFit/>
          </a:bodyPr>
          <a:lstStyle/>
          <a:p>
            <a:pPr algn="r">
              <a:lnSpc>
                <a:spcPts val="2080"/>
              </a:lnSpc>
            </a:pPr>
            <a:r>
              <a:rPr lang="en-US" sz="2000" spc="-64">
                <a:solidFill>
                  <a:srgbClr val="FFFFFF"/>
                </a:solidFill>
                <a:latin typeface="Bricolage Grotesque"/>
                <a:ea typeface="Bricolage Grotesque"/>
                <a:cs typeface="Bricolage Grotesque"/>
                <a:sym typeface="Bricolage Grotesque"/>
              </a:rPr>
              <a:t>02</a:t>
            </a:r>
          </a:p>
        </p:txBody>
      </p:sp>
      <p:sp>
        <p:nvSpPr>
          <p:cNvPr name="TextBox 17" id="17"/>
          <p:cNvSpPr txBox="true"/>
          <p:nvPr/>
        </p:nvSpPr>
        <p:spPr>
          <a:xfrm rot="0">
            <a:off x="1028700" y="4839113"/>
            <a:ext cx="7484767" cy="481330"/>
          </a:xfrm>
          <a:prstGeom prst="rect">
            <a:avLst/>
          </a:prstGeom>
        </p:spPr>
        <p:txBody>
          <a:bodyPr anchor="t" rtlCol="false" tIns="0" lIns="0" bIns="0" rIns="0">
            <a:spAutoFit/>
          </a:bodyPr>
          <a:lstStyle/>
          <a:p>
            <a:pPr algn="l">
              <a:lnSpc>
                <a:spcPts val="3919"/>
              </a:lnSpc>
              <a:spcBef>
                <a:spcPct val="0"/>
              </a:spcBef>
            </a:pPr>
            <a:r>
              <a:rPr lang="en-US" sz="2799">
                <a:solidFill>
                  <a:srgbClr val="478CF6"/>
                </a:solidFill>
                <a:latin typeface="Bricolage Grotesque"/>
                <a:ea typeface="Bricolage Grotesque"/>
                <a:cs typeface="Bricolage Grotesque"/>
                <a:sym typeface="Bricolage Grotesque"/>
              </a:rPr>
              <a:t>A</a:t>
            </a:r>
            <a:r>
              <a:rPr lang="en-US" sz="2799">
                <a:solidFill>
                  <a:srgbClr val="478CF6"/>
                </a:solidFill>
                <a:latin typeface="Bricolage Grotesque"/>
                <a:ea typeface="Bricolage Grotesque"/>
                <a:cs typeface="Bricolage Grotesque"/>
                <a:sym typeface="Bricolage Grotesque"/>
              </a:rPr>
              <a:t>lign sales efforts with business goals</a:t>
            </a:r>
          </a:p>
        </p:txBody>
      </p:sp>
      <p:sp>
        <p:nvSpPr>
          <p:cNvPr name="TextBox 18" id="18"/>
          <p:cNvSpPr txBox="true"/>
          <p:nvPr/>
        </p:nvSpPr>
        <p:spPr>
          <a:xfrm rot="0">
            <a:off x="1028700" y="5533168"/>
            <a:ext cx="6360759" cy="980440"/>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sp>
        <p:nvSpPr>
          <p:cNvPr name="TextBox 19" id="19"/>
          <p:cNvSpPr txBox="true"/>
          <p:nvPr/>
        </p:nvSpPr>
        <p:spPr>
          <a:xfrm rot="0">
            <a:off x="10638784" y="2335280"/>
            <a:ext cx="6360759" cy="368812"/>
          </a:xfrm>
          <a:prstGeom prst="rect">
            <a:avLst/>
          </a:prstGeom>
        </p:spPr>
        <p:txBody>
          <a:bodyPr anchor="t" rtlCol="false" tIns="0" lIns="0" bIns="0" rIns="0">
            <a:spAutoFit/>
          </a:bodyPr>
          <a:lstStyle/>
          <a:p>
            <a:pPr algn="ctr">
              <a:lnSpc>
                <a:spcPts val="2788"/>
              </a:lnSpc>
              <a:spcBef>
                <a:spcPct val="0"/>
              </a:spcBef>
            </a:pPr>
            <a:r>
              <a:rPr lang="en-US" sz="2681" spc="-85">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Moderate growth with higher competition</a:t>
            </a:r>
          </a:p>
        </p:txBody>
      </p:sp>
      <p:sp>
        <p:nvSpPr>
          <p:cNvPr name="TextBox 20" id="20"/>
          <p:cNvSpPr txBox="true"/>
          <p:nvPr/>
        </p:nvSpPr>
        <p:spPr>
          <a:xfrm rot="0">
            <a:off x="10638784" y="4669271"/>
            <a:ext cx="6360759" cy="368812"/>
          </a:xfrm>
          <a:prstGeom prst="rect">
            <a:avLst/>
          </a:prstGeom>
        </p:spPr>
        <p:txBody>
          <a:bodyPr anchor="t" rtlCol="false" tIns="0" lIns="0" bIns="0" rIns="0">
            <a:spAutoFit/>
          </a:bodyPr>
          <a:lstStyle/>
          <a:p>
            <a:pPr algn="ctr">
              <a:lnSpc>
                <a:spcPts val="2788"/>
              </a:lnSpc>
              <a:spcBef>
                <a:spcPct val="0"/>
              </a:spcBef>
            </a:pPr>
            <a:r>
              <a:rPr lang="en-US" sz="2681" spc="-85">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Longer decision cycles</a:t>
            </a:r>
          </a:p>
        </p:txBody>
      </p:sp>
      <p:sp>
        <p:nvSpPr>
          <p:cNvPr name="TextBox 21" id="21"/>
          <p:cNvSpPr txBox="true"/>
          <p:nvPr/>
        </p:nvSpPr>
        <p:spPr>
          <a:xfrm rot="0">
            <a:off x="10638784" y="7049519"/>
            <a:ext cx="6360759" cy="368812"/>
          </a:xfrm>
          <a:prstGeom prst="rect">
            <a:avLst/>
          </a:prstGeom>
        </p:spPr>
        <p:txBody>
          <a:bodyPr anchor="t" rtlCol="false" tIns="0" lIns="0" bIns="0" rIns="0">
            <a:spAutoFit/>
          </a:bodyPr>
          <a:lstStyle/>
          <a:p>
            <a:pPr algn="ctr">
              <a:lnSpc>
                <a:spcPts val="2788"/>
              </a:lnSpc>
              <a:spcBef>
                <a:spcPct val="0"/>
              </a:spcBef>
            </a:pPr>
            <a:r>
              <a:rPr lang="en-US" sz="2681" spc="-85">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Stronger focus on value, not just price</a:t>
            </a:r>
          </a:p>
        </p:txBody>
      </p:sp>
      <p:sp>
        <p:nvSpPr>
          <p:cNvPr name="TextBox 22" id="22"/>
          <p:cNvSpPr txBox="true"/>
          <p:nvPr/>
        </p:nvSpPr>
        <p:spPr>
          <a:xfrm rot="0">
            <a:off x="10638784" y="2780291"/>
            <a:ext cx="6360759" cy="980440"/>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sp>
        <p:nvSpPr>
          <p:cNvPr name="TextBox 23" id="23"/>
          <p:cNvSpPr txBox="true"/>
          <p:nvPr/>
        </p:nvSpPr>
        <p:spPr>
          <a:xfrm rot="0">
            <a:off x="10638784" y="5120799"/>
            <a:ext cx="6360759" cy="980440"/>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sp>
        <p:nvSpPr>
          <p:cNvPr name="TextBox 24" id="24"/>
          <p:cNvSpPr txBox="true"/>
          <p:nvPr/>
        </p:nvSpPr>
        <p:spPr>
          <a:xfrm rot="0">
            <a:off x="10638784" y="7523106"/>
            <a:ext cx="6360759" cy="980440"/>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sp>
        <p:nvSpPr>
          <p:cNvPr name="TextBox 25" id="25"/>
          <p:cNvSpPr txBox="true"/>
          <p:nvPr/>
        </p:nvSpPr>
        <p:spPr>
          <a:xfrm rot="0">
            <a:off x="4296124" y="7440759"/>
            <a:ext cx="2850258" cy="985418"/>
          </a:xfrm>
          <a:prstGeom prst="rect">
            <a:avLst/>
          </a:prstGeom>
        </p:spPr>
        <p:txBody>
          <a:bodyPr anchor="t" rtlCol="false" tIns="0" lIns="0" bIns="0" rIns="0">
            <a:spAutoFit/>
          </a:bodyPr>
          <a:lstStyle/>
          <a:p>
            <a:pPr algn="ctr">
              <a:lnSpc>
                <a:spcPts val="8028"/>
              </a:lnSpc>
              <a:spcBef>
                <a:spcPct val="0"/>
              </a:spcBef>
            </a:pPr>
            <a:r>
              <a:rPr lang="en-US" b="true" sz="5734">
                <a:gradFill>
                  <a:gsLst>
                    <a:gs pos="0">
                      <a:srgbClr val="478CF6">
                        <a:alpha val="100000"/>
                      </a:srgbClr>
                    </a:gs>
                    <a:gs pos="100000">
                      <a:srgbClr val="C1E1FF">
                        <a:alpha val="100000"/>
                      </a:srgbClr>
                    </a:gs>
                  </a:gsLst>
                  <a:lin ang="2700000"/>
                </a:gradFill>
                <a:latin typeface="Bricolage Grotesque Bold"/>
                <a:ea typeface="Bricolage Grotesque Bold"/>
                <a:cs typeface="Bricolage Grotesque Bold"/>
                <a:sym typeface="Bricolage Grotesque Bold"/>
              </a:rPr>
              <a:t>$20.5M</a:t>
            </a:r>
          </a:p>
        </p:txBody>
      </p:sp>
      <p:sp>
        <p:nvSpPr>
          <p:cNvPr name="TextBox 26" id="26"/>
          <p:cNvSpPr txBox="true"/>
          <p:nvPr/>
        </p:nvSpPr>
        <p:spPr>
          <a:xfrm rot="0">
            <a:off x="1221695" y="7183736"/>
            <a:ext cx="2797997" cy="365562"/>
          </a:xfrm>
          <a:prstGeom prst="rect">
            <a:avLst/>
          </a:prstGeom>
        </p:spPr>
        <p:txBody>
          <a:bodyPr anchor="t" rtlCol="false" tIns="0" lIns="0" bIns="0" rIns="0">
            <a:spAutoFit/>
          </a:bodyPr>
          <a:lstStyle/>
          <a:p>
            <a:pPr algn="ctr">
              <a:lnSpc>
                <a:spcPts val="2975"/>
              </a:lnSpc>
              <a:spcBef>
                <a:spcPct val="0"/>
              </a:spcBef>
            </a:pPr>
            <a:r>
              <a:rPr lang="en-US" sz="2125">
                <a:solidFill>
                  <a:srgbClr val="FFFFFF"/>
                </a:solidFill>
                <a:latin typeface="Bricolage Grotesque"/>
                <a:ea typeface="Bricolage Grotesque"/>
                <a:cs typeface="Bricolage Grotesque"/>
                <a:sym typeface="Bricolage Grotesque"/>
              </a:rPr>
              <a:t>New accounts</a:t>
            </a:r>
          </a:p>
        </p:txBody>
      </p:sp>
      <p:sp>
        <p:nvSpPr>
          <p:cNvPr name="TextBox 27" id="27"/>
          <p:cNvSpPr txBox="true"/>
          <p:nvPr/>
        </p:nvSpPr>
        <p:spPr>
          <a:xfrm rot="0">
            <a:off x="1221695" y="7440759"/>
            <a:ext cx="2797997" cy="985418"/>
          </a:xfrm>
          <a:prstGeom prst="rect">
            <a:avLst/>
          </a:prstGeom>
        </p:spPr>
        <p:txBody>
          <a:bodyPr anchor="t" rtlCol="false" tIns="0" lIns="0" bIns="0" rIns="0">
            <a:spAutoFit/>
          </a:bodyPr>
          <a:lstStyle/>
          <a:p>
            <a:pPr algn="ctr">
              <a:lnSpc>
                <a:spcPts val="8028"/>
              </a:lnSpc>
              <a:spcBef>
                <a:spcPct val="0"/>
              </a:spcBef>
            </a:pPr>
            <a:r>
              <a:rPr lang="en-US" b="true" sz="5734">
                <a:gradFill>
                  <a:gsLst>
                    <a:gs pos="0">
                      <a:srgbClr val="478CF6">
                        <a:alpha val="100000"/>
                      </a:srgbClr>
                    </a:gs>
                    <a:gs pos="100000">
                      <a:srgbClr val="C1E1FF">
                        <a:alpha val="100000"/>
                      </a:srgbClr>
                    </a:gs>
                  </a:gsLst>
                  <a:lin ang="2700000"/>
                </a:gradFill>
                <a:latin typeface="Bricolage Grotesque Bold"/>
                <a:ea typeface="Bricolage Grotesque Bold"/>
                <a:cs typeface="Bricolage Grotesque Bold"/>
                <a:sym typeface="Bricolage Grotesque Bold"/>
              </a:rPr>
              <a:t>+36K</a:t>
            </a:r>
          </a:p>
        </p:txBody>
      </p:sp>
      <p:sp>
        <p:nvSpPr>
          <p:cNvPr name="TextBox 28" id="28"/>
          <p:cNvSpPr txBox="true"/>
          <p:nvPr/>
        </p:nvSpPr>
        <p:spPr>
          <a:xfrm rot="0">
            <a:off x="4296124" y="7183736"/>
            <a:ext cx="2850258" cy="365562"/>
          </a:xfrm>
          <a:prstGeom prst="rect">
            <a:avLst/>
          </a:prstGeom>
        </p:spPr>
        <p:txBody>
          <a:bodyPr anchor="t" rtlCol="false" tIns="0" lIns="0" bIns="0" rIns="0">
            <a:spAutoFit/>
          </a:bodyPr>
          <a:lstStyle/>
          <a:p>
            <a:pPr algn="ctr">
              <a:lnSpc>
                <a:spcPts val="2975"/>
              </a:lnSpc>
              <a:spcBef>
                <a:spcPct val="0"/>
              </a:spcBef>
            </a:pPr>
            <a:r>
              <a:rPr lang="en-US" sz="2125">
                <a:solidFill>
                  <a:srgbClr val="FFFFFF"/>
                </a:solidFill>
                <a:latin typeface="Bricolage Grotesque"/>
                <a:ea typeface="Bricolage Grotesque"/>
                <a:cs typeface="Bricolage Grotesque"/>
                <a:sym typeface="Bricolage Grotesque"/>
              </a:rPr>
              <a:t>Annual revenue goal</a:t>
            </a:r>
          </a:p>
        </p:txBody>
      </p:sp>
      <p:sp>
        <p:nvSpPr>
          <p:cNvPr name="Freeform 29" id="29"/>
          <p:cNvSpPr/>
          <p:nvPr/>
        </p:nvSpPr>
        <p:spPr>
          <a:xfrm flipH="false" flipV="false" rot="0">
            <a:off x="1028700" y="1018652"/>
            <a:ext cx="233616" cy="192664"/>
          </a:xfrm>
          <a:custGeom>
            <a:avLst/>
            <a:gdLst/>
            <a:ahLst/>
            <a:cxnLst/>
            <a:rect r="r" b="b" t="t" l="l"/>
            <a:pathLst>
              <a:path h="192664" w="233616">
                <a:moveTo>
                  <a:pt x="0" y="0"/>
                </a:moveTo>
                <a:lnTo>
                  <a:pt x="233616" y="0"/>
                </a:lnTo>
                <a:lnTo>
                  <a:pt x="233616" y="192664"/>
                </a:lnTo>
                <a:lnTo>
                  <a:pt x="0" y="1926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0" id="30"/>
          <p:cNvSpPr txBox="true"/>
          <p:nvPr/>
        </p:nvSpPr>
        <p:spPr>
          <a:xfrm rot="0">
            <a:off x="1385760" y="1020419"/>
            <a:ext cx="1629879" cy="217704"/>
          </a:xfrm>
          <a:prstGeom prst="rect">
            <a:avLst/>
          </a:prstGeom>
        </p:spPr>
        <p:txBody>
          <a:bodyPr anchor="t" rtlCol="false" tIns="0" lIns="0" bIns="0" rIns="0">
            <a:spAutoFit/>
          </a:bodyPr>
          <a:lstStyle/>
          <a:p>
            <a:pPr algn="l">
              <a:lnSpc>
                <a:spcPts val="1687"/>
              </a:lnSpc>
            </a:pPr>
            <a:r>
              <a:rPr lang="en-US" sz="1622" spc="-51">
                <a:solidFill>
                  <a:srgbClr val="FFFFFF"/>
                </a:solidFill>
                <a:latin typeface="Bricolage Grotesque"/>
                <a:ea typeface="Bricolage Grotesque"/>
                <a:cs typeface="Bricolage Grotesque"/>
                <a:sym typeface="Bricolage Grotesque"/>
              </a:rPr>
              <a:t>Logo Here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52854" y="-2874276"/>
            <a:ext cx="20019133" cy="14181606"/>
          </a:xfrm>
          <a:custGeom>
            <a:avLst/>
            <a:gdLst/>
            <a:ahLst/>
            <a:cxnLst/>
            <a:rect r="r" b="b" t="t" l="l"/>
            <a:pathLst>
              <a:path h="14181606" w="20019133">
                <a:moveTo>
                  <a:pt x="0" y="0"/>
                </a:moveTo>
                <a:lnTo>
                  <a:pt x="20019134" y="0"/>
                </a:lnTo>
                <a:lnTo>
                  <a:pt x="20019134" y="14181606"/>
                </a:lnTo>
                <a:lnTo>
                  <a:pt x="0" y="14181606"/>
                </a:lnTo>
                <a:lnTo>
                  <a:pt x="0" y="0"/>
                </a:lnTo>
                <a:close/>
              </a:path>
            </a:pathLst>
          </a:custGeom>
          <a:blipFill>
            <a:blip r:embed="rId2">
              <a:alphaModFix amt="84000"/>
            </a:blip>
            <a:stretch>
              <a:fillRect l="-3545" t="0" r="-2781" b="0"/>
            </a:stretch>
          </a:blipFill>
        </p:spPr>
      </p:sp>
      <p:sp>
        <p:nvSpPr>
          <p:cNvPr name="TextBox 3" id="3"/>
          <p:cNvSpPr txBox="true"/>
          <p:nvPr/>
        </p:nvSpPr>
        <p:spPr>
          <a:xfrm rot="0">
            <a:off x="1028700" y="2327053"/>
            <a:ext cx="8115300" cy="1038604"/>
          </a:xfrm>
          <a:prstGeom prst="rect">
            <a:avLst/>
          </a:prstGeom>
        </p:spPr>
        <p:txBody>
          <a:bodyPr anchor="t" rtlCol="false" tIns="0" lIns="0" bIns="0" rIns="0">
            <a:spAutoFit/>
          </a:bodyPr>
          <a:lstStyle/>
          <a:p>
            <a:pPr algn="l" marL="0" indent="0" lvl="0">
              <a:lnSpc>
                <a:spcPts val="7334"/>
              </a:lnSpc>
              <a:spcBef>
                <a:spcPct val="0"/>
              </a:spcBef>
            </a:pPr>
            <a:r>
              <a:rPr lang="en-US" sz="8836" spc="-282">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R</a:t>
            </a:r>
            <a:r>
              <a:rPr lang="en-US" sz="8836" spc="-282" strike="noStrike" u="none">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eve</a:t>
            </a:r>
            <a:r>
              <a:rPr lang="en-US" sz="8836" spc="-282" strike="noStrike" u="none">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nu</a:t>
            </a:r>
            <a:r>
              <a:rPr lang="en-US" sz="8836" spc="-282" strike="noStrike" u="none">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e Targets</a:t>
            </a:r>
          </a:p>
        </p:txBody>
      </p:sp>
      <p:sp>
        <p:nvSpPr>
          <p:cNvPr name="TextBox 4" id="4"/>
          <p:cNvSpPr txBox="true"/>
          <p:nvPr/>
        </p:nvSpPr>
        <p:spPr>
          <a:xfrm rot="0">
            <a:off x="1028700" y="3453628"/>
            <a:ext cx="7484767" cy="547371"/>
          </a:xfrm>
          <a:prstGeom prst="rect">
            <a:avLst/>
          </a:prstGeom>
        </p:spPr>
        <p:txBody>
          <a:bodyPr anchor="t" rtlCol="false" tIns="0" lIns="0" bIns="0" rIns="0">
            <a:spAutoFit/>
          </a:bodyPr>
          <a:lstStyle/>
          <a:p>
            <a:pPr algn="l">
              <a:lnSpc>
                <a:spcPts val="4479"/>
              </a:lnSpc>
              <a:spcBef>
                <a:spcPct val="0"/>
              </a:spcBef>
            </a:pPr>
            <a:r>
              <a:rPr lang="en-US" sz="3199">
                <a:solidFill>
                  <a:srgbClr val="FFFFFF"/>
                </a:solidFill>
                <a:latin typeface="Bricolage Grotesque"/>
                <a:ea typeface="Bricolage Grotesque"/>
                <a:cs typeface="Bricolage Grotesque"/>
                <a:sym typeface="Bricolage Grotesque"/>
              </a:rPr>
              <a:t>S</a:t>
            </a:r>
            <a:r>
              <a:rPr lang="en-US" sz="3199">
                <a:solidFill>
                  <a:srgbClr val="FFFFFF"/>
                </a:solidFill>
                <a:latin typeface="Bricolage Grotesque"/>
                <a:ea typeface="Bricolage Grotesque"/>
                <a:cs typeface="Bricolage Grotesque"/>
                <a:sym typeface="Bricolage Grotesque"/>
              </a:rPr>
              <a:t>ales targets overview</a:t>
            </a:r>
          </a:p>
        </p:txBody>
      </p:sp>
      <p:grpSp>
        <p:nvGrpSpPr>
          <p:cNvPr name="Group 5" id="5"/>
          <p:cNvGrpSpPr/>
          <p:nvPr/>
        </p:nvGrpSpPr>
        <p:grpSpPr>
          <a:xfrm rot="0">
            <a:off x="1028700" y="4774172"/>
            <a:ext cx="5198326" cy="4175421"/>
            <a:chOff x="0" y="0"/>
            <a:chExt cx="1369106" cy="1099699"/>
          </a:xfrm>
        </p:grpSpPr>
        <p:sp>
          <p:nvSpPr>
            <p:cNvPr name="Freeform 6" id="6"/>
            <p:cNvSpPr/>
            <p:nvPr/>
          </p:nvSpPr>
          <p:spPr>
            <a:xfrm flipH="false" flipV="false" rot="0">
              <a:off x="0" y="0"/>
              <a:ext cx="1369106" cy="1099699"/>
            </a:xfrm>
            <a:custGeom>
              <a:avLst/>
              <a:gdLst/>
              <a:ahLst/>
              <a:cxnLst/>
              <a:rect r="r" b="b" t="t" l="l"/>
              <a:pathLst>
                <a:path h="1099699" w="1369106">
                  <a:moveTo>
                    <a:pt x="1369106" y="28297"/>
                  </a:moveTo>
                  <a:lnTo>
                    <a:pt x="1369106" y="1071402"/>
                  </a:lnTo>
                  <a:cubicBezTo>
                    <a:pt x="1369106" y="1087030"/>
                    <a:pt x="1356438" y="1099699"/>
                    <a:pt x="1340810" y="1099699"/>
                  </a:cubicBezTo>
                  <a:lnTo>
                    <a:pt x="28297" y="1099699"/>
                  </a:lnTo>
                  <a:cubicBezTo>
                    <a:pt x="12669" y="1099699"/>
                    <a:pt x="0" y="1087030"/>
                    <a:pt x="0" y="1071402"/>
                  </a:cubicBezTo>
                  <a:lnTo>
                    <a:pt x="0" y="28297"/>
                  </a:lnTo>
                  <a:cubicBezTo>
                    <a:pt x="0" y="12669"/>
                    <a:pt x="12669" y="0"/>
                    <a:pt x="28297" y="0"/>
                  </a:cubicBezTo>
                  <a:lnTo>
                    <a:pt x="1340810" y="0"/>
                  </a:lnTo>
                  <a:cubicBezTo>
                    <a:pt x="1356438" y="0"/>
                    <a:pt x="1369106" y="12669"/>
                    <a:pt x="1369106" y="28297"/>
                  </a:cubicBezTo>
                  <a:close/>
                </a:path>
              </a:pathLst>
            </a:custGeom>
            <a:ln w="38100" cap="sq">
              <a:gradFill>
                <a:gsLst>
                  <a:gs pos="0">
                    <a:srgbClr val="478CF6">
                      <a:alpha val="100000"/>
                    </a:srgbClr>
                  </a:gs>
                  <a:gs pos="100000">
                    <a:srgbClr val="FFFFFF">
                      <a:alpha val="100000"/>
                    </a:srgbClr>
                  </a:gs>
                </a:gsLst>
                <a:lin ang="2700000"/>
              </a:gradFill>
              <a:prstDash val="solid"/>
              <a:miter/>
            </a:ln>
          </p:spPr>
        </p:sp>
        <p:sp>
          <p:nvSpPr>
            <p:cNvPr name="TextBox 7" id="7"/>
            <p:cNvSpPr txBox="true"/>
            <p:nvPr/>
          </p:nvSpPr>
          <p:spPr>
            <a:xfrm>
              <a:off x="0" y="-47625"/>
              <a:ext cx="1369106" cy="1147324"/>
            </a:xfrm>
            <a:prstGeom prst="rect">
              <a:avLst/>
            </a:prstGeom>
          </p:spPr>
          <p:txBody>
            <a:bodyPr anchor="ctr" rtlCol="false" tIns="50800" lIns="50800" bIns="50800" rIns="50800"/>
            <a:lstStyle/>
            <a:p>
              <a:pPr algn="ctr">
                <a:lnSpc>
                  <a:spcPts val="3219"/>
                </a:lnSpc>
              </a:pPr>
            </a:p>
          </p:txBody>
        </p:sp>
      </p:grpSp>
      <p:grpSp>
        <p:nvGrpSpPr>
          <p:cNvPr name="Group 8" id="8"/>
          <p:cNvGrpSpPr/>
          <p:nvPr/>
        </p:nvGrpSpPr>
        <p:grpSpPr>
          <a:xfrm rot="0">
            <a:off x="6545985" y="4774172"/>
            <a:ext cx="5198326" cy="4175421"/>
            <a:chOff x="0" y="0"/>
            <a:chExt cx="1369106" cy="1099699"/>
          </a:xfrm>
        </p:grpSpPr>
        <p:sp>
          <p:nvSpPr>
            <p:cNvPr name="Freeform 9" id="9"/>
            <p:cNvSpPr/>
            <p:nvPr/>
          </p:nvSpPr>
          <p:spPr>
            <a:xfrm flipH="false" flipV="false" rot="0">
              <a:off x="0" y="0"/>
              <a:ext cx="1369106" cy="1099699"/>
            </a:xfrm>
            <a:custGeom>
              <a:avLst/>
              <a:gdLst/>
              <a:ahLst/>
              <a:cxnLst/>
              <a:rect r="r" b="b" t="t" l="l"/>
              <a:pathLst>
                <a:path h="1099699" w="1369106">
                  <a:moveTo>
                    <a:pt x="1369106" y="28297"/>
                  </a:moveTo>
                  <a:lnTo>
                    <a:pt x="1369106" y="1071402"/>
                  </a:lnTo>
                  <a:cubicBezTo>
                    <a:pt x="1369106" y="1087030"/>
                    <a:pt x="1356438" y="1099699"/>
                    <a:pt x="1340810" y="1099699"/>
                  </a:cubicBezTo>
                  <a:lnTo>
                    <a:pt x="28297" y="1099699"/>
                  </a:lnTo>
                  <a:cubicBezTo>
                    <a:pt x="12669" y="1099699"/>
                    <a:pt x="0" y="1087030"/>
                    <a:pt x="0" y="1071402"/>
                  </a:cubicBezTo>
                  <a:lnTo>
                    <a:pt x="0" y="28297"/>
                  </a:lnTo>
                  <a:cubicBezTo>
                    <a:pt x="0" y="12669"/>
                    <a:pt x="12669" y="0"/>
                    <a:pt x="28297" y="0"/>
                  </a:cubicBezTo>
                  <a:lnTo>
                    <a:pt x="1340810" y="0"/>
                  </a:lnTo>
                  <a:cubicBezTo>
                    <a:pt x="1356438" y="0"/>
                    <a:pt x="1369106" y="12669"/>
                    <a:pt x="1369106" y="28297"/>
                  </a:cubicBezTo>
                  <a:close/>
                </a:path>
              </a:pathLst>
            </a:custGeom>
            <a:ln w="38100" cap="sq">
              <a:gradFill>
                <a:gsLst>
                  <a:gs pos="0">
                    <a:srgbClr val="478CF6">
                      <a:alpha val="100000"/>
                    </a:srgbClr>
                  </a:gs>
                  <a:gs pos="100000">
                    <a:srgbClr val="FFFFFF">
                      <a:alpha val="100000"/>
                    </a:srgbClr>
                  </a:gs>
                </a:gsLst>
                <a:lin ang="2700000"/>
              </a:gradFill>
              <a:prstDash val="solid"/>
              <a:miter/>
            </a:ln>
          </p:spPr>
        </p:sp>
        <p:sp>
          <p:nvSpPr>
            <p:cNvPr name="TextBox 10" id="10"/>
            <p:cNvSpPr txBox="true"/>
            <p:nvPr/>
          </p:nvSpPr>
          <p:spPr>
            <a:xfrm>
              <a:off x="0" y="-47625"/>
              <a:ext cx="1369106" cy="1147324"/>
            </a:xfrm>
            <a:prstGeom prst="rect">
              <a:avLst/>
            </a:prstGeom>
          </p:spPr>
          <p:txBody>
            <a:bodyPr anchor="ctr" rtlCol="false" tIns="50800" lIns="50800" bIns="50800" rIns="50800"/>
            <a:lstStyle/>
            <a:p>
              <a:pPr algn="ctr">
                <a:lnSpc>
                  <a:spcPts val="3219"/>
                </a:lnSpc>
              </a:pPr>
            </a:p>
          </p:txBody>
        </p:sp>
      </p:grpSp>
      <p:grpSp>
        <p:nvGrpSpPr>
          <p:cNvPr name="Group 11" id="11"/>
          <p:cNvGrpSpPr/>
          <p:nvPr/>
        </p:nvGrpSpPr>
        <p:grpSpPr>
          <a:xfrm rot="0">
            <a:off x="12060974" y="4774172"/>
            <a:ext cx="5198326" cy="4175421"/>
            <a:chOff x="0" y="0"/>
            <a:chExt cx="1369106" cy="1099699"/>
          </a:xfrm>
        </p:grpSpPr>
        <p:sp>
          <p:nvSpPr>
            <p:cNvPr name="Freeform 12" id="12"/>
            <p:cNvSpPr/>
            <p:nvPr/>
          </p:nvSpPr>
          <p:spPr>
            <a:xfrm flipH="false" flipV="false" rot="0">
              <a:off x="0" y="0"/>
              <a:ext cx="1369106" cy="1099699"/>
            </a:xfrm>
            <a:custGeom>
              <a:avLst/>
              <a:gdLst/>
              <a:ahLst/>
              <a:cxnLst/>
              <a:rect r="r" b="b" t="t" l="l"/>
              <a:pathLst>
                <a:path h="1099699" w="1369106">
                  <a:moveTo>
                    <a:pt x="1369106" y="28297"/>
                  </a:moveTo>
                  <a:lnTo>
                    <a:pt x="1369106" y="1071402"/>
                  </a:lnTo>
                  <a:cubicBezTo>
                    <a:pt x="1369106" y="1087030"/>
                    <a:pt x="1356438" y="1099699"/>
                    <a:pt x="1340810" y="1099699"/>
                  </a:cubicBezTo>
                  <a:lnTo>
                    <a:pt x="28297" y="1099699"/>
                  </a:lnTo>
                  <a:cubicBezTo>
                    <a:pt x="12669" y="1099699"/>
                    <a:pt x="0" y="1087030"/>
                    <a:pt x="0" y="1071402"/>
                  </a:cubicBezTo>
                  <a:lnTo>
                    <a:pt x="0" y="28297"/>
                  </a:lnTo>
                  <a:cubicBezTo>
                    <a:pt x="0" y="12669"/>
                    <a:pt x="12669" y="0"/>
                    <a:pt x="28297" y="0"/>
                  </a:cubicBezTo>
                  <a:lnTo>
                    <a:pt x="1340810" y="0"/>
                  </a:lnTo>
                  <a:cubicBezTo>
                    <a:pt x="1356438" y="0"/>
                    <a:pt x="1369106" y="12669"/>
                    <a:pt x="1369106" y="28297"/>
                  </a:cubicBezTo>
                  <a:close/>
                </a:path>
              </a:pathLst>
            </a:custGeom>
            <a:ln w="38100" cap="sq">
              <a:gradFill>
                <a:gsLst>
                  <a:gs pos="0">
                    <a:srgbClr val="478CF6">
                      <a:alpha val="100000"/>
                    </a:srgbClr>
                  </a:gs>
                  <a:gs pos="100000">
                    <a:srgbClr val="FFFFFF">
                      <a:alpha val="100000"/>
                    </a:srgbClr>
                  </a:gs>
                </a:gsLst>
                <a:lin ang="2700000"/>
              </a:gradFill>
              <a:prstDash val="solid"/>
              <a:miter/>
            </a:ln>
          </p:spPr>
        </p:sp>
        <p:sp>
          <p:nvSpPr>
            <p:cNvPr name="TextBox 13" id="13"/>
            <p:cNvSpPr txBox="true"/>
            <p:nvPr/>
          </p:nvSpPr>
          <p:spPr>
            <a:xfrm>
              <a:off x="0" y="-47625"/>
              <a:ext cx="1369106" cy="1147324"/>
            </a:xfrm>
            <a:prstGeom prst="rect">
              <a:avLst/>
            </a:prstGeom>
          </p:spPr>
          <p:txBody>
            <a:bodyPr anchor="ctr" rtlCol="false" tIns="50800" lIns="50800" bIns="50800" rIns="50800"/>
            <a:lstStyle/>
            <a:p>
              <a:pPr algn="ctr">
                <a:lnSpc>
                  <a:spcPts val="3219"/>
                </a:lnSpc>
              </a:pPr>
            </a:p>
          </p:txBody>
        </p:sp>
      </p:grpSp>
      <p:sp>
        <p:nvSpPr>
          <p:cNvPr name="TextBox 14" id="14"/>
          <p:cNvSpPr txBox="true"/>
          <p:nvPr/>
        </p:nvSpPr>
        <p:spPr>
          <a:xfrm rot="0">
            <a:off x="1221695" y="4992477"/>
            <a:ext cx="4812337" cy="573563"/>
          </a:xfrm>
          <a:prstGeom prst="rect">
            <a:avLst/>
          </a:prstGeom>
        </p:spPr>
        <p:txBody>
          <a:bodyPr anchor="t" rtlCol="false" tIns="0" lIns="0" bIns="0" rIns="0">
            <a:spAutoFit/>
          </a:bodyPr>
          <a:lstStyle/>
          <a:p>
            <a:pPr algn="ctr">
              <a:lnSpc>
                <a:spcPts val="4611"/>
              </a:lnSpc>
              <a:spcBef>
                <a:spcPct val="0"/>
              </a:spcBef>
            </a:pPr>
            <a:r>
              <a:rPr lang="en-US" sz="3293">
                <a:solidFill>
                  <a:srgbClr val="FFFFFF"/>
                </a:solidFill>
                <a:latin typeface="Bricolage Grotesque"/>
                <a:ea typeface="Bricolage Grotesque"/>
                <a:cs typeface="Bricolage Grotesque"/>
                <a:sym typeface="Bricolage Grotesque"/>
              </a:rPr>
              <a:t>Annual revenue goal</a:t>
            </a:r>
          </a:p>
        </p:txBody>
      </p:sp>
      <p:sp>
        <p:nvSpPr>
          <p:cNvPr name="TextBox 15" id="15"/>
          <p:cNvSpPr txBox="true"/>
          <p:nvPr/>
        </p:nvSpPr>
        <p:spPr>
          <a:xfrm rot="0">
            <a:off x="1221695" y="5802251"/>
            <a:ext cx="4812337" cy="1352001"/>
          </a:xfrm>
          <a:prstGeom prst="rect">
            <a:avLst/>
          </a:prstGeom>
        </p:spPr>
        <p:txBody>
          <a:bodyPr anchor="t" rtlCol="false" tIns="0" lIns="0" bIns="0" rIns="0">
            <a:spAutoFit/>
          </a:bodyPr>
          <a:lstStyle/>
          <a:p>
            <a:pPr algn="ctr">
              <a:lnSpc>
                <a:spcPts val="11055"/>
              </a:lnSpc>
              <a:spcBef>
                <a:spcPct val="0"/>
              </a:spcBef>
            </a:pPr>
            <a:r>
              <a:rPr lang="en-US" b="true" sz="7896">
                <a:gradFill>
                  <a:gsLst>
                    <a:gs pos="0">
                      <a:srgbClr val="478CF6">
                        <a:alpha val="100000"/>
                      </a:srgbClr>
                    </a:gs>
                    <a:gs pos="100000">
                      <a:srgbClr val="C1E1FF">
                        <a:alpha val="100000"/>
                      </a:srgbClr>
                    </a:gs>
                  </a:gsLst>
                  <a:lin ang="2700000"/>
                </a:gradFill>
                <a:latin typeface="Bricolage Grotesque Bold"/>
                <a:ea typeface="Bricolage Grotesque Bold"/>
                <a:cs typeface="Bricolage Grotesque Bold"/>
                <a:sym typeface="Bricolage Grotesque Bold"/>
              </a:rPr>
              <a:t>$20.5M</a:t>
            </a:r>
          </a:p>
        </p:txBody>
      </p:sp>
      <p:sp>
        <p:nvSpPr>
          <p:cNvPr name="TextBox 16" id="16"/>
          <p:cNvSpPr txBox="true"/>
          <p:nvPr/>
        </p:nvSpPr>
        <p:spPr>
          <a:xfrm rot="0">
            <a:off x="1695535" y="7667891"/>
            <a:ext cx="3864655" cy="772795"/>
          </a:xfrm>
          <a:prstGeom prst="rect">
            <a:avLst/>
          </a:prstGeom>
        </p:spPr>
        <p:txBody>
          <a:bodyPr anchor="t" rtlCol="false" tIns="0" lIns="0" bIns="0" rIns="0">
            <a:spAutoFit/>
          </a:bodyPr>
          <a:lstStyle/>
          <a:p>
            <a:pPr algn="ctr" marL="0" indent="0" lvl="0">
              <a:lnSpc>
                <a:spcPts val="3079"/>
              </a:lnSpc>
              <a:spcBef>
                <a:spcPct val="0"/>
              </a:spcBef>
            </a:pPr>
            <a:r>
              <a:rPr lang="en-US" sz="2199">
                <a:solidFill>
                  <a:srgbClr val="FFFFFF"/>
                </a:solidFill>
                <a:latin typeface="Bricolage Grotesque"/>
                <a:ea typeface="Bricolage Grotesque"/>
                <a:cs typeface="Bricolage Grotesque"/>
                <a:sym typeface="Bricolage Grotesque"/>
              </a:rPr>
              <a:t>A rise of 15% compared to</a:t>
            </a:r>
          </a:p>
          <a:p>
            <a:pPr algn="ctr">
              <a:lnSpc>
                <a:spcPts val="3079"/>
              </a:lnSpc>
              <a:spcBef>
                <a:spcPct val="0"/>
              </a:spcBef>
            </a:pPr>
            <a:r>
              <a:rPr lang="en-US" sz="2199">
                <a:solidFill>
                  <a:srgbClr val="FFFFFF"/>
                </a:solidFill>
                <a:latin typeface="Bricolage Grotesque"/>
                <a:ea typeface="Bricolage Grotesque"/>
                <a:cs typeface="Bricolage Grotesque"/>
                <a:sym typeface="Bricolage Grotesque"/>
              </a:rPr>
              <a:t>the previous year.</a:t>
            </a:r>
          </a:p>
        </p:txBody>
      </p:sp>
      <p:sp>
        <p:nvSpPr>
          <p:cNvPr name="TextBox 17" id="17"/>
          <p:cNvSpPr txBox="true"/>
          <p:nvPr/>
        </p:nvSpPr>
        <p:spPr>
          <a:xfrm rot="0">
            <a:off x="6942668" y="4991828"/>
            <a:ext cx="4402663" cy="573563"/>
          </a:xfrm>
          <a:prstGeom prst="rect">
            <a:avLst/>
          </a:prstGeom>
        </p:spPr>
        <p:txBody>
          <a:bodyPr anchor="t" rtlCol="false" tIns="0" lIns="0" bIns="0" rIns="0">
            <a:spAutoFit/>
          </a:bodyPr>
          <a:lstStyle/>
          <a:p>
            <a:pPr algn="ctr" marL="0" indent="0" lvl="0">
              <a:lnSpc>
                <a:spcPts val="4611"/>
              </a:lnSpc>
              <a:spcBef>
                <a:spcPct val="0"/>
              </a:spcBef>
            </a:pPr>
            <a:r>
              <a:rPr lang="en-US" sz="3293" strike="noStrike" u="none">
                <a:solidFill>
                  <a:srgbClr val="FFFFFF"/>
                </a:solidFill>
                <a:latin typeface="Bricolage Grotesque"/>
                <a:ea typeface="Bricolage Grotesque"/>
                <a:cs typeface="Bricolage Grotesque"/>
                <a:sym typeface="Bricolage Grotesque"/>
              </a:rPr>
              <a:t>Quarterly breakdown</a:t>
            </a:r>
          </a:p>
        </p:txBody>
      </p:sp>
      <p:sp>
        <p:nvSpPr>
          <p:cNvPr name="TextBox 18" id="18"/>
          <p:cNvSpPr txBox="true"/>
          <p:nvPr/>
        </p:nvSpPr>
        <p:spPr>
          <a:xfrm rot="0">
            <a:off x="12687450" y="5106777"/>
            <a:ext cx="3945374" cy="458614"/>
          </a:xfrm>
          <a:prstGeom prst="rect">
            <a:avLst/>
          </a:prstGeom>
        </p:spPr>
        <p:txBody>
          <a:bodyPr anchor="t" rtlCol="false" tIns="0" lIns="0" bIns="0" rIns="0">
            <a:spAutoFit/>
          </a:bodyPr>
          <a:lstStyle/>
          <a:p>
            <a:pPr algn="ctr" marL="0" indent="0" lvl="0">
              <a:lnSpc>
                <a:spcPts val="3491"/>
              </a:lnSpc>
            </a:pPr>
            <a:r>
              <a:rPr lang="en-US" sz="3293" strike="noStrike" u="none">
                <a:solidFill>
                  <a:srgbClr val="FFFFFF"/>
                </a:solidFill>
                <a:latin typeface="Bricolage Grotesque"/>
                <a:ea typeface="Bricolage Grotesque"/>
                <a:cs typeface="Bricolage Grotesque"/>
                <a:sym typeface="Bricolage Grotesque"/>
              </a:rPr>
              <a:t>Priority segments</a:t>
            </a:r>
          </a:p>
        </p:txBody>
      </p:sp>
      <p:pic>
        <p:nvPicPr>
          <p:cNvPr name="Picture 19" id="19"/>
          <p:cNvPicPr>
            <a:picLocks noChangeAspect="true"/>
          </p:cNvPicPr>
          <p:nvPr/>
        </p:nvPicPr>
        <p:blipFill>
          <a:blip r:embed="rId3"/>
          <a:stretch>
            <a:fillRect/>
          </a:stretch>
        </p:blipFill>
        <p:spPr>
          <a:xfrm rot="0">
            <a:off x="13017881" y="5680942"/>
            <a:ext cx="3284513" cy="2997894"/>
          </a:xfrm>
          <a:prstGeom prst="rect">
            <a:avLst/>
          </a:prstGeom>
        </p:spPr>
      </p:pic>
      <p:pic>
        <p:nvPicPr>
          <p:cNvPr name="Picture 20" id="20"/>
          <p:cNvPicPr>
            <a:picLocks noChangeAspect="true"/>
          </p:cNvPicPr>
          <p:nvPr/>
        </p:nvPicPr>
        <p:blipFill>
          <a:blip r:embed="rId4"/>
          <a:stretch>
            <a:fillRect/>
          </a:stretch>
        </p:blipFill>
        <p:spPr>
          <a:xfrm rot="0">
            <a:off x="6669949" y="5446758"/>
            <a:ext cx="4950787" cy="3689777"/>
          </a:xfrm>
          <a:prstGeom prst="rect">
            <a:avLst/>
          </a:prstGeom>
        </p:spPr>
      </p:pic>
      <p:sp>
        <p:nvSpPr>
          <p:cNvPr name="TextBox 21" id="21"/>
          <p:cNvSpPr txBox="true"/>
          <p:nvPr/>
        </p:nvSpPr>
        <p:spPr>
          <a:xfrm rot="0">
            <a:off x="12175420" y="9286875"/>
            <a:ext cx="5083880" cy="269240"/>
          </a:xfrm>
          <a:prstGeom prst="rect">
            <a:avLst/>
          </a:prstGeom>
        </p:spPr>
        <p:txBody>
          <a:bodyPr anchor="t" rtlCol="false" tIns="0" lIns="0" bIns="0" rIns="0">
            <a:spAutoFit/>
          </a:bodyPr>
          <a:lstStyle/>
          <a:p>
            <a:pPr algn="r">
              <a:lnSpc>
                <a:spcPts val="2080"/>
              </a:lnSpc>
            </a:pPr>
            <a:r>
              <a:rPr lang="en-US" sz="2000" spc="-64">
                <a:solidFill>
                  <a:srgbClr val="FFFFFF"/>
                </a:solidFill>
                <a:latin typeface="Bricolage Grotesque"/>
                <a:ea typeface="Bricolage Grotesque"/>
                <a:cs typeface="Bricolage Grotesque"/>
                <a:sym typeface="Bricolage Grotesque"/>
              </a:rPr>
              <a:t>03</a:t>
            </a:r>
          </a:p>
        </p:txBody>
      </p:sp>
      <p:sp>
        <p:nvSpPr>
          <p:cNvPr name="Freeform 22" id="22"/>
          <p:cNvSpPr/>
          <p:nvPr/>
        </p:nvSpPr>
        <p:spPr>
          <a:xfrm flipH="false" flipV="false" rot="0">
            <a:off x="1028700" y="1018652"/>
            <a:ext cx="233616" cy="192664"/>
          </a:xfrm>
          <a:custGeom>
            <a:avLst/>
            <a:gdLst/>
            <a:ahLst/>
            <a:cxnLst/>
            <a:rect r="r" b="b" t="t" l="l"/>
            <a:pathLst>
              <a:path h="192664" w="233616">
                <a:moveTo>
                  <a:pt x="0" y="0"/>
                </a:moveTo>
                <a:lnTo>
                  <a:pt x="233616" y="0"/>
                </a:lnTo>
                <a:lnTo>
                  <a:pt x="233616" y="192664"/>
                </a:lnTo>
                <a:lnTo>
                  <a:pt x="0" y="1926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3" id="23"/>
          <p:cNvSpPr txBox="true"/>
          <p:nvPr/>
        </p:nvSpPr>
        <p:spPr>
          <a:xfrm rot="0">
            <a:off x="1385760" y="1020419"/>
            <a:ext cx="1629879" cy="217704"/>
          </a:xfrm>
          <a:prstGeom prst="rect">
            <a:avLst/>
          </a:prstGeom>
        </p:spPr>
        <p:txBody>
          <a:bodyPr anchor="t" rtlCol="false" tIns="0" lIns="0" bIns="0" rIns="0">
            <a:spAutoFit/>
          </a:bodyPr>
          <a:lstStyle/>
          <a:p>
            <a:pPr algn="l">
              <a:lnSpc>
                <a:spcPts val="1687"/>
              </a:lnSpc>
            </a:pPr>
            <a:r>
              <a:rPr lang="en-US" sz="1622" spc="-51">
                <a:solidFill>
                  <a:srgbClr val="FFFFFF"/>
                </a:solidFill>
                <a:latin typeface="Bricolage Grotesque"/>
                <a:ea typeface="Bricolage Grotesque"/>
                <a:cs typeface="Bricolage Grotesque"/>
                <a:sym typeface="Bricolage Grotesque"/>
              </a:rPr>
              <a:t>Logo Here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8306557">
            <a:off x="-8094840" y="-638553"/>
            <a:ext cx="20019133" cy="14181606"/>
          </a:xfrm>
          <a:custGeom>
            <a:avLst/>
            <a:gdLst/>
            <a:ahLst/>
            <a:cxnLst/>
            <a:rect r="r" b="b" t="t" l="l"/>
            <a:pathLst>
              <a:path h="14181606" w="20019133">
                <a:moveTo>
                  <a:pt x="0" y="0"/>
                </a:moveTo>
                <a:lnTo>
                  <a:pt x="20019133" y="0"/>
                </a:lnTo>
                <a:lnTo>
                  <a:pt x="20019133" y="14181606"/>
                </a:lnTo>
                <a:lnTo>
                  <a:pt x="0" y="14181606"/>
                </a:lnTo>
                <a:lnTo>
                  <a:pt x="0" y="0"/>
                </a:lnTo>
                <a:close/>
              </a:path>
            </a:pathLst>
          </a:custGeom>
          <a:blipFill>
            <a:blip r:embed="rId2">
              <a:alphaModFix amt="81000"/>
            </a:blip>
            <a:stretch>
              <a:fillRect l="-3163" t="0" r="-3163" b="0"/>
            </a:stretch>
          </a:blipFill>
        </p:spPr>
      </p:sp>
      <p:sp>
        <p:nvSpPr>
          <p:cNvPr name="Freeform 3" id="3"/>
          <p:cNvSpPr/>
          <p:nvPr/>
        </p:nvSpPr>
        <p:spPr>
          <a:xfrm flipH="false" flipV="false" rot="-5400000">
            <a:off x="2633610" y="-5124821"/>
            <a:ext cx="20019133" cy="14181606"/>
          </a:xfrm>
          <a:custGeom>
            <a:avLst/>
            <a:gdLst/>
            <a:ahLst/>
            <a:cxnLst/>
            <a:rect r="r" b="b" t="t" l="l"/>
            <a:pathLst>
              <a:path h="14181606" w="20019133">
                <a:moveTo>
                  <a:pt x="0" y="0"/>
                </a:moveTo>
                <a:lnTo>
                  <a:pt x="20019133" y="0"/>
                </a:lnTo>
                <a:lnTo>
                  <a:pt x="20019133" y="14181606"/>
                </a:lnTo>
                <a:lnTo>
                  <a:pt x="0" y="14181606"/>
                </a:lnTo>
                <a:lnTo>
                  <a:pt x="0" y="0"/>
                </a:lnTo>
                <a:close/>
              </a:path>
            </a:pathLst>
          </a:custGeom>
          <a:blipFill>
            <a:blip r:embed="rId2">
              <a:alphaModFix amt="81000"/>
            </a:blip>
            <a:stretch>
              <a:fillRect l="-3163" t="0" r="-3163" b="0"/>
            </a:stretch>
          </a:blipFill>
        </p:spPr>
      </p:sp>
      <p:sp>
        <p:nvSpPr>
          <p:cNvPr name="TextBox 4" id="4"/>
          <p:cNvSpPr txBox="true"/>
          <p:nvPr/>
        </p:nvSpPr>
        <p:spPr>
          <a:xfrm rot="0">
            <a:off x="12175420" y="9286875"/>
            <a:ext cx="5083880" cy="269240"/>
          </a:xfrm>
          <a:prstGeom prst="rect">
            <a:avLst/>
          </a:prstGeom>
        </p:spPr>
        <p:txBody>
          <a:bodyPr anchor="t" rtlCol="false" tIns="0" lIns="0" bIns="0" rIns="0">
            <a:spAutoFit/>
          </a:bodyPr>
          <a:lstStyle/>
          <a:p>
            <a:pPr algn="r">
              <a:lnSpc>
                <a:spcPts val="2080"/>
              </a:lnSpc>
            </a:pPr>
            <a:r>
              <a:rPr lang="en-US" sz="2000" spc="-64">
                <a:solidFill>
                  <a:srgbClr val="FFFFFF"/>
                </a:solidFill>
                <a:latin typeface="Bricolage Grotesque"/>
                <a:ea typeface="Bricolage Grotesque"/>
                <a:cs typeface="Bricolage Grotesque"/>
                <a:sym typeface="Bricolage Grotesque"/>
              </a:rPr>
              <a:t>04</a:t>
            </a:r>
          </a:p>
        </p:txBody>
      </p:sp>
      <p:sp>
        <p:nvSpPr>
          <p:cNvPr name="TextBox 5" id="5"/>
          <p:cNvSpPr txBox="true"/>
          <p:nvPr/>
        </p:nvSpPr>
        <p:spPr>
          <a:xfrm rot="0">
            <a:off x="1028700" y="2327053"/>
            <a:ext cx="8115300" cy="1966759"/>
          </a:xfrm>
          <a:prstGeom prst="rect">
            <a:avLst/>
          </a:prstGeom>
        </p:spPr>
        <p:txBody>
          <a:bodyPr anchor="t" rtlCol="false" tIns="0" lIns="0" bIns="0" rIns="0">
            <a:spAutoFit/>
          </a:bodyPr>
          <a:lstStyle/>
          <a:p>
            <a:pPr algn="l" marL="0" indent="0" lvl="0">
              <a:lnSpc>
                <a:spcPts val="7334"/>
              </a:lnSpc>
              <a:spcBef>
                <a:spcPct val="0"/>
              </a:spcBef>
            </a:pPr>
            <a:r>
              <a:rPr lang="en-US" sz="8836" spc="-282">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K</a:t>
            </a:r>
            <a:r>
              <a:rPr lang="en-US" sz="8836" spc="-282" strike="noStrike" u="none">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ey Growth Drivers</a:t>
            </a:r>
          </a:p>
        </p:txBody>
      </p:sp>
      <p:sp>
        <p:nvSpPr>
          <p:cNvPr name="TextBox 6" id="6"/>
          <p:cNvSpPr txBox="true"/>
          <p:nvPr/>
        </p:nvSpPr>
        <p:spPr>
          <a:xfrm rot="0">
            <a:off x="1028700" y="4613270"/>
            <a:ext cx="7484767" cy="547371"/>
          </a:xfrm>
          <a:prstGeom prst="rect">
            <a:avLst/>
          </a:prstGeom>
        </p:spPr>
        <p:txBody>
          <a:bodyPr anchor="t" rtlCol="false" tIns="0" lIns="0" bIns="0" rIns="0">
            <a:spAutoFit/>
          </a:bodyPr>
          <a:lstStyle/>
          <a:p>
            <a:pPr algn="l">
              <a:lnSpc>
                <a:spcPts val="4479"/>
              </a:lnSpc>
              <a:spcBef>
                <a:spcPct val="0"/>
              </a:spcBef>
            </a:pP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Wh</a:t>
            </a: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at will drive sales growth</a:t>
            </a:r>
          </a:p>
        </p:txBody>
      </p:sp>
      <p:sp>
        <p:nvSpPr>
          <p:cNvPr name="TextBox 7" id="7"/>
          <p:cNvSpPr txBox="true"/>
          <p:nvPr/>
        </p:nvSpPr>
        <p:spPr>
          <a:xfrm rot="0">
            <a:off x="1028700" y="5365058"/>
            <a:ext cx="6033365" cy="2313940"/>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name="TextBox 8" id="8"/>
          <p:cNvSpPr txBox="true"/>
          <p:nvPr/>
        </p:nvSpPr>
        <p:spPr>
          <a:xfrm rot="0">
            <a:off x="9582418" y="3218902"/>
            <a:ext cx="7676882" cy="389255"/>
          </a:xfrm>
          <a:prstGeom prst="rect">
            <a:avLst/>
          </a:prstGeom>
        </p:spPr>
        <p:txBody>
          <a:bodyPr anchor="t" rtlCol="false" tIns="0" lIns="0" bIns="0" rIns="0">
            <a:spAutoFit/>
          </a:bodyPr>
          <a:lstStyle/>
          <a:p>
            <a:pPr algn="l">
              <a:lnSpc>
                <a:spcPts val="3219"/>
              </a:lnSpc>
              <a:spcBef>
                <a:spcPct val="0"/>
              </a:spcBef>
            </a:pPr>
            <a:r>
              <a:rPr lang="en-US" b="true" sz="2299">
                <a:gradFill>
                  <a:gsLst>
                    <a:gs pos="0">
                      <a:srgbClr val="478CF6">
                        <a:alpha val="100000"/>
                      </a:srgbClr>
                    </a:gs>
                    <a:gs pos="100000">
                      <a:srgbClr val="C1E1FF">
                        <a:alpha val="100000"/>
                      </a:srgbClr>
                    </a:gs>
                  </a:gsLst>
                  <a:lin ang="2700000"/>
                </a:gradFill>
                <a:latin typeface="Open Sauce Bold"/>
                <a:ea typeface="Open Sauce Bold"/>
                <a:cs typeface="Open Sauce Bold"/>
                <a:sym typeface="Open Sauce Bold"/>
              </a:rPr>
              <a:t>Focu</a:t>
            </a:r>
            <a:r>
              <a:rPr lang="en-US" b="true" sz="2299">
                <a:gradFill>
                  <a:gsLst>
                    <a:gs pos="0">
                      <a:srgbClr val="478CF6">
                        <a:alpha val="100000"/>
                      </a:srgbClr>
                    </a:gs>
                    <a:gs pos="100000">
                      <a:srgbClr val="C1E1FF">
                        <a:alpha val="100000"/>
                      </a:srgbClr>
                    </a:gs>
                  </a:gsLst>
                  <a:lin ang="2700000"/>
                </a:gradFill>
                <a:latin typeface="Open Sauce Bold"/>
                <a:ea typeface="Open Sauce Bold"/>
                <a:cs typeface="Open Sauce Bold"/>
                <a:sym typeface="Open Sauce Bold"/>
              </a:rPr>
              <a:t>sed account targeting</a:t>
            </a:r>
          </a:p>
        </p:txBody>
      </p:sp>
      <p:sp>
        <p:nvSpPr>
          <p:cNvPr name="TextBox 9" id="9"/>
          <p:cNvSpPr txBox="true"/>
          <p:nvPr/>
        </p:nvSpPr>
        <p:spPr>
          <a:xfrm rot="0">
            <a:off x="9582418" y="3727352"/>
            <a:ext cx="7676882" cy="647065"/>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sp>
        <p:nvSpPr>
          <p:cNvPr name="TextBox 10" id="10"/>
          <p:cNvSpPr txBox="true"/>
          <p:nvPr/>
        </p:nvSpPr>
        <p:spPr>
          <a:xfrm rot="0">
            <a:off x="9582418" y="4872668"/>
            <a:ext cx="7676882" cy="389255"/>
          </a:xfrm>
          <a:prstGeom prst="rect">
            <a:avLst/>
          </a:prstGeom>
        </p:spPr>
        <p:txBody>
          <a:bodyPr anchor="t" rtlCol="false" tIns="0" lIns="0" bIns="0" rIns="0">
            <a:spAutoFit/>
          </a:bodyPr>
          <a:lstStyle/>
          <a:p>
            <a:pPr algn="l">
              <a:lnSpc>
                <a:spcPts val="3219"/>
              </a:lnSpc>
              <a:spcBef>
                <a:spcPct val="0"/>
              </a:spcBef>
            </a:pPr>
            <a:r>
              <a:rPr lang="en-US" b="true" sz="2299">
                <a:gradFill>
                  <a:gsLst>
                    <a:gs pos="0">
                      <a:srgbClr val="478CF6">
                        <a:alpha val="100000"/>
                      </a:srgbClr>
                    </a:gs>
                    <a:gs pos="100000">
                      <a:srgbClr val="C1E1FF">
                        <a:alpha val="100000"/>
                      </a:srgbClr>
                    </a:gs>
                  </a:gsLst>
                  <a:lin ang="2700000"/>
                </a:gradFill>
                <a:latin typeface="Open Sauce Bold"/>
                <a:ea typeface="Open Sauce Bold"/>
                <a:cs typeface="Open Sauce Bold"/>
                <a:sym typeface="Open Sauce Bold"/>
              </a:rPr>
              <a:t>B</a:t>
            </a:r>
            <a:r>
              <a:rPr lang="en-US" b="true" sz="2299">
                <a:gradFill>
                  <a:gsLst>
                    <a:gs pos="0">
                      <a:srgbClr val="478CF6">
                        <a:alpha val="100000"/>
                      </a:srgbClr>
                    </a:gs>
                    <a:gs pos="100000">
                      <a:srgbClr val="C1E1FF">
                        <a:alpha val="100000"/>
                      </a:srgbClr>
                    </a:gs>
                  </a:gsLst>
                  <a:lin ang="2700000"/>
                </a:gradFill>
                <a:latin typeface="Open Sauce Bold"/>
                <a:ea typeface="Open Sauce Bold"/>
                <a:cs typeface="Open Sauce Bold"/>
                <a:sym typeface="Open Sauce Bold"/>
              </a:rPr>
              <a:t>etter qualification of leads</a:t>
            </a:r>
          </a:p>
        </p:txBody>
      </p:sp>
      <p:sp>
        <p:nvSpPr>
          <p:cNvPr name="TextBox 11" id="11"/>
          <p:cNvSpPr txBox="true"/>
          <p:nvPr/>
        </p:nvSpPr>
        <p:spPr>
          <a:xfrm rot="0">
            <a:off x="9582418" y="5381118"/>
            <a:ext cx="7676882" cy="647065"/>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sp>
        <p:nvSpPr>
          <p:cNvPr name="TextBox 12" id="12"/>
          <p:cNvSpPr txBox="true"/>
          <p:nvPr/>
        </p:nvSpPr>
        <p:spPr>
          <a:xfrm rot="0">
            <a:off x="9582418" y="6523483"/>
            <a:ext cx="7676882" cy="389255"/>
          </a:xfrm>
          <a:prstGeom prst="rect">
            <a:avLst/>
          </a:prstGeom>
        </p:spPr>
        <p:txBody>
          <a:bodyPr anchor="t" rtlCol="false" tIns="0" lIns="0" bIns="0" rIns="0">
            <a:spAutoFit/>
          </a:bodyPr>
          <a:lstStyle/>
          <a:p>
            <a:pPr algn="l">
              <a:lnSpc>
                <a:spcPts val="3219"/>
              </a:lnSpc>
              <a:spcBef>
                <a:spcPct val="0"/>
              </a:spcBef>
            </a:pPr>
            <a:r>
              <a:rPr lang="en-US" b="true" sz="2299">
                <a:gradFill>
                  <a:gsLst>
                    <a:gs pos="0">
                      <a:srgbClr val="478CF6">
                        <a:alpha val="100000"/>
                      </a:srgbClr>
                    </a:gs>
                    <a:gs pos="100000">
                      <a:srgbClr val="C1E1FF">
                        <a:alpha val="100000"/>
                      </a:srgbClr>
                    </a:gs>
                  </a:gsLst>
                  <a:lin ang="2700000"/>
                </a:gradFill>
                <a:latin typeface="Open Sauce Bold"/>
                <a:ea typeface="Open Sauce Bold"/>
                <a:cs typeface="Open Sauce Bold"/>
                <a:sym typeface="Open Sauce Bold"/>
              </a:rPr>
              <a:t>Stron</a:t>
            </a:r>
            <a:r>
              <a:rPr lang="en-US" b="true" sz="2299">
                <a:gradFill>
                  <a:gsLst>
                    <a:gs pos="0">
                      <a:srgbClr val="478CF6">
                        <a:alpha val="100000"/>
                      </a:srgbClr>
                    </a:gs>
                    <a:gs pos="100000">
                      <a:srgbClr val="C1E1FF">
                        <a:alpha val="100000"/>
                      </a:srgbClr>
                    </a:gs>
                  </a:gsLst>
                  <a:lin ang="2700000"/>
                </a:gradFill>
                <a:latin typeface="Open Sauce Bold"/>
                <a:ea typeface="Open Sauce Bold"/>
                <a:cs typeface="Open Sauce Bold"/>
                <a:sym typeface="Open Sauce Bold"/>
              </a:rPr>
              <a:t>ger follow-up and pipeline management</a:t>
            </a:r>
          </a:p>
        </p:txBody>
      </p:sp>
      <p:sp>
        <p:nvSpPr>
          <p:cNvPr name="TextBox 13" id="13"/>
          <p:cNvSpPr txBox="true"/>
          <p:nvPr/>
        </p:nvSpPr>
        <p:spPr>
          <a:xfrm rot="0">
            <a:off x="9582418" y="7031933"/>
            <a:ext cx="7676882" cy="647065"/>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sp>
        <p:nvSpPr>
          <p:cNvPr name="Freeform 14" id="14"/>
          <p:cNvSpPr/>
          <p:nvPr/>
        </p:nvSpPr>
        <p:spPr>
          <a:xfrm flipH="false" flipV="false" rot="0">
            <a:off x="1028700" y="1018652"/>
            <a:ext cx="233616" cy="192664"/>
          </a:xfrm>
          <a:custGeom>
            <a:avLst/>
            <a:gdLst/>
            <a:ahLst/>
            <a:cxnLst/>
            <a:rect r="r" b="b" t="t" l="l"/>
            <a:pathLst>
              <a:path h="192664" w="233616">
                <a:moveTo>
                  <a:pt x="0" y="0"/>
                </a:moveTo>
                <a:lnTo>
                  <a:pt x="233616" y="0"/>
                </a:lnTo>
                <a:lnTo>
                  <a:pt x="233616" y="192664"/>
                </a:lnTo>
                <a:lnTo>
                  <a:pt x="0" y="1926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1385760" y="1020419"/>
            <a:ext cx="1629879" cy="217704"/>
          </a:xfrm>
          <a:prstGeom prst="rect">
            <a:avLst/>
          </a:prstGeom>
        </p:spPr>
        <p:txBody>
          <a:bodyPr anchor="t" rtlCol="false" tIns="0" lIns="0" bIns="0" rIns="0">
            <a:spAutoFit/>
          </a:bodyPr>
          <a:lstStyle/>
          <a:p>
            <a:pPr algn="l">
              <a:lnSpc>
                <a:spcPts val="1687"/>
              </a:lnSpc>
            </a:pPr>
            <a:r>
              <a:rPr lang="en-US" sz="1622" spc="-51">
                <a:solidFill>
                  <a:srgbClr val="FFFFFF"/>
                </a:solidFill>
                <a:latin typeface="Bricolage Grotesque"/>
                <a:ea typeface="Bricolage Grotesque"/>
                <a:cs typeface="Bricolage Grotesque"/>
                <a:sym typeface="Bricolage Grotesque"/>
              </a:rPr>
              <a:t>Logo Here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256931" y="-7437209"/>
            <a:ext cx="22146442" cy="15688597"/>
          </a:xfrm>
          <a:custGeom>
            <a:avLst/>
            <a:gdLst/>
            <a:ahLst/>
            <a:cxnLst/>
            <a:rect r="r" b="b" t="t" l="l"/>
            <a:pathLst>
              <a:path h="15688597" w="22146442">
                <a:moveTo>
                  <a:pt x="0" y="0"/>
                </a:moveTo>
                <a:lnTo>
                  <a:pt x="22146442" y="0"/>
                </a:lnTo>
                <a:lnTo>
                  <a:pt x="22146442" y="15688598"/>
                </a:lnTo>
                <a:lnTo>
                  <a:pt x="0" y="15688598"/>
                </a:lnTo>
                <a:lnTo>
                  <a:pt x="0" y="0"/>
                </a:lnTo>
                <a:close/>
              </a:path>
            </a:pathLst>
          </a:custGeom>
          <a:blipFill>
            <a:blip r:embed="rId2">
              <a:alphaModFix amt="81000"/>
            </a:blip>
            <a:stretch>
              <a:fillRect l="-3163" t="0" r="-3163" b="0"/>
            </a:stretch>
          </a:blipFill>
        </p:spPr>
      </p:sp>
      <p:sp>
        <p:nvSpPr>
          <p:cNvPr name="TextBox 3" id="3"/>
          <p:cNvSpPr txBox="true"/>
          <p:nvPr/>
        </p:nvSpPr>
        <p:spPr>
          <a:xfrm rot="0">
            <a:off x="12175420" y="9286875"/>
            <a:ext cx="5083880" cy="269240"/>
          </a:xfrm>
          <a:prstGeom prst="rect">
            <a:avLst/>
          </a:prstGeom>
        </p:spPr>
        <p:txBody>
          <a:bodyPr anchor="t" rtlCol="false" tIns="0" lIns="0" bIns="0" rIns="0">
            <a:spAutoFit/>
          </a:bodyPr>
          <a:lstStyle/>
          <a:p>
            <a:pPr algn="r">
              <a:lnSpc>
                <a:spcPts val="2080"/>
              </a:lnSpc>
            </a:pPr>
            <a:r>
              <a:rPr lang="en-US" sz="2000" spc="-64">
                <a:solidFill>
                  <a:srgbClr val="FFFFFF"/>
                </a:solidFill>
                <a:latin typeface="Bricolage Grotesque"/>
                <a:ea typeface="Bricolage Grotesque"/>
                <a:cs typeface="Bricolage Grotesque"/>
                <a:sym typeface="Bricolage Grotesque"/>
              </a:rPr>
              <a:t>05</a:t>
            </a:r>
          </a:p>
        </p:txBody>
      </p:sp>
      <p:sp>
        <p:nvSpPr>
          <p:cNvPr name="TextBox 4" id="4"/>
          <p:cNvSpPr txBox="true"/>
          <p:nvPr/>
        </p:nvSpPr>
        <p:spPr>
          <a:xfrm rot="0">
            <a:off x="1028700" y="2327053"/>
            <a:ext cx="8115300" cy="1966759"/>
          </a:xfrm>
          <a:prstGeom prst="rect">
            <a:avLst/>
          </a:prstGeom>
        </p:spPr>
        <p:txBody>
          <a:bodyPr anchor="t" rtlCol="false" tIns="0" lIns="0" bIns="0" rIns="0">
            <a:spAutoFit/>
          </a:bodyPr>
          <a:lstStyle/>
          <a:p>
            <a:pPr algn="l" marL="0" indent="0" lvl="0">
              <a:lnSpc>
                <a:spcPts val="7334"/>
              </a:lnSpc>
              <a:spcBef>
                <a:spcPct val="0"/>
              </a:spcBef>
            </a:pPr>
            <a:r>
              <a:rPr lang="en-US" sz="8836" spc="-282">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Priorit</a:t>
            </a:r>
            <a:r>
              <a:rPr lang="en-US" sz="8836" spc="-282" strike="noStrike" u="none">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y Markets &amp; Segments</a:t>
            </a:r>
          </a:p>
        </p:txBody>
      </p:sp>
      <p:sp>
        <p:nvSpPr>
          <p:cNvPr name="TextBox 5" id="5"/>
          <p:cNvSpPr txBox="true"/>
          <p:nvPr/>
        </p:nvSpPr>
        <p:spPr>
          <a:xfrm rot="0">
            <a:off x="1028700" y="4846262"/>
            <a:ext cx="7484767" cy="547371"/>
          </a:xfrm>
          <a:prstGeom prst="rect">
            <a:avLst/>
          </a:prstGeom>
        </p:spPr>
        <p:txBody>
          <a:bodyPr anchor="t" rtlCol="false" tIns="0" lIns="0" bIns="0" rIns="0">
            <a:spAutoFit/>
          </a:bodyPr>
          <a:lstStyle/>
          <a:p>
            <a:pPr algn="l">
              <a:lnSpc>
                <a:spcPts val="4479"/>
              </a:lnSpc>
              <a:spcBef>
                <a:spcPct val="0"/>
              </a:spcBef>
            </a:pP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Wh</a:t>
            </a: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at will drive sales growth</a:t>
            </a:r>
          </a:p>
        </p:txBody>
      </p:sp>
      <p:sp>
        <p:nvSpPr>
          <p:cNvPr name="TextBox 6" id="6"/>
          <p:cNvSpPr txBox="true"/>
          <p:nvPr/>
        </p:nvSpPr>
        <p:spPr>
          <a:xfrm rot="0">
            <a:off x="1028700" y="5598050"/>
            <a:ext cx="6033365" cy="2313940"/>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name="AutoShape 7" id="7"/>
          <p:cNvSpPr/>
          <p:nvPr/>
        </p:nvSpPr>
        <p:spPr>
          <a:xfrm>
            <a:off x="11105543" y="5840568"/>
            <a:ext cx="1150537" cy="20159"/>
          </a:xfrm>
          <a:prstGeom prst="line">
            <a:avLst/>
          </a:prstGeom>
          <a:ln cap="flat" w="38100">
            <a:gradFill>
              <a:gsLst>
                <a:gs pos="0">
                  <a:srgbClr val="23539D">
                    <a:alpha val="100000"/>
                  </a:srgbClr>
                </a:gs>
                <a:gs pos="50000">
                  <a:srgbClr val="78ACF1">
                    <a:alpha val="100000"/>
                  </a:srgbClr>
                </a:gs>
                <a:gs pos="100000">
                  <a:srgbClr val="A7C3E8">
                    <a:alpha val="100000"/>
                  </a:srgbClr>
                </a:gs>
              </a:gsLst>
              <a:lin ang="2700000"/>
            </a:gradFill>
            <a:prstDash val="solid"/>
            <a:headEnd type="none" len="sm" w="sm"/>
            <a:tailEnd type="arrow" len="sm" w="med"/>
          </a:ln>
        </p:spPr>
      </p:sp>
      <p:sp>
        <p:nvSpPr>
          <p:cNvPr name="AutoShape 8" id="8"/>
          <p:cNvSpPr/>
          <p:nvPr/>
        </p:nvSpPr>
        <p:spPr>
          <a:xfrm flipV="true">
            <a:off x="11105543" y="4363039"/>
            <a:ext cx="1150537" cy="1477528"/>
          </a:xfrm>
          <a:prstGeom prst="line">
            <a:avLst/>
          </a:prstGeom>
          <a:ln cap="flat" w="38100">
            <a:gradFill>
              <a:gsLst>
                <a:gs pos="0">
                  <a:srgbClr val="23539D">
                    <a:alpha val="100000"/>
                  </a:srgbClr>
                </a:gs>
                <a:gs pos="50000">
                  <a:srgbClr val="78ACF1">
                    <a:alpha val="100000"/>
                  </a:srgbClr>
                </a:gs>
                <a:gs pos="100000">
                  <a:srgbClr val="A7C3E8">
                    <a:alpha val="100000"/>
                  </a:srgbClr>
                </a:gs>
              </a:gsLst>
              <a:lin ang="2700000"/>
            </a:gradFill>
            <a:prstDash val="solid"/>
            <a:headEnd type="none" len="sm" w="sm"/>
            <a:tailEnd type="arrow" len="sm" w="med"/>
          </a:ln>
        </p:spPr>
      </p:sp>
      <p:sp>
        <p:nvSpPr>
          <p:cNvPr name="AutoShape 9" id="9"/>
          <p:cNvSpPr/>
          <p:nvPr/>
        </p:nvSpPr>
        <p:spPr>
          <a:xfrm>
            <a:off x="11105543" y="5840568"/>
            <a:ext cx="1150537" cy="1478384"/>
          </a:xfrm>
          <a:prstGeom prst="line">
            <a:avLst/>
          </a:prstGeom>
          <a:ln cap="flat" w="38100">
            <a:gradFill>
              <a:gsLst>
                <a:gs pos="0">
                  <a:srgbClr val="23539D">
                    <a:alpha val="100000"/>
                  </a:srgbClr>
                </a:gs>
                <a:gs pos="50000">
                  <a:srgbClr val="78ACF1">
                    <a:alpha val="100000"/>
                  </a:srgbClr>
                </a:gs>
                <a:gs pos="100000">
                  <a:srgbClr val="A7C3E8">
                    <a:alpha val="100000"/>
                  </a:srgbClr>
                </a:gs>
              </a:gsLst>
              <a:lin ang="2700000"/>
            </a:gradFill>
            <a:prstDash val="solid"/>
            <a:headEnd type="none" len="sm" w="sm"/>
            <a:tailEnd type="arrow" len="sm" w="med"/>
          </a:ln>
        </p:spPr>
      </p:sp>
      <p:grpSp>
        <p:nvGrpSpPr>
          <p:cNvPr name="Group 10" id="10"/>
          <p:cNvGrpSpPr/>
          <p:nvPr/>
        </p:nvGrpSpPr>
        <p:grpSpPr>
          <a:xfrm rot="0">
            <a:off x="8418715" y="4497154"/>
            <a:ext cx="2686828" cy="2686828"/>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3539D">
                    <a:alpha val="100000"/>
                  </a:srgbClr>
                </a:gs>
                <a:gs pos="50000">
                  <a:srgbClr val="78ACF1">
                    <a:alpha val="100000"/>
                  </a:srgbClr>
                </a:gs>
                <a:gs pos="100000">
                  <a:srgbClr val="D3E6FF">
                    <a:alpha val="100000"/>
                  </a:srgbClr>
                </a:gs>
              </a:gsLst>
              <a:lin ang="2700000"/>
            </a:gra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219"/>
                </a:lnSpc>
              </a:pPr>
            </a:p>
          </p:txBody>
        </p:sp>
      </p:grpSp>
      <p:sp>
        <p:nvSpPr>
          <p:cNvPr name="TextBox 13" id="13"/>
          <p:cNvSpPr txBox="true"/>
          <p:nvPr/>
        </p:nvSpPr>
        <p:spPr>
          <a:xfrm rot="0">
            <a:off x="8462784" y="5226785"/>
            <a:ext cx="2642759" cy="1246616"/>
          </a:xfrm>
          <a:prstGeom prst="rect">
            <a:avLst/>
          </a:prstGeom>
        </p:spPr>
        <p:txBody>
          <a:bodyPr anchor="t" rtlCol="false" tIns="0" lIns="0" bIns="0" rIns="0">
            <a:spAutoFit/>
          </a:bodyPr>
          <a:lstStyle/>
          <a:p>
            <a:pPr algn="ctr">
              <a:lnSpc>
                <a:spcPts val="3290"/>
              </a:lnSpc>
            </a:pPr>
            <a:r>
              <a:rPr lang="en-US" b="true" sz="2911">
                <a:solidFill>
                  <a:srgbClr val="FFFFFF"/>
                </a:solidFill>
                <a:latin typeface="Open Sauce Bold"/>
                <a:ea typeface="Open Sauce Bold"/>
                <a:cs typeface="Open Sauce Bold"/>
                <a:sym typeface="Open Sauce Bold"/>
              </a:rPr>
              <a:t>Where to focus sales efforts</a:t>
            </a:r>
          </a:p>
        </p:txBody>
      </p:sp>
      <p:grpSp>
        <p:nvGrpSpPr>
          <p:cNvPr name="Group 14" id="14"/>
          <p:cNvGrpSpPr/>
          <p:nvPr/>
        </p:nvGrpSpPr>
        <p:grpSpPr>
          <a:xfrm rot="0">
            <a:off x="12256080" y="3770000"/>
            <a:ext cx="5003220" cy="1186078"/>
            <a:chOff x="0" y="0"/>
            <a:chExt cx="1245228" cy="295197"/>
          </a:xfrm>
        </p:grpSpPr>
        <p:sp>
          <p:nvSpPr>
            <p:cNvPr name="Freeform 15" id="15"/>
            <p:cNvSpPr/>
            <p:nvPr/>
          </p:nvSpPr>
          <p:spPr>
            <a:xfrm flipH="false" flipV="false" rot="0">
              <a:off x="0" y="0"/>
              <a:ext cx="1245228" cy="295197"/>
            </a:xfrm>
            <a:custGeom>
              <a:avLst/>
              <a:gdLst/>
              <a:ahLst/>
              <a:cxnLst/>
              <a:rect r="r" b="b" t="t" l="l"/>
              <a:pathLst>
                <a:path h="295197" w="1245228">
                  <a:moveTo>
                    <a:pt x="78917" y="0"/>
                  </a:moveTo>
                  <a:lnTo>
                    <a:pt x="1166311" y="0"/>
                  </a:lnTo>
                  <a:cubicBezTo>
                    <a:pt x="1187241" y="0"/>
                    <a:pt x="1207314" y="8314"/>
                    <a:pt x="1222113" y="23114"/>
                  </a:cubicBezTo>
                  <a:cubicBezTo>
                    <a:pt x="1236913" y="37914"/>
                    <a:pt x="1245228" y="57987"/>
                    <a:pt x="1245228" y="78917"/>
                  </a:cubicBezTo>
                  <a:lnTo>
                    <a:pt x="1245228" y="216280"/>
                  </a:lnTo>
                  <a:cubicBezTo>
                    <a:pt x="1245228" y="237211"/>
                    <a:pt x="1236913" y="257283"/>
                    <a:pt x="1222113" y="272083"/>
                  </a:cubicBezTo>
                  <a:cubicBezTo>
                    <a:pt x="1207314" y="286883"/>
                    <a:pt x="1187241" y="295197"/>
                    <a:pt x="1166311" y="295197"/>
                  </a:cubicBezTo>
                  <a:lnTo>
                    <a:pt x="78917" y="295197"/>
                  </a:lnTo>
                  <a:cubicBezTo>
                    <a:pt x="57987" y="295197"/>
                    <a:pt x="37914" y="286883"/>
                    <a:pt x="23114" y="272083"/>
                  </a:cubicBezTo>
                  <a:cubicBezTo>
                    <a:pt x="8314" y="257283"/>
                    <a:pt x="0" y="237211"/>
                    <a:pt x="0" y="216280"/>
                  </a:cubicBezTo>
                  <a:lnTo>
                    <a:pt x="0" y="78917"/>
                  </a:lnTo>
                  <a:cubicBezTo>
                    <a:pt x="0" y="57987"/>
                    <a:pt x="8314" y="37914"/>
                    <a:pt x="23114" y="23114"/>
                  </a:cubicBezTo>
                  <a:cubicBezTo>
                    <a:pt x="37914" y="8314"/>
                    <a:pt x="57987" y="0"/>
                    <a:pt x="78917" y="0"/>
                  </a:cubicBezTo>
                  <a:close/>
                </a:path>
              </a:pathLst>
            </a:custGeom>
            <a:gradFill rotWithShape="true">
              <a:gsLst>
                <a:gs pos="0">
                  <a:srgbClr val="23539D">
                    <a:alpha val="100000"/>
                  </a:srgbClr>
                </a:gs>
                <a:gs pos="50000">
                  <a:srgbClr val="78ACF1">
                    <a:alpha val="100000"/>
                  </a:srgbClr>
                </a:gs>
                <a:gs pos="100000">
                  <a:srgbClr val="A7C3E8">
                    <a:alpha val="100000"/>
                  </a:srgbClr>
                </a:gs>
              </a:gsLst>
              <a:lin ang="2700000"/>
            </a:gradFill>
          </p:spPr>
        </p:sp>
        <p:sp>
          <p:nvSpPr>
            <p:cNvPr name="TextBox 16" id="16"/>
            <p:cNvSpPr txBox="true"/>
            <p:nvPr/>
          </p:nvSpPr>
          <p:spPr>
            <a:xfrm>
              <a:off x="0" y="-47625"/>
              <a:ext cx="1245228" cy="342822"/>
            </a:xfrm>
            <a:prstGeom prst="rect">
              <a:avLst/>
            </a:prstGeom>
          </p:spPr>
          <p:txBody>
            <a:bodyPr anchor="ctr" rtlCol="false" tIns="50800" lIns="50800" bIns="50800" rIns="50800"/>
            <a:lstStyle/>
            <a:p>
              <a:pPr algn="ctr" marL="0" indent="0" lvl="0">
                <a:lnSpc>
                  <a:spcPts val="3219"/>
                </a:lnSpc>
                <a:spcBef>
                  <a:spcPct val="0"/>
                </a:spcBef>
              </a:pPr>
            </a:p>
          </p:txBody>
        </p:sp>
      </p:grpSp>
      <p:grpSp>
        <p:nvGrpSpPr>
          <p:cNvPr name="Group 17" id="17"/>
          <p:cNvGrpSpPr/>
          <p:nvPr/>
        </p:nvGrpSpPr>
        <p:grpSpPr>
          <a:xfrm rot="0">
            <a:off x="12256080" y="5247529"/>
            <a:ext cx="5003220" cy="1186078"/>
            <a:chOff x="0" y="0"/>
            <a:chExt cx="1245228" cy="295197"/>
          </a:xfrm>
        </p:grpSpPr>
        <p:sp>
          <p:nvSpPr>
            <p:cNvPr name="Freeform 18" id="18"/>
            <p:cNvSpPr/>
            <p:nvPr/>
          </p:nvSpPr>
          <p:spPr>
            <a:xfrm flipH="false" flipV="false" rot="0">
              <a:off x="0" y="0"/>
              <a:ext cx="1245228" cy="295197"/>
            </a:xfrm>
            <a:custGeom>
              <a:avLst/>
              <a:gdLst/>
              <a:ahLst/>
              <a:cxnLst/>
              <a:rect r="r" b="b" t="t" l="l"/>
              <a:pathLst>
                <a:path h="295197" w="1245228">
                  <a:moveTo>
                    <a:pt x="78917" y="0"/>
                  </a:moveTo>
                  <a:lnTo>
                    <a:pt x="1166311" y="0"/>
                  </a:lnTo>
                  <a:cubicBezTo>
                    <a:pt x="1187241" y="0"/>
                    <a:pt x="1207314" y="8314"/>
                    <a:pt x="1222113" y="23114"/>
                  </a:cubicBezTo>
                  <a:cubicBezTo>
                    <a:pt x="1236913" y="37914"/>
                    <a:pt x="1245228" y="57987"/>
                    <a:pt x="1245228" y="78917"/>
                  </a:cubicBezTo>
                  <a:lnTo>
                    <a:pt x="1245228" y="216280"/>
                  </a:lnTo>
                  <a:cubicBezTo>
                    <a:pt x="1245228" y="237211"/>
                    <a:pt x="1236913" y="257283"/>
                    <a:pt x="1222113" y="272083"/>
                  </a:cubicBezTo>
                  <a:cubicBezTo>
                    <a:pt x="1207314" y="286883"/>
                    <a:pt x="1187241" y="295197"/>
                    <a:pt x="1166311" y="295197"/>
                  </a:cubicBezTo>
                  <a:lnTo>
                    <a:pt x="78917" y="295197"/>
                  </a:lnTo>
                  <a:cubicBezTo>
                    <a:pt x="57987" y="295197"/>
                    <a:pt x="37914" y="286883"/>
                    <a:pt x="23114" y="272083"/>
                  </a:cubicBezTo>
                  <a:cubicBezTo>
                    <a:pt x="8314" y="257283"/>
                    <a:pt x="0" y="237211"/>
                    <a:pt x="0" y="216280"/>
                  </a:cubicBezTo>
                  <a:lnTo>
                    <a:pt x="0" y="78917"/>
                  </a:lnTo>
                  <a:cubicBezTo>
                    <a:pt x="0" y="57987"/>
                    <a:pt x="8314" y="37914"/>
                    <a:pt x="23114" y="23114"/>
                  </a:cubicBezTo>
                  <a:cubicBezTo>
                    <a:pt x="37914" y="8314"/>
                    <a:pt x="57987" y="0"/>
                    <a:pt x="78917" y="0"/>
                  </a:cubicBezTo>
                  <a:close/>
                </a:path>
              </a:pathLst>
            </a:custGeom>
            <a:gradFill rotWithShape="true">
              <a:gsLst>
                <a:gs pos="0">
                  <a:srgbClr val="23539D">
                    <a:alpha val="100000"/>
                  </a:srgbClr>
                </a:gs>
                <a:gs pos="50000">
                  <a:srgbClr val="78ACF1">
                    <a:alpha val="100000"/>
                  </a:srgbClr>
                </a:gs>
                <a:gs pos="100000">
                  <a:srgbClr val="A7C3E8">
                    <a:alpha val="100000"/>
                  </a:srgbClr>
                </a:gs>
              </a:gsLst>
              <a:lin ang="2700000"/>
            </a:gradFill>
          </p:spPr>
        </p:sp>
        <p:sp>
          <p:nvSpPr>
            <p:cNvPr name="TextBox 19" id="19"/>
            <p:cNvSpPr txBox="true"/>
            <p:nvPr/>
          </p:nvSpPr>
          <p:spPr>
            <a:xfrm>
              <a:off x="0" y="-47625"/>
              <a:ext cx="1245228" cy="342822"/>
            </a:xfrm>
            <a:prstGeom prst="rect">
              <a:avLst/>
            </a:prstGeom>
          </p:spPr>
          <p:txBody>
            <a:bodyPr anchor="ctr" rtlCol="false" tIns="50800" lIns="50800" bIns="50800" rIns="50800"/>
            <a:lstStyle/>
            <a:p>
              <a:pPr algn="ctr" marL="0" indent="0" lvl="0">
                <a:lnSpc>
                  <a:spcPts val="3219"/>
                </a:lnSpc>
                <a:spcBef>
                  <a:spcPct val="0"/>
                </a:spcBef>
              </a:pPr>
            </a:p>
          </p:txBody>
        </p:sp>
      </p:grpSp>
      <p:grpSp>
        <p:nvGrpSpPr>
          <p:cNvPr name="Group 20" id="20"/>
          <p:cNvGrpSpPr/>
          <p:nvPr/>
        </p:nvGrpSpPr>
        <p:grpSpPr>
          <a:xfrm rot="0">
            <a:off x="12256080" y="6725912"/>
            <a:ext cx="5003220" cy="1186078"/>
            <a:chOff x="0" y="0"/>
            <a:chExt cx="1245228" cy="295197"/>
          </a:xfrm>
        </p:grpSpPr>
        <p:sp>
          <p:nvSpPr>
            <p:cNvPr name="Freeform 21" id="21"/>
            <p:cNvSpPr/>
            <p:nvPr/>
          </p:nvSpPr>
          <p:spPr>
            <a:xfrm flipH="false" flipV="false" rot="0">
              <a:off x="0" y="0"/>
              <a:ext cx="1245228" cy="295197"/>
            </a:xfrm>
            <a:custGeom>
              <a:avLst/>
              <a:gdLst/>
              <a:ahLst/>
              <a:cxnLst/>
              <a:rect r="r" b="b" t="t" l="l"/>
              <a:pathLst>
                <a:path h="295197" w="1245228">
                  <a:moveTo>
                    <a:pt x="78917" y="0"/>
                  </a:moveTo>
                  <a:lnTo>
                    <a:pt x="1166311" y="0"/>
                  </a:lnTo>
                  <a:cubicBezTo>
                    <a:pt x="1187241" y="0"/>
                    <a:pt x="1207314" y="8314"/>
                    <a:pt x="1222113" y="23114"/>
                  </a:cubicBezTo>
                  <a:cubicBezTo>
                    <a:pt x="1236913" y="37914"/>
                    <a:pt x="1245228" y="57987"/>
                    <a:pt x="1245228" y="78917"/>
                  </a:cubicBezTo>
                  <a:lnTo>
                    <a:pt x="1245228" y="216280"/>
                  </a:lnTo>
                  <a:cubicBezTo>
                    <a:pt x="1245228" y="237211"/>
                    <a:pt x="1236913" y="257283"/>
                    <a:pt x="1222113" y="272083"/>
                  </a:cubicBezTo>
                  <a:cubicBezTo>
                    <a:pt x="1207314" y="286883"/>
                    <a:pt x="1187241" y="295197"/>
                    <a:pt x="1166311" y="295197"/>
                  </a:cubicBezTo>
                  <a:lnTo>
                    <a:pt x="78917" y="295197"/>
                  </a:lnTo>
                  <a:cubicBezTo>
                    <a:pt x="57987" y="295197"/>
                    <a:pt x="37914" y="286883"/>
                    <a:pt x="23114" y="272083"/>
                  </a:cubicBezTo>
                  <a:cubicBezTo>
                    <a:pt x="8314" y="257283"/>
                    <a:pt x="0" y="237211"/>
                    <a:pt x="0" y="216280"/>
                  </a:cubicBezTo>
                  <a:lnTo>
                    <a:pt x="0" y="78917"/>
                  </a:lnTo>
                  <a:cubicBezTo>
                    <a:pt x="0" y="57987"/>
                    <a:pt x="8314" y="37914"/>
                    <a:pt x="23114" y="23114"/>
                  </a:cubicBezTo>
                  <a:cubicBezTo>
                    <a:pt x="37914" y="8314"/>
                    <a:pt x="57987" y="0"/>
                    <a:pt x="78917" y="0"/>
                  </a:cubicBezTo>
                  <a:close/>
                </a:path>
              </a:pathLst>
            </a:custGeom>
            <a:gradFill rotWithShape="true">
              <a:gsLst>
                <a:gs pos="0">
                  <a:srgbClr val="23539D">
                    <a:alpha val="100000"/>
                  </a:srgbClr>
                </a:gs>
                <a:gs pos="50000">
                  <a:srgbClr val="78ACF1">
                    <a:alpha val="100000"/>
                  </a:srgbClr>
                </a:gs>
                <a:gs pos="100000">
                  <a:srgbClr val="A7C3E8">
                    <a:alpha val="100000"/>
                  </a:srgbClr>
                </a:gs>
              </a:gsLst>
              <a:lin ang="2700000"/>
            </a:gradFill>
          </p:spPr>
        </p:sp>
        <p:sp>
          <p:nvSpPr>
            <p:cNvPr name="TextBox 22" id="22"/>
            <p:cNvSpPr txBox="true"/>
            <p:nvPr/>
          </p:nvSpPr>
          <p:spPr>
            <a:xfrm>
              <a:off x="0" y="-47625"/>
              <a:ext cx="1245228" cy="342822"/>
            </a:xfrm>
            <a:prstGeom prst="rect">
              <a:avLst/>
            </a:prstGeom>
          </p:spPr>
          <p:txBody>
            <a:bodyPr anchor="ctr" rtlCol="false" tIns="50800" lIns="50800" bIns="50800" rIns="50800"/>
            <a:lstStyle/>
            <a:p>
              <a:pPr algn="ctr" marL="0" indent="0" lvl="0">
                <a:lnSpc>
                  <a:spcPts val="3219"/>
                </a:lnSpc>
                <a:spcBef>
                  <a:spcPct val="0"/>
                </a:spcBef>
              </a:pPr>
            </a:p>
          </p:txBody>
        </p:sp>
      </p:grpSp>
      <p:sp>
        <p:nvSpPr>
          <p:cNvPr name="TextBox 23" id="23"/>
          <p:cNvSpPr txBox="true"/>
          <p:nvPr/>
        </p:nvSpPr>
        <p:spPr>
          <a:xfrm rot="0">
            <a:off x="12714327" y="4000177"/>
            <a:ext cx="3612874" cy="725725"/>
          </a:xfrm>
          <a:prstGeom prst="rect">
            <a:avLst/>
          </a:prstGeom>
        </p:spPr>
        <p:txBody>
          <a:bodyPr anchor="t" rtlCol="false" tIns="0" lIns="0" bIns="0" rIns="0">
            <a:spAutoFit/>
          </a:bodyPr>
          <a:lstStyle/>
          <a:p>
            <a:pPr algn="l">
              <a:lnSpc>
                <a:spcPts val="2920"/>
              </a:lnSpc>
            </a:pPr>
            <a:r>
              <a:rPr lang="en-US" b="true" sz="2433">
                <a:solidFill>
                  <a:srgbClr val="FFFFFF"/>
                </a:solidFill>
                <a:latin typeface="Open Sauce Bold"/>
                <a:ea typeface="Open Sauce Bold"/>
                <a:cs typeface="Open Sauce Bold"/>
                <a:sym typeface="Open Sauce Bold"/>
              </a:rPr>
              <a:t>High-potential customer segments</a:t>
            </a:r>
          </a:p>
        </p:txBody>
      </p:sp>
      <p:sp>
        <p:nvSpPr>
          <p:cNvPr name="TextBox 24" id="24"/>
          <p:cNvSpPr txBox="true"/>
          <p:nvPr/>
        </p:nvSpPr>
        <p:spPr>
          <a:xfrm rot="0">
            <a:off x="12714327" y="5478133"/>
            <a:ext cx="3612874" cy="725725"/>
          </a:xfrm>
          <a:prstGeom prst="rect">
            <a:avLst/>
          </a:prstGeom>
        </p:spPr>
        <p:txBody>
          <a:bodyPr anchor="t" rtlCol="false" tIns="0" lIns="0" bIns="0" rIns="0">
            <a:spAutoFit/>
          </a:bodyPr>
          <a:lstStyle/>
          <a:p>
            <a:pPr algn="l">
              <a:lnSpc>
                <a:spcPts val="2920"/>
              </a:lnSpc>
            </a:pPr>
            <a:r>
              <a:rPr lang="en-US" b="true" sz="2433">
                <a:solidFill>
                  <a:srgbClr val="FFFFFF"/>
                </a:solidFill>
                <a:latin typeface="Open Sauce Bold"/>
                <a:ea typeface="Open Sauce Bold"/>
                <a:cs typeface="Open Sauce Bold"/>
                <a:sym typeface="Open Sauce Bold"/>
              </a:rPr>
              <a:t>High-potential customer segments</a:t>
            </a:r>
          </a:p>
        </p:txBody>
      </p:sp>
      <p:sp>
        <p:nvSpPr>
          <p:cNvPr name="TextBox 25" id="25"/>
          <p:cNvSpPr txBox="true"/>
          <p:nvPr/>
        </p:nvSpPr>
        <p:spPr>
          <a:xfrm rot="0">
            <a:off x="12714327" y="6956089"/>
            <a:ext cx="3612874" cy="725725"/>
          </a:xfrm>
          <a:prstGeom prst="rect">
            <a:avLst/>
          </a:prstGeom>
        </p:spPr>
        <p:txBody>
          <a:bodyPr anchor="t" rtlCol="false" tIns="0" lIns="0" bIns="0" rIns="0">
            <a:spAutoFit/>
          </a:bodyPr>
          <a:lstStyle/>
          <a:p>
            <a:pPr algn="l">
              <a:lnSpc>
                <a:spcPts val="2920"/>
              </a:lnSpc>
            </a:pPr>
            <a:r>
              <a:rPr lang="en-US" sz="2433" b="true">
                <a:solidFill>
                  <a:srgbClr val="FFFFFF"/>
                </a:solidFill>
                <a:latin typeface="Open Sauce Bold"/>
                <a:ea typeface="Open Sauce Bold"/>
                <a:cs typeface="Open Sauce Bold"/>
                <a:sym typeface="Open Sauce Bold"/>
              </a:rPr>
              <a:t>Accounts w</a:t>
            </a:r>
            <a:r>
              <a:rPr lang="en-US" b="true" sz="2433">
                <a:solidFill>
                  <a:srgbClr val="FFFFFF"/>
                </a:solidFill>
                <a:latin typeface="Open Sauce Bold"/>
                <a:ea typeface="Open Sauce Bold"/>
                <a:cs typeface="Open Sauce Bold"/>
                <a:sym typeface="Open Sauce Bold"/>
              </a:rPr>
              <a:t>ith repeat-buy potential</a:t>
            </a:r>
          </a:p>
        </p:txBody>
      </p:sp>
      <p:sp>
        <p:nvSpPr>
          <p:cNvPr name="Freeform 26" id="26"/>
          <p:cNvSpPr/>
          <p:nvPr/>
        </p:nvSpPr>
        <p:spPr>
          <a:xfrm flipH="false" flipV="false" rot="0">
            <a:off x="1028700" y="1018652"/>
            <a:ext cx="233616" cy="192664"/>
          </a:xfrm>
          <a:custGeom>
            <a:avLst/>
            <a:gdLst/>
            <a:ahLst/>
            <a:cxnLst/>
            <a:rect r="r" b="b" t="t" l="l"/>
            <a:pathLst>
              <a:path h="192664" w="233616">
                <a:moveTo>
                  <a:pt x="0" y="0"/>
                </a:moveTo>
                <a:lnTo>
                  <a:pt x="233616" y="0"/>
                </a:lnTo>
                <a:lnTo>
                  <a:pt x="233616" y="192664"/>
                </a:lnTo>
                <a:lnTo>
                  <a:pt x="0" y="1926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7" id="27"/>
          <p:cNvSpPr txBox="true"/>
          <p:nvPr/>
        </p:nvSpPr>
        <p:spPr>
          <a:xfrm rot="0">
            <a:off x="1385760" y="1020419"/>
            <a:ext cx="1629879" cy="217704"/>
          </a:xfrm>
          <a:prstGeom prst="rect">
            <a:avLst/>
          </a:prstGeom>
        </p:spPr>
        <p:txBody>
          <a:bodyPr anchor="t" rtlCol="false" tIns="0" lIns="0" bIns="0" rIns="0">
            <a:spAutoFit/>
          </a:bodyPr>
          <a:lstStyle/>
          <a:p>
            <a:pPr algn="l">
              <a:lnSpc>
                <a:spcPts val="1687"/>
              </a:lnSpc>
            </a:pPr>
            <a:r>
              <a:rPr lang="en-US" sz="1622" spc="-51">
                <a:solidFill>
                  <a:srgbClr val="FFFFFF"/>
                </a:solidFill>
                <a:latin typeface="Bricolage Grotesque"/>
                <a:ea typeface="Bricolage Grotesque"/>
                <a:cs typeface="Bricolage Grotesque"/>
                <a:sym typeface="Bricolage Grotesque"/>
              </a:rPr>
              <a:t>Logo Here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0">
            <a:off x="-715074" y="-4122493"/>
            <a:ext cx="20019133" cy="14181606"/>
          </a:xfrm>
          <a:custGeom>
            <a:avLst/>
            <a:gdLst/>
            <a:ahLst/>
            <a:cxnLst/>
            <a:rect r="r" b="b" t="t" l="l"/>
            <a:pathLst>
              <a:path h="14181606" w="20019133">
                <a:moveTo>
                  <a:pt x="0" y="14181606"/>
                </a:moveTo>
                <a:lnTo>
                  <a:pt x="20019133" y="14181606"/>
                </a:lnTo>
                <a:lnTo>
                  <a:pt x="20019133" y="0"/>
                </a:lnTo>
                <a:lnTo>
                  <a:pt x="0" y="0"/>
                </a:lnTo>
                <a:lnTo>
                  <a:pt x="0" y="14181606"/>
                </a:lnTo>
                <a:close/>
              </a:path>
            </a:pathLst>
          </a:custGeom>
          <a:blipFill>
            <a:blip r:embed="rId2">
              <a:alphaModFix amt="84000"/>
            </a:blip>
            <a:stretch>
              <a:fillRect l="-3545" t="0" r="-2781" b="0"/>
            </a:stretch>
          </a:blipFill>
        </p:spPr>
      </p:sp>
      <p:sp>
        <p:nvSpPr>
          <p:cNvPr name="Freeform 3" id="3"/>
          <p:cNvSpPr/>
          <p:nvPr/>
        </p:nvSpPr>
        <p:spPr>
          <a:xfrm flipH="false" flipV="true" rot="-10800000">
            <a:off x="-865567" y="1195300"/>
            <a:ext cx="20019133" cy="14181606"/>
          </a:xfrm>
          <a:custGeom>
            <a:avLst/>
            <a:gdLst/>
            <a:ahLst/>
            <a:cxnLst/>
            <a:rect r="r" b="b" t="t" l="l"/>
            <a:pathLst>
              <a:path h="14181606" w="20019133">
                <a:moveTo>
                  <a:pt x="0" y="14181607"/>
                </a:moveTo>
                <a:lnTo>
                  <a:pt x="20019134" y="14181607"/>
                </a:lnTo>
                <a:lnTo>
                  <a:pt x="20019134" y="0"/>
                </a:lnTo>
                <a:lnTo>
                  <a:pt x="0" y="0"/>
                </a:lnTo>
                <a:lnTo>
                  <a:pt x="0" y="14181607"/>
                </a:lnTo>
                <a:close/>
              </a:path>
            </a:pathLst>
          </a:custGeom>
          <a:blipFill>
            <a:blip r:embed="rId2">
              <a:alphaModFix amt="84000"/>
            </a:blip>
            <a:stretch>
              <a:fillRect l="-3545" t="0" r="-2781" b="0"/>
            </a:stretch>
          </a:blipFill>
        </p:spPr>
      </p:sp>
      <p:grpSp>
        <p:nvGrpSpPr>
          <p:cNvPr name="Group 4" id="4"/>
          <p:cNvGrpSpPr/>
          <p:nvPr/>
        </p:nvGrpSpPr>
        <p:grpSpPr>
          <a:xfrm rot="0">
            <a:off x="1028700" y="5143500"/>
            <a:ext cx="4989095" cy="3637238"/>
            <a:chOff x="0" y="0"/>
            <a:chExt cx="1240929" cy="904684"/>
          </a:xfrm>
        </p:grpSpPr>
        <p:sp>
          <p:nvSpPr>
            <p:cNvPr name="Freeform 5" id="5"/>
            <p:cNvSpPr/>
            <p:nvPr/>
          </p:nvSpPr>
          <p:spPr>
            <a:xfrm flipH="false" flipV="false" rot="0">
              <a:off x="0" y="0"/>
              <a:ext cx="1240929" cy="904684"/>
            </a:xfrm>
            <a:custGeom>
              <a:avLst/>
              <a:gdLst/>
              <a:ahLst/>
              <a:cxnLst/>
              <a:rect r="r" b="b" t="t" l="l"/>
              <a:pathLst>
                <a:path h="904684" w="1240929">
                  <a:moveTo>
                    <a:pt x="29484" y="0"/>
                  </a:moveTo>
                  <a:lnTo>
                    <a:pt x="1211445" y="0"/>
                  </a:lnTo>
                  <a:cubicBezTo>
                    <a:pt x="1219265" y="0"/>
                    <a:pt x="1226764" y="3106"/>
                    <a:pt x="1232293" y="8636"/>
                  </a:cubicBezTo>
                  <a:cubicBezTo>
                    <a:pt x="1237823" y="14165"/>
                    <a:pt x="1240929" y="21664"/>
                    <a:pt x="1240929" y="29484"/>
                  </a:cubicBezTo>
                  <a:lnTo>
                    <a:pt x="1240929" y="875200"/>
                  </a:lnTo>
                  <a:cubicBezTo>
                    <a:pt x="1240929" y="891484"/>
                    <a:pt x="1227729" y="904684"/>
                    <a:pt x="1211445" y="904684"/>
                  </a:cubicBezTo>
                  <a:lnTo>
                    <a:pt x="29484" y="904684"/>
                  </a:lnTo>
                  <a:cubicBezTo>
                    <a:pt x="21664" y="904684"/>
                    <a:pt x="14165" y="901578"/>
                    <a:pt x="8636" y="896048"/>
                  </a:cubicBezTo>
                  <a:cubicBezTo>
                    <a:pt x="3106" y="890519"/>
                    <a:pt x="0" y="883020"/>
                    <a:pt x="0" y="875200"/>
                  </a:cubicBezTo>
                  <a:lnTo>
                    <a:pt x="0" y="29484"/>
                  </a:lnTo>
                  <a:cubicBezTo>
                    <a:pt x="0" y="21664"/>
                    <a:pt x="3106" y="14165"/>
                    <a:pt x="8636" y="8636"/>
                  </a:cubicBezTo>
                  <a:cubicBezTo>
                    <a:pt x="14165" y="3106"/>
                    <a:pt x="21664" y="0"/>
                    <a:pt x="29484" y="0"/>
                  </a:cubicBezTo>
                  <a:close/>
                </a:path>
              </a:pathLst>
            </a:custGeom>
            <a:ln w="38100" cap="sq">
              <a:gradFill>
                <a:gsLst>
                  <a:gs pos="0">
                    <a:srgbClr val="478CF6">
                      <a:alpha val="100000"/>
                    </a:srgbClr>
                  </a:gs>
                  <a:gs pos="100000">
                    <a:srgbClr val="FFFFFF">
                      <a:alpha val="100000"/>
                    </a:srgbClr>
                  </a:gs>
                </a:gsLst>
                <a:lin ang="2700000"/>
              </a:gradFill>
              <a:prstDash val="solid"/>
              <a:miter/>
            </a:ln>
          </p:spPr>
        </p:sp>
        <p:sp>
          <p:nvSpPr>
            <p:cNvPr name="TextBox 6" id="6"/>
            <p:cNvSpPr txBox="true"/>
            <p:nvPr/>
          </p:nvSpPr>
          <p:spPr>
            <a:xfrm>
              <a:off x="0" y="-47625"/>
              <a:ext cx="1240929" cy="952309"/>
            </a:xfrm>
            <a:prstGeom prst="rect">
              <a:avLst/>
            </a:prstGeom>
          </p:spPr>
          <p:txBody>
            <a:bodyPr anchor="ctr" rtlCol="false" tIns="50800" lIns="50800" bIns="50800" rIns="50800"/>
            <a:lstStyle/>
            <a:p>
              <a:pPr algn="ctr" marL="0" indent="0" lvl="0">
                <a:lnSpc>
                  <a:spcPts val="3219"/>
                </a:lnSpc>
                <a:spcBef>
                  <a:spcPct val="0"/>
                </a:spcBef>
              </a:pPr>
            </a:p>
          </p:txBody>
        </p:sp>
      </p:grpSp>
      <p:grpSp>
        <p:nvGrpSpPr>
          <p:cNvPr name="Group 7" id="7"/>
          <p:cNvGrpSpPr/>
          <p:nvPr/>
        </p:nvGrpSpPr>
        <p:grpSpPr>
          <a:xfrm rot="0">
            <a:off x="6649453" y="5143500"/>
            <a:ext cx="4989095" cy="3637238"/>
            <a:chOff x="0" y="0"/>
            <a:chExt cx="1240929" cy="904684"/>
          </a:xfrm>
        </p:grpSpPr>
        <p:sp>
          <p:nvSpPr>
            <p:cNvPr name="Freeform 8" id="8"/>
            <p:cNvSpPr/>
            <p:nvPr/>
          </p:nvSpPr>
          <p:spPr>
            <a:xfrm flipH="false" flipV="false" rot="0">
              <a:off x="0" y="0"/>
              <a:ext cx="1240929" cy="904684"/>
            </a:xfrm>
            <a:custGeom>
              <a:avLst/>
              <a:gdLst/>
              <a:ahLst/>
              <a:cxnLst/>
              <a:rect r="r" b="b" t="t" l="l"/>
              <a:pathLst>
                <a:path h="904684" w="1240929">
                  <a:moveTo>
                    <a:pt x="29484" y="0"/>
                  </a:moveTo>
                  <a:lnTo>
                    <a:pt x="1211445" y="0"/>
                  </a:lnTo>
                  <a:cubicBezTo>
                    <a:pt x="1219265" y="0"/>
                    <a:pt x="1226764" y="3106"/>
                    <a:pt x="1232293" y="8636"/>
                  </a:cubicBezTo>
                  <a:cubicBezTo>
                    <a:pt x="1237823" y="14165"/>
                    <a:pt x="1240929" y="21664"/>
                    <a:pt x="1240929" y="29484"/>
                  </a:cubicBezTo>
                  <a:lnTo>
                    <a:pt x="1240929" y="875200"/>
                  </a:lnTo>
                  <a:cubicBezTo>
                    <a:pt x="1240929" y="891484"/>
                    <a:pt x="1227729" y="904684"/>
                    <a:pt x="1211445" y="904684"/>
                  </a:cubicBezTo>
                  <a:lnTo>
                    <a:pt x="29484" y="904684"/>
                  </a:lnTo>
                  <a:cubicBezTo>
                    <a:pt x="21664" y="904684"/>
                    <a:pt x="14165" y="901578"/>
                    <a:pt x="8636" y="896048"/>
                  </a:cubicBezTo>
                  <a:cubicBezTo>
                    <a:pt x="3106" y="890519"/>
                    <a:pt x="0" y="883020"/>
                    <a:pt x="0" y="875200"/>
                  </a:cubicBezTo>
                  <a:lnTo>
                    <a:pt x="0" y="29484"/>
                  </a:lnTo>
                  <a:cubicBezTo>
                    <a:pt x="0" y="21664"/>
                    <a:pt x="3106" y="14165"/>
                    <a:pt x="8636" y="8636"/>
                  </a:cubicBezTo>
                  <a:cubicBezTo>
                    <a:pt x="14165" y="3106"/>
                    <a:pt x="21664" y="0"/>
                    <a:pt x="29484" y="0"/>
                  </a:cubicBezTo>
                  <a:close/>
                </a:path>
              </a:pathLst>
            </a:custGeom>
            <a:ln w="38100" cap="sq">
              <a:gradFill>
                <a:gsLst>
                  <a:gs pos="0">
                    <a:srgbClr val="478CF6">
                      <a:alpha val="100000"/>
                    </a:srgbClr>
                  </a:gs>
                  <a:gs pos="100000">
                    <a:srgbClr val="FFFFFF">
                      <a:alpha val="100000"/>
                    </a:srgbClr>
                  </a:gs>
                </a:gsLst>
                <a:lin ang="2700000"/>
              </a:gradFill>
              <a:prstDash val="solid"/>
              <a:miter/>
            </a:ln>
          </p:spPr>
        </p:sp>
        <p:sp>
          <p:nvSpPr>
            <p:cNvPr name="TextBox 9" id="9"/>
            <p:cNvSpPr txBox="true"/>
            <p:nvPr/>
          </p:nvSpPr>
          <p:spPr>
            <a:xfrm>
              <a:off x="0" y="-47625"/>
              <a:ext cx="1240929" cy="952309"/>
            </a:xfrm>
            <a:prstGeom prst="rect">
              <a:avLst/>
            </a:prstGeom>
          </p:spPr>
          <p:txBody>
            <a:bodyPr anchor="ctr" rtlCol="false" tIns="50800" lIns="50800" bIns="50800" rIns="50800"/>
            <a:lstStyle/>
            <a:p>
              <a:pPr algn="ctr" marL="0" indent="0" lvl="0">
                <a:lnSpc>
                  <a:spcPts val="3219"/>
                </a:lnSpc>
                <a:spcBef>
                  <a:spcPct val="0"/>
                </a:spcBef>
              </a:pPr>
            </a:p>
          </p:txBody>
        </p:sp>
      </p:grpSp>
      <p:grpSp>
        <p:nvGrpSpPr>
          <p:cNvPr name="Group 10" id="10"/>
          <p:cNvGrpSpPr/>
          <p:nvPr/>
        </p:nvGrpSpPr>
        <p:grpSpPr>
          <a:xfrm rot="0">
            <a:off x="12270205" y="5143500"/>
            <a:ext cx="4989095" cy="3637238"/>
            <a:chOff x="0" y="0"/>
            <a:chExt cx="1240929" cy="904684"/>
          </a:xfrm>
        </p:grpSpPr>
        <p:sp>
          <p:nvSpPr>
            <p:cNvPr name="Freeform 11" id="11"/>
            <p:cNvSpPr/>
            <p:nvPr/>
          </p:nvSpPr>
          <p:spPr>
            <a:xfrm flipH="false" flipV="false" rot="0">
              <a:off x="0" y="0"/>
              <a:ext cx="1240929" cy="904684"/>
            </a:xfrm>
            <a:custGeom>
              <a:avLst/>
              <a:gdLst/>
              <a:ahLst/>
              <a:cxnLst/>
              <a:rect r="r" b="b" t="t" l="l"/>
              <a:pathLst>
                <a:path h="904684" w="1240929">
                  <a:moveTo>
                    <a:pt x="29484" y="0"/>
                  </a:moveTo>
                  <a:lnTo>
                    <a:pt x="1211445" y="0"/>
                  </a:lnTo>
                  <a:cubicBezTo>
                    <a:pt x="1219265" y="0"/>
                    <a:pt x="1226764" y="3106"/>
                    <a:pt x="1232293" y="8636"/>
                  </a:cubicBezTo>
                  <a:cubicBezTo>
                    <a:pt x="1237823" y="14165"/>
                    <a:pt x="1240929" y="21664"/>
                    <a:pt x="1240929" y="29484"/>
                  </a:cubicBezTo>
                  <a:lnTo>
                    <a:pt x="1240929" y="875200"/>
                  </a:lnTo>
                  <a:cubicBezTo>
                    <a:pt x="1240929" y="891484"/>
                    <a:pt x="1227729" y="904684"/>
                    <a:pt x="1211445" y="904684"/>
                  </a:cubicBezTo>
                  <a:lnTo>
                    <a:pt x="29484" y="904684"/>
                  </a:lnTo>
                  <a:cubicBezTo>
                    <a:pt x="21664" y="904684"/>
                    <a:pt x="14165" y="901578"/>
                    <a:pt x="8636" y="896048"/>
                  </a:cubicBezTo>
                  <a:cubicBezTo>
                    <a:pt x="3106" y="890519"/>
                    <a:pt x="0" y="883020"/>
                    <a:pt x="0" y="875200"/>
                  </a:cubicBezTo>
                  <a:lnTo>
                    <a:pt x="0" y="29484"/>
                  </a:lnTo>
                  <a:cubicBezTo>
                    <a:pt x="0" y="21664"/>
                    <a:pt x="3106" y="14165"/>
                    <a:pt x="8636" y="8636"/>
                  </a:cubicBezTo>
                  <a:cubicBezTo>
                    <a:pt x="14165" y="3106"/>
                    <a:pt x="21664" y="0"/>
                    <a:pt x="29484" y="0"/>
                  </a:cubicBezTo>
                  <a:close/>
                </a:path>
              </a:pathLst>
            </a:custGeom>
            <a:ln w="38100" cap="sq">
              <a:gradFill>
                <a:gsLst>
                  <a:gs pos="0">
                    <a:srgbClr val="478CF6">
                      <a:alpha val="100000"/>
                    </a:srgbClr>
                  </a:gs>
                  <a:gs pos="100000">
                    <a:srgbClr val="FFFFFF">
                      <a:alpha val="100000"/>
                    </a:srgbClr>
                  </a:gs>
                </a:gsLst>
                <a:lin ang="2700000"/>
              </a:gradFill>
              <a:prstDash val="solid"/>
              <a:miter/>
            </a:ln>
          </p:spPr>
        </p:sp>
        <p:sp>
          <p:nvSpPr>
            <p:cNvPr name="TextBox 12" id="12"/>
            <p:cNvSpPr txBox="true"/>
            <p:nvPr/>
          </p:nvSpPr>
          <p:spPr>
            <a:xfrm>
              <a:off x="0" y="-47625"/>
              <a:ext cx="1240929" cy="952309"/>
            </a:xfrm>
            <a:prstGeom prst="rect">
              <a:avLst/>
            </a:prstGeom>
          </p:spPr>
          <p:txBody>
            <a:bodyPr anchor="ctr" rtlCol="false" tIns="50800" lIns="50800" bIns="50800" rIns="50800"/>
            <a:lstStyle/>
            <a:p>
              <a:pPr algn="ctr" marL="0" indent="0" lvl="0">
                <a:lnSpc>
                  <a:spcPts val="3219"/>
                </a:lnSpc>
                <a:spcBef>
                  <a:spcPct val="0"/>
                </a:spcBef>
              </a:pPr>
            </a:p>
          </p:txBody>
        </p:sp>
      </p:grpSp>
      <p:sp>
        <p:nvSpPr>
          <p:cNvPr name="TextBox 13" id="13"/>
          <p:cNvSpPr txBox="true"/>
          <p:nvPr/>
        </p:nvSpPr>
        <p:spPr>
          <a:xfrm rot="0">
            <a:off x="12175420" y="9286875"/>
            <a:ext cx="5083880" cy="269240"/>
          </a:xfrm>
          <a:prstGeom prst="rect">
            <a:avLst/>
          </a:prstGeom>
        </p:spPr>
        <p:txBody>
          <a:bodyPr anchor="t" rtlCol="false" tIns="0" lIns="0" bIns="0" rIns="0">
            <a:spAutoFit/>
          </a:bodyPr>
          <a:lstStyle/>
          <a:p>
            <a:pPr algn="r">
              <a:lnSpc>
                <a:spcPts val="2080"/>
              </a:lnSpc>
            </a:pPr>
            <a:r>
              <a:rPr lang="en-US" sz="2000" spc="-64">
                <a:solidFill>
                  <a:srgbClr val="FFFFFF"/>
                </a:solidFill>
                <a:latin typeface="Bricolage Grotesque"/>
                <a:ea typeface="Bricolage Grotesque"/>
                <a:cs typeface="Bricolage Grotesque"/>
                <a:sym typeface="Bricolage Grotesque"/>
              </a:rPr>
              <a:t>06</a:t>
            </a:r>
          </a:p>
        </p:txBody>
      </p:sp>
      <p:sp>
        <p:nvSpPr>
          <p:cNvPr name="TextBox 14" id="14"/>
          <p:cNvSpPr txBox="true"/>
          <p:nvPr/>
        </p:nvSpPr>
        <p:spPr>
          <a:xfrm rot="0">
            <a:off x="1760920" y="2327053"/>
            <a:ext cx="14766159" cy="1034373"/>
          </a:xfrm>
          <a:prstGeom prst="rect">
            <a:avLst/>
          </a:prstGeom>
        </p:spPr>
        <p:txBody>
          <a:bodyPr anchor="t" rtlCol="false" tIns="0" lIns="0" bIns="0" rIns="0">
            <a:spAutoFit/>
          </a:bodyPr>
          <a:lstStyle/>
          <a:p>
            <a:pPr algn="ctr" marL="0" indent="0" lvl="0">
              <a:lnSpc>
                <a:spcPts val="7334"/>
              </a:lnSpc>
              <a:spcBef>
                <a:spcPct val="0"/>
              </a:spcBef>
            </a:pPr>
            <a:r>
              <a:rPr lang="en-US" sz="8836" spc="-282">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S</a:t>
            </a:r>
            <a:r>
              <a:rPr lang="en-US" sz="8836" spc="-282" strike="noStrike" u="none">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ales Strategy &amp; Approach</a:t>
            </a:r>
          </a:p>
        </p:txBody>
      </p:sp>
      <p:sp>
        <p:nvSpPr>
          <p:cNvPr name="TextBox 15" id="15"/>
          <p:cNvSpPr txBox="true"/>
          <p:nvPr/>
        </p:nvSpPr>
        <p:spPr>
          <a:xfrm rot="0">
            <a:off x="5401616" y="3686330"/>
            <a:ext cx="7484767" cy="547371"/>
          </a:xfrm>
          <a:prstGeom prst="rect">
            <a:avLst/>
          </a:prstGeom>
        </p:spPr>
        <p:txBody>
          <a:bodyPr anchor="t" rtlCol="false" tIns="0" lIns="0" bIns="0" rIns="0">
            <a:spAutoFit/>
          </a:bodyPr>
          <a:lstStyle/>
          <a:p>
            <a:pPr algn="ctr">
              <a:lnSpc>
                <a:spcPts val="4479"/>
              </a:lnSpc>
              <a:spcBef>
                <a:spcPct val="0"/>
              </a:spcBef>
            </a:pPr>
            <a:r>
              <a:rPr lang="en-US" sz="3199">
                <a:solidFill>
                  <a:srgbClr val="FFFFFF"/>
                </a:solidFill>
                <a:latin typeface="Bricolage Grotesque"/>
                <a:ea typeface="Bricolage Grotesque"/>
                <a:cs typeface="Bricolage Grotesque"/>
                <a:sym typeface="Bricolage Grotesque"/>
              </a:rPr>
              <a:t>How</a:t>
            </a:r>
            <a:r>
              <a:rPr lang="en-US" sz="3199">
                <a:solidFill>
                  <a:srgbClr val="FFFFFF"/>
                </a:solidFill>
                <a:latin typeface="Bricolage Grotesque"/>
                <a:ea typeface="Bricolage Grotesque"/>
                <a:cs typeface="Bricolage Grotesque"/>
                <a:sym typeface="Bricolage Grotesque"/>
              </a:rPr>
              <a:t> we will win in 2030</a:t>
            </a:r>
          </a:p>
        </p:txBody>
      </p:sp>
      <p:sp>
        <p:nvSpPr>
          <p:cNvPr name="TextBox 16" id="16"/>
          <p:cNvSpPr txBox="true"/>
          <p:nvPr/>
        </p:nvSpPr>
        <p:spPr>
          <a:xfrm rot="0">
            <a:off x="6906690" y="5997278"/>
            <a:ext cx="4474620" cy="469900"/>
          </a:xfrm>
          <a:prstGeom prst="rect">
            <a:avLst/>
          </a:prstGeom>
        </p:spPr>
        <p:txBody>
          <a:bodyPr anchor="t" rtlCol="false" tIns="0" lIns="0" bIns="0" rIns="0">
            <a:spAutoFit/>
          </a:bodyPr>
          <a:lstStyle/>
          <a:p>
            <a:pPr algn="l" marL="0" indent="0" lvl="0">
              <a:lnSpc>
                <a:spcPts val="3500"/>
              </a:lnSpc>
              <a:spcBef>
                <a:spcPct val="0"/>
              </a:spcBef>
            </a:pPr>
            <a:r>
              <a:rPr lang="en-US" sz="3500" strike="noStrike" u="none">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Value-based selling</a:t>
            </a:r>
          </a:p>
        </p:txBody>
      </p:sp>
      <p:sp>
        <p:nvSpPr>
          <p:cNvPr name="TextBox 17" id="17"/>
          <p:cNvSpPr txBox="true"/>
          <p:nvPr/>
        </p:nvSpPr>
        <p:spPr>
          <a:xfrm rot="0">
            <a:off x="1285937" y="5778203"/>
            <a:ext cx="4474620" cy="908050"/>
          </a:xfrm>
          <a:prstGeom prst="rect">
            <a:avLst/>
          </a:prstGeom>
        </p:spPr>
        <p:txBody>
          <a:bodyPr anchor="t" rtlCol="false" tIns="0" lIns="0" bIns="0" rIns="0">
            <a:spAutoFit/>
          </a:bodyPr>
          <a:lstStyle/>
          <a:p>
            <a:pPr algn="l" marL="0" indent="0" lvl="0">
              <a:lnSpc>
                <a:spcPts val="3500"/>
              </a:lnSpc>
              <a:spcBef>
                <a:spcPct val="0"/>
              </a:spcBef>
            </a:pPr>
            <a:r>
              <a:rPr lang="en-US" sz="3500" strike="noStrike" u="none">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Clear messaging and positioning</a:t>
            </a:r>
          </a:p>
        </p:txBody>
      </p:sp>
      <p:sp>
        <p:nvSpPr>
          <p:cNvPr name="TextBox 18" id="18"/>
          <p:cNvSpPr txBox="true"/>
          <p:nvPr/>
        </p:nvSpPr>
        <p:spPr>
          <a:xfrm rot="0">
            <a:off x="12527442" y="5559128"/>
            <a:ext cx="4474620" cy="1346200"/>
          </a:xfrm>
          <a:prstGeom prst="rect">
            <a:avLst/>
          </a:prstGeom>
        </p:spPr>
        <p:txBody>
          <a:bodyPr anchor="t" rtlCol="false" tIns="0" lIns="0" bIns="0" rIns="0">
            <a:spAutoFit/>
          </a:bodyPr>
          <a:lstStyle/>
          <a:p>
            <a:pPr algn="l">
              <a:lnSpc>
                <a:spcPts val="3500"/>
              </a:lnSpc>
            </a:pPr>
            <a:r>
              <a:rPr lang="en-US" sz="3500">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Consistent sales process across th</a:t>
            </a:r>
            <a:r>
              <a:rPr lang="en-US" sz="3500">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e team</a:t>
            </a:r>
          </a:p>
        </p:txBody>
      </p:sp>
      <p:sp>
        <p:nvSpPr>
          <p:cNvPr name="TextBox 19" id="19"/>
          <p:cNvSpPr txBox="true"/>
          <p:nvPr/>
        </p:nvSpPr>
        <p:spPr>
          <a:xfrm rot="0">
            <a:off x="1285937" y="7048203"/>
            <a:ext cx="4291857" cy="1313815"/>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sp>
        <p:nvSpPr>
          <p:cNvPr name="TextBox 20" id="20"/>
          <p:cNvSpPr txBox="true"/>
          <p:nvPr/>
        </p:nvSpPr>
        <p:spPr>
          <a:xfrm rot="0">
            <a:off x="6906690" y="7048203"/>
            <a:ext cx="4291857" cy="1313815"/>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sp>
        <p:nvSpPr>
          <p:cNvPr name="TextBox 21" id="21"/>
          <p:cNvSpPr txBox="true"/>
          <p:nvPr/>
        </p:nvSpPr>
        <p:spPr>
          <a:xfrm rot="0">
            <a:off x="12571431" y="7048203"/>
            <a:ext cx="4291857" cy="1313815"/>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sp>
        <p:nvSpPr>
          <p:cNvPr name="Freeform 22" id="22"/>
          <p:cNvSpPr/>
          <p:nvPr/>
        </p:nvSpPr>
        <p:spPr>
          <a:xfrm flipH="false" flipV="false" rot="0">
            <a:off x="1028700" y="1018652"/>
            <a:ext cx="233616" cy="192664"/>
          </a:xfrm>
          <a:custGeom>
            <a:avLst/>
            <a:gdLst/>
            <a:ahLst/>
            <a:cxnLst/>
            <a:rect r="r" b="b" t="t" l="l"/>
            <a:pathLst>
              <a:path h="192664" w="233616">
                <a:moveTo>
                  <a:pt x="0" y="0"/>
                </a:moveTo>
                <a:lnTo>
                  <a:pt x="233616" y="0"/>
                </a:lnTo>
                <a:lnTo>
                  <a:pt x="233616" y="192664"/>
                </a:lnTo>
                <a:lnTo>
                  <a:pt x="0" y="1926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3" id="23"/>
          <p:cNvSpPr txBox="true"/>
          <p:nvPr/>
        </p:nvSpPr>
        <p:spPr>
          <a:xfrm rot="0">
            <a:off x="1385760" y="1020419"/>
            <a:ext cx="1629879" cy="217704"/>
          </a:xfrm>
          <a:prstGeom prst="rect">
            <a:avLst/>
          </a:prstGeom>
        </p:spPr>
        <p:txBody>
          <a:bodyPr anchor="t" rtlCol="false" tIns="0" lIns="0" bIns="0" rIns="0">
            <a:spAutoFit/>
          </a:bodyPr>
          <a:lstStyle/>
          <a:p>
            <a:pPr algn="l">
              <a:lnSpc>
                <a:spcPts val="1687"/>
              </a:lnSpc>
            </a:pPr>
            <a:r>
              <a:rPr lang="en-US" sz="1622" spc="-51">
                <a:solidFill>
                  <a:srgbClr val="FFFFFF"/>
                </a:solidFill>
                <a:latin typeface="Bricolage Grotesque"/>
                <a:ea typeface="Bricolage Grotesque"/>
                <a:cs typeface="Bricolage Grotesque"/>
                <a:sym typeface="Bricolage Grotesque"/>
              </a:rPr>
              <a:t>Logo Here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9211811" y="-6489835"/>
            <a:ext cx="22146442" cy="15688597"/>
          </a:xfrm>
          <a:custGeom>
            <a:avLst/>
            <a:gdLst/>
            <a:ahLst/>
            <a:cxnLst/>
            <a:rect r="r" b="b" t="t" l="l"/>
            <a:pathLst>
              <a:path h="15688597" w="22146442">
                <a:moveTo>
                  <a:pt x="0" y="0"/>
                </a:moveTo>
                <a:lnTo>
                  <a:pt x="22146442" y="0"/>
                </a:lnTo>
                <a:lnTo>
                  <a:pt x="22146442" y="15688597"/>
                </a:lnTo>
                <a:lnTo>
                  <a:pt x="0" y="15688597"/>
                </a:lnTo>
                <a:lnTo>
                  <a:pt x="0" y="0"/>
                </a:lnTo>
                <a:close/>
              </a:path>
            </a:pathLst>
          </a:custGeom>
          <a:blipFill>
            <a:blip r:embed="rId2">
              <a:alphaModFix amt="81000"/>
            </a:blip>
            <a:stretch>
              <a:fillRect l="-3163" t="0" r="-3163" b="0"/>
            </a:stretch>
          </a:blipFill>
        </p:spPr>
      </p:sp>
      <p:sp>
        <p:nvSpPr>
          <p:cNvPr name="Freeform 3" id="3"/>
          <p:cNvSpPr/>
          <p:nvPr/>
        </p:nvSpPr>
        <p:spPr>
          <a:xfrm flipH="false" flipV="false" rot="-3345134">
            <a:off x="3644139" y="-5108316"/>
            <a:ext cx="22146442" cy="15688597"/>
          </a:xfrm>
          <a:custGeom>
            <a:avLst/>
            <a:gdLst/>
            <a:ahLst/>
            <a:cxnLst/>
            <a:rect r="r" b="b" t="t" l="l"/>
            <a:pathLst>
              <a:path h="15688597" w="22146442">
                <a:moveTo>
                  <a:pt x="0" y="0"/>
                </a:moveTo>
                <a:lnTo>
                  <a:pt x="22146442" y="0"/>
                </a:lnTo>
                <a:lnTo>
                  <a:pt x="22146442" y="15688597"/>
                </a:lnTo>
                <a:lnTo>
                  <a:pt x="0" y="15688597"/>
                </a:lnTo>
                <a:lnTo>
                  <a:pt x="0" y="0"/>
                </a:lnTo>
                <a:close/>
              </a:path>
            </a:pathLst>
          </a:custGeom>
          <a:blipFill>
            <a:blip r:embed="rId2">
              <a:alphaModFix amt="81000"/>
            </a:blip>
            <a:stretch>
              <a:fillRect l="-3163" t="0" r="-3163" b="0"/>
            </a:stretch>
          </a:blipFill>
        </p:spPr>
      </p:sp>
      <p:sp>
        <p:nvSpPr>
          <p:cNvPr name="TextBox 4" id="4"/>
          <p:cNvSpPr txBox="true"/>
          <p:nvPr/>
        </p:nvSpPr>
        <p:spPr>
          <a:xfrm rot="0">
            <a:off x="12175420" y="9286875"/>
            <a:ext cx="5083880" cy="269240"/>
          </a:xfrm>
          <a:prstGeom prst="rect">
            <a:avLst/>
          </a:prstGeom>
        </p:spPr>
        <p:txBody>
          <a:bodyPr anchor="t" rtlCol="false" tIns="0" lIns="0" bIns="0" rIns="0">
            <a:spAutoFit/>
          </a:bodyPr>
          <a:lstStyle/>
          <a:p>
            <a:pPr algn="r">
              <a:lnSpc>
                <a:spcPts val="2080"/>
              </a:lnSpc>
            </a:pPr>
            <a:r>
              <a:rPr lang="en-US" sz="2000" spc="-64">
                <a:solidFill>
                  <a:srgbClr val="FFFFFF"/>
                </a:solidFill>
                <a:latin typeface="Bricolage Grotesque"/>
                <a:ea typeface="Bricolage Grotesque"/>
                <a:cs typeface="Bricolage Grotesque"/>
                <a:sym typeface="Bricolage Grotesque"/>
              </a:rPr>
              <a:t>07</a:t>
            </a:r>
          </a:p>
        </p:txBody>
      </p:sp>
      <p:sp>
        <p:nvSpPr>
          <p:cNvPr name="TextBox 5" id="5"/>
          <p:cNvSpPr txBox="true"/>
          <p:nvPr/>
        </p:nvSpPr>
        <p:spPr>
          <a:xfrm rot="0">
            <a:off x="1028700" y="2327053"/>
            <a:ext cx="8115300" cy="1966759"/>
          </a:xfrm>
          <a:prstGeom prst="rect">
            <a:avLst/>
          </a:prstGeom>
        </p:spPr>
        <p:txBody>
          <a:bodyPr anchor="t" rtlCol="false" tIns="0" lIns="0" bIns="0" rIns="0">
            <a:spAutoFit/>
          </a:bodyPr>
          <a:lstStyle/>
          <a:p>
            <a:pPr algn="l" marL="0" indent="0" lvl="0">
              <a:lnSpc>
                <a:spcPts val="7334"/>
              </a:lnSpc>
              <a:spcBef>
                <a:spcPct val="0"/>
              </a:spcBef>
            </a:pPr>
            <a:r>
              <a:rPr lang="en-US" sz="8836" spc="-282">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Activit</a:t>
            </a:r>
            <a:r>
              <a:rPr lang="en-US" sz="8836" spc="-282" strike="noStrike" u="none">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y Expectations</a:t>
            </a:r>
          </a:p>
        </p:txBody>
      </p:sp>
      <p:sp>
        <p:nvSpPr>
          <p:cNvPr name="TextBox 6" id="6"/>
          <p:cNvSpPr txBox="true"/>
          <p:nvPr/>
        </p:nvSpPr>
        <p:spPr>
          <a:xfrm rot="0">
            <a:off x="1028700" y="4846262"/>
            <a:ext cx="7484767" cy="547371"/>
          </a:xfrm>
          <a:prstGeom prst="rect">
            <a:avLst/>
          </a:prstGeom>
        </p:spPr>
        <p:txBody>
          <a:bodyPr anchor="t" rtlCol="false" tIns="0" lIns="0" bIns="0" rIns="0">
            <a:spAutoFit/>
          </a:bodyPr>
          <a:lstStyle/>
          <a:p>
            <a:pPr algn="l">
              <a:lnSpc>
                <a:spcPts val="4479"/>
              </a:lnSpc>
              <a:spcBef>
                <a:spcPct val="0"/>
              </a:spcBef>
            </a:pP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Wh</a:t>
            </a: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at success looks like day-to-day</a:t>
            </a:r>
          </a:p>
        </p:txBody>
      </p:sp>
      <p:sp>
        <p:nvSpPr>
          <p:cNvPr name="TextBox 7" id="7"/>
          <p:cNvSpPr txBox="true"/>
          <p:nvPr/>
        </p:nvSpPr>
        <p:spPr>
          <a:xfrm rot="0">
            <a:off x="1028700" y="5598050"/>
            <a:ext cx="6033365" cy="2313940"/>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name="TextBox 8" id="8"/>
          <p:cNvSpPr txBox="true"/>
          <p:nvPr/>
        </p:nvSpPr>
        <p:spPr>
          <a:xfrm rot="0">
            <a:off x="9789265" y="2302435"/>
            <a:ext cx="6077318" cy="389255"/>
          </a:xfrm>
          <a:prstGeom prst="rect">
            <a:avLst/>
          </a:prstGeom>
        </p:spPr>
        <p:txBody>
          <a:bodyPr anchor="t" rtlCol="false" tIns="0" lIns="0" bIns="0" rIns="0">
            <a:spAutoFit/>
          </a:bodyPr>
          <a:lstStyle/>
          <a:p>
            <a:pPr algn="l">
              <a:lnSpc>
                <a:spcPts val="3219"/>
              </a:lnSpc>
              <a:spcBef>
                <a:spcPct val="0"/>
              </a:spcBef>
            </a:pPr>
            <a:r>
              <a:rPr lang="en-US" b="true" sz="2299">
                <a:gradFill>
                  <a:gsLst>
                    <a:gs pos="0">
                      <a:srgbClr val="478CF6">
                        <a:alpha val="100000"/>
                      </a:srgbClr>
                    </a:gs>
                    <a:gs pos="100000">
                      <a:srgbClr val="C1E1FF">
                        <a:alpha val="100000"/>
                      </a:srgbClr>
                    </a:gs>
                  </a:gsLst>
                  <a:lin ang="2700000"/>
                </a:gradFill>
                <a:latin typeface="Open Sauce Bold"/>
                <a:ea typeface="Open Sauce Bold"/>
                <a:cs typeface="Open Sauce Bold"/>
                <a:sym typeface="Open Sauce Bold"/>
              </a:rPr>
              <a:t>Pipe</a:t>
            </a:r>
            <a:r>
              <a:rPr lang="en-US" b="true" sz="2299">
                <a:gradFill>
                  <a:gsLst>
                    <a:gs pos="0">
                      <a:srgbClr val="478CF6">
                        <a:alpha val="100000"/>
                      </a:srgbClr>
                    </a:gs>
                    <a:gs pos="100000">
                      <a:srgbClr val="C1E1FF">
                        <a:alpha val="100000"/>
                      </a:srgbClr>
                    </a:gs>
                  </a:gsLst>
                  <a:lin ang="2700000"/>
                </a:gradFill>
                <a:latin typeface="Open Sauce Bold"/>
                <a:ea typeface="Open Sauce Bold"/>
                <a:cs typeface="Open Sauce Bold"/>
                <a:sym typeface="Open Sauce Bold"/>
              </a:rPr>
              <a:t>line coverage targets</a:t>
            </a:r>
          </a:p>
        </p:txBody>
      </p:sp>
      <p:sp>
        <p:nvSpPr>
          <p:cNvPr name="TextBox 9" id="9"/>
          <p:cNvSpPr txBox="true"/>
          <p:nvPr/>
        </p:nvSpPr>
        <p:spPr>
          <a:xfrm rot="0">
            <a:off x="9374343" y="2853932"/>
            <a:ext cx="6781245" cy="980440"/>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sp>
        <p:nvSpPr>
          <p:cNvPr name="TextBox 10" id="10"/>
          <p:cNvSpPr txBox="true"/>
          <p:nvPr/>
        </p:nvSpPr>
        <p:spPr>
          <a:xfrm rot="0">
            <a:off x="9789265" y="4287902"/>
            <a:ext cx="6077318" cy="389255"/>
          </a:xfrm>
          <a:prstGeom prst="rect">
            <a:avLst/>
          </a:prstGeom>
        </p:spPr>
        <p:txBody>
          <a:bodyPr anchor="t" rtlCol="false" tIns="0" lIns="0" bIns="0" rIns="0">
            <a:spAutoFit/>
          </a:bodyPr>
          <a:lstStyle/>
          <a:p>
            <a:pPr algn="l" marL="0" indent="0" lvl="0">
              <a:lnSpc>
                <a:spcPts val="3219"/>
              </a:lnSpc>
              <a:spcBef>
                <a:spcPct val="0"/>
              </a:spcBef>
            </a:pPr>
            <a:r>
              <a:rPr lang="en-US" b="true" sz="2299" strike="noStrike" u="none">
                <a:gradFill>
                  <a:gsLst>
                    <a:gs pos="0">
                      <a:srgbClr val="478CF6">
                        <a:alpha val="100000"/>
                      </a:srgbClr>
                    </a:gs>
                    <a:gs pos="100000">
                      <a:srgbClr val="C1E1FF">
                        <a:alpha val="100000"/>
                      </a:srgbClr>
                    </a:gs>
                  </a:gsLst>
                  <a:lin ang="2700000"/>
                </a:gradFill>
                <a:latin typeface="Open Sauce Bold"/>
                <a:ea typeface="Open Sauce Bold"/>
                <a:cs typeface="Open Sauce Bold"/>
                <a:sym typeface="Open Sauce Bold"/>
              </a:rPr>
              <a:t>Activity benchmarks</a:t>
            </a:r>
          </a:p>
        </p:txBody>
      </p:sp>
      <p:sp>
        <p:nvSpPr>
          <p:cNvPr name="TextBox 11" id="11"/>
          <p:cNvSpPr txBox="true"/>
          <p:nvPr/>
        </p:nvSpPr>
        <p:spPr>
          <a:xfrm rot="0">
            <a:off x="9374343" y="4839400"/>
            <a:ext cx="6781245" cy="980440"/>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sp>
        <p:nvSpPr>
          <p:cNvPr name="TextBox 12" id="12"/>
          <p:cNvSpPr txBox="true"/>
          <p:nvPr/>
        </p:nvSpPr>
        <p:spPr>
          <a:xfrm rot="0">
            <a:off x="9789265" y="6335760"/>
            <a:ext cx="6077318" cy="389255"/>
          </a:xfrm>
          <a:prstGeom prst="rect">
            <a:avLst/>
          </a:prstGeom>
        </p:spPr>
        <p:txBody>
          <a:bodyPr anchor="t" rtlCol="false" tIns="0" lIns="0" bIns="0" rIns="0">
            <a:spAutoFit/>
          </a:bodyPr>
          <a:lstStyle/>
          <a:p>
            <a:pPr algn="l" marL="0" indent="0" lvl="0">
              <a:lnSpc>
                <a:spcPts val="3219"/>
              </a:lnSpc>
              <a:spcBef>
                <a:spcPct val="0"/>
              </a:spcBef>
            </a:pPr>
            <a:r>
              <a:rPr lang="en-US" b="true" sz="2299" strike="noStrike" u="none">
                <a:gradFill>
                  <a:gsLst>
                    <a:gs pos="0">
                      <a:srgbClr val="478CF6">
                        <a:alpha val="100000"/>
                      </a:srgbClr>
                    </a:gs>
                    <a:gs pos="100000">
                      <a:srgbClr val="C1E1FF">
                        <a:alpha val="100000"/>
                      </a:srgbClr>
                    </a:gs>
                  </a:gsLst>
                  <a:lin ang="2700000"/>
                </a:gradFill>
                <a:latin typeface="Open Sauce Bold"/>
                <a:ea typeface="Open Sauce Bold"/>
                <a:cs typeface="Open Sauce Bold"/>
                <a:sym typeface="Open Sauce Bold"/>
              </a:rPr>
              <a:t>CRM usage and tracking expectations</a:t>
            </a:r>
          </a:p>
        </p:txBody>
      </p:sp>
      <p:sp>
        <p:nvSpPr>
          <p:cNvPr name="TextBox 13" id="13"/>
          <p:cNvSpPr txBox="true"/>
          <p:nvPr/>
        </p:nvSpPr>
        <p:spPr>
          <a:xfrm rot="0">
            <a:off x="9374343" y="6887257"/>
            <a:ext cx="6781245" cy="980440"/>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sp>
        <p:nvSpPr>
          <p:cNvPr name="AutoShape 14" id="14"/>
          <p:cNvSpPr/>
          <p:nvPr/>
        </p:nvSpPr>
        <p:spPr>
          <a:xfrm>
            <a:off x="9374343" y="4106473"/>
            <a:ext cx="6492240" cy="0"/>
          </a:xfrm>
          <a:prstGeom prst="line">
            <a:avLst/>
          </a:prstGeom>
          <a:ln cap="flat" w="9525">
            <a:gradFill>
              <a:gsLst>
                <a:gs pos="0">
                  <a:srgbClr val="478CF6">
                    <a:alpha val="100000"/>
                  </a:srgbClr>
                </a:gs>
                <a:gs pos="100000">
                  <a:srgbClr val="FFFFFF">
                    <a:alpha val="100000"/>
                  </a:srgbClr>
                </a:gs>
              </a:gsLst>
              <a:lin ang="2700000"/>
            </a:gradFill>
            <a:prstDash val="solid"/>
            <a:headEnd type="none" len="sm" w="sm"/>
            <a:tailEnd type="none" len="sm" w="sm"/>
          </a:ln>
        </p:spPr>
      </p:sp>
      <p:sp>
        <p:nvSpPr>
          <p:cNvPr name="AutoShape 15" id="15"/>
          <p:cNvSpPr/>
          <p:nvPr/>
        </p:nvSpPr>
        <p:spPr>
          <a:xfrm>
            <a:off x="9374343" y="6123136"/>
            <a:ext cx="6492240" cy="0"/>
          </a:xfrm>
          <a:prstGeom prst="line">
            <a:avLst/>
          </a:prstGeom>
          <a:ln cap="flat" w="9525">
            <a:gradFill>
              <a:gsLst>
                <a:gs pos="0">
                  <a:srgbClr val="478CF6">
                    <a:alpha val="100000"/>
                  </a:srgbClr>
                </a:gs>
                <a:gs pos="100000">
                  <a:srgbClr val="FFFFFF">
                    <a:alpha val="100000"/>
                  </a:srgbClr>
                </a:gs>
              </a:gsLst>
              <a:lin ang="2700000"/>
            </a:gradFill>
            <a:prstDash val="solid"/>
            <a:headEnd type="none" len="sm" w="sm"/>
            <a:tailEnd type="none" len="sm" w="sm"/>
          </a:ln>
        </p:spPr>
      </p:sp>
      <p:grpSp>
        <p:nvGrpSpPr>
          <p:cNvPr name="Group 16" id="16"/>
          <p:cNvGrpSpPr/>
          <p:nvPr/>
        </p:nvGrpSpPr>
        <p:grpSpPr>
          <a:xfrm rot="0">
            <a:off x="9374343" y="2363762"/>
            <a:ext cx="314225" cy="31422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599FF"/>
            </a:solidFill>
          </p:spPr>
        </p:sp>
        <p:sp>
          <p:nvSpPr>
            <p:cNvPr name="TextBox 18" id="18"/>
            <p:cNvSpPr txBox="true"/>
            <p:nvPr/>
          </p:nvSpPr>
          <p:spPr>
            <a:xfrm>
              <a:off x="76200" y="57150"/>
              <a:ext cx="660400" cy="679450"/>
            </a:xfrm>
            <a:prstGeom prst="rect">
              <a:avLst/>
            </a:prstGeom>
          </p:spPr>
          <p:txBody>
            <a:bodyPr anchor="ctr" rtlCol="false" tIns="0" lIns="0" bIns="0" rIns="0"/>
            <a:lstStyle/>
            <a:p>
              <a:pPr algn="ctr">
                <a:lnSpc>
                  <a:spcPts val="1820"/>
                </a:lnSpc>
              </a:pPr>
              <a:r>
                <a:rPr lang="en-US" b="true" sz="1300">
                  <a:solidFill>
                    <a:srgbClr val="FFFFFF"/>
                  </a:solidFill>
                  <a:latin typeface="Open Sauce Bold"/>
                  <a:ea typeface="Open Sauce Bold"/>
                  <a:cs typeface="Open Sauce Bold"/>
                  <a:sym typeface="Open Sauce Bold"/>
                </a:rPr>
                <a:t>1</a:t>
              </a:r>
            </a:p>
          </p:txBody>
        </p:sp>
      </p:grpSp>
      <p:grpSp>
        <p:nvGrpSpPr>
          <p:cNvPr name="Group 19" id="19"/>
          <p:cNvGrpSpPr/>
          <p:nvPr/>
        </p:nvGrpSpPr>
        <p:grpSpPr>
          <a:xfrm rot="0">
            <a:off x="9374343" y="4335527"/>
            <a:ext cx="314225" cy="314225"/>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599FF"/>
            </a:solidFill>
          </p:spPr>
        </p:sp>
        <p:sp>
          <p:nvSpPr>
            <p:cNvPr name="TextBox 21" id="21"/>
            <p:cNvSpPr txBox="true"/>
            <p:nvPr/>
          </p:nvSpPr>
          <p:spPr>
            <a:xfrm>
              <a:off x="76200" y="57150"/>
              <a:ext cx="660400" cy="679450"/>
            </a:xfrm>
            <a:prstGeom prst="rect">
              <a:avLst/>
            </a:prstGeom>
          </p:spPr>
          <p:txBody>
            <a:bodyPr anchor="ctr" rtlCol="false" tIns="0" lIns="0" bIns="0" rIns="0"/>
            <a:lstStyle/>
            <a:p>
              <a:pPr algn="ctr" marL="0" indent="0" lvl="0">
                <a:lnSpc>
                  <a:spcPts val="1820"/>
                </a:lnSpc>
                <a:spcBef>
                  <a:spcPct val="0"/>
                </a:spcBef>
              </a:pPr>
              <a:r>
                <a:rPr lang="en-US" b="true" sz="1300" strike="noStrike" u="none">
                  <a:solidFill>
                    <a:srgbClr val="FFFFFF"/>
                  </a:solidFill>
                  <a:latin typeface="Open Sauce Bold"/>
                  <a:ea typeface="Open Sauce Bold"/>
                  <a:cs typeface="Open Sauce Bold"/>
                  <a:sym typeface="Open Sauce Bold"/>
                </a:rPr>
                <a:t>2</a:t>
              </a:r>
            </a:p>
          </p:txBody>
        </p:sp>
      </p:grpSp>
      <p:grpSp>
        <p:nvGrpSpPr>
          <p:cNvPr name="Group 22" id="22"/>
          <p:cNvGrpSpPr/>
          <p:nvPr/>
        </p:nvGrpSpPr>
        <p:grpSpPr>
          <a:xfrm rot="0">
            <a:off x="9374343" y="6397087"/>
            <a:ext cx="314225" cy="314225"/>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599FF"/>
            </a:solidFill>
          </p:spPr>
        </p:sp>
        <p:sp>
          <p:nvSpPr>
            <p:cNvPr name="TextBox 24" id="24"/>
            <p:cNvSpPr txBox="true"/>
            <p:nvPr/>
          </p:nvSpPr>
          <p:spPr>
            <a:xfrm>
              <a:off x="76200" y="57150"/>
              <a:ext cx="660400" cy="679450"/>
            </a:xfrm>
            <a:prstGeom prst="rect">
              <a:avLst/>
            </a:prstGeom>
          </p:spPr>
          <p:txBody>
            <a:bodyPr anchor="ctr" rtlCol="false" tIns="0" lIns="0" bIns="0" rIns="0"/>
            <a:lstStyle/>
            <a:p>
              <a:pPr algn="ctr" marL="0" indent="0" lvl="0">
                <a:lnSpc>
                  <a:spcPts val="1820"/>
                </a:lnSpc>
                <a:spcBef>
                  <a:spcPct val="0"/>
                </a:spcBef>
              </a:pPr>
              <a:r>
                <a:rPr lang="en-US" b="true" sz="1300" strike="noStrike" u="none">
                  <a:solidFill>
                    <a:srgbClr val="FFFFFF"/>
                  </a:solidFill>
                  <a:latin typeface="Open Sauce Bold"/>
                  <a:ea typeface="Open Sauce Bold"/>
                  <a:cs typeface="Open Sauce Bold"/>
                  <a:sym typeface="Open Sauce Bold"/>
                </a:rPr>
                <a:t>3</a:t>
              </a:r>
            </a:p>
          </p:txBody>
        </p:sp>
      </p:grpSp>
      <p:sp>
        <p:nvSpPr>
          <p:cNvPr name="Freeform 25" id="25"/>
          <p:cNvSpPr/>
          <p:nvPr/>
        </p:nvSpPr>
        <p:spPr>
          <a:xfrm flipH="false" flipV="false" rot="0">
            <a:off x="1028700" y="1018652"/>
            <a:ext cx="233616" cy="192664"/>
          </a:xfrm>
          <a:custGeom>
            <a:avLst/>
            <a:gdLst/>
            <a:ahLst/>
            <a:cxnLst/>
            <a:rect r="r" b="b" t="t" l="l"/>
            <a:pathLst>
              <a:path h="192664" w="233616">
                <a:moveTo>
                  <a:pt x="0" y="0"/>
                </a:moveTo>
                <a:lnTo>
                  <a:pt x="233616" y="0"/>
                </a:lnTo>
                <a:lnTo>
                  <a:pt x="233616" y="192664"/>
                </a:lnTo>
                <a:lnTo>
                  <a:pt x="0" y="1926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6" id="26"/>
          <p:cNvSpPr txBox="true"/>
          <p:nvPr/>
        </p:nvSpPr>
        <p:spPr>
          <a:xfrm rot="0">
            <a:off x="1385760" y="1020419"/>
            <a:ext cx="1629879" cy="217704"/>
          </a:xfrm>
          <a:prstGeom prst="rect">
            <a:avLst/>
          </a:prstGeom>
        </p:spPr>
        <p:txBody>
          <a:bodyPr anchor="t" rtlCol="false" tIns="0" lIns="0" bIns="0" rIns="0">
            <a:spAutoFit/>
          </a:bodyPr>
          <a:lstStyle/>
          <a:p>
            <a:pPr algn="l">
              <a:lnSpc>
                <a:spcPts val="1687"/>
              </a:lnSpc>
            </a:pPr>
            <a:r>
              <a:rPr lang="en-US" sz="1622" spc="-51">
                <a:solidFill>
                  <a:srgbClr val="FFFFFF"/>
                </a:solidFill>
                <a:latin typeface="Bricolage Grotesque"/>
                <a:ea typeface="Bricolage Grotesque"/>
                <a:cs typeface="Bricolage Grotesque"/>
                <a:sym typeface="Bricolage Grotesque"/>
              </a:rPr>
              <a:t>Logo Here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7855871">
            <a:off x="-379208" y="-5136922"/>
            <a:ext cx="22146442" cy="15688597"/>
          </a:xfrm>
          <a:custGeom>
            <a:avLst/>
            <a:gdLst/>
            <a:ahLst/>
            <a:cxnLst/>
            <a:rect r="r" b="b" t="t" l="l"/>
            <a:pathLst>
              <a:path h="15688597" w="22146442">
                <a:moveTo>
                  <a:pt x="0" y="0"/>
                </a:moveTo>
                <a:lnTo>
                  <a:pt x="22146442" y="0"/>
                </a:lnTo>
                <a:lnTo>
                  <a:pt x="22146442" y="15688598"/>
                </a:lnTo>
                <a:lnTo>
                  <a:pt x="0" y="15688598"/>
                </a:lnTo>
                <a:lnTo>
                  <a:pt x="0" y="0"/>
                </a:lnTo>
                <a:close/>
              </a:path>
            </a:pathLst>
          </a:custGeom>
          <a:blipFill>
            <a:blip r:embed="rId2">
              <a:alphaModFix amt="81000"/>
            </a:blip>
            <a:stretch>
              <a:fillRect l="-3163" t="0" r="-3163" b="0"/>
            </a:stretch>
          </a:blipFill>
        </p:spPr>
      </p:sp>
      <p:sp>
        <p:nvSpPr>
          <p:cNvPr name="Freeform 3" id="3"/>
          <p:cNvSpPr/>
          <p:nvPr/>
        </p:nvSpPr>
        <p:spPr>
          <a:xfrm flipH="false" flipV="false" rot="5400000">
            <a:off x="-6395241" y="1039314"/>
            <a:ext cx="22146442" cy="15688597"/>
          </a:xfrm>
          <a:custGeom>
            <a:avLst/>
            <a:gdLst/>
            <a:ahLst/>
            <a:cxnLst/>
            <a:rect r="r" b="b" t="t" l="l"/>
            <a:pathLst>
              <a:path h="15688597" w="22146442">
                <a:moveTo>
                  <a:pt x="0" y="0"/>
                </a:moveTo>
                <a:lnTo>
                  <a:pt x="22146442" y="0"/>
                </a:lnTo>
                <a:lnTo>
                  <a:pt x="22146442" y="15688597"/>
                </a:lnTo>
                <a:lnTo>
                  <a:pt x="0" y="15688597"/>
                </a:lnTo>
                <a:lnTo>
                  <a:pt x="0" y="0"/>
                </a:lnTo>
                <a:close/>
              </a:path>
            </a:pathLst>
          </a:custGeom>
          <a:blipFill>
            <a:blip r:embed="rId2">
              <a:alphaModFix amt="81000"/>
            </a:blip>
            <a:stretch>
              <a:fillRect l="-3163" t="0" r="-3163" b="0"/>
            </a:stretch>
          </a:blipFill>
        </p:spPr>
      </p:sp>
      <p:sp>
        <p:nvSpPr>
          <p:cNvPr name="TextBox 4" id="4"/>
          <p:cNvSpPr txBox="true"/>
          <p:nvPr/>
        </p:nvSpPr>
        <p:spPr>
          <a:xfrm rot="0">
            <a:off x="12175420" y="9286875"/>
            <a:ext cx="5083880" cy="269240"/>
          </a:xfrm>
          <a:prstGeom prst="rect">
            <a:avLst/>
          </a:prstGeom>
        </p:spPr>
        <p:txBody>
          <a:bodyPr anchor="t" rtlCol="false" tIns="0" lIns="0" bIns="0" rIns="0">
            <a:spAutoFit/>
          </a:bodyPr>
          <a:lstStyle/>
          <a:p>
            <a:pPr algn="r">
              <a:lnSpc>
                <a:spcPts val="2080"/>
              </a:lnSpc>
            </a:pPr>
            <a:r>
              <a:rPr lang="en-US" sz="2000" spc="-64">
                <a:solidFill>
                  <a:srgbClr val="FFFFFF"/>
                </a:solidFill>
                <a:latin typeface="Bricolage Grotesque"/>
                <a:ea typeface="Bricolage Grotesque"/>
                <a:cs typeface="Bricolage Grotesque"/>
                <a:sym typeface="Bricolage Grotesque"/>
              </a:rPr>
              <a:t>08</a:t>
            </a:r>
          </a:p>
        </p:txBody>
      </p:sp>
      <p:sp>
        <p:nvSpPr>
          <p:cNvPr name="TextBox 5" id="5"/>
          <p:cNvSpPr txBox="true"/>
          <p:nvPr/>
        </p:nvSpPr>
        <p:spPr>
          <a:xfrm rot="0">
            <a:off x="1028700" y="2327053"/>
            <a:ext cx="11613572" cy="1038604"/>
          </a:xfrm>
          <a:prstGeom prst="rect">
            <a:avLst/>
          </a:prstGeom>
        </p:spPr>
        <p:txBody>
          <a:bodyPr anchor="t" rtlCol="false" tIns="0" lIns="0" bIns="0" rIns="0">
            <a:spAutoFit/>
          </a:bodyPr>
          <a:lstStyle/>
          <a:p>
            <a:pPr algn="l" marL="0" indent="0" lvl="0">
              <a:lnSpc>
                <a:spcPts val="7334"/>
              </a:lnSpc>
              <a:spcBef>
                <a:spcPct val="0"/>
              </a:spcBef>
            </a:pPr>
            <a:r>
              <a:rPr lang="en-US" sz="8836" spc="-282">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Ke</a:t>
            </a:r>
            <a:r>
              <a:rPr lang="en-US" sz="8836" spc="-282" strike="noStrike" u="none">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y Metrics &amp; KPIs</a:t>
            </a:r>
          </a:p>
        </p:txBody>
      </p:sp>
      <p:sp>
        <p:nvSpPr>
          <p:cNvPr name="TextBox 6" id="6"/>
          <p:cNvSpPr txBox="true"/>
          <p:nvPr/>
        </p:nvSpPr>
        <p:spPr>
          <a:xfrm rot="0">
            <a:off x="1028700" y="3757248"/>
            <a:ext cx="7484767" cy="547371"/>
          </a:xfrm>
          <a:prstGeom prst="rect">
            <a:avLst/>
          </a:prstGeom>
        </p:spPr>
        <p:txBody>
          <a:bodyPr anchor="t" rtlCol="false" tIns="0" lIns="0" bIns="0" rIns="0">
            <a:spAutoFit/>
          </a:bodyPr>
          <a:lstStyle/>
          <a:p>
            <a:pPr algn="l">
              <a:lnSpc>
                <a:spcPts val="4479"/>
              </a:lnSpc>
              <a:spcBef>
                <a:spcPct val="0"/>
              </a:spcBef>
            </a:pP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How perform</a:t>
            </a: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ance will be measured</a:t>
            </a:r>
          </a:p>
        </p:txBody>
      </p:sp>
      <p:grpSp>
        <p:nvGrpSpPr>
          <p:cNvPr name="Group 7" id="7"/>
          <p:cNvGrpSpPr/>
          <p:nvPr/>
        </p:nvGrpSpPr>
        <p:grpSpPr>
          <a:xfrm rot="0">
            <a:off x="1028700" y="4761819"/>
            <a:ext cx="321767" cy="314225"/>
            <a:chOff x="0" y="0"/>
            <a:chExt cx="832307" cy="812800"/>
          </a:xfrm>
        </p:grpSpPr>
        <p:sp>
          <p:nvSpPr>
            <p:cNvPr name="Freeform 8" id="8"/>
            <p:cNvSpPr/>
            <p:nvPr/>
          </p:nvSpPr>
          <p:spPr>
            <a:xfrm flipH="false" flipV="false" rot="0">
              <a:off x="0" y="0"/>
              <a:ext cx="832307" cy="812800"/>
            </a:xfrm>
            <a:custGeom>
              <a:avLst/>
              <a:gdLst/>
              <a:ahLst/>
              <a:cxnLst/>
              <a:rect r="r" b="b" t="t" l="l"/>
              <a:pathLst>
                <a:path h="812800" w="832307">
                  <a:moveTo>
                    <a:pt x="416154" y="0"/>
                  </a:moveTo>
                  <a:cubicBezTo>
                    <a:pt x="186318" y="0"/>
                    <a:pt x="0" y="181951"/>
                    <a:pt x="0" y="406400"/>
                  </a:cubicBezTo>
                  <a:cubicBezTo>
                    <a:pt x="0" y="630849"/>
                    <a:pt x="186318" y="812800"/>
                    <a:pt x="416154" y="812800"/>
                  </a:cubicBezTo>
                  <a:cubicBezTo>
                    <a:pt x="645989" y="812800"/>
                    <a:pt x="832307" y="630849"/>
                    <a:pt x="832307" y="406400"/>
                  </a:cubicBezTo>
                  <a:cubicBezTo>
                    <a:pt x="832307" y="181951"/>
                    <a:pt x="645989" y="0"/>
                    <a:pt x="416154" y="0"/>
                  </a:cubicBezTo>
                  <a:close/>
                </a:path>
              </a:pathLst>
            </a:custGeom>
            <a:solidFill>
              <a:srgbClr val="4187F1"/>
            </a:solidFill>
          </p:spPr>
        </p:sp>
        <p:sp>
          <p:nvSpPr>
            <p:cNvPr name="TextBox 9" id="9"/>
            <p:cNvSpPr txBox="true"/>
            <p:nvPr/>
          </p:nvSpPr>
          <p:spPr>
            <a:xfrm>
              <a:off x="78029" y="57150"/>
              <a:ext cx="676250" cy="679450"/>
            </a:xfrm>
            <a:prstGeom prst="rect">
              <a:avLst/>
            </a:prstGeom>
          </p:spPr>
          <p:txBody>
            <a:bodyPr anchor="ctr" rtlCol="false" tIns="0" lIns="0" bIns="0" rIns="0"/>
            <a:lstStyle/>
            <a:p>
              <a:pPr algn="ctr">
                <a:lnSpc>
                  <a:spcPts val="1820"/>
                </a:lnSpc>
              </a:pPr>
              <a:r>
                <a:rPr lang="en-US" b="true" sz="1300">
                  <a:solidFill>
                    <a:srgbClr val="FFFFFF"/>
                  </a:solidFill>
                  <a:latin typeface="Open Sauce Bold"/>
                  <a:ea typeface="Open Sauce Bold"/>
                  <a:cs typeface="Open Sauce Bold"/>
                  <a:sym typeface="Open Sauce Bold"/>
                </a:rPr>
                <a:t>1</a:t>
              </a:r>
            </a:p>
          </p:txBody>
        </p:sp>
      </p:grpSp>
      <p:sp>
        <p:nvSpPr>
          <p:cNvPr name="TextBox 10" id="10"/>
          <p:cNvSpPr txBox="true"/>
          <p:nvPr/>
        </p:nvSpPr>
        <p:spPr>
          <a:xfrm rot="0">
            <a:off x="1028700" y="5261403"/>
            <a:ext cx="4938795" cy="507366"/>
          </a:xfrm>
          <a:prstGeom prst="rect">
            <a:avLst/>
          </a:prstGeom>
        </p:spPr>
        <p:txBody>
          <a:bodyPr anchor="t" rtlCol="false" tIns="0" lIns="0" bIns="0" rIns="0">
            <a:spAutoFit/>
          </a:bodyPr>
          <a:lstStyle/>
          <a:p>
            <a:pPr algn="l">
              <a:lnSpc>
                <a:spcPts val="4059"/>
              </a:lnSpc>
              <a:spcBef>
                <a:spcPct val="0"/>
              </a:spcBef>
            </a:pPr>
            <a:r>
              <a:rPr lang="en-US" sz="2899">
                <a:gradFill>
                  <a:gsLst>
                    <a:gs pos="0">
                      <a:srgbClr val="478CF6">
                        <a:alpha val="100000"/>
                      </a:srgbClr>
                    </a:gs>
                    <a:gs pos="100000">
                      <a:srgbClr val="FFFFFF">
                        <a:alpha val="100000"/>
                      </a:srgbClr>
                    </a:gs>
                  </a:gsLst>
                  <a:lin ang="2700000"/>
                </a:gradFill>
                <a:latin typeface="Open Sauce"/>
                <a:ea typeface="Open Sauce"/>
                <a:cs typeface="Open Sauce"/>
                <a:sym typeface="Open Sauce"/>
              </a:rPr>
              <a:t>Reve</a:t>
            </a:r>
            <a:r>
              <a:rPr lang="en-US" sz="2899">
                <a:gradFill>
                  <a:gsLst>
                    <a:gs pos="0">
                      <a:srgbClr val="478CF6">
                        <a:alpha val="100000"/>
                      </a:srgbClr>
                    </a:gs>
                    <a:gs pos="100000">
                      <a:srgbClr val="FFFFFF">
                        <a:alpha val="100000"/>
                      </a:srgbClr>
                    </a:gs>
                  </a:gsLst>
                  <a:lin ang="2700000"/>
                </a:gradFill>
                <a:latin typeface="Open Sauce"/>
                <a:ea typeface="Open Sauce"/>
                <a:cs typeface="Open Sauce"/>
                <a:sym typeface="Open Sauce"/>
              </a:rPr>
              <a:t>nue &amp; conversion rate</a:t>
            </a:r>
          </a:p>
        </p:txBody>
      </p:sp>
      <p:sp>
        <p:nvSpPr>
          <p:cNvPr name="TextBox 11" id="11"/>
          <p:cNvSpPr txBox="true"/>
          <p:nvPr/>
        </p:nvSpPr>
        <p:spPr>
          <a:xfrm rot="0">
            <a:off x="1028700" y="5869733"/>
            <a:ext cx="4897197" cy="8712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grpSp>
        <p:nvGrpSpPr>
          <p:cNvPr name="Group 12" id="12"/>
          <p:cNvGrpSpPr/>
          <p:nvPr/>
        </p:nvGrpSpPr>
        <p:grpSpPr>
          <a:xfrm rot="0">
            <a:off x="6674603" y="4761819"/>
            <a:ext cx="321767" cy="314225"/>
            <a:chOff x="0" y="0"/>
            <a:chExt cx="832307" cy="812800"/>
          </a:xfrm>
        </p:grpSpPr>
        <p:sp>
          <p:nvSpPr>
            <p:cNvPr name="Freeform 13" id="13"/>
            <p:cNvSpPr/>
            <p:nvPr/>
          </p:nvSpPr>
          <p:spPr>
            <a:xfrm flipH="false" flipV="false" rot="0">
              <a:off x="0" y="0"/>
              <a:ext cx="832307" cy="812800"/>
            </a:xfrm>
            <a:custGeom>
              <a:avLst/>
              <a:gdLst/>
              <a:ahLst/>
              <a:cxnLst/>
              <a:rect r="r" b="b" t="t" l="l"/>
              <a:pathLst>
                <a:path h="812800" w="832307">
                  <a:moveTo>
                    <a:pt x="416154" y="0"/>
                  </a:moveTo>
                  <a:cubicBezTo>
                    <a:pt x="186318" y="0"/>
                    <a:pt x="0" y="181951"/>
                    <a:pt x="0" y="406400"/>
                  </a:cubicBezTo>
                  <a:cubicBezTo>
                    <a:pt x="0" y="630849"/>
                    <a:pt x="186318" y="812800"/>
                    <a:pt x="416154" y="812800"/>
                  </a:cubicBezTo>
                  <a:cubicBezTo>
                    <a:pt x="645989" y="812800"/>
                    <a:pt x="832307" y="630849"/>
                    <a:pt x="832307" y="406400"/>
                  </a:cubicBezTo>
                  <a:cubicBezTo>
                    <a:pt x="832307" y="181951"/>
                    <a:pt x="645989" y="0"/>
                    <a:pt x="416154" y="0"/>
                  </a:cubicBezTo>
                  <a:close/>
                </a:path>
              </a:pathLst>
            </a:custGeom>
            <a:solidFill>
              <a:srgbClr val="4187F1"/>
            </a:solidFill>
          </p:spPr>
        </p:sp>
        <p:sp>
          <p:nvSpPr>
            <p:cNvPr name="TextBox 14" id="14"/>
            <p:cNvSpPr txBox="true"/>
            <p:nvPr/>
          </p:nvSpPr>
          <p:spPr>
            <a:xfrm>
              <a:off x="78029" y="57150"/>
              <a:ext cx="676250" cy="679450"/>
            </a:xfrm>
            <a:prstGeom prst="rect">
              <a:avLst/>
            </a:prstGeom>
          </p:spPr>
          <p:txBody>
            <a:bodyPr anchor="ctr" rtlCol="false" tIns="0" lIns="0" bIns="0" rIns="0"/>
            <a:lstStyle/>
            <a:p>
              <a:pPr algn="ctr">
                <a:lnSpc>
                  <a:spcPts val="1820"/>
                </a:lnSpc>
              </a:pPr>
              <a:r>
                <a:rPr lang="en-US" b="true" sz="1300">
                  <a:solidFill>
                    <a:srgbClr val="FFFFFF"/>
                  </a:solidFill>
                  <a:latin typeface="Open Sauce Bold"/>
                  <a:ea typeface="Open Sauce Bold"/>
                  <a:cs typeface="Open Sauce Bold"/>
                  <a:sym typeface="Open Sauce Bold"/>
                </a:rPr>
                <a:t>2</a:t>
              </a:r>
            </a:p>
          </p:txBody>
        </p:sp>
      </p:grpSp>
      <p:sp>
        <p:nvSpPr>
          <p:cNvPr name="TextBox 15" id="15"/>
          <p:cNvSpPr txBox="true"/>
          <p:nvPr/>
        </p:nvSpPr>
        <p:spPr>
          <a:xfrm rot="0">
            <a:off x="6674603" y="5261403"/>
            <a:ext cx="4938795" cy="507366"/>
          </a:xfrm>
          <a:prstGeom prst="rect">
            <a:avLst/>
          </a:prstGeom>
        </p:spPr>
        <p:txBody>
          <a:bodyPr anchor="t" rtlCol="false" tIns="0" lIns="0" bIns="0" rIns="0">
            <a:spAutoFit/>
          </a:bodyPr>
          <a:lstStyle/>
          <a:p>
            <a:pPr algn="l">
              <a:lnSpc>
                <a:spcPts val="4059"/>
              </a:lnSpc>
              <a:spcBef>
                <a:spcPct val="0"/>
              </a:spcBef>
            </a:pPr>
            <a:r>
              <a:rPr lang="en-US" sz="2899">
                <a:gradFill>
                  <a:gsLst>
                    <a:gs pos="0">
                      <a:srgbClr val="478CF6">
                        <a:alpha val="100000"/>
                      </a:srgbClr>
                    </a:gs>
                    <a:gs pos="100000">
                      <a:srgbClr val="FFFFFF">
                        <a:alpha val="100000"/>
                      </a:srgbClr>
                    </a:gs>
                  </a:gsLst>
                  <a:lin ang="2700000"/>
                </a:gradFill>
                <a:latin typeface="Open Sauce"/>
                <a:ea typeface="Open Sauce"/>
                <a:cs typeface="Open Sauce"/>
                <a:sym typeface="Open Sauce"/>
              </a:rPr>
              <a:t>Averag</a:t>
            </a:r>
            <a:r>
              <a:rPr lang="en-US" sz="2899">
                <a:gradFill>
                  <a:gsLst>
                    <a:gs pos="0">
                      <a:srgbClr val="478CF6">
                        <a:alpha val="100000"/>
                      </a:srgbClr>
                    </a:gs>
                    <a:gs pos="100000">
                      <a:srgbClr val="FFFFFF">
                        <a:alpha val="100000"/>
                      </a:srgbClr>
                    </a:gs>
                  </a:gsLst>
                  <a:lin ang="2700000"/>
                </a:gradFill>
                <a:latin typeface="Open Sauce"/>
                <a:ea typeface="Open Sauce"/>
                <a:cs typeface="Open Sauce"/>
                <a:sym typeface="Open Sauce"/>
              </a:rPr>
              <a:t>e deal size</a:t>
            </a:r>
          </a:p>
        </p:txBody>
      </p:sp>
      <p:sp>
        <p:nvSpPr>
          <p:cNvPr name="TextBox 16" id="16"/>
          <p:cNvSpPr txBox="true"/>
          <p:nvPr/>
        </p:nvSpPr>
        <p:spPr>
          <a:xfrm rot="0">
            <a:off x="6674603" y="5869733"/>
            <a:ext cx="4897197" cy="8712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grpSp>
        <p:nvGrpSpPr>
          <p:cNvPr name="Group 17" id="17"/>
          <p:cNvGrpSpPr/>
          <p:nvPr/>
        </p:nvGrpSpPr>
        <p:grpSpPr>
          <a:xfrm rot="0">
            <a:off x="12320505" y="4761819"/>
            <a:ext cx="321767" cy="314225"/>
            <a:chOff x="0" y="0"/>
            <a:chExt cx="832307" cy="812800"/>
          </a:xfrm>
        </p:grpSpPr>
        <p:sp>
          <p:nvSpPr>
            <p:cNvPr name="Freeform 18" id="18"/>
            <p:cNvSpPr/>
            <p:nvPr/>
          </p:nvSpPr>
          <p:spPr>
            <a:xfrm flipH="false" flipV="false" rot="0">
              <a:off x="0" y="0"/>
              <a:ext cx="832307" cy="812800"/>
            </a:xfrm>
            <a:custGeom>
              <a:avLst/>
              <a:gdLst/>
              <a:ahLst/>
              <a:cxnLst/>
              <a:rect r="r" b="b" t="t" l="l"/>
              <a:pathLst>
                <a:path h="812800" w="832307">
                  <a:moveTo>
                    <a:pt x="416154" y="0"/>
                  </a:moveTo>
                  <a:cubicBezTo>
                    <a:pt x="186318" y="0"/>
                    <a:pt x="0" y="181951"/>
                    <a:pt x="0" y="406400"/>
                  </a:cubicBezTo>
                  <a:cubicBezTo>
                    <a:pt x="0" y="630849"/>
                    <a:pt x="186318" y="812800"/>
                    <a:pt x="416154" y="812800"/>
                  </a:cubicBezTo>
                  <a:cubicBezTo>
                    <a:pt x="645989" y="812800"/>
                    <a:pt x="832307" y="630849"/>
                    <a:pt x="832307" y="406400"/>
                  </a:cubicBezTo>
                  <a:cubicBezTo>
                    <a:pt x="832307" y="181951"/>
                    <a:pt x="645989" y="0"/>
                    <a:pt x="416154" y="0"/>
                  </a:cubicBezTo>
                  <a:close/>
                </a:path>
              </a:pathLst>
            </a:custGeom>
            <a:solidFill>
              <a:srgbClr val="4187F1"/>
            </a:solidFill>
          </p:spPr>
        </p:sp>
        <p:sp>
          <p:nvSpPr>
            <p:cNvPr name="TextBox 19" id="19"/>
            <p:cNvSpPr txBox="true"/>
            <p:nvPr/>
          </p:nvSpPr>
          <p:spPr>
            <a:xfrm>
              <a:off x="78029" y="57150"/>
              <a:ext cx="676250" cy="679450"/>
            </a:xfrm>
            <a:prstGeom prst="rect">
              <a:avLst/>
            </a:prstGeom>
          </p:spPr>
          <p:txBody>
            <a:bodyPr anchor="ctr" rtlCol="false" tIns="0" lIns="0" bIns="0" rIns="0"/>
            <a:lstStyle/>
            <a:p>
              <a:pPr algn="ctr">
                <a:lnSpc>
                  <a:spcPts val="1820"/>
                </a:lnSpc>
              </a:pPr>
              <a:r>
                <a:rPr lang="en-US" b="true" sz="1300">
                  <a:solidFill>
                    <a:srgbClr val="FFFFFF"/>
                  </a:solidFill>
                  <a:latin typeface="Open Sauce Bold"/>
                  <a:ea typeface="Open Sauce Bold"/>
                  <a:cs typeface="Open Sauce Bold"/>
                  <a:sym typeface="Open Sauce Bold"/>
                </a:rPr>
                <a:t>3</a:t>
              </a:r>
            </a:p>
          </p:txBody>
        </p:sp>
      </p:grpSp>
      <p:sp>
        <p:nvSpPr>
          <p:cNvPr name="TextBox 20" id="20"/>
          <p:cNvSpPr txBox="true"/>
          <p:nvPr/>
        </p:nvSpPr>
        <p:spPr>
          <a:xfrm rot="0">
            <a:off x="12320505" y="5264427"/>
            <a:ext cx="4938795" cy="507366"/>
          </a:xfrm>
          <a:prstGeom prst="rect">
            <a:avLst/>
          </a:prstGeom>
        </p:spPr>
        <p:txBody>
          <a:bodyPr anchor="t" rtlCol="false" tIns="0" lIns="0" bIns="0" rIns="0">
            <a:spAutoFit/>
          </a:bodyPr>
          <a:lstStyle/>
          <a:p>
            <a:pPr algn="l">
              <a:lnSpc>
                <a:spcPts val="4059"/>
              </a:lnSpc>
              <a:spcBef>
                <a:spcPct val="0"/>
              </a:spcBef>
            </a:pPr>
            <a:r>
              <a:rPr lang="en-US" sz="2899">
                <a:gradFill>
                  <a:gsLst>
                    <a:gs pos="0">
                      <a:srgbClr val="478CF6">
                        <a:alpha val="100000"/>
                      </a:srgbClr>
                    </a:gs>
                    <a:gs pos="100000">
                      <a:srgbClr val="FFFFFF">
                        <a:alpha val="100000"/>
                      </a:srgbClr>
                    </a:gs>
                  </a:gsLst>
                  <a:lin ang="2700000"/>
                </a:gradFill>
                <a:latin typeface="Open Sauce"/>
                <a:ea typeface="Open Sauce"/>
                <a:cs typeface="Open Sauce"/>
                <a:sym typeface="Open Sauce"/>
              </a:rPr>
              <a:t>Sales cycl</a:t>
            </a:r>
            <a:r>
              <a:rPr lang="en-US" sz="2899">
                <a:gradFill>
                  <a:gsLst>
                    <a:gs pos="0">
                      <a:srgbClr val="478CF6">
                        <a:alpha val="100000"/>
                      </a:srgbClr>
                    </a:gs>
                    <a:gs pos="100000">
                      <a:srgbClr val="FFFFFF">
                        <a:alpha val="100000"/>
                      </a:srgbClr>
                    </a:gs>
                  </a:gsLst>
                  <a:lin ang="2700000"/>
                </a:gradFill>
                <a:latin typeface="Open Sauce"/>
                <a:ea typeface="Open Sauce"/>
                <a:cs typeface="Open Sauce"/>
                <a:sym typeface="Open Sauce"/>
              </a:rPr>
              <a:t>e length</a:t>
            </a:r>
          </a:p>
        </p:txBody>
      </p:sp>
      <p:sp>
        <p:nvSpPr>
          <p:cNvPr name="TextBox 21" id="21"/>
          <p:cNvSpPr txBox="true"/>
          <p:nvPr/>
        </p:nvSpPr>
        <p:spPr>
          <a:xfrm rot="0">
            <a:off x="12320505" y="5863232"/>
            <a:ext cx="4897197" cy="935355"/>
          </a:xfrm>
          <a:prstGeom prst="rect">
            <a:avLst/>
          </a:prstGeom>
        </p:spPr>
        <p:txBody>
          <a:bodyPr anchor="t" rtlCol="false" tIns="0" lIns="0" bIns="0" rIns="0">
            <a:spAutoFit/>
          </a:bodyPr>
          <a:lstStyle/>
          <a:p>
            <a:pPr algn="l">
              <a:lnSpc>
                <a:spcPts val="2520"/>
              </a:lnSpc>
              <a:spcBef>
                <a:spcPct val="0"/>
              </a:spcBef>
            </a:pPr>
            <a:r>
              <a:rPr lang="en-US" sz="18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sp>
        <p:nvSpPr>
          <p:cNvPr name="AutoShape 22" id="22"/>
          <p:cNvSpPr/>
          <p:nvPr/>
        </p:nvSpPr>
        <p:spPr>
          <a:xfrm flipH="true">
            <a:off x="11808660" y="4761847"/>
            <a:ext cx="4763" cy="4496447"/>
          </a:xfrm>
          <a:prstGeom prst="line">
            <a:avLst/>
          </a:prstGeom>
          <a:ln cap="flat" w="9525">
            <a:gradFill>
              <a:gsLst>
                <a:gs pos="0">
                  <a:srgbClr val="478CF6">
                    <a:alpha val="100000"/>
                  </a:srgbClr>
                </a:gs>
                <a:gs pos="100000">
                  <a:srgbClr val="FFFFFF">
                    <a:alpha val="100000"/>
                  </a:srgbClr>
                </a:gs>
              </a:gsLst>
              <a:lin ang="2700000"/>
            </a:gradFill>
            <a:prstDash val="solid"/>
            <a:headEnd type="none" len="sm" w="sm"/>
            <a:tailEnd type="none" len="sm" w="sm"/>
          </a:ln>
        </p:spPr>
      </p:sp>
      <p:sp>
        <p:nvSpPr>
          <p:cNvPr name="AutoShape 23" id="23"/>
          <p:cNvSpPr/>
          <p:nvPr/>
        </p:nvSpPr>
        <p:spPr>
          <a:xfrm flipH="true">
            <a:off x="6160253" y="4761840"/>
            <a:ext cx="4763" cy="4496447"/>
          </a:xfrm>
          <a:prstGeom prst="line">
            <a:avLst/>
          </a:prstGeom>
          <a:ln cap="flat" w="9525">
            <a:gradFill>
              <a:gsLst>
                <a:gs pos="0">
                  <a:srgbClr val="478CF6">
                    <a:alpha val="100000"/>
                  </a:srgbClr>
                </a:gs>
                <a:gs pos="100000">
                  <a:srgbClr val="FFFFFF">
                    <a:alpha val="100000"/>
                  </a:srgbClr>
                </a:gs>
              </a:gsLst>
              <a:lin ang="2700000"/>
            </a:gradFill>
            <a:prstDash val="solid"/>
            <a:headEnd type="none" len="sm" w="sm"/>
            <a:tailEnd type="none" len="sm" w="sm"/>
          </a:ln>
        </p:spPr>
      </p:sp>
      <p:sp>
        <p:nvSpPr>
          <p:cNvPr name="Freeform 24" id="24"/>
          <p:cNvSpPr/>
          <p:nvPr/>
        </p:nvSpPr>
        <p:spPr>
          <a:xfrm flipH="false" flipV="false" rot="0">
            <a:off x="1028700" y="1018652"/>
            <a:ext cx="233616" cy="192664"/>
          </a:xfrm>
          <a:custGeom>
            <a:avLst/>
            <a:gdLst/>
            <a:ahLst/>
            <a:cxnLst/>
            <a:rect r="r" b="b" t="t" l="l"/>
            <a:pathLst>
              <a:path h="192664" w="233616">
                <a:moveTo>
                  <a:pt x="0" y="0"/>
                </a:moveTo>
                <a:lnTo>
                  <a:pt x="233616" y="0"/>
                </a:lnTo>
                <a:lnTo>
                  <a:pt x="233616" y="192664"/>
                </a:lnTo>
                <a:lnTo>
                  <a:pt x="0" y="1926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5" id="25"/>
          <p:cNvSpPr txBox="true"/>
          <p:nvPr/>
        </p:nvSpPr>
        <p:spPr>
          <a:xfrm rot="0">
            <a:off x="1385760" y="1020419"/>
            <a:ext cx="1629879" cy="217704"/>
          </a:xfrm>
          <a:prstGeom prst="rect">
            <a:avLst/>
          </a:prstGeom>
        </p:spPr>
        <p:txBody>
          <a:bodyPr anchor="t" rtlCol="false" tIns="0" lIns="0" bIns="0" rIns="0">
            <a:spAutoFit/>
          </a:bodyPr>
          <a:lstStyle/>
          <a:p>
            <a:pPr algn="l">
              <a:lnSpc>
                <a:spcPts val="1687"/>
              </a:lnSpc>
            </a:pPr>
            <a:r>
              <a:rPr lang="en-US" sz="1622" spc="-51">
                <a:solidFill>
                  <a:srgbClr val="FFFFFF"/>
                </a:solidFill>
                <a:latin typeface="Bricolage Grotesque"/>
                <a:ea typeface="Bricolage Grotesque"/>
                <a:cs typeface="Bricolage Grotesque"/>
                <a:sym typeface="Bricolage Grotesque"/>
              </a:rPr>
              <a:t>Logo Here</a:t>
            </a:r>
          </a:p>
        </p:txBody>
      </p:sp>
      <p:pic>
        <p:nvPicPr>
          <p:cNvPr name="Picture 26" id="26"/>
          <p:cNvPicPr>
            <a:picLocks noChangeAspect="true"/>
          </p:cNvPicPr>
          <p:nvPr/>
        </p:nvPicPr>
        <p:blipFill>
          <a:blip r:embed="rId5"/>
          <a:stretch>
            <a:fillRect/>
          </a:stretch>
        </p:blipFill>
        <p:spPr>
          <a:xfrm rot="0">
            <a:off x="6197868" y="7083368"/>
            <a:ext cx="5720814" cy="2743428"/>
          </a:xfrm>
          <a:prstGeom prst="rect">
            <a:avLst/>
          </a:prstGeom>
        </p:spPr>
      </p:pic>
      <p:pic>
        <p:nvPicPr>
          <p:cNvPr name="Picture 27" id="27"/>
          <p:cNvPicPr>
            <a:picLocks noChangeAspect="true"/>
          </p:cNvPicPr>
          <p:nvPr/>
        </p:nvPicPr>
        <p:blipFill>
          <a:blip r:embed="rId6"/>
          <a:stretch>
            <a:fillRect/>
          </a:stretch>
        </p:blipFill>
        <p:spPr>
          <a:xfrm rot="0">
            <a:off x="1590420" y="6894126"/>
            <a:ext cx="2850438" cy="2601698"/>
          </a:xfrm>
          <a:prstGeom prst="rect">
            <a:avLst/>
          </a:prstGeom>
        </p:spPr>
      </p:pic>
      <p:pic>
        <p:nvPicPr>
          <p:cNvPr name="Picture 28" id="28"/>
          <p:cNvPicPr>
            <a:picLocks noChangeAspect="true"/>
          </p:cNvPicPr>
          <p:nvPr/>
        </p:nvPicPr>
        <p:blipFill>
          <a:blip r:embed="rId7"/>
          <a:stretch>
            <a:fillRect/>
          </a:stretch>
        </p:blipFill>
        <p:spPr>
          <a:xfrm rot="0">
            <a:off x="13659617" y="7137232"/>
            <a:ext cx="2115486" cy="2115486"/>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6275248" y="-1229298"/>
            <a:ext cx="22146442" cy="15688597"/>
          </a:xfrm>
          <a:custGeom>
            <a:avLst/>
            <a:gdLst/>
            <a:ahLst/>
            <a:cxnLst/>
            <a:rect r="r" b="b" t="t" l="l"/>
            <a:pathLst>
              <a:path h="15688597" w="22146442">
                <a:moveTo>
                  <a:pt x="0" y="0"/>
                </a:moveTo>
                <a:lnTo>
                  <a:pt x="22146442" y="0"/>
                </a:lnTo>
                <a:lnTo>
                  <a:pt x="22146442" y="15688597"/>
                </a:lnTo>
                <a:lnTo>
                  <a:pt x="0" y="15688597"/>
                </a:lnTo>
                <a:lnTo>
                  <a:pt x="0" y="0"/>
                </a:lnTo>
                <a:close/>
              </a:path>
            </a:pathLst>
          </a:custGeom>
          <a:blipFill>
            <a:blip r:embed="rId2">
              <a:alphaModFix amt="81000"/>
            </a:blip>
            <a:stretch>
              <a:fillRect l="-3163" t="0" r="-3163" b="0"/>
            </a:stretch>
          </a:blipFill>
        </p:spPr>
      </p:sp>
      <p:grpSp>
        <p:nvGrpSpPr>
          <p:cNvPr name="Group 3" id="3"/>
          <p:cNvGrpSpPr/>
          <p:nvPr/>
        </p:nvGrpSpPr>
        <p:grpSpPr>
          <a:xfrm rot="0">
            <a:off x="12270205" y="5143500"/>
            <a:ext cx="4989095" cy="3637238"/>
            <a:chOff x="0" y="0"/>
            <a:chExt cx="1240929" cy="904684"/>
          </a:xfrm>
        </p:grpSpPr>
        <p:sp>
          <p:nvSpPr>
            <p:cNvPr name="Freeform 4" id="4"/>
            <p:cNvSpPr/>
            <p:nvPr/>
          </p:nvSpPr>
          <p:spPr>
            <a:xfrm flipH="false" flipV="false" rot="0">
              <a:off x="0" y="0"/>
              <a:ext cx="1240929" cy="904684"/>
            </a:xfrm>
            <a:custGeom>
              <a:avLst/>
              <a:gdLst/>
              <a:ahLst/>
              <a:cxnLst/>
              <a:rect r="r" b="b" t="t" l="l"/>
              <a:pathLst>
                <a:path h="904684" w="1240929">
                  <a:moveTo>
                    <a:pt x="29484" y="0"/>
                  </a:moveTo>
                  <a:lnTo>
                    <a:pt x="1211445" y="0"/>
                  </a:lnTo>
                  <a:cubicBezTo>
                    <a:pt x="1219265" y="0"/>
                    <a:pt x="1226764" y="3106"/>
                    <a:pt x="1232293" y="8636"/>
                  </a:cubicBezTo>
                  <a:cubicBezTo>
                    <a:pt x="1237823" y="14165"/>
                    <a:pt x="1240929" y="21664"/>
                    <a:pt x="1240929" y="29484"/>
                  </a:cubicBezTo>
                  <a:lnTo>
                    <a:pt x="1240929" y="875200"/>
                  </a:lnTo>
                  <a:cubicBezTo>
                    <a:pt x="1240929" y="891484"/>
                    <a:pt x="1227729" y="904684"/>
                    <a:pt x="1211445" y="904684"/>
                  </a:cubicBezTo>
                  <a:lnTo>
                    <a:pt x="29484" y="904684"/>
                  </a:lnTo>
                  <a:cubicBezTo>
                    <a:pt x="21664" y="904684"/>
                    <a:pt x="14165" y="901578"/>
                    <a:pt x="8636" y="896048"/>
                  </a:cubicBezTo>
                  <a:cubicBezTo>
                    <a:pt x="3106" y="890519"/>
                    <a:pt x="0" y="883020"/>
                    <a:pt x="0" y="875200"/>
                  </a:cubicBezTo>
                  <a:lnTo>
                    <a:pt x="0" y="29484"/>
                  </a:lnTo>
                  <a:cubicBezTo>
                    <a:pt x="0" y="21664"/>
                    <a:pt x="3106" y="14165"/>
                    <a:pt x="8636" y="8636"/>
                  </a:cubicBezTo>
                  <a:cubicBezTo>
                    <a:pt x="14165" y="3106"/>
                    <a:pt x="21664" y="0"/>
                    <a:pt x="29484" y="0"/>
                  </a:cubicBezTo>
                  <a:close/>
                </a:path>
              </a:pathLst>
            </a:custGeom>
            <a:ln w="38100" cap="sq">
              <a:gradFill>
                <a:gsLst>
                  <a:gs pos="0">
                    <a:srgbClr val="478CF6">
                      <a:alpha val="100000"/>
                    </a:srgbClr>
                  </a:gs>
                  <a:gs pos="100000">
                    <a:srgbClr val="FFFFFF">
                      <a:alpha val="100000"/>
                    </a:srgbClr>
                  </a:gs>
                </a:gsLst>
                <a:lin ang="2700000"/>
              </a:gradFill>
              <a:prstDash val="solid"/>
              <a:miter/>
            </a:ln>
          </p:spPr>
        </p:sp>
        <p:sp>
          <p:nvSpPr>
            <p:cNvPr name="TextBox 5" id="5"/>
            <p:cNvSpPr txBox="true"/>
            <p:nvPr/>
          </p:nvSpPr>
          <p:spPr>
            <a:xfrm>
              <a:off x="0" y="-47625"/>
              <a:ext cx="1240929" cy="952309"/>
            </a:xfrm>
            <a:prstGeom prst="rect">
              <a:avLst/>
            </a:prstGeom>
          </p:spPr>
          <p:txBody>
            <a:bodyPr anchor="ctr" rtlCol="false" tIns="50800" lIns="50800" bIns="50800" rIns="50800"/>
            <a:lstStyle/>
            <a:p>
              <a:pPr algn="ctr" marL="0" indent="0" lvl="0">
                <a:lnSpc>
                  <a:spcPts val="3219"/>
                </a:lnSpc>
                <a:spcBef>
                  <a:spcPct val="0"/>
                </a:spcBef>
              </a:pPr>
            </a:p>
          </p:txBody>
        </p:sp>
      </p:grpSp>
      <p:grpSp>
        <p:nvGrpSpPr>
          <p:cNvPr name="Group 6" id="6"/>
          <p:cNvGrpSpPr/>
          <p:nvPr/>
        </p:nvGrpSpPr>
        <p:grpSpPr>
          <a:xfrm rot="0">
            <a:off x="6649453" y="5143500"/>
            <a:ext cx="4989095" cy="3637238"/>
            <a:chOff x="0" y="0"/>
            <a:chExt cx="1240929" cy="904684"/>
          </a:xfrm>
        </p:grpSpPr>
        <p:sp>
          <p:nvSpPr>
            <p:cNvPr name="Freeform 7" id="7"/>
            <p:cNvSpPr/>
            <p:nvPr/>
          </p:nvSpPr>
          <p:spPr>
            <a:xfrm flipH="false" flipV="false" rot="0">
              <a:off x="0" y="0"/>
              <a:ext cx="1240929" cy="904684"/>
            </a:xfrm>
            <a:custGeom>
              <a:avLst/>
              <a:gdLst/>
              <a:ahLst/>
              <a:cxnLst/>
              <a:rect r="r" b="b" t="t" l="l"/>
              <a:pathLst>
                <a:path h="904684" w="1240929">
                  <a:moveTo>
                    <a:pt x="29484" y="0"/>
                  </a:moveTo>
                  <a:lnTo>
                    <a:pt x="1211445" y="0"/>
                  </a:lnTo>
                  <a:cubicBezTo>
                    <a:pt x="1219265" y="0"/>
                    <a:pt x="1226764" y="3106"/>
                    <a:pt x="1232293" y="8636"/>
                  </a:cubicBezTo>
                  <a:cubicBezTo>
                    <a:pt x="1237823" y="14165"/>
                    <a:pt x="1240929" y="21664"/>
                    <a:pt x="1240929" y="29484"/>
                  </a:cubicBezTo>
                  <a:lnTo>
                    <a:pt x="1240929" y="875200"/>
                  </a:lnTo>
                  <a:cubicBezTo>
                    <a:pt x="1240929" y="891484"/>
                    <a:pt x="1227729" y="904684"/>
                    <a:pt x="1211445" y="904684"/>
                  </a:cubicBezTo>
                  <a:lnTo>
                    <a:pt x="29484" y="904684"/>
                  </a:lnTo>
                  <a:cubicBezTo>
                    <a:pt x="21664" y="904684"/>
                    <a:pt x="14165" y="901578"/>
                    <a:pt x="8636" y="896048"/>
                  </a:cubicBezTo>
                  <a:cubicBezTo>
                    <a:pt x="3106" y="890519"/>
                    <a:pt x="0" y="883020"/>
                    <a:pt x="0" y="875200"/>
                  </a:cubicBezTo>
                  <a:lnTo>
                    <a:pt x="0" y="29484"/>
                  </a:lnTo>
                  <a:cubicBezTo>
                    <a:pt x="0" y="21664"/>
                    <a:pt x="3106" y="14165"/>
                    <a:pt x="8636" y="8636"/>
                  </a:cubicBezTo>
                  <a:cubicBezTo>
                    <a:pt x="14165" y="3106"/>
                    <a:pt x="21664" y="0"/>
                    <a:pt x="29484" y="0"/>
                  </a:cubicBezTo>
                  <a:close/>
                </a:path>
              </a:pathLst>
            </a:custGeom>
            <a:ln w="38100" cap="sq">
              <a:gradFill>
                <a:gsLst>
                  <a:gs pos="0">
                    <a:srgbClr val="478CF6">
                      <a:alpha val="100000"/>
                    </a:srgbClr>
                  </a:gs>
                  <a:gs pos="100000">
                    <a:srgbClr val="FFFFFF">
                      <a:alpha val="100000"/>
                    </a:srgbClr>
                  </a:gs>
                </a:gsLst>
                <a:lin ang="2700000"/>
              </a:gradFill>
              <a:prstDash val="solid"/>
              <a:miter/>
            </a:ln>
          </p:spPr>
        </p:sp>
        <p:sp>
          <p:nvSpPr>
            <p:cNvPr name="TextBox 8" id="8"/>
            <p:cNvSpPr txBox="true"/>
            <p:nvPr/>
          </p:nvSpPr>
          <p:spPr>
            <a:xfrm>
              <a:off x="0" y="-47625"/>
              <a:ext cx="1240929" cy="952309"/>
            </a:xfrm>
            <a:prstGeom prst="rect">
              <a:avLst/>
            </a:prstGeom>
          </p:spPr>
          <p:txBody>
            <a:bodyPr anchor="ctr" rtlCol="false" tIns="50800" lIns="50800" bIns="50800" rIns="50800"/>
            <a:lstStyle/>
            <a:p>
              <a:pPr algn="ctr" marL="0" indent="0" lvl="0">
                <a:lnSpc>
                  <a:spcPts val="3219"/>
                </a:lnSpc>
                <a:spcBef>
                  <a:spcPct val="0"/>
                </a:spcBef>
              </a:pPr>
            </a:p>
          </p:txBody>
        </p:sp>
      </p:grpSp>
      <p:grpSp>
        <p:nvGrpSpPr>
          <p:cNvPr name="Group 9" id="9"/>
          <p:cNvGrpSpPr/>
          <p:nvPr/>
        </p:nvGrpSpPr>
        <p:grpSpPr>
          <a:xfrm rot="0">
            <a:off x="1028700" y="5143500"/>
            <a:ext cx="4989095" cy="3637238"/>
            <a:chOff x="0" y="0"/>
            <a:chExt cx="1240929" cy="904684"/>
          </a:xfrm>
        </p:grpSpPr>
        <p:sp>
          <p:nvSpPr>
            <p:cNvPr name="Freeform 10" id="10"/>
            <p:cNvSpPr/>
            <p:nvPr/>
          </p:nvSpPr>
          <p:spPr>
            <a:xfrm flipH="false" flipV="false" rot="0">
              <a:off x="0" y="0"/>
              <a:ext cx="1240929" cy="904684"/>
            </a:xfrm>
            <a:custGeom>
              <a:avLst/>
              <a:gdLst/>
              <a:ahLst/>
              <a:cxnLst/>
              <a:rect r="r" b="b" t="t" l="l"/>
              <a:pathLst>
                <a:path h="904684" w="1240929">
                  <a:moveTo>
                    <a:pt x="29484" y="0"/>
                  </a:moveTo>
                  <a:lnTo>
                    <a:pt x="1211445" y="0"/>
                  </a:lnTo>
                  <a:cubicBezTo>
                    <a:pt x="1219265" y="0"/>
                    <a:pt x="1226764" y="3106"/>
                    <a:pt x="1232293" y="8636"/>
                  </a:cubicBezTo>
                  <a:cubicBezTo>
                    <a:pt x="1237823" y="14165"/>
                    <a:pt x="1240929" y="21664"/>
                    <a:pt x="1240929" y="29484"/>
                  </a:cubicBezTo>
                  <a:lnTo>
                    <a:pt x="1240929" y="875200"/>
                  </a:lnTo>
                  <a:cubicBezTo>
                    <a:pt x="1240929" y="891484"/>
                    <a:pt x="1227729" y="904684"/>
                    <a:pt x="1211445" y="904684"/>
                  </a:cubicBezTo>
                  <a:lnTo>
                    <a:pt x="29484" y="904684"/>
                  </a:lnTo>
                  <a:cubicBezTo>
                    <a:pt x="21664" y="904684"/>
                    <a:pt x="14165" y="901578"/>
                    <a:pt x="8636" y="896048"/>
                  </a:cubicBezTo>
                  <a:cubicBezTo>
                    <a:pt x="3106" y="890519"/>
                    <a:pt x="0" y="883020"/>
                    <a:pt x="0" y="875200"/>
                  </a:cubicBezTo>
                  <a:lnTo>
                    <a:pt x="0" y="29484"/>
                  </a:lnTo>
                  <a:cubicBezTo>
                    <a:pt x="0" y="21664"/>
                    <a:pt x="3106" y="14165"/>
                    <a:pt x="8636" y="8636"/>
                  </a:cubicBezTo>
                  <a:cubicBezTo>
                    <a:pt x="14165" y="3106"/>
                    <a:pt x="21664" y="0"/>
                    <a:pt x="29484" y="0"/>
                  </a:cubicBezTo>
                  <a:close/>
                </a:path>
              </a:pathLst>
            </a:custGeom>
            <a:ln w="38100" cap="sq">
              <a:gradFill>
                <a:gsLst>
                  <a:gs pos="0">
                    <a:srgbClr val="478CF6">
                      <a:alpha val="100000"/>
                    </a:srgbClr>
                  </a:gs>
                  <a:gs pos="100000">
                    <a:srgbClr val="FFFFFF">
                      <a:alpha val="100000"/>
                    </a:srgbClr>
                  </a:gs>
                </a:gsLst>
                <a:lin ang="2700000"/>
              </a:gradFill>
              <a:prstDash val="solid"/>
              <a:miter/>
            </a:ln>
          </p:spPr>
        </p:sp>
        <p:sp>
          <p:nvSpPr>
            <p:cNvPr name="TextBox 11" id="11"/>
            <p:cNvSpPr txBox="true"/>
            <p:nvPr/>
          </p:nvSpPr>
          <p:spPr>
            <a:xfrm>
              <a:off x="0" y="-47625"/>
              <a:ext cx="1240929" cy="952309"/>
            </a:xfrm>
            <a:prstGeom prst="rect">
              <a:avLst/>
            </a:prstGeom>
          </p:spPr>
          <p:txBody>
            <a:bodyPr anchor="ctr" rtlCol="false" tIns="50800" lIns="50800" bIns="50800" rIns="50800"/>
            <a:lstStyle/>
            <a:p>
              <a:pPr algn="ctr" marL="0" indent="0" lvl="0">
                <a:lnSpc>
                  <a:spcPts val="3219"/>
                </a:lnSpc>
                <a:spcBef>
                  <a:spcPct val="0"/>
                </a:spcBef>
              </a:pPr>
            </a:p>
          </p:txBody>
        </p:sp>
      </p:grpSp>
      <p:sp>
        <p:nvSpPr>
          <p:cNvPr name="TextBox 12" id="12"/>
          <p:cNvSpPr txBox="true"/>
          <p:nvPr/>
        </p:nvSpPr>
        <p:spPr>
          <a:xfrm rot="0">
            <a:off x="12175420" y="9286875"/>
            <a:ext cx="5083880" cy="269240"/>
          </a:xfrm>
          <a:prstGeom prst="rect">
            <a:avLst/>
          </a:prstGeom>
        </p:spPr>
        <p:txBody>
          <a:bodyPr anchor="t" rtlCol="false" tIns="0" lIns="0" bIns="0" rIns="0">
            <a:spAutoFit/>
          </a:bodyPr>
          <a:lstStyle/>
          <a:p>
            <a:pPr algn="r">
              <a:lnSpc>
                <a:spcPts val="2080"/>
              </a:lnSpc>
            </a:pPr>
            <a:r>
              <a:rPr lang="en-US" sz="2000" spc="-64">
                <a:solidFill>
                  <a:srgbClr val="FFFFFF"/>
                </a:solidFill>
                <a:latin typeface="Bricolage Grotesque"/>
                <a:ea typeface="Bricolage Grotesque"/>
                <a:cs typeface="Bricolage Grotesque"/>
                <a:sym typeface="Bricolage Grotesque"/>
              </a:rPr>
              <a:t>09</a:t>
            </a:r>
          </a:p>
        </p:txBody>
      </p:sp>
      <p:sp>
        <p:nvSpPr>
          <p:cNvPr name="TextBox 13" id="13"/>
          <p:cNvSpPr txBox="true"/>
          <p:nvPr/>
        </p:nvSpPr>
        <p:spPr>
          <a:xfrm rot="0">
            <a:off x="3337214" y="2327053"/>
            <a:ext cx="11613572" cy="1034373"/>
          </a:xfrm>
          <a:prstGeom prst="rect">
            <a:avLst/>
          </a:prstGeom>
        </p:spPr>
        <p:txBody>
          <a:bodyPr anchor="t" rtlCol="false" tIns="0" lIns="0" bIns="0" rIns="0">
            <a:spAutoFit/>
          </a:bodyPr>
          <a:lstStyle/>
          <a:p>
            <a:pPr algn="ctr" marL="0" indent="0" lvl="0">
              <a:lnSpc>
                <a:spcPts val="7334"/>
              </a:lnSpc>
              <a:spcBef>
                <a:spcPct val="0"/>
              </a:spcBef>
            </a:pPr>
            <a:r>
              <a:rPr lang="en-US" sz="8836" spc="-282">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What</a:t>
            </a:r>
            <a:r>
              <a:rPr lang="en-US" sz="8836" spc="-282" strike="noStrike" u="none">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 to focus on now</a:t>
            </a:r>
          </a:p>
        </p:txBody>
      </p:sp>
      <p:sp>
        <p:nvSpPr>
          <p:cNvPr name="TextBox 14" id="14"/>
          <p:cNvSpPr txBox="true"/>
          <p:nvPr/>
        </p:nvSpPr>
        <p:spPr>
          <a:xfrm rot="0">
            <a:off x="13031102" y="5590746"/>
            <a:ext cx="3467301" cy="1224279"/>
          </a:xfrm>
          <a:prstGeom prst="rect">
            <a:avLst/>
          </a:prstGeom>
        </p:spPr>
        <p:txBody>
          <a:bodyPr anchor="t" rtlCol="false" tIns="0" lIns="0" bIns="0" rIns="0">
            <a:spAutoFit/>
          </a:bodyPr>
          <a:lstStyle/>
          <a:p>
            <a:pPr algn="ctr">
              <a:lnSpc>
                <a:spcPts val="3199"/>
              </a:lnSpc>
            </a:pP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Align individual go</a:t>
            </a: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als with team targets</a:t>
            </a:r>
          </a:p>
        </p:txBody>
      </p:sp>
      <p:sp>
        <p:nvSpPr>
          <p:cNvPr name="TextBox 15" id="15"/>
          <p:cNvSpPr txBox="true"/>
          <p:nvPr/>
        </p:nvSpPr>
        <p:spPr>
          <a:xfrm rot="0">
            <a:off x="7230463" y="5790771"/>
            <a:ext cx="3827074" cy="824229"/>
          </a:xfrm>
          <a:prstGeom prst="rect">
            <a:avLst/>
          </a:prstGeom>
        </p:spPr>
        <p:txBody>
          <a:bodyPr anchor="t" rtlCol="false" tIns="0" lIns="0" bIns="0" rIns="0">
            <a:spAutoFit/>
          </a:bodyPr>
          <a:lstStyle/>
          <a:p>
            <a:pPr algn="ctr">
              <a:lnSpc>
                <a:spcPts val="3199"/>
              </a:lnSpc>
            </a:pP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Review prior</a:t>
            </a: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ity accounts</a:t>
            </a:r>
          </a:p>
        </p:txBody>
      </p:sp>
      <p:sp>
        <p:nvSpPr>
          <p:cNvPr name="TextBox 16" id="16"/>
          <p:cNvSpPr txBox="true"/>
          <p:nvPr/>
        </p:nvSpPr>
        <p:spPr>
          <a:xfrm rot="0">
            <a:off x="1489786" y="5762400"/>
            <a:ext cx="4066922" cy="824229"/>
          </a:xfrm>
          <a:prstGeom prst="rect">
            <a:avLst/>
          </a:prstGeom>
        </p:spPr>
        <p:txBody>
          <a:bodyPr anchor="t" rtlCol="false" tIns="0" lIns="0" bIns="0" rIns="0">
            <a:spAutoFit/>
          </a:bodyPr>
          <a:lstStyle/>
          <a:p>
            <a:pPr algn="ctr">
              <a:lnSpc>
                <a:spcPts val="3199"/>
              </a:lnSpc>
            </a:pP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Execute con</a:t>
            </a: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sistently and track progress</a:t>
            </a:r>
          </a:p>
        </p:txBody>
      </p:sp>
      <p:sp>
        <p:nvSpPr>
          <p:cNvPr name="TextBox 17" id="17"/>
          <p:cNvSpPr txBox="true"/>
          <p:nvPr/>
        </p:nvSpPr>
        <p:spPr>
          <a:xfrm rot="0">
            <a:off x="4207421" y="3485153"/>
            <a:ext cx="9873157" cy="547371"/>
          </a:xfrm>
          <a:prstGeom prst="rect">
            <a:avLst/>
          </a:prstGeom>
        </p:spPr>
        <p:txBody>
          <a:bodyPr anchor="t" rtlCol="false" tIns="0" lIns="0" bIns="0" rIns="0">
            <a:spAutoFit/>
          </a:bodyPr>
          <a:lstStyle/>
          <a:p>
            <a:pPr algn="ctr">
              <a:lnSpc>
                <a:spcPts val="4479"/>
              </a:lnSpc>
              <a:spcBef>
                <a:spcPct val="0"/>
              </a:spcBef>
            </a:pP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Strong execution turns forec</a:t>
            </a: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asts into results</a:t>
            </a:r>
          </a:p>
        </p:txBody>
      </p:sp>
      <p:sp>
        <p:nvSpPr>
          <p:cNvPr name="TextBox 18" id="18"/>
          <p:cNvSpPr txBox="true"/>
          <p:nvPr/>
        </p:nvSpPr>
        <p:spPr>
          <a:xfrm rot="0">
            <a:off x="1569337" y="6905173"/>
            <a:ext cx="3907820" cy="1313815"/>
          </a:xfrm>
          <a:prstGeom prst="rect">
            <a:avLst/>
          </a:prstGeom>
        </p:spPr>
        <p:txBody>
          <a:bodyPr anchor="t" rtlCol="false" tIns="0" lIns="0" bIns="0" rIns="0">
            <a:spAutoFit/>
          </a:bodyPr>
          <a:lstStyle/>
          <a:p>
            <a:pPr algn="ctr">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sp>
        <p:nvSpPr>
          <p:cNvPr name="TextBox 19" id="19"/>
          <p:cNvSpPr txBox="true"/>
          <p:nvPr/>
        </p:nvSpPr>
        <p:spPr>
          <a:xfrm rot="0">
            <a:off x="7190090" y="6933544"/>
            <a:ext cx="3907820" cy="1313815"/>
          </a:xfrm>
          <a:prstGeom prst="rect">
            <a:avLst/>
          </a:prstGeom>
        </p:spPr>
        <p:txBody>
          <a:bodyPr anchor="t" rtlCol="false" tIns="0" lIns="0" bIns="0" rIns="0">
            <a:spAutoFit/>
          </a:bodyPr>
          <a:lstStyle/>
          <a:p>
            <a:pPr algn="ctr">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sp>
        <p:nvSpPr>
          <p:cNvPr name="TextBox 20" id="20"/>
          <p:cNvSpPr txBox="true"/>
          <p:nvPr/>
        </p:nvSpPr>
        <p:spPr>
          <a:xfrm rot="0">
            <a:off x="12810842" y="6933544"/>
            <a:ext cx="3907820" cy="1313815"/>
          </a:xfrm>
          <a:prstGeom prst="rect">
            <a:avLst/>
          </a:prstGeom>
        </p:spPr>
        <p:txBody>
          <a:bodyPr anchor="t" rtlCol="false" tIns="0" lIns="0" bIns="0" rIns="0">
            <a:spAutoFit/>
          </a:bodyPr>
          <a:lstStyle/>
          <a:p>
            <a:pPr algn="ctr">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sp>
        <p:nvSpPr>
          <p:cNvPr name="Freeform 21" id="21"/>
          <p:cNvSpPr/>
          <p:nvPr/>
        </p:nvSpPr>
        <p:spPr>
          <a:xfrm flipH="false" flipV="false" rot="0">
            <a:off x="1028700" y="1018652"/>
            <a:ext cx="233616" cy="192664"/>
          </a:xfrm>
          <a:custGeom>
            <a:avLst/>
            <a:gdLst/>
            <a:ahLst/>
            <a:cxnLst/>
            <a:rect r="r" b="b" t="t" l="l"/>
            <a:pathLst>
              <a:path h="192664" w="233616">
                <a:moveTo>
                  <a:pt x="0" y="0"/>
                </a:moveTo>
                <a:lnTo>
                  <a:pt x="233616" y="0"/>
                </a:lnTo>
                <a:lnTo>
                  <a:pt x="233616" y="192664"/>
                </a:lnTo>
                <a:lnTo>
                  <a:pt x="0" y="1926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2" id="22"/>
          <p:cNvSpPr txBox="true"/>
          <p:nvPr/>
        </p:nvSpPr>
        <p:spPr>
          <a:xfrm rot="0">
            <a:off x="1385760" y="1020419"/>
            <a:ext cx="1629879" cy="217704"/>
          </a:xfrm>
          <a:prstGeom prst="rect">
            <a:avLst/>
          </a:prstGeom>
        </p:spPr>
        <p:txBody>
          <a:bodyPr anchor="t" rtlCol="false" tIns="0" lIns="0" bIns="0" rIns="0">
            <a:spAutoFit/>
          </a:bodyPr>
          <a:lstStyle/>
          <a:p>
            <a:pPr algn="l">
              <a:lnSpc>
                <a:spcPts val="1687"/>
              </a:lnSpc>
            </a:pPr>
            <a:r>
              <a:rPr lang="en-US" sz="1622" spc="-51">
                <a:solidFill>
                  <a:srgbClr val="FFFFFF"/>
                </a:solidFill>
                <a:latin typeface="Bricolage Grotesque"/>
                <a:ea typeface="Bricolage Grotesque"/>
                <a:cs typeface="Bricolage Grotesque"/>
                <a:sym typeface="Bricolage Grotesque"/>
              </a:rPr>
              <a:t>Logo Here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3302106">
            <a:off x="3644139" y="-532494"/>
            <a:ext cx="22146442" cy="15688597"/>
          </a:xfrm>
          <a:custGeom>
            <a:avLst/>
            <a:gdLst/>
            <a:ahLst/>
            <a:cxnLst/>
            <a:rect r="r" b="b" t="t" l="l"/>
            <a:pathLst>
              <a:path h="15688597" w="22146442">
                <a:moveTo>
                  <a:pt x="0" y="0"/>
                </a:moveTo>
                <a:lnTo>
                  <a:pt x="22146442" y="0"/>
                </a:lnTo>
                <a:lnTo>
                  <a:pt x="22146442" y="15688598"/>
                </a:lnTo>
                <a:lnTo>
                  <a:pt x="0" y="15688598"/>
                </a:lnTo>
                <a:lnTo>
                  <a:pt x="0" y="0"/>
                </a:lnTo>
                <a:close/>
              </a:path>
            </a:pathLst>
          </a:custGeom>
          <a:blipFill>
            <a:blip r:embed="rId2">
              <a:alphaModFix amt="81000"/>
            </a:blip>
            <a:stretch>
              <a:fillRect l="-3163" t="0" r="-3163" b="0"/>
            </a:stretch>
          </a:blipFill>
        </p:spPr>
      </p:sp>
      <p:sp>
        <p:nvSpPr>
          <p:cNvPr name="Freeform 3" id="3"/>
          <p:cNvSpPr/>
          <p:nvPr/>
        </p:nvSpPr>
        <p:spPr>
          <a:xfrm flipH="false" flipV="false" rot="5400000">
            <a:off x="-5938015" y="2074283"/>
            <a:ext cx="22146442" cy="15688597"/>
          </a:xfrm>
          <a:custGeom>
            <a:avLst/>
            <a:gdLst/>
            <a:ahLst/>
            <a:cxnLst/>
            <a:rect r="r" b="b" t="t" l="l"/>
            <a:pathLst>
              <a:path h="15688597" w="22146442">
                <a:moveTo>
                  <a:pt x="0" y="0"/>
                </a:moveTo>
                <a:lnTo>
                  <a:pt x="22146442" y="0"/>
                </a:lnTo>
                <a:lnTo>
                  <a:pt x="22146442" y="15688598"/>
                </a:lnTo>
                <a:lnTo>
                  <a:pt x="0" y="15688598"/>
                </a:lnTo>
                <a:lnTo>
                  <a:pt x="0" y="0"/>
                </a:lnTo>
                <a:close/>
              </a:path>
            </a:pathLst>
          </a:custGeom>
          <a:blipFill>
            <a:blip r:embed="rId2">
              <a:alphaModFix amt="81000"/>
            </a:blip>
            <a:stretch>
              <a:fillRect l="-3163" t="0" r="-3163" b="0"/>
            </a:stretch>
          </a:blipFill>
        </p:spPr>
      </p:sp>
      <p:grpSp>
        <p:nvGrpSpPr>
          <p:cNvPr name="Group 4" id="4"/>
          <p:cNvGrpSpPr/>
          <p:nvPr/>
        </p:nvGrpSpPr>
        <p:grpSpPr>
          <a:xfrm rot="0">
            <a:off x="9828174" y="4715381"/>
            <a:ext cx="7431126" cy="1979738"/>
            <a:chOff x="0" y="0"/>
            <a:chExt cx="1848331" cy="492417"/>
          </a:xfrm>
        </p:grpSpPr>
        <p:sp>
          <p:nvSpPr>
            <p:cNvPr name="Freeform 5" id="5"/>
            <p:cNvSpPr/>
            <p:nvPr/>
          </p:nvSpPr>
          <p:spPr>
            <a:xfrm flipH="false" flipV="false" rot="0">
              <a:off x="0" y="0"/>
              <a:ext cx="1848331" cy="492417"/>
            </a:xfrm>
            <a:custGeom>
              <a:avLst/>
              <a:gdLst/>
              <a:ahLst/>
              <a:cxnLst/>
              <a:rect r="r" b="b" t="t" l="l"/>
              <a:pathLst>
                <a:path h="492417" w="1848331">
                  <a:moveTo>
                    <a:pt x="19795" y="0"/>
                  </a:moveTo>
                  <a:lnTo>
                    <a:pt x="1828536" y="0"/>
                  </a:lnTo>
                  <a:cubicBezTo>
                    <a:pt x="1833786" y="0"/>
                    <a:pt x="1838821" y="2086"/>
                    <a:pt x="1842533" y="5798"/>
                  </a:cubicBezTo>
                  <a:cubicBezTo>
                    <a:pt x="1846245" y="9510"/>
                    <a:pt x="1848331" y="14545"/>
                    <a:pt x="1848331" y="19795"/>
                  </a:cubicBezTo>
                  <a:lnTo>
                    <a:pt x="1848331" y="472622"/>
                  </a:lnTo>
                  <a:cubicBezTo>
                    <a:pt x="1848331" y="477872"/>
                    <a:pt x="1846245" y="482907"/>
                    <a:pt x="1842533" y="486619"/>
                  </a:cubicBezTo>
                  <a:cubicBezTo>
                    <a:pt x="1838821" y="490331"/>
                    <a:pt x="1833786" y="492417"/>
                    <a:pt x="1828536" y="492417"/>
                  </a:cubicBezTo>
                  <a:lnTo>
                    <a:pt x="19795" y="492417"/>
                  </a:lnTo>
                  <a:cubicBezTo>
                    <a:pt x="14545" y="492417"/>
                    <a:pt x="9510" y="490331"/>
                    <a:pt x="5798" y="486619"/>
                  </a:cubicBezTo>
                  <a:cubicBezTo>
                    <a:pt x="2086" y="482907"/>
                    <a:pt x="0" y="477872"/>
                    <a:pt x="0" y="472622"/>
                  </a:cubicBezTo>
                  <a:lnTo>
                    <a:pt x="0" y="19795"/>
                  </a:lnTo>
                  <a:cubicBezTo>
                    <a:pt x="0" y="14545"/>
                    <a:pt x="2086" y="9510"/>
                    <a:pt x="5798" y="5798"/>
                  </a:cubicBezTo>
                  <a:cubicBezTo>
                    <a:pt x="9510" y="2086"/>
                    <a:pt x="14545" y="0"/>
                    <a:pt x="19795" y="0"/>
                  </a:cubicBezTo>
                  <a:close/>
                </a:path>
              </a:pathLst>
            </a:custGeom>
            <a:ln w="38100" cap="sq">
              <a:gradFill>
                <a:gsLst>
                  <a:gs pos="0">
                    <a:srgbClr val="478CF6">
                      <a:alpha val="100000"/>
                    </a:srgbClr>
                  </a:gs>
                  <a:gs pos="100000">
                    <a:srgbClr val="FFFFFF">
                      <a:alpha val="100000"/>
                    </a:srgbClr>
                  </a:gs>
                </a:gsLst>
                <a:lin ang="2700000"/>
              </a:gradFill>
              <a:prstDash val="solid"/>
              <a:miter/>
            </a:ln>
          </p:spPr>
        </p:sp>
        <p:sp>
          <p:nvSpPr>
            <p:cNvPr name="TextBox 6" id="6"/>
            <p:cNvSpPr txBox="true"/>
            <p:nvPr/>
          </p:nvSpPr>
          <p:spPr>
            <a:xfrm>
              <a:off x="0" y="-47625"/>
              <a:ext cx="1848331" cy="540042"/>
            </a:xfrm>
            <a:prstGeom prst="rect">
              <a:avLst/>
            </a:prstGeom>
          </p:spPr>
          <p:txBody>
            <a:bodyPr anchor="ctr" rtlCol="false" tIns="50800" lIns="50800" bIns="50800" rIns="50800"/>
            <a:lstStyle/>
            <a:p>
              <a:pPr algn="ctr" marL="0" indent="0" lvl="0">
                <a:lnSpc>
                  <a:spcPts val="3219"/>
                </a:lnSpc>
                <a:spcBef>
                  <a:spcPct val="0"/>
                </a:spcBef>
              </a:pPr>
            </a:p>
          </p:txBody>
        </p:sp>
      </p:grpSp>
      <p:sp>
        <p:nvSpPr>
          <p:cNvPr name="Freeform 7" id="7"/>
          <p:cNvSpPr/>
          <p:nvPr/>
        </p:nvSpPr>
        <p:spPr>
          <a:xfrm flipH="false" flipV="false" rot="0">
            <a:off x="1028700" y="1018652"/>
            <a:ext cx="233616" cy="192664"/>
          </a:xfrm>
          <a:custGeom>
            <a:avLst/>
            <a:gdLst/>
            <a:ahLst/>
            <a:cxnLst/>
            <a:rect r="r" b="b" t="t" l="l"/>
            <a:pathLst>
              <a:path h="192664" w="233616">
                <a:moveTo>
                  <a:pt x="0" y="0"/>
                </a:moveTo>
                <a:lnTo>
                  <a:pt x="233616" y="0"/>
                </a:lnTo>
                <a:lnTo>
                  <a:pt x="233616" y="192664"/>
                </a:lnTo>
                <a:lnTo>
                  <a:pt x="0" y="1926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2175420" y="9286875"/>
            <a:ext cx="5083880" cy="269240"/>
          </a:xfrm>
          <a:prstGeom prst="rect">
            <a:avLst/>
          </a:prstGeom>
        </p:spPr>
        <p:txBody>
          <a:bodyPr anchor="t" rtlCol="false" tIns="0" lIns="0" bIns="0" rIns="0">
            <a:spAutoFit/>
          </a:bodyPr>
          <a:lstStyle/>
          <a:p>
            <a:pPr algn="r">
              <a:lnSpc>
                <a:spcPts val="2080"/>
              </a:lnSpc>
            </a:pPr>
            <a:r>
              <a:rPr lang="en-US" sz="2000" spc="-64">
                <a:solidFill>
                  <a:srgbClr val="FFFFFF"/>
                </a:solidFill>
                <a:latin typeface="Bricolage Grotesque"/>
                <a:ea typeface="Bricolage Grotesque"/>
                <a:cs typeface="Bricolage Grotesque"/>
                <a:sym typeface="Bricolage Grotesque"/>
              </a:rPr>
              <a:t>09</a:t>
            </a:r>
          </a:p>
        </p:txBody>
      </p:sp>
      <p:sp>
        <p:nvSpPr>
          <p:cNvPr name="TextBox 9" id="9"/>
          <p:cNvSpPr txBox="true"/>
          <p:nvPr/>
        </p:nvSpPr>
        <p:spPr>
          <a:xfrm rot="0">
            <a:off x="3337214" y="2110506"/>
            <a:ext cx="11613572" cy="1034373"/>
          </a:xfrm>
          <a:prstGeom prst="rect">
            <a:avLst/>
          </a:prstGeom>
        </p:spPr>
        <p:txBody>
          <a:bodyPr anchor="t" rtlCol="false" tIns="0" lIns="0" bIns="0" rIns="0">
            <a:spAutoFit/>
          </a:bodyPr>
          <a:lstStyle/>
          <a:p>
            <a:pPr algn="ctr" marL="0" indent="0" lvl="0">
              <a:lnSpc>
                <a:spcPts val="7334"/>
              </a:lnSpc>
              <a:spcBef>
                <a:spcPct val="0"/>
              </a:spcBef>
            </a:pPr>
            <a:r>
              <a:rPr lang="en-US" sz="8836" spc="-282">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What</a:t>
            </a:r>
            <a:r>
              <a:rPr lang="en-US" sz="8836" spc="-282" strike="noStrike" u="none">
                <a:gradFill>
                  <a:gsLst>
                    <a:gs pos="0">
                      <a:srgbClr val="478CF6">
                        <a:alpha val="100000"/>
                      </a:srgbClr>
                    </a:gs>
                    <a:gs pos="100000">
                      <a:srgbClr val="FFFFFF">
                        <a:alpha val="100000"/>
                      </a:srgbClr>
                    </a:gs>
                  </a:gsLst>
                  <a:lin ang="2700000"/>
                </a:gradFill>
                <a:latin typeface="Bricolage Grotesque"/>
                <a:ea typeface="Bricolage Grotesque"/>
                <a:cs typeface="Bricolage Grotesque"/>
                <a:sym typeface="Bricolage Grotesque"/>
              </a:rPr>
              <a:t> to focus on now</a:t>
            </a:r>
          </a:p>
        </p:txBody>
      </p:sp>
      <p:sp>
        <p:nvSpPr>
          <p:cNvPr name="TextBox 10" id="10"/>
          <p:cNvSpPr txBox="true"/>
          <p:nvPr/>
        </p:nvSpPr>
        <p:spPr>
          <a:xfrm rot="0">
            <a:off x="1385760" y="1020419"/>
            <a:ext cx="1629879" cy="217704"/>
          </a:xfrm>
          <a:prstGeom prst="rect">
            <a:avLst/>
          </a:prstGeom>
        </p:spPr>
        <p:txBody>
          <a:bodyPr anchor="t" rtlCol="false" tIns="0" lIns="0" bIns="0" rIns="0">
            <a:spAutoFit/>
          </a:bodyPr>
          <a:lstStyle/>
          <a:p>
            <a:pPr algn="l">
              <a:lnSpc>
                <a:spcPts val="1687"/>
              </a:lnSpc>
            </a:pPr>
            <a:r>
              <a:rPr lang="en-US" sz="1622" spc="-51">
                <a:solidFill>
                  <a:srgbClr val="FFFFFF"/>
                </a:solidFill>
                <a:latin typeface="Bricolage Grotesque"/>
                <a:ea typeface="Bricolage Grotesque"/>
                <a:cs typeface="Bricolage Grotesque"/>
                <a:sym typeface="Bricolage Grotesque"/>
              </a:rPr>
              <a:t>Logo Here</a:t>
            </a:r>
          </a:p>
        </p:txBody>
      </p:sp>
      <p:sp>
        <p:nvSpPr>
          <p:cNvPr name="TextBox 11" id="11"/>
          <p:cNvSpPr txBox="true"/>
          <p:nvPr/>
        </p:nvSpPr>
        <p:spPr>
          <a:xfrm rot="0">
            <a:off x="10248453" y="5121686"/>
            <a:ext cx="2485288" cy="1224279"/>
          </a:xfrm>
          <a:prstGeom prst="rect">
            <a:avLst/>
          </a:prstGeom>
        </p:spPr>
        <p:txBody>
          <a:bodyPr anchor="t" rtlCol="false" tIns="0" lIns="0" bIns="0" rIns="0">
            <a:spAutoFit/>
          </a:bodyPr>
          <a:lstStyle/>
          <a:p>
            <a:pPr algn="l">
              <a:lnSpc>
                <a:spcPts val="3199"/>
              </a:lnSpc>
            </a:pP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Review prior</a:t>
            </a: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ity accounts</a:t>
            </a:r>
          </a:p>
        </p:txBody>
      </p:sp>
      <p:sp>
        <p:nvSpPr>
          <p:cNvPr name="TextBox 12" id="12"/>
          <p:cNvSpPr txBox="true"/>
          <p:nvPr/>
        </p:nvSpPr>
        <p:spPr>
          <a:xfrm rot="0">
            <a:off x="4180031" y="3205986"/>
            <a:ext cx="9873157" cy="547371"/>
          </a:xfrm>
          <a:prstGeom prst="rect">
            <a:avLst/>
          </a:prstGeom>
        </p:spPr>
        <p:txBody>
          <a:bodyPr anchor="t" rtlCol="false" tIns="0" lIns="0" bIns="0" rIns="0">
            <a:spAutoFit/>
          </a:bodyPr>
          <a:lstStyle/>
          <a:p>
            <a:pPr algn="ctr">
              <a:lnSpc>
                <a:spcPts val="4479"/>
              </a:lnSpc>
              <a:spcBef>
                <a:spcPct val="0"/>
              </a:spcBef>
            </a:pP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Strong execution turns forec</a:t>
            </a: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asts into results</a:t>
            </a:r>
          </a:p>
        </p:txBody>
      </p:sp>
      <p:sp>
        <p:nvSpPr>
          <p:cNvPr name="TextBox 13" id="13"/>
          <p:cNvSpPr txBox="true"/>
          <p:nvPr/>
        </p:nvSpPr>
        <p:spPr>
          <a:xfrm rot="0">
            <a:off x="12979505" y="5011771"/>
            <a:ext cx="3907820" cy="1313815"/>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grpSp>
        <p:nvGrpSpPr>
          <p:cNvPr name="Group 14" id="14"/>
          <p:cNvGrpSpPr/>
          <p:nvPr/>
        </p:nvGrpSpPr>
        <p:grpSpPr>
          <a:xfrm rot="0">
            <a:off x="9828174" y="6986841"/>
            <a:ext cx="7431126" cy="1979738"/>
            <a:chOff x="0" y="0"/>
            <a:chExt cx="1848331" cy="492417"/>
          </a:xfrm>
        </p:grpSpPr>
        <p:sp>
          <p:nvSpPr>
            <p:cNvPr name="Freeform 15" id="15"/>
            <p:cNvSpPr/>
            <p:nvPr/>
          </p:nvSpPr>
          <p:spPr>
            <a:xfrm flipH="false" flipV="false" rot="0">
              <a:off x="0" y="0"/>
              <a:ext cx="1848331" cy="492417"/>
            </a:xfrm>
            <a:custGeom>
              <a:avLst/>
              <a:gdLst/>
              <a:ahLst/>
              <a:cxnLst/>
              <a:rect r="r" b="b" t="t" l="l"/>
              <a:pathLst>
                <a:path h="492417" w="1848331">
                  <a:moveTo>
                    <a:pt x="19795" y="0"/>
                  </a:moveTo>
                  <a:lnTo>
                    <a:pt x="1828536" y="0"/>
                  </a:lnTo>
                  <a:cubicBezTo>
                    <a:pt x="1833786" y="0"/>
                    <a:pt x="1838821" y="2086"/>
                    <a:pt x="1842533" y="5798"/>
                  </a:cubicBezTo>
                  <a:cubicBezTo>
                    <a:pt x="1846245" y="9510"/>
                    <a:pt x="1848331" y="14545"/>
                    <a:pt x="1848331" y="19795"/>
                  </a:cubicBezTo>
                  <a:lnTo>
                    <a:pt x="1848331" y="472622"/>
                  </a:lnTo>
                  <a:cubicBezTo>
                    <a:pt x="1848331" y="477872"/>
                    <a:pt x="1846245" y="482907"/>
                    <a:pt x="1842533" y="486619"/>
                  </a:cubicBezTo>
                  <a:cubicBezTo>
                    <a:pt x="1838821" y="490331"/>
                    <a:pt x="1833786" y="492417"/>
                    <a:pt x="1828536" y="492417"/>
                  </a:cubicBezTo>
                  <a:lnTo>
                    <a:pt x="19795" y="492417"/>
                  </a:lnTo>
                  <a:cubicBezTo>
                    <a:pt x="14545" y="492417"/>
                    <a:pt x="9510" y="490331"/>
                    <a:pt x="5798" y="486619"/>
                  </a:cubicBezTo>
                  <a:cubicBezTo>
                    <a:pt x="2086" y="482907"/>
                    <a:pt x="0" y="477872"/>
                    <a:pt x="0" y="472622"/>
                  </a:cubicBezTo>
                  <a:lnTo>
                    <a:pt x="0" y="19795"/>
                  </a:lnTo>
                  <a:cubicBezTo>
                    <a:pt x="0" y="14545"/>
                    <a:pt x="2086" y="9510"/>
                    <a:pt x="5798" y="5798"/>
                  </a:cubicBezTo>
                  <a:cubicBezTo>
                    <a:pt x="9510" y="2086"/>
                    <a:pt x="14545" y="0"/>
                    <a:pt x="19795" y="0"/>
                  </a:cubicBezTo>
                  <a:close/>
                </a:path>
              </a:pathLst>
            </a:custGeom>
            <a:ln w="38100" cap="sq">
              <a:gradFill>
                <a:gsLst>
                  <a:gs pos="0">
                    <a:srgbClr val="478CF6">
                      <a:alpha val="100000"/>
                    </a:srgbClr>
                  </a:gs>
                  <a:gs pos="100000">
                    <a:srgbClr val="FFFFFF">
                      <a:alpha val="100000"/>
                    </a:srgbClr>
                  </a:gs>
                </a:gsLst>
                <a:lin ang="2700000"/>
              </a:gradFill>
              <a:prstDash val="solid"/>
              <a:miter/>
            </a:ln>
          </p:spPr>
        </p:sp>
        <p:sp>
          <p:nvSpPr>
            <p:cNvPr name="TextBox 16" id="16"/>
            <p:cNvSpPr txBox="true"/>
            <p:nvPr/>
          </p:nvSpPr>
          <p:spPr>
            <a:xfrm>
              <a:off x="0" y="-47625"/>
              <a:ext cx="1848331" cy="540042"/>
            </a:xfrm>
            <a:prstGeom prst="rect">
              <a:avLst/>
            </a:prstGeom>
          </p:spPr>
          <p:txBody>
            <a:bodyPr anchor="ctr" rtlCol="false" tIns="50800" lIns="50800" bIns="50800" rIns="50800"/>
            <a:lstStyle/>
            <a:p>
              <a:pPr algn="ctr" marL="0" indent="0" lvl="0">
                <a:lnSpc>
                  <a:spcPts val="3219"/>
                </a:lnSpc>
                <a:spcBef>
                  <a:spcPct val="0"/>
                </a:spcBef>
              </a:pPr>
            </a:p>
          </p:txBody>
        </p:sp>
      </p:grpSp>
      <p:sp>
        <p:nvSpPr>
          <p:cNvPr name="TextBox 17" id="17"/>
          <p:cNvSpPr txBox="true"/>
          <p:nvPr/>
        </p:nvSpPr>
        <p:spPr>
          <a:xfrm rot="0">
            <a:off x="10248453" y="7170835"/>
            <a:ext cx="2485288" cy="1624329"/>
          </a:xfrm>
          <a:prstGeom prst="rect">
            <a:avLst/>
          </a:prstGeom>
        </p:spPr>
        <p:txBody>
          <a:bodyPr anchor="t" rtlCol="false" tIns="0" lIns="0" bIns="0" rIns="0">
            <a:spAutoFit/>
          </a:bodyPr>
          <a:lstStyle/>
          <a:p>
            <a:pPr algn="l">
              <a:lnSpc>
                <a:spcPts val="3199"/>
              </a:lnSpc>
            </a:pP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Execute cons</a:t>
            </a: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istently and track progress</a:t>
            </a:r>
          </a:p>
        </p:txBody>
      </p:sp>
      <p:sp>
        <p:nvSpPr>
          <p:cNvPr name="TextBox 18" id="18"/>
          <p:cNvSpPr txBox="true"/>
          <p:nvPr/>
        </p:nvSpPr>
        <p:spPr>
          <a:xfrm rot="0">
            <a:off x="12979505" y="7283230"/>
            <a:ext cx="3907820" cy="1313815"/>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grpSp>
        <p:nvGrpSpPr>
          <p:cNvPr name="Group 19" id="19"/>
          <p:cNvGrpSpPr/>
          <p:nvPr/>
        </p:nvGrpSpPr>
        <p:grpSpPr>
          <a:xfrm rot="0">
            <a:off x="1028700" y="4715381"/>
            <a:ext cx="7431126" cy="1979738"/>
            <a:chOff x="0" y="0"/>
            <a:chExt cx="1848331" cy="492417"/>
          </a:xfrm>
        </p:grpSpPr>
        <p:sp>
          <p:nvSpPr>
            <p:cNvPr name="Freeform 20" id="20"/>
            <p:cNvSpPr/>
            <p:nvPr/>
          </p:nvSpPr>
          <p:spPr>
            <a:xfrm flipH="false" flipV="false" rot="0">
              <a:off x="0" y="0"/>
              <a:ext cx="1848331" cy="492417"/>
            </a:xfrm>
            <a:custGeom>
              <a:avLst/>
              <a:gdLst/>
              <a:ahLst/>
              <a:cxnLst/>
              <a:rect r="r" b="b" t="t" l="l"/>
              <a:pathLst>
                <a:path h="492417" w="1848331">
                  <a:moveTo>
                    <a:pt x="19795" y="0"/>
                  </a:moveTo>
                  <a:lnTo>
                    <a:pt x="1828536" y="0"/>
                  </a:lnTo>
                  <a:cubicBezTo>
                    <a:pt x="1833786" y="0"/>
                    <a:pt x="1838821" y="2086"/>
                    <a:pt x="1842533" y="5798"/>
                  </a:cubicBezTo>
                  <a:cubicBezTo>
                    <a:pt x="1846245" y="9510"/>
                    <a:pt x="1848331" y="14545"/>
                    <a:pt x="1848331" y="19795"/>
                  </a:cubicBezTo>
                  <a:lnTo>
                    <a:pt x="1848331" y="472622"/>
                  </a:lnTo>
                  <a:cubicBezTo>
                    <a:pt x="1848331" y="477872"/>
                    <a:pt x="1846245" y="482907"/>
                    <a:pt x="1842533" y="486619"/>
                  </a:cubicBezTo>
                  <a:cubicBezTo>
                    <a:pt x="1838821" y="490331"/>
                    <a:pt x="1833786" y="492417"/>
                    <a:pt x="1828536" y="492417"/>
                  </a:cubicBezTo>
                  <a:lnTo>
                    <a:pt x="19795" y="492417"/>
                  </a:lnTo>
                  <a:cubicBezTo>
                    <a:pt x="14545" y="492417"/>
                    <a:pt x="9510" y="490331"/>
                    <a:pt x="5798" y="486619"/>
                  </a:cubicBezTo>
                  <a:cubicBezTo>
                    <a:pt x="2086" y="482907"/>
                    <a:pt x="0" y="477872"/>
                    <a:pt x="0" y="472622"/>
                  </a:cubicBezTo>
                  <a:lnTo>
                    <a:pt x="0" y="19795"/>
                  </a:lnTo>
                  <a:cubicBezTo>
                    <a:pt x="0" y="14545"/>
                    <a:pt x="2086" y="9510"/>
                    <a:pt x="5798" y="5798"/>
                  </a:cubicBezTo>
                  <a:cubicBezTo>
                    <a:pt x="9510" y="2086"/>
                    <a:pt x="14545" y="0"/>
                    <a:pt x="19795" y="0"/>
                  </a:cubicBezTo>
                  <a:close/>
                </a:path>
              </a:pathLst>
            </a:custGeom>
            <a:ln w="38100" cap="sq">
              <a:gradFill>
                <a:gsLst>
                  <a:gs pos="0">
                    <a:srgbClr val="478CF6">
                      <a:alpha val="100000"/>
                    </a:srgbClr>
                  </a:gs>
                  <a:gs pos="100000">
                    <a:srgbClr val="FFFFFF">
                      <a:alpha val="100000"/>
                    </a:srgbClr>
                  </a:gs>
                </a:gsLst>
                <a:lin ang="2700000"/>
              </a:gradFill>
              <a:prstDash val="solid"/>
              <a:miter/>
            </a:ln>
          </p:spPr>
        </p:sp>
        <p:sp>
          <p:nvSpPr>
            <p:cNvPr name="TextBox 21" id="21"/>
            <p:cNvSpPr txBox="true"/>
            <p:nvPr/>
          </p:nvSpPr>
          <p:spPr>
            <a:xfrm>
              <a:off x="0" y="-47625"/>
              <a:ext cx="1848331" cy="540042"/>
            </a:xfrm>
            <a:prstGeom prst="rect">
              <a:avLst/>
            </a:prstGeom>
          </p:spPr>
          <p:txBody>
            <a:bodyPr anchor="ctr" rtlCol="false" tIns="50800" lIns="50800" bIns="50800" rIns="50800"/>
            <a:lstStyle/>
            <a:p>
              <a:pPr algn="ctr" marL="0" indent="0" lvl="0">
                <a:lnSpc>
                  <a:spcPts val="3219"/>
                </a:lnSpc>
                <a:spcBef>
                  <a:spcPct val="0"/>
                </a:spcBef>
              </a:pPr>
            </a:p>
          </p:txBody>
        </p:sp>
      </p:grpSp>
      <p:sp>
        <p:nvSpPr>
          <p:cNvPr name="TextBox 22" id="22"/>
          <p:cNvSpPr txBox="true"/>
          <p:nvPr/>
        </p:nvSpPr>
        <p:spPr>
          <a:xfrm rot="0">
            <a:off x="1414689" y="4899376"/>
            <a:ext cx="2485288" cy="1624329"/>
          </a:xfrm>
          <a:prstGeom prst="rect">
            <a:avLst/>
          </a:prstGeom>
        </p:spPr>
        <p:txBody>
          <a:bodyPr anchor="t" rtlCol="false" tIns="0" lIns="0" bIns="0" rIns="0">
            <a:spAutoFit/>
          </a:bodyPr>
          <a:lstStyle/>
          <a:p>
            <a:pPr algn="l">
              <a:lnSpc>
                <a:spcPts val="3199"/>
              </a:lnSpc>
            </a:pP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Align individual goals w</a:t>
            </a: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ith team targets</a:t>
            </a:r>
          </a:p>
        </p:txBody>
      </p:sp>
      <p:sp>
        <p:nvSpPr>
          <p:cNvPr name="TextBox 23" id="23"/>
          <p:cNvSpPr txBox="true"/>
          <p:nvPr/>
        </p:nvSpPr>
        <p:spPr>
          <a:xfrm rot="0">
            <a:off x="4180031" y="5011771"/>
            <a:ext cx="3907820" cy="1313815"/>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grpSp>
        <p:nvGrpSpPr>
          <p:cNvPr name="Group 24" id="24"/>
          <p:cNvGrpSpPr/>
          <p:nvPr/>
        </p:nvGrpSpPr>
        <p:grpSpPr>
          <a:xfrm rot="0">
            <a:off x="1028700" y="6986841"/>
            <a:ext cx="7431126" cy="1979738"/>
            <a:chOff x="0" y="0"/>
            <a:chExt cx="1848331" cy="492417"/>
          </a:xfrm>
        </p:grpSpPr>
        <p:sp>
          <p:nvSpPr>
            <p:cNvPr name="Freeform 25" id="25"/>
            <p:cNvSpPr/>
            <p:nvPr/>
          </p:nvSpPr>
          <p:spPr>
            <a:xfrm flipH="false" flipV="false" rot="0">
              <a:off x="0" y="0"/>
              <a:ext cx="1848331" cy="492417"/>
            </a:xfrm>
            <a:custGeom>
              <a:avLst/>
              <a:gdLst/>
              <a:ahLst/>
              <a:cxnLst/>
              <a:rect r="r" b="b" t="t" l="l"/>
              <a:pathLst>
                <a:path h="492417" w="1848331">
                  <a:moveTo>
                    <a:pt x="19795" y="0"/>
                  </a:moveTo>
                  <a:lnTo>
                    <a:pt x="1828536" y="0"/>
                  </a:lnTo>
                  <a:cubicBezTo>
                    <a:pt x="1833786" y="0"/>
                    <a:pt x="1838821" y="2086"/>
                    <a:pt x="1842533" y="5798"/>
                  </a:cubicBezTo>
                  <a:cubicBezTo>
                    <a:pt x="1846245" y="9510"/>
                    <a:pt x="1848331" y="14545"/>
                    <a:pt x="1848331" y="19795"/>
                  </a:cubicBezTo>
                  <a:lnTo>
                    <a:pt x="1848331" y="472622"/>
                  </a:lnTo>
                  <a:cubicBezTo>
                    <a:pt x="1848331" y="477872"/>
                    <a:pt x="1846245" y="482907"/>
                    <a:pt x="1842533" y="486619"/>
                  </a:cubicBezTo>
                  <a:cubicBezTo>
                    <a:pt x="1838821" y="490331"/>
                    <a:pt x="1833786" y="492417"/>
                    <a:pt x="1828536" y="492417"/>
                  </a:cubicBezTo>
                  <a:lnTo>
                    <a:pt x="19795" y="492417"/>
                  </a:lnTo>
                  <a:cubicBezTo>
                    <a:pt x="14545" y="492417"/>
                    <a:pt x="9510" y="490331"/>
                    <a:pt x="5798" y="486619"/>
                  </a:cubicBezTo>
                  <a:cubicBezTo>
                    <a:pt x="2086" y="482907"/>
                    <a:pt x="0" y="477872"/>
                    <a:pt x="0" y="472622"/>
                  </a:cubicBezTo>
                  <a:lnTo>
                    <a:pt x="0" y="19795"/>
                  </a:lnTo>
                  <a:cubicBezTo>
                    <a:pt x="0" y="14545"/>
                    <a:pt x="2086" y="9510"/>
                    <a:pt x="5798" y="5798"/>
                  </a:cubicBezTo>
                  <a:cubicBezTo>
                    <a:pt x="9510" y="2086"/>
                    <a:pt x="14545" y="0"/>
                    <a:pt x="19795" y="0"/>
                  </a:cubicBezTo>
                  <a:close/>
                </a:path>
              </a:pathLst>
            </a:custGeom>
            <a:ln w="38100" cap="sq">
              <a:gradFill>
                <a:gsLst>
                  <a:gs pos="0">
                    <a:srgbClr val="478CF6">
                      <a:alpha val="100000"/>
                    </a:srgbClr>
                  </a:gs>
                  <a:gs pos="100000">
                    <a:srgbClr val="FFFFFF">
                      <a:alpha val="100000"/>
                    </a:srgbClr>
                  </a:gs>
                </a:gsLst>
                <a:lin ang="2700000"/>
              </a:gradFill>
              <a:prstDash val="solid"/>
              <a:miter/>
            </a:ln>
          </p:spPr>
        </p:sp>
        <p:sp>
          <p:nvSpPr>
            <p:cNvPr name="TextBox 26" id="26"/>
            <p:cNvSpPr txBox="true"/>
            <p:nvPr/>
          </p:nvSpPr>
          <p:spPr>
            <a:xfrm>
              <a:off x="0" y="-47625"/>
              <a:ext cx="1848331" cy="540042"/>
            </a:xfrm>
            <a:prstGeom prst="rect">
              <a:avLst/>
            </a:prstGeom>
          </p:spPr>
          <p:txBody>
            <a:bodyPr anchor="ctr" rtlCol="false" tIns="50800" lIns="50800" bIns="50800" rIns="50800"/>
            <a:lstStyle/>
            <a:p>
              <a:pPr algn="ctr" marL="0" indent="0" lvl="0">
                <a:lnSpc>
                  <a:spcPts val="3219"/>
                </a:lnSpc>
                <a:spcBef>
                  <a:spcPct val="0"/>
                </a:spcBef>
              </a:pPr>
            </a:p>
          </p:txBody>
        </p:sp>
      </p:grpSp>
      <p:sp>
        <p:nvSpPr>
          <p:cNvPr name="TextBox 27" id="27"/>
          <p:cNvSpPr txBox="true"/>
          <p:nvPr/>
        </p:nvSpPr>
        <p:spPr>
          <a:xfrm rot="0">
            <a:off x="1448979" y="7393145"/>
            <a:ext cx="2485288" cy="1224279"/>
          </a:xfrm>
          <a:prstGeom prst="rect">
            <a:avLst/>
          </a:prstGeom>
        </p:spPr>
        <p:txBody>
          <a:bodyPr anchor="t" rtlCol="false" tIns="0" lIns="0" bIns="0" rIns="0">
            <a:spAutoFit/>
          </a:bodyPr>
          <a:lstStyle/>
          <a:p>
            <a:pPr algn="l">
              <a:lnSpc>
                <a:spcPts val="3199"/>
              </a:lnSpc>
            </a:pP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Review prior</a:t>
            </a:r>
            <a:r>
              <a:rPr lang="en-US" sz="3199">
                <a:gradFill>
                  <a:gsLst>
                    <a:gs pos="0">
                      <a:srgbClr val="478CF6">
                        <a:alpha val="100000"/>
                      </a:srgbClr>
                    </a:gs>
                    <a:gs pos="100000">
                      <a:srgbClr val="C1E1FF">
                        <a:alpha val="100000"/>
                      </a:srgbClr>
                    </a:gs>
                  </a:gsLst>
                  <a:lin ang="2700000"/>
                </a:gradFill>
                <a:latin typeface="Bricolage Grotesque"/>
                <a:ea typeface="Bricolage Grotesque"/>
                <a:cs typeface="Bricolage Grotesque"/>
                <a:sym typeface="Bricolage Grotesque"/>
              </a:rPr>
              <a:t>ity accounts</a:t>
            </a:r>
          </a:p>
        </p:txBody>
      </p:sp>
      <p:sp>
        <p:nvSpPr>
          <p:cNvPr name="TextBox 28" id="28"/>
          <p:cNvSpPr txBox="true"/>
          <p:nvPr/>
        </p:nvSpPr>
        <p:spPr>
          <a:xfrm rot="0">
            <a:off x="4180031" y="7283230"/>
            <a:ext cx="3907820" cy="1313815"/>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Open Sauce"/>
                <a:ea typeface="Open Sauce"/>
                <a:cs typeface="Open Sauce"/>
                <a:sym typeface="Open Sauce"/>
              </a:rPr>
              <a:t>Lorem ipsum dolor sit amet, consectetur adipiscing elit, sed do eiusmod tempor incididunt ut labore et dolore magna aliqua.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DAHS8AD2Of4</dc:identifier>
  <dcterms:modified xsi:type="dcterms:W3CDTF">2011-08-01T06:04:30Z</dcterms:modified>
  <cp:revision>1</cp:revision>
  <dc:title>Blue and Black Minimalist Business Presentation</dc:title>
</cp:coreProperties>
</file>