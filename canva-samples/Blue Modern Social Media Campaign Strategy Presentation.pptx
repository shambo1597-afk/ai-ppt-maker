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Knockout Cruiserweight Bold" charset="1" panose="02000503060000020004"/>
      <p:regular r:id="rId16"/>
    </p:embeddedFont>
    <p:embeddedFont>
      <p:font typeface="Knockout Cruiserweight" charset="1" panose="02000503030000020004"/>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3.jpe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 Id="rId7" Target="../media/image2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6.png" Type="http://schemas.openxmlformats.org/officeDocument/2006/relationships/image"/><Relationship Id="rId5" Target="../media/image27.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1.png" Type="http://schemas.openxmlformats.org/officeDocument/2006/relationships/image"/><Relationship Id="rId9"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6.png" Type="http://schemas.openxmlformats.org/officeDocument/2006/relationships/image"/><Relationship Id="rId11" Target="../media/image47.svg" Type="http://schemas.openxmlformats.org/officeDocument/2006/relationships/image"/><Relationship Id="rId12" Target="../media/image48.png" Type="http://schemas.openxmlformats.org/officeDocument/2006/relationships/image"/><Relationship Id="rId13" Target="../media/image49.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 Id="rId7" Target="../media/image43.svg" Type="http://schemas.openxmlformats.org/officeDocument/2006/relationships/image"/><Relationship Id="rId8" Target="../media/image44.png" Type="http://schemas.openxmlformats.org/officeDocument/2006/relationships/image"/><Relationship Id="rId9" Target="../media/image4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1441961" y="620124"/>
            <a:ext cx="5408763" cy="6225914"/>
          </a:xfrm>
          <a:custGeom>
            <a:avLst/>
            <a:gdLst/>
            <a:ahLst/>
            <a:cxnLst/>
            <a:rect r="r" b="b" t="t" l="l"/>
            <a:pathLst>
              <a:path h="6225914" w="5408763">
                <a:moveTo>
                  <a:pt x="0" y="0"/>
                </a:moveTo>
                <a:lnTo>
                  <a:pt x="5408763" y="0"/>
                </a:lnTo>
                <a:lnTo>
                  <a:pt x="5408763" y="6225915"/>
                </a:lnTo>
                <a:lnTo>
                  <a:pt x="0" y="6225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1231522" y="6437213"/>
            <a:ext cx="2622950" cy="3019223"/>
          </a:xfrm>
          <a:custGeom>
            <a:avLst/>
            <a:gdLst/>
            <a:ahLst/>
            <a:cxnLst/>
            <a:rect r="r" b="b" t="t" l="l"/>
            <a:pathLst>
              <a:path h="3019223" w="2622950">
                <a:moveTo>
                  <a:pt x="0" y="0"/>
                </a:moveTo>
                <a:lnTo>
                  <a:pt x="2622950" y="0"/>
                </a:lnTo>
                <a:lnTo>
                  <a:pt x="2622950" y="3019224"/>
                </a:lnTo>
                <a:lnTo>
                  <a:pt x="0" y="3019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400000">
            <a:off x="1156589" y="5712607"/>
            <a:ext cx="1693011" cy="1948789"/>
          </a:xfrm>
          <a:custGeom>
            <a:avLst/>
            <a:gdLst/>
            <a:ahLst/>
            <a:cxnLst/>
            <a:rect r="r" b="b" t="t" l="l"/>
            <a:pathLst>
              <a:path h="1948789" w="1693011">
                <a:moveTo>
                  <a:pt x="0" y="0"/>
                </a:moveTo>
                <a:lnTo>
                  <a:pt x="1693011" y="0"/>
                </a:lnTo>
                <a:lnTo>
                  <a:pt x="1693011" y="1948789"/>
                </a:lnTo>
                <a:lnTo>
                  <a:pt x="0" y="1948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2476485" y="5712607"/>
            <a:ext cx="1693011" cy="1948789"/>
          </a:xfrm>
          <a:custGeom>
            <a:avLst/>
            <a:gdLst/>
            <a:ahLst/>
            <a:cxnLst/>
            <a:rect r="r" b="b" t="t" l="l"/>
            <a:pathLst>
              <a:path h="1948789" w="1693011">
                <a:moveTo>
                  <a:pt x="0" y="0"/>
                </a:moveTo>
                <a:lnTo>
                  <a:pt x="1693011" y="0"/>
                </a:lnTo>
                <a:lnTo>
                  <a:pt x="1693011" y="1948789"/>
                </a:lnTo>
                <a:lnTo>
                  <a:pt x="0" y="1948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14438213" y="6437213"/>
            <a:ext cx="2622950" cy="3019223"/>
          </a:xfrm>
          <a:custGeom>
            <a:avLst/>
            <a:gdLst/>
            <a:ahLst/>
            <a:cxnLst/>
            <a:rect r="r" b="b" t="t" l="l"/>
            <a:pathLst>
              <a:path h="3019223" w="2622950">
                <a:moveTo>
                  <a:pt x="0" y="0"/>
                </a:moveTo>
                <a:lnTo>
                  <a:pt x="2622950" y="0"/>
                </a:lnTo>
                <a:lnTo>
                  <a:pt x="2622950" y="3019224"/>
                </a:lnTo>
                <a:lnTo>
                  <a:pt x="0" y="30192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5400000">
            <a:off x="15085335" y="4247105"/>
            <a:ext cx="1501931" cy="1728841"/>
          </a:xfrm>
          <a:custGeom>
            <a:avLst/>
            <a:gdLst/>
            <a:ahLst/>
            <a:cxnLst/>
            <a:rect r="r" b="b" t="t" l="l"/>
            <a:pathLst>
              <a:path h="1728841" w="1501931">
                <a:moveTo>
                  <a:pt x="0" y="0"/>
                </a:moveTo>
                <a:lnTo>
                  <a:pt x="1501931" y="0"/>
                </a:lnTo>
                <a:lnTo>
                  <a:pt x="1501931" y="1728841"/>
                </a:lnTo>
                <a:lnTo>
                  <a:pt x="0" y="172884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w="28575" cap="sq">
            <a:solidFill>
              <a:srgbClr val="FFF8ED"/>
            </a:solidFill>
            <a:prstDash val="solid"/>
            <a:miter/>
          </a:ln>
        </p:spPr>
      </p:sp>
      <p:sp>
        <p:nvSpPr>
          <p:cNvPr name="Freeform 8" id="8"/>
          <p:cNvSpPr/>
          <p:nvPr/>
        </p:nvSpPr>
        <p:spPr>
          <a:xfrm flipH="false" flipV="false" rot="-5400000">
            <a:off x="14714189" y="3932264"/>
            <a:ext cx="1069869" cy="1231504"/>
          </a:xfrm>
          <a:custGeom>
            <a:avLst/>
            <a:gdLst/>
            <a:ahLst/>
            <a:cxnLst/>
            <a:rect r="r" b="b" t="t" l="l"/>
            <a:pathLst>
              <a:path h="1231504" w="1069869">
                <a:moveTo>
                  <a:pt x="0" y="0"/>
                </a:moveTo>
                <a:lnTo>
                  <a:pt x="1069869" y="0"/>
                </a:lnTo>
                <a:lnTo>
                  <a:pt x="1069869" y="1231504"/>
                </a:lnTo>
                <a:lnTo>
                  <a:pt x="0" y="12315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w="28575" cap="sq">
            <a:solidFill>
              <a:srgbClr val="FFF8ED"/>
            </a:solidFill>
            <a:prstDash val="solid"/>
            <a:miter/>
          </a:ln>
        </p:spPr>
      </p:sp>
      <p:sp>
        <p:nvSpPr>
          <p:cNvPr name="Freeform 9" id="9"/>
          <p:cNvSpPr/>
          <p:nvPr/>
        </p:nvSpPr>
        <p:spPr>
          <a:xfrm flipH="false" flipV="false" rot="0">
            <a:off x="11666944" y="7447110"/>
            <a:ext cx="1752106" cy="999430"/>
          </a:xfrm>
          <a:custGeom>
            <a:avLst/>
            <a:gdLst/>
            <a:ahLst/>
            <a:cxnLst/>
            <a:rect r="r" b="b" t="t" l="l"/>
            <a:pathLst>
              <a:path h="999430" w="1752106">
                <a:moveTo>
                  <a:pt x="0" y="0"/>
                </a:moveTo>
                <a:lnTo>
                  <a:pt x="1752106" y="0"/>
                </a:lnTo>
                <a:lnTo>
                  <a:pt x="1752106" y="999430"/>
                </a:lnTo>
                <a:lnTo>
                  <a:pt x="0" y="9994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5400000">
            <a:off x="3796381" y="5712607"/>
            <a:ext cx="1693011" cy="1948789"/>
          </a:xfrm>
          <a:custGeom>
            <a:avLst/>
            <a:gdLst/>
            <a:ahLst/>
            <a:cxnLst/>
            <a:rect r="r" b="b" t="t" l="l"/>
            <a:pathLst>
              <a:path h="1948789" w="1693011">
                <a:moveTo>
                  <a:pt x="0" y="0"/>
                </a:moveTo>
                <a:lnTo>
                  <a:pt x="1693011" y="0"/>
                </a:lnTo>
                <a:lnTo>
                  <a:pt x="1693011" y="1948789"/>
                </a:lnTo>
                <a:lnTo>
                  <a:pt x="0" y="1948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5400000">
            <a:off x="4169833" y="5712607"/>
            <a:ext cx="1693011" cy="1948789"/>
          </a:xfrm>
          <a:custGeom>
            <a:avLst/>
            <a:gdLst/>
            <a:ahLst/>
            <a:cxnLst/>
            <a:rect r="r" b="b" t="t" l="l"/>
            <a:pathLst>
              <a:path h="1948789" w="1693011">
                <a:moveTo>
                  <a:pt x="0" y="0"/>
                </a:moveTo>
                <a:lnTo>
                  <a:pt x="1693011" y="0"/>
                </a:lnTo>
                <a:lnTo>
                  <a:pt x="1693011" y="1948789"/>
                </a:lnTo>
                <a:lnTo>
                  <a:pt x="0" y="194878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5400000">
            <a:off x="15307077" y="7156395"/>
            <a:ext cx="885222" cy="1658496"/>
          </a:xfrm>
          <a:custGeom>
            <a:avLst/>
            <a:gdLst/>
            <a:ahLst/>
            <a:cxnLst/>
            <a:rect r="r" b="b" t="t" l="l"/>
            <a:pathLst>
              <a:path h="1658496" w="885222">
                <a:moveTo>
                  <a:pt x="0" y="0"/>
                </a:moveTo>
                <a:lnTo>
                  <a:pt x="885223" y="0"/>
                </a:lnTo>
                <a:lnTo>
                  <a:pt x="885223" y="1658496"/>
                </a:lnTo>
                <a:lnTo>
                  <a:pt x="0" y="16584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028700" y="2706466"/>
            <a:ext cx="8508543" cy="2971031"/>
          </a:xfrm>
          <a:prstGeom prst="rect">
            <a:avLst/>
          </a:prstGeom>
        </p:spPr>
        <p:txBody>
          <a:bodyPr anchor="t" rtlCol="false" tIns="0" lIns="0" bIns="0" rIns="0">
            <a:spAutoFit/>
          </a:bodyPr>
          <a:lstStyle/>
          <a:p>
            <a:pPr algn="l">
              <a:lnSpc>
                <a:spcPts val="11220"/>
              </a:lnSpc>
            </a:pPr>
            <a:r>
              <a:rPr lang="en-US" sz="12607" spc="-983">
                <a:solidFill>
                  <a:srgbClr val="2150B9"/>
                </a:solidFill>
                <a:latin typeface="Knockout Cruiserweight Bold"/>
                <a:ea typeface="Knockout Cruiserweight Bold"/>
                <a:cs typeface="Knockout Cruiserweight Bold"/>
                <a:sym typeface="Knockout Cruiserweight Bold"/>
              </a:rPr>
              <a:t>Social Media Campaign</a:t>
            </a:r>
          </a:p>
        </p:txBody>
      </p:sp>
      <p:sp>
        <p:nvSpPr>
          <p:cNvPr name="TextBox 14" id="14"/>
          <p:cNvSpPr txBox="true"/>
          <p:nvPr/>
        </p:nvSpPr>
        <p:spPr>
          <a:xfrm rot="0">
            <a:off x="1028700" y="8929069"/>
            <a:ext cx="2430803"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Lorna Alvarado</a:t>
            </a:r>
          </a:p>
        </p:txBody>
      </p:sp>
      <p:sp>
        <p:nvSpPr>
          <p:cNvPr name="TextBox 15" id="15"/>
          <p:cNvSpPr txBox="true"/>
          <p:nvPr/>
        </p:nvSpPr>
        <p:spPr>
          <a:xfrm rot="0">
            <a:off x="5422714" y="8929069"/>
            <a:ext cx="1855264"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09.06.2026</a:t>
            </a:r>
          </a:p>
        </p:txBody>
      </p:sp>
      <p:sp>
        <p:nvSpPr>
          <p:cNvPr name="TextBox 16" id="16"/>
          <p:cNvSpPr txBox="true"/>
          <p:nvPr/>
        </p:nvSpPr>
        <p:spPr>
          <a:xfrm rot="0">
            <a:off x="1028700" y="1104900"/>
            <a:ext cx="2036392"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P</a:t>
            </a:r>
            <a:r>
              <a:rPr lang="en-US" sz="2663" spc="-207">
                <a:solidFill>
                  <a:srgbClr val="2150B9"/>
                </a:solidFill>
                <a:latin typeface="Knockout Cruiserweight Bold"/>
                <a:ea typeface="Knockout Cruiserweight Bold"/>
                <a:cs typeface="Knockout Cruiserweight Bold"/>
                <a:sym typeface="Knockout Cruiserweight Bold"/>
              </a:rPr>
              <a:t>aucek &amp; Lage</a:t>
            </a:r>
          </a:p>
        </p:txBody>
      </p:sp>
      <p:sp>
        <p:nvSpPr>
          <p:cNvPr name="TextBox 17" id="17"/>
          <p:cNvSpPr txBox="true"/>
          <p:nvPr/>
        </p:nvSpPr>
        <p:spPr>
          <a:xfrm rot="0">
            <a:off x="11676286" y="1699495"/>
            <a:ext cx="4607577" cy="1309093"/>
          </a:xfrm>
          <a:prstGeom prst="rect">
            <a:avLst/>
          </a:prstGeom>
        </p:spPr>
        <p:txBody>
          <a:bodyPr anchor="t" rtlCol="false" tIns="0" lIns="0" bIns="0" rIns="0">
            <a:spAutoFit/>
          </a:bodyPr>
          <a:lstStyle/>
          <a:p>
            <a:pPr algn="l">
              <a:lnSpc>
                <a:spcPts val="3327"/>
              </a:lnSpc>
            </a:pPr>
            <a:r>
              <a:rPr lang="en-US" sz="3739" spc="-291">
                <a:solidFill>
                  <a:srgbClr val="FFF8ED"/>
                </a:solidFill>
                <a:latin typeface="Knockout Cruiserweight"/>
                <a:ea typeface="Knockout Cruiserweight"/>
                <a:cs typeface="Knockout Cruiserweight"/>
                <a:sym typeface="Knockout Cruiserweight"/>
              </a:rPr>
              <a:t>Driving Brand Aw</a:t>
            </a:r>
            <a:r>
              <a:rPr lang="en-US" sz="3739" spc="-291">
                <a:solidFill>
                  <a:srgbClr val="FFF8ED"/>
                </a:solidFill>
                <a:latin typeface="Knockout Cruiserweight"/>
                <a:ea typeface="Knockout Cruiserweight"/>
                <a:cs typeface="Knockout Cruiserweight"/>
                <a:sym typeface="Knockout Cruiserweight"/>
              </a:rPr>
              <a:t>areness, Engagement, and Conversions</a:t>
            </a:r>
          </a:p>
        </p:txBody>
      </p:sp>
      <p:sp>
        <p:nvSpPr>
          <p:cNvPr name="TextBox 18" id="18"/>
          <p:cNvSpPr txBox="true"/>
          <p:nvPr/>
        </p:nvSpPr>
        <p:spPr>
          <a:xfrm rot="0">
            <a:off x="11676286" y="5538729"/>
            <a:ext cx="2494460" cy="323762"/>
          </a:xfrm>
          <a:prstGeom prst="rect">
            <a:avLst/>
          </a:prstGeom>
        </p:spPr>
        <p:txBody>
          <a:bodyPr anchor="t" rtlCol="false" tIns="0" lIns="0" bIns="0" rIns="0">
            <a:spAutoFit/>
          </a:bodyPr>
          <a:lstStyle/>
          <a:p>
            <a:pPr algn="l">
              <a:lnSpc>
                <a:spcPts val="2367"/>
              </a:lnSpc>
            </a:pPr>
            <a:r>
              <a:rPr lang="en-US" sz="2660" spc="-207">
                <a:solidFill>
                  <a:srgbClr val="FFF8ED"/>
                </a:solidFill>
                <a:latin typeface="Knockout Cruiserweight"/>
                <a:ea typeface="Knockout Cruiserweight"/>
                <a:cs typeface="Knockout Cruiserweight"/>
                <a:sym typeface="Knockout Cruiserweight"/>
              </a:rPr>
              <a:t>Liceria &amp;</a:t>
            </a:r>
            <a:r>
              <a:rPr lang="en-US" sz="2660" spc="-207">
                <a:solidFill>
                  <a:srgbClr val="FFF8ED"/>
                </a:solidFill>
                <a:latin typeface="Knockout Cruiserweight"/>
                <a:ea typeface="Knockout Cruiserweight"/>
                <a:cs typeface="Knockout Cruiserweight"/>
                <a:sym typeface="Knockout Cruiserweight"/>
              </a:rPr>
              <a:t> Co.</a:t>
            </a:r>
          </a:p>
        </p:txBody>
      </p:sp>
      <p:sp>
        <p:nvSpPr>
          <p:cNvPr name="TextBox 19" id="19"/>
          <p:cNvSpPr txBox="true"/>
          <p:nvPr/>
        </p:nvSpPr>
        <p:spPr>
          <a:xfrm rot="0">
            <a:off x="11676286" y="5292597"/>
            <a:ext cx="1019694" cy="182015"/>
          </a:xfrm>
          <a:prstGeom prst="rect">
            <a:avLst/>
          </a:prstGeom>
        </p:spPr>
        <p:txBody>
          <a:bodyPr anchor="t" rtlCol="false" tIns="0" lIns="0" bIns="0" rIns="0">
            <a:spAutoFit/>
          </a:bodyPr>
          <a:lstStyle/>
          <a:p>
            <a:pPr algn="l">
              <a:lnSpc>
                <a:spcPts val="1293"/>
              </a:lnSpc>
            </a:pPr>
            <a:r>
              <a:rPr lang="en-US" sz="1453" spc="-113">
                <a:solidFill>
                  <a:srgbClr val="FFF8ED"/>
                </a:solidFill>
                <a:latin typeface="Knockout Cruiserweight"/>
                <a:ea typeface="Knockout Cruiserweight"/>
                <a:cs typeface="Knockout Cruiserweight"/>
                <a:sym typeface="Knockout Cruiserweight"/>
              </a:rPr>
              <a:t>P</a:t>
            </a:r>
            <a:r>
              <a:rPr lang="en-US" sz="1453" spc="-113">
                <a:solidFill>
                  <a:srgbClr val="FFF8ED"/>
                </a:solidFill>
                <a:latin typeface="Knockout Cruiserweight"/>
                <a:ea typeface="Knockout Cruiserweight"/>
                <a:cs typeface="Knockout Cruiserweight"/>
                <a:sym typeface="Knockout Cruiserweight"/>
              </a:rPr>
              <a:t>repared for</a:t>
            </a:r>
          </a:p>
        </p:txBody>
      </p:sp>
      <p:sp>
        <p:nvSpPr>
          <p:cNvPr name="TextBox 20" id="20"/>
          <p:cNvSpPr txBox="true"/>
          <p:nvPr/>
        </p:nvSpPr>
        <p:spPr>
          <a:xfrm rot="0">
            <a:off x="1028700" y="1472231"/>
            <a:ext cx="1089964"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Since 2026</a:t>
            </a:r>
          </a:p>
        </p:txBody>
      </p:sp>
      <p:sp>
        <p:nvSpPr>
          <p:cNvPr name="TextBox 21" id="21"/>
          <p:cNvSpPr txBox="true"/>
          <p:nvPr/>
        </p:nvSpPr>
        <p:spPr>
          <a:xfrm rot="0">
            <a:off x="1028700" y="8649400"/>
            <a:ext cx="1178509"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Presented By:</a:t>
            </a:r>
          </a:p>
        </p:txBody>
      </p:sp>
      <p:sp>
        <p:nvSpPr>
          <p:cNvPr name="TextBox 22" id="22"/>
          <p:cNvSpPr txBox="true"/>
          <p:nvPr/>
        </p:nvSpPr>
        <p:spPr>
          <a:xfrm rot="0">
            <a:off x="5422714" y="8649400"/>
            <a:ext cx="1333461"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Presented Date:</a:t>
            </a:r>
          </a:p>
        </p:txBody>
      </p:sp>
      <p:sp>
        <p:nvSpPr>
          <p:cNvPr name="TextBox 23" id="23"/>
          <p:cNvSpPr txBox="true"/>
          <p:nvPr/>
        </p:nvSpPr>
        <p:spPr>
          <a:xfrm rot="0">
            <a:off x="1461818" y="6116721"/>
            <a:ext cx="4291213" cy="1169379"/>
          </a:xfrm>
          <a:prstGeom prst="rect">
            <a:avLst/>
          </a:prstGeom>
        </p:spPr>
        <p:txBody>
          <a:bodyPr anchor="t" rtlCol="false" tIns="0" lIns="0" bIns="0" rIns="0">
            <a:spAutoFit/>
          </a:bodyPr>
          <a:lstStyle/>
          <a:p>
            <a:pPr algn="l">
              <a:lnSpc>
                <a:spcPts val="8450"/>
              </a:lnSpc>
            </a:pPr>
            <a:r>
              <a:rPr lang="en-US" sz="9495" spc="-740">
                <a:solidFill>
                  <a:srgbClr val="FFF8ED"/>
                </a:solidFill>
                <a:latin typeface="Knockout Cruiserweight Bold"/>
                <a:ea typeface="Knockout Cruiserweight Bold"/>
                <a:cs typeface="Knockout Cruiserweight Bold"/>
                <a:sym typeface="Knockout Cruiserweight Bold"/>
              </a:rPr>
              <a:t>Strategy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2150B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3287882"/>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3" id="3"/>
          <p:cNvSpPr/>
          <p:nvPr/>
        </p:nvSpPr>
        <p:spPr>
          <a:xfrm flipH="false" flipV="false" rot="0">
            <a:off x="8710900" y="3287882"/>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4" id="4"/>
          <p:cNvSpPr/>
          <p:nvPr/>
        </p:nvSpPr>
        <p:spPr>
          <a:xfrm flipH="false" flipV="false" rot="0">
            <a:off x="1028700" y="4518993"/>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5" id="5"/>
          <p:cNvSpPr/>
          <p:nvPr/>
        </p:nvSpPr>
        <p:spPr>
          <a:xfrm flipH="false" flipV="false" rot="0">
            <a:off x="8710900" y="4518993"/>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6" id="6"/>
          <p:cNvSpPr/>
          <p:nvPr/>
        </p:nvSpPr>
        <p:spPr>
          <a:xfrm flipH="false" flipV="false" rot="0">
            <a:off x="5064884" y="3287882"/>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7" id="7"/>
          <p:cNvSpPr/>
          <p:nvPr/>
        </p:nvSpPr>
        <p:spPr>
          <a:xfrm flipH="false" flipV="false" rot="0">
            <a:off x="12747084" y="3287882"/>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8" id="8"/>
          <p:cNvSpPr/>
          <p:nvPr/>
        </p:nvSpPr>
        <p:spPr>
          <a:xfrm flipH="false" flipV="false" rot="0">
            <a:off x="5064884" y="4518993"/>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9" id="9"/>
          <p:cNvSpPr/>
          <p:nvPr/>
        </p:nvSpPr>
        <p:spPr>
          <a:xfrm flipH="false" flipV="false" rot="0">
            <a:off x="12747084" y="4518993"/>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0" id="10"/>
          <p:cNvSpPr/>
          <p:nvPr/>
        </p:nvSpPr>
        <p:spPr>
          <a:xfrm flipH="false" flipV="false" rot="0">
            <a:off x="1028700" y="5750104"/>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1" id="11"/>
          <p:cNvSpPr/>
          <p:nvPr/>
        </p:nvSpPr>
        <p:spPr>
          <a:xfrm flipH="false" flipV="false" rot="0">
            <a:off x="8710900" y="5750104"/>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2" id="12"/>
          <p:cNvSpPr/>
          <p:nvPr/>
        </p:nvSpPr>
        <p:spPr>
          <a:xfrm flipH="false" flipV="false" rot="0">
            <a:off x="5064884" y="5750104"/>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3" id="13"/>
          <p:cNvSpPr/>
          <p:nvPr/>
        </p:nvSpPr>
        <p:spPr>
          <a:xfrm flipH="false" flipV="false" rot="0">
            <a:off x="12747084" y="5750104"/>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4" id="14"/>
          <p:cNvSpPr/>
          <p:nvPr/>
        </p:nvSpPr>
        <p:spPr>
          <a:xfrm flipH="false" flipV="false" rot="0">
            <a:off x="1028700" y="6981216"/>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5" id="15"/>
          <p:cNvSpPr/>
          <p:nvPr/>
        </p:nvSpPr>
        <p:spPr>
          <a:xfrm flipH="false" flipV="false" rot="0">
            <a:off x="8710900" y="6981216"/>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6" id="16"/>
          <p:cNvSpPr/>
          <p:nvPr/>
        </p:nvSpPr>
        <p:spPr>
          <a:xfrm flipH="false" flipV="false" rot="0">
            <a:off x="5064884" y="6981216"/>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7" id="17"/>
          <p:cNvSpPr/>
          <p:nvPr/>
        </p:nvSpPr>
        <p:spPr>
          <a:xfrm flipH="false" flipV="false" rot="0">
            <a:off x="12747084" y="6981216"/>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8" id="18"/>
          <p:cNvSpPr/>
          <p:nvPr/>
        </p:nvSpPr>
        <p:spPr>
          <a:xfrm flipH="false" flipV="false" rot="0">
            <a:off x="1028700" y="8212327"/>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9" id="19"/>
          <p:cNvSpPr/>
          <p:nvPr/>
        </p:nvSpPr>
        <p:spPr>
          <a:xfrm flipH="false" flipV="false" rot="0">
            <a:off x="8710900" y="8212327"/>
            <a:ext cx="4908132" cy="1045973"/>
          </a:xfrm>
          <a:custGeom>
            <a:avLst/>
            <a:gdLst/>
            <a:ahLst/>
            <a:cxnLst/>
            <a:rect r="r" b="b" t="t" l="l"/>
            <a:pathLst>
              <a:path h="1045973" w="4908132">
                <a:moveTo>
                  <a:pt x="0" y="0"/>
                </a:moveTo>
                <a:lnTo>
                  <a:pt x="4908132" y="0"/>
                </a:lnTo>
                <a:lnTo>
                  <a:pt x="4908132"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20" id="20"/>
          <p:cNvSpPr/>
          <p:nvPr/>
        </p:nvSpPr>
        <p:spPr>
          <a:xfrm flipH="false" flipV="false" rot="0">
            <a:off x="5064884" y="8212327"/>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1" id="21"/>
          <p:cNvSpPr/>
          <p:nvPr/>
        </p:nvSpPr>
        <p:spPr>
          <a:xfrm flipH="false" flipV="false" rot="0">
            <a:off x="12747084" y="8212327"/>
            <a:ext cx="2889528" cy="1045973"/>
          </a:xfrm>
          <a:custGeom>
            <a:avLst/>
            <a:gdLst/>
            <a:ahLst/>
            <a:cxnLst/>
            <a:rect r="r" b="b" t="t" l="l"/>
            <a:pathLst>
              <a:path h="1045973" w="2889528">
                <a:moveTo>
                  <a:pt x="0" y="0"/>
                </a:moveTo>
                <a:lnTo>
                  <a:pt x="2889528" y="0"/>
                </a:lnTo>
                <a:lnTo>
                  <a:pt x="2889528" y="1045973"/>
                </a:lnTo>
                <a:lnTo>
                  <a:pt x="0" y="1045973"/>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2" id="22"/>
          <p:cNvSpPr/>
          <p:nvPr/>
        </p:nvSpPr>
        <p:spPr>
          <a:xfrm flipH="false" flipV="false" rot="0">
            <a:off x="7567247" y="1028700"/>
            <a:ext cx="4985057" cy="1495517"/>
          </a:xfrm>
          <a:custGeom>
            <a:avLst/>
            <a:gdLst/>
            <a:ahLst/>
            <a:cxnLst/>
            <a:rect r="r" b="b" t="t" l="l"/>
            <a:pathLst>
              <a:path h="1495517" w="4985057">
                <a:moveTo>
                  <a:pt x="0" y="0"/>
                </a:moveTo>
                <a:lnTo>
                  <a:pt x="4985058" y="0"/>
                </a:lnTo>
                <a:lnTo>
                  <a:pt x="4985058" y="1495517"/>
                </a:lnTo>
                <a:lnTo>
                  <a:pt x="0" y="14955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3" id="23"/>
          <p:cNvSpPr/>
          <p:nvPr/>
        </p:nvSpPr>
        <p:spPr>
          <a:xfrm flipH="false" flipV="false" rot="0">
            <a:off x="16670943" y="3956872"/>
            <a:ext cx="5699392" cy="5253803"/>
          </a:xfrm>
          <a:custGeom>
            <a:avLst/>
            <a:gdLst/>
            <a:ahLst/>
            <a:cxnLst/>
            <a:rect r="r" b="b" t="t" l="l"/>
            <a:pathLst>
              <a:path h="5253803" w="5699392">
                <a:moveTo>
                  <a:pt x="0" y="0"/>
                </a:moveTo>
                <a:lnTo>
                  <a:pt x="5699392" y="0"/>
                </a:lnTo>
                <a:lnTo>
                  <a:pt x="5699392" y="5253803"/>
                </a:lnTo>
                <a:lnTo>
                  <a:pt x="0" y="525380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FFF8ED"/>
                </a:solidFill>
                <a:latin typeface="Knockout Cruiserweight Bold"/>
                <a:ea typeface="Knockout Cruiserweight Bold"/>
                <a:cs typeface="Knockout Cruiserweight Bold"/>
                <a:sym typeface="Knockout Cruiserweight Bold"/>
              </a:rPr>
              <a:t>Paucek &amp; Lage</a:t>
            </a:r>
          </a:p>
        </p:txBody>
      </p:sp>
      <p:sp>
        <p:nvSpPr>
          <p:cNvPr name="TextBox 25" id="25"/>
          <p:cNvSpPr txBox="true"/>
          <p:nvPr/>
        </p:nvSpPr>
        <p:spPr>
          <a:xfrm rot="0">
            <a:off x="1542820" y="3715781"/>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C</a:t>
            </a:r>
            <a:r>
              <a:rPr lang="en-US" sz="2544" spc="-198">
                <a:solidFill>
                  <a:srgbClr val="2150B9"/>
                </a:solidFill>
                <a:latin typeface="Knockout Cruiserweight Bold"/>
                <a:ea typeface="Knockout Cruiserweight Bold"/>
                <a:cs typeface="Knockout Cruiserweight Bold"/>
                <a:sym typeface="Knockout Cruiserweight Bold"/>
              </a:rPr>
              <a:t>ampaign Background</a:t>
            </a:r>
          </a:p>
        </p:txBody>
      </p:sp>
      <p:sp>
        <p:nvSpPr>
          <p:cNvPr name="TextBox 26" id="26"/>
          <p:cNvSpPr txBox="true"/>
          <p:nvPr/>
        </p:nvSpPr>
        <p:spPr>
          <a:xfrm rot="0">
            <a:off x="9210336" y="3715781"/>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Cre</a:t>
            </a:r>
            <a:r>
              <a:rPr lang="en-US" sz="2544" spc="-198">
                <a:solidFill>
                  <a:srgbClr val="2150B9"/>
                </a:solidFill>
                <a:latin typeface="Knockout Cruiserweight Bold"/>
                <a:ea typeface="Knockout Cruiserweight Bold"/>
                <a:cs typeface="Knockout Cruiserweight Bold"/>
                <a:sym typeface="Knockout Cruiserweight Bold"/>
              </a:rPr>
              <a:t>ative Direction</a:t>
            </a:r>
          </a:p>
        </p:txBody>
      </p:sp>
      <p:sp>
        <p:nvSpPr>
          <p:cNvPr name="TextBox 27" id="27"/>
          <p:cNvSpPr txBox="true"/>
          <p:nvPr/>
        </p:nvSpPr>
        <p:spPr>
          <a:xfrm rot="0">
            <a:off x="1542820" y="4924494"/>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Go</a:t>
            </a:r>
            <a:r>
              <a:rPr lang="en-US" sz="2544" spc="-198">
                <a:solidFill>
                  <a:srgbClr val="2150B9"/>
                </a:solidFill>
                <a:latin typeface="Knockout Cruiserweight Bold"/>
                <a:ea typeface="Knockout Cruiserweight Bold"/>
                <a:cs typeface="Knockout Cruiserweight Bold"/>
                <a:sym typeface="Knockout Cruiserweight Bold"/>
              </a:rPr>
              <a:t>als &amp; Objectives</a:t>
            </a:r>
          </a:p>
        </p:txBody>
      </p:sp>
      <p:sp>
        <p:nvSpPr>
          <p:cNvPr name="TextBox 28" id="28"/>
          <p:cNvSpPr txBox="true"/>
          <p:nvPr/>
        </p:nvSpPr>
        <p:spPr>
          <a:xfrm rot="0">
            <a:off x="9210336" y="4924494"/>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Po</a:t>
            </a:r>
            <a:r>
              <a:rPr lang="en-US" sz="2544" spc="-198">
                <a:solidFill>
                  <a:srgbClr val="2150B9"/>
                </a:solidFill>
                <a:latin typeface="Knockout Cruiserweight Bold"/>
                <a:ea typeface="Knockout Cruiserweight Bold"/>
                <a:cs typeface="Knockout Cruiserweight Bold"/>
                <a:sym typeface="Knockout Cruiserweight Bold"/>
              </a:rPr>
              <a:t>sting &amp; Timeline Plan</a:t>
            </a:r>
          </a:p>
        </p:txBody>
      </p:sp>
      <p:sp>
        <p:nvSpPr>
          <p:cNvPr name="TextBox 29" id="29"/>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FFF8ED"/>
                </a:solidFill>
                <a:latin typeface="Knockout Cruiserweight"/>
                <a:ea typeface="Knockout Cruiserweight"/>
                <a:cs typeface="Knockout Cruiserweight"/>
                <a:sym typeface="Knockout Cruiserweight"/>
              </a:rPr>
              <a:t>Since 2026</a:t>
            </a:r>
          </a:p>
        </p:txBody>
      </p:sp>
      <p:sp>
        <p:nvSpPr>
          <p:cNvPr name="TextBox 30" id="30"/>
          <p:cNvSpPr txBox="true"/>
          <p:nvPr/>
        </p:nvSpPr>
        <p:spPr>
          <a:xfrm rot="0">
            <a:off x="1028700" y="1020008"/>
            <a:ext cx="4965785" cy="1343552"/>
          </a:xfrm>
          <a:prstGeom prst="rect">
            <a:avLst/>
          </a:prstGeom>
        </p:spPr>
        <p:txBody>
          <a:bodyPr anchor="t" rtlCol="false" tIns="0" lIns="0" bIns="0" rIns="0">
            <a:spAutoFit/>
          </a:bodyPr>
          <a:lstStyle/>
          <a:p>
            <a:pPr algn="l">
              <a:lnSpc>
                <a:spcPts val="9700"/>
              </a:lnSpc>
            </a:pPr>
            <a:r>
              <a:rPr lang="en-US" sz="10899" spc="-850">
                <a:solidFill>
                  <a:srgbClr val="FFF8ED"/>
                </a:solidFill>
                <a:latin typeface="Knockout Cruiserweight Bold"/>
                <a:ea typeface="Knockout Cruiserweight Bold"/>
                <a:cs typeface="Knockout Cruiserweight Bold"/>
                <a:sym typeface="Knockout Cruiserweight Bold"/>
              </a:rPr>
              <a:t>Agenda</a:t>
            </a:r>
          </a:p>
        </p:txBody>
      </p:sp>
      <p:sp>
        <p:nvSpPr>
          <p:cNvPr name="TextBox 31" id="31"/>
          <p:cNvSpPr txBox="true"/>
          <p:nvPr/>
        </p:nvSpPr>
        <p:spPr>
          <a:xfrm rot="0">
            <a:off x="1542820" y="6154323"/>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T</a:t>
            </a:r>
            <a:r>
              <a:rPr lang="en-US" sz="2544" spc="-198">
                <a:solidFill>
                  <a:srgbClr val="2150B9"/>
                </a:solidFill>
                <a:latin typeface="Knockout Cruiserweight Bold"/>
                <a:ea typeface="Knockout Cruiserweight Bold"/>
                <a:cs typeface="Knockout Cruiserweight Bold"/>
                <a:sym typeface="Knockout Cruiserweight Bold"/>
              </a:rPr>
              <a:t>arget Audience</a:t>
            </a:r>
          </a:p>
        </p:txBody>
      </p:sp>
      <p:sp>
        <p:nvSpPr>
          <p:cNvPr name="TextBox 32" id="32"/>
          <p:cNvSpPr txBox="true"/>
          <p:nvPr/>
        </p:nvSpPr>
        <p:spPr>
          <a:xfrm rot="0">
            <a:off x="9210336" y="6154323"/>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P</a:t>
            </a:r>
            <a:r>
              <a:rPr lang="en-US" sz="2544" spc="-198">
                <a:solidFill>
                  <a:srgbClr val="2150B9"/>
                </a:solidFill>
                <a:latin typeface="Knockout Cruiserweight Bold"/>
                <a:ea typeface="Knockout Cruiserweight Bold"/>
                <a:cs typeface="Knockout Cruiserweight Bold"/>
                <a:sym typeface="Knockout Cruiserweight Bold"/>
              </a:rPr>
              <a:t>aid Media Strategy</a:t>
            </a:r>
          </a:p>
        </p:txBody>
      </p:sp>
      <p:sp>
        <p:nvSpPr>
          <p:cNvPr name="TextBox 33" id="33"/>
          <p:cNvSpPr txBox="true"/>
          <p:nvPr/>
        </p:nvSpPr>
        <p:spPr>
          <a:xfrm rot="0">
            <a:off x="1542820" y="7386716"/>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Pl</a:t>
            </a:r>
            <a:r>
              <a:rPr lang="en-US" sz="2544" spc="-198">
                <a:solidFill>
                  <a:srgbClr val="2150B9"/>
                </a:solidFill>
                <a:latin typeface="Knockout Cruiserweight Bold"/>
                <a:ea typeface="Knockout Cruiserweight Bold"/>
                <a:cs typeface="Knockout Cruiserweight Bold"/>
                <a:sym typeface="Knockout Cruiserweight Bold"/>
              </a:rPr>
              <a:t>atform Strategy</a:t>
            </a:r>
          </a:p>
        </p:txBody>
      </p:sp>
      <p:sp>
        <p:nvSpPr>
          <p:cNvPr name="TextBox 34" id="34"/>
          <p:cNvSpPr txBox="true"/>
          <p:nvPr/>
        </p:nvSpPr>
        <p:spPr>
          <a:xfrm rot="0">
            <a:off x="9210336" y="7386716"/>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Per</a:t>
            </a:r>
            <a:r>
              <a:rPr lang="en-US" sz="2544" spc="-198">
                <a:solidFill>
                  <a:srgbClr val="2150B9"/>
                </a:solidFill>
                <a:latin typeface="Knockout Cruiserweight Bold"/>
                <a:ea typeface="Knockout Cruiserweight Bold"/>
                <a:cs typeface="Knockout Cruiserweight Bold"/>
                <a:sym typeface="Knockout Cruiserweight Bold"/>
              </a:rPr>
              <a:t>formance Metrics</a:t>
            </a:r>
          </a:p>
        </p:txBody>
      </p:sp>
      <p:sp>
        <p:nvSpPr>
          <p:cNvPr name="TextBox 35" id="35"/>
          <p:cNvSpPr txBox="true"/>
          <p:nvPr/>
        </p:nvSpPr>
        <p:spPr>
          <a:xfrm rot="0">
            <a:off x="1542820" y="8617828"/>
            <a:ext cx="318907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Conte</a:t>
            </a:r>
            <a:r>
              <a:rPr lang="en-US" sz="2544" spc="-198">
                <a:solidFill>
                  <a:srgbClr val="2150B9"/>
                </a:solidFill>
                <a:latin typeface="Knockout Cruiserweight Bold"/>
                <a:ea typeface="Knockout Cruiserweight Bold"/>
                <a:cs typeface="Knockout Cruiserweight Bold"/>
                <a:sym typeface="Knockout Cruiserweight Bold"/>
              </a:rPr>
              <a:t>nt Strategy</a:t>
            </a:r>
          </a:p>
        </p:txBody>
      </p:sp>
      <p:sp>
        <p:nvSpPr>
          <p:cNvPr name="TextBox 36" id="36"/>
          <p:cNvSpPr txBox="true"/>
          <p:nvPr/>
        </p:nvSpPr>
        <p:spPr>
          <a:xfrm rot="0">
            <a:off x="9210336" y="8617828"/>
            <a:ext cx="3365282" cy="311171"/>
          </a:xfrm>
          <a:prstGeom prst="rect">
            <a:avLst/>
          </a:prstGeom>
        </p:spPr>
        <p:txBody>
          <a:bodyPr anchor="t" rtlCol="false" tIns="0" lIns="0" bIns="0" rIns="0">
            <a:spAutoFit/>
          </a:bodyPr>
          <a:lstStyle/>
          <a:p>
            <a:pPr algn="l">
              <a:lnSpc>
                <a:spcPts val="2264"/>
              </a:lnSpc>
            </a:pPr>
            <a:r>
              <a:rPr lang="en-US" sz="2544" spc="-198">
                <a:solidFill>
                  <a:srgbClr val="2150B9"/>
                </a:solidFill>
                <a:latin typeface="Knockout Cruiserweight Bold"/>
                <a:ea typeface="Knockout Cruiserweight Bold"/>
                <a:cs typeface="Knockout Cruiserweight Bold"/>
                <a:sym typeface="Knockout Cruiserweight Bold"/>
              </a:rPr>
              <a:t>Conclusion &amp; Nex</a:t>
            </a:r>
            <a:r>
              <a:rPr lang="en-US" sz="2544" spc="-198">
                <a:solidFill>
                  <a:srgbClr val="2150B9"/>
                </a:solidFill>
                <a:latin typeface="Knockout Cruiserweight Bold"/>
                <a:ea typeface="Knockout Cruiserweight Bold"/>
                <a:cs typeface="Knockout Cruiserweight Bold"/>
                <a:sym typeface="Knockout Cruiserweight Bold"/>
              </a:rPr>
              <a:t>t Steps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9103188" y="4341951"/>
            <a:ext cx="4571054" cy="5261645"/>
          </a:xfrm>
          <a:custGeom>
            <a:avLst/>
            <a:gdLst/>
            <a:ahLst/>
            <a:cxnLst/>
            <a:rect r="r" b="b" t="t" l="l"/>
            <a:pathLst>
              <a:path h="5261645" w="4571054">
                <a:moveTo>
                  <a:pt x="0" y="0"/>
                </a:moveTo>
                <a:lnTo>
                  <a:pt x="4571054" y="0"/>
                </a:lnTo>
                <a:lnTo>
                  <a:pt x="4571054" y="5261644"/>
                </a:lnTo>
                <a:lnTo>
                  <a:pt x="0" y="5261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2342951" y="4341951"/>
            <a:ext cx="4571054" cy="5261645"/>
          </a:xfrm>
          <a:custGeom>
            <a:avLst/>
            <a:gdLst/>
            <a:ahLst/>
            <a:cxnLst/>
            <a:rect r="r" b="b" t="t" l="l"/>
            <a:pathLst>
              <a:path h="5261645" w="4571054">
                <a:moveTo>
                  <a:pt x="0" y="0"/>
                </a:moveTo>
                <a:lnTo>
                  <a:pt x="4571054" y="0"/>
                </a:lnTo>
                <a:lnTo>
                  <a:pt x="4571054" y="5261644"/>
                </a:lnTo>
                <a:lnTo>
                  <a:pt x="0" y="526164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9336493" y="5971325"/>
            <a:ext cx="2879699" cy="613693"/>
          </a:xfrm>
          <a:custGeom>
            <a:avLst/>
            <a:gdLst/>
            <a:ahLst/>
            <a:cxnLst/>
            <a:rect r="r" b="b" t="t" l="l"/>
            <a:pathLst>
              <a:path h="613693" w="2879699">
                <a:moveTo>
                  <a:pt x="0" y="0"/>
                </a:moveTo>
                <a:lnTo>
                  <a:pt x="2879699" y="0"/>
                </a:lnTo>
                <a:lnTo>
                  <a:pt x="2879699"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5" id="5"/>
          <p:cNvSpPr/>
          <p:nvPr/>
        </p:nvSpPr>
        <p:spPr>
          <a:xfrm flipH="false" flipV="false" rot="0">
            <a:off x="9336493" y="6693643"/>
            <a:ext cx="2879699" cy="613693"/>
          </a:xfrm>
          <a:custGeom>
            <a:avLst/>
            <a:gdLst/>
            <a:ahLst/>
            <a:cxnLst/>
            <a:rect r="r" b="b" t="t" l="l"/>
            <a:pathLst>
              <a:path h="613693" w="2879699">
                <a:moveTo>
                  <a:pt x="0" y="0"/>
                </a:moveTo>
                <a:lnTo>
                  <a:pt x="2879699" y="0"/>
                </a:lnTo>
                <a:lnTo>
                  <a:pt x="2879699"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6" id="6"/>
          <p:cNvSpPr/>
          <p:nvPr/>
        </p:nvSpPr>
        <p:spPr>
          <a:xfrm flipH="false" flipV="false" rot="0">
            <a:off x="11704603" y="5971325"/>
            <a:ext cx="1695343" cy="613693"/>
          </a:xfrm>
          <a:custGeom>
            <a:avLst/>
            <a:gdLst/>
            <a:ahLst/>
            <a:cxnLst/>
            <a:rect r="r" b="b" t="t" l="l"/>
            <a:pathLst>
              <a:path h="613693" w="1695343">
                <a:moveTo>
                  <a:pt x="0" y="0"/>
                </a:moveTo>
                <a:lnTo>
                  <a:pt x="1695343" y="0"/>
                </a:lnTo>
                <a:lnTo>
                  <a:pt x="1695343"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7" id="7"/>
          <p:cNvSpPr/>
          <p:nvPr/>
        </p:nvSpPr>
        <p:spPr>
          <a:xfrm flipH="false" flipV="false" rot="0">
            <a:off x="11704603" y="6693643"/>
            <a:ext cx="1695343" cy="613693"/>
          </a:xfrm>
          <a:custGeom>
            <a:avLst/>
            <a:gdLst/>
            <a:ahLst/>
            <a:cxnLst/>
            <a:rect r="r" b="b" t="t" l="l"/>
            <a:pathLst>
              <a:path h="613693" w="1695343">
                <a:moveTo>
                  <a:pt x="0" y="0"/>
                </a:moveTo>
                <a:lnTo>
                  <a:pt x="1695343" y="0"/>
                </a:lnTo>
                <a:lnTo>
                  <a:pt x="1695343"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8" id="8"/>
          <p:cNvSpPr/>
          <p:nvPr/>
        </p:nvSpPr>
        <p:spPr>
          <a:xfrm flipH="false" flipV="false" rot="0">
            <a:off x="9336493" y="7415960"/>
            <a:ext cx="2879699" cy="613693"/>
          </a:xfrm>
          <a:custGeom>
            <a:avLst/>
            <a:gdLst/>
            <a:ahLst/>
            <a:cxnLst/>
            <a:rect r="r" b="b" t="t" l="l"/>
            <a:pathLst>
              <a:path h="613693" w="2879699">
                <a:moveTo>
                  <a:pt x="0" y="0"/>
                </a:moveTo>
                <a:lnTo>
                  <a:pt x="2879699" y="0"/>
                </a:lnTo>
                <a:lnTo>
                  <a:pt x="2879699"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9" id="9"/>
          <p:cNvSpPr/>
          <p:nvPr/>
        </p:nvSpPr>
        <p:spPr>
          <a:xfrm flipH="false" flipV="false" rot="0">
            <a:off x="11704603" y="7415960"/>
            <a:ext cx="1695343" cy="613693"/>
          </a:xfrm>
          <a:custGeom>
            <a:avLst/>
            <a:gdLst/>
            <a:ahLst/>
            <a:cxnLst/>
            <a:rect r="r" b="b" t="t" l="l"/>
            <a:pathLst>
              <a:path h="613693" w="1695343">
                <a:moveTo>
                  <a:pt x="0" y="0"/>
                </a:moveTo>
                <a:lnTo>
                  <a:pt x="1695343" y="0"/>
                </a:lnTo>
                <a:lnTo>
                  <a:pt x="1695343"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10" id="10"/>
          <p:cNvSpPr/>
          <p:nvPr/>
        </p:nvSpPr>
        <p:spPr>
          <a:xfrm flipH="false" flipV="false" rot="0">
            <a:off x="9336493" y="8138278"/>
            <a:ext cx="2879699" cy="613693"/>
          </a:xfrm>
          <a:custGeom>
            <a:avLst/>
            <a:gdLst/>
            <a:ahLst/>
            <a:cxnLst/>
            <a:rect r="r" b="b" t="t" l="l"/>
            <a:pathLst>
              <a:path h="613693" w="2879699">
                <a:moveTo>
                  <a:pt x="0" y="0"/>
                </a:moveTo>
                <a:lnTo>
                  <a:pt x="2879699" y="0"/>
                </a:lnTo>
                <a:lnTo>
                  <a:pt x="2879699"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11" id="11"/>
          <p:cNvSpPr/>
          <p:nvPr/>
        </p:nvSpPr>
        <p:spPr>
          <a:xfrm flipH="false" flipV="false" rot="0">
            <a:off x="11704603" y="8138278"/>
            <a:ext cx="1695343" cy="613693"/>
          </a:xfrm>
          <a:custGeom>
            <a:avLst/>
            <a:gdLst/>
            <a:ahLst/>
            <a:cxnLst/>
            <a:rect r="r" b="b" t="t" l="l"/>
            <a:pathLst>
              <a:path h="613693" w="1695343">
                <a:moveTo>
                  <a:pt x="0" y="0"/>
                </a:moveTo>
                <a:lnTo>
                  <a:pt x="1695343" y="0"/>
                </a:lnTo>
                <a:lnTo>
                  <a:pt x="1695343" y="613693"/>
                </a:lnTo>
                <a:lnTo>
                  <a:pt x="0" y="613693"/>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grpSp>
        <p:nvGrpSpPr>
          <p:cNvPr name="Group 12" id="12"/>
          <p:cNvGrpSpPr/>
          <p:nvPr/>
        </p:nvGrpSpPr>
        <p:grpSpPr>
          <a:xfrm rot="0">
            <a:off x="13915732" y="6007548"/>
            <a:ext cx="2791078" cy="2744423"/>
            <a:chOff x="0" y="0"/>
            <a:chExt cx="812800" cy="799213"/>
          </a:xfrm>
        </p:grpSpPr>
        <p:sp>
          <p:nvSpPr>
            <p:cNvPr name="Freeform 13" id="13"/>
            <p:cNvSpPr/>
            <p:nvPr/>
          </p:nvSpPr>
          <p:spPr>
            <a:xfrm flipH="false" flipV="false" rot="0">
              <a:off x="0" y="0"/>
              <a:ext cx="812800" cy="799213"/>
            </a:xfrm>
            <a:custGeom>
              <a:avLst/>
              <a:gdLst/>
              <a:ahLst/>
              <a:cxnLst/>
              <a:rect r="r" b="b" t="t" l="l"/>
              <a:pathLst>
                <a:path h="799213" w="812800">
                  <a:moveTo>
                    <a:pt x="63798" y="0"/>
                  </a:moveTo>
                  <a:lnTo>
                    <a:pt x="749002" y="0"/>
                  </a:lnTo>
                  <a:cubicBezTo>
                    <a:pt x="784237" y="0"/>
                    <a:pt x="812800" y="28563"/>
                    <a:pt x="812800" y="63798"/>
                  </a:cubicBezTo>
                  <a:lnTo>
                    <a:pt x="812800" y="735416"/>
                  </a:lnTo>
                  <a:cubicBezTo>
                    <a:pt x="812800" y="752336"/>
                    <a:pt x="806078" y="768563"/>
                    <a:pt x="794114" y="780528"/>
                  </a:cubicBezTo>
                  <a:cubicBezTo>
                    <a:pt x="782150" y="792492"/>
                    <a:pt x="765923" y="799213"/>
                    <a:pt x="749002" y="799213"/>
                  </a:cubicBezTo>
                  <a:lnTo>
                    <a:pt x="63798" y="799213"/>
                  </a:lnTo>
                  <a:cubicBezTo>
                    <a:pt x="28563" y="799213"/>
                    <a:pt x="0" y="770650"/>
                    <a:pt x="0" y="735416"/>
                  </a:cubicBezTo>
                  <a:lnTo>
                    <a:pt x="0" y="63798"/>
                  </a:lnTo>
                  <a:cubicBezTo>
                    <a:pt x="0" y="28563"/>
                    <a:pt x="28563" y="0"/>
                    <a:pt x="63798" y="0"/>
                  </a:cubicBezTo>
                  <a:close/>
                </a:path>
              </a:pathLst>
            </a:custGeom>
            <a:blipFill>
              <a:blip r:embed="rId6"/>
              <a:stretch>
                <a:fillRect l="0" t="-16602" r="0" b="-35808"/>
              </a:stretch>
            </a:blipFill>
          </p:spPr>
        </p:sp>
      </p:grpSp>
      <p:sp>
        <p:nvSpPr>
          <p:cNvPr name="Freeform 14" id="14"/>
          <p:cNvSpPr/>
          <p:nvPr/>
        </p:nvSpPr>
        <p:spPr>
          <a:xfrm flipH="false" flipV="false" rot="0">
            <a:off x="9756142" y="-262845"/>
            <a:ext cx="3526311" cy="3526311"/>
          </a:xfrm>
          <a:custGeom>
            <a:avLst/>
            <a:gdLst/>
            <a:ahLst/>
            <a:cxnLst/>
            <a:rect r="r" b="b" t="t" l="l"/>
            <a:pathLst>
              <a:path h="3526311" w="3526311">
                <a:moveTo>
                  <a:pt x="0" y="0"/>
                </a:moveTo>
                <a:lnTo>
                  <a:pt x="3526311" y="0"/>
                </a:lnTo>
                <a:lnTo>
                  <a:pt x="3526311" y="3526310"/>
                </a:lnTo>
                <a:lnTo>
                  <a:pt x="0" y="352631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Paucek &amp; Lage</a:t>
            </a:r>
          </a:p>
        </p:txBody>
      </p:sp>
      <p:sp>
        <p:nvSpPr>
          <p:cNvPr name="TextBox 16" id="16"/>
          <p:cNvSpPr txBox="true"/>
          <p:nvPr/>
        </p:nvSpPr>
        <p:spPr>
          <a:xfrm rot="0">
            <a:off x="1028700" y="4660292"/>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C</a:t>
            </a:r>
            <a:r>
              <a:rPr lang="en-US" sz="3416" spc="-266">
                <a:solidFill>
                  <a:srgbClr val="2150B9"/>
                </a:solidFill>
                <a:latin typeface="Knockout Cruiserweight Bold"/>
                <a:ea typeface="Knockout Cruiserweight Bold"/>
                <a:cs typeface="Knockout Cruiserweight Bold"/>
                <a:sym typeface="Knockout Cruiserweight Bold"/>
              </a:rPr>
              <a:t>ampaign Overview</a:t>
            </a:r>
          </a:p>
        </p:txBody>
      </p:sp>
      <p:sp>
        <p:nvSpPr>
          <p:cNvPr name="TextBox 17" id="17"/>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Since 2026</a:t>
            </a:r>
          </a:p>
        </p:txBody>
      </p:sp>
      <p:sp>
        <p:nvSpPr>
          <p:cNvPr name="TextBox 18" id="18"/>
          <p:cNvSpPr txBox="true"/>
          <p:nvPr/>
        </p:nvSpPr>
        <p:spPr>
          <a:xfrm rot="0">
            <a:off x="1028700" y="1020008"/>
            <a:ext cx="7374073" cy="2572314"/>
          </a:xfrm>
          <a:prstGeom prst="rect">
            <a:avLst/>
          </a:prstGeom>
        </p:spPr>
        <p:txBody>
          <a:bodyPr anchor="t" rtlCol="false" tIns="0" lIns="0" bIns="0" rIns="0">
            <a:spAutoFit/>
          </a:bodyPr>
          <a:lstStyle/>
          <a:p>
            <a:pPr algn="l">
              <a:lnSpc>
                <a:spcPts val="9700"/>
              </a:lnSpc>
            </a:pPr>
            <a:r>
              <a:rPr lang="en-US" sz="10899" spc="-850">
                <a:solidFill>
                  <a:srgbClr val="2150B9"/>
                </a:solidFill>
                <a:latin typeface="Knockout Cruiserweight Bold"/>
                <a:ea typeface="Knockout Cruiserweight Bold"/>
                <a:cs typeface="Knockout Cruiserweight Bold"/>
                <a:sym typeface="Knockout Cruiserweight Bold"/>
              </a:rPr>
              <a:t>Campaign Background</a:t>
            </a:r>
          </a:p>
        </p:txBody>
      </p:sp>
      <p:sp>
        <p:nvSpPr>
          <p:cNvPr name="TextBox 19" id="19"/>
          <p:cNvSpPr txBox="true"/>
          <p:nvPr/>
        </p:nvSpPr>
        <p:spPr>
          <a:xfrm rot="0">
            <a:off x="1028700" y="5406619"/>
            <a:ext cx="6855429" cy="3851681"/>
          </a:xfrm>
          <a:prstGeom prst="rect">
            <a:avLst/>
          </a:prstGeom>
        </p:spPr>
        <p:txBody>
          <a:bodyPr anchor="t" rtlCol="false" tIns="0" lIns="0" bIns="0" rIns="0">
            <a:spAutoFit/>
          </a:bodyPr>
          <a:lstStyle/>
          <a:p>
            <a:pPr algn="l">
              <a:lnSpc>
                <a:spcPts val="2336"/>
              </a:lnSpc>
            </a:pPr>
            <a:r>
              <a:rPr lang="en-US" sz="1996" spc="-155">
                <a:solidFill>
                  <a:srgbClr val="2150B9"/>
                </a:solidFill>
                <a:latin typeface="Knockout Cruiserweight"/>
                <a:ea typeface="Knockout Cruiserweight"/>
                <a:cs typeface="Knockout Cruiserweight"/>
                <a:sym typeface="Knockout Cruiserweight"/>
              </a:rPr>
              <a:t>Lorem ipsum dolor sit amet, consectetur adipiscing elit. Donec sodales magna risus, a feugiat leo tristique in. Fusce purus orci, porttitor a porttitor at, lacinia a mauris. Nullam eu enim lacus. Nulla luctus orci eget odio maximus dictum. Sed condimentum augue et arcu euismod, vel congue neque tincidunt. Praesent orci purus, congue eget tincidunt in, egestas vitae turpis. Proin ut pellentesque dolor, nec dignissim massa. Donec id urna a erat eleifend tincidunt a a arcu. Mauris venenatis, justo ac dictum fermentum, dolor tortor maximus magna, vel pharetra urna sapien eu nulla. Aliquam tempor nibh a aliquet blandit. Curabitur efficitur efficitur aliquet. Maecenas posuere tempor enim sed tincidunt. Quisque at erat non enim aliquet semper vitae sed sapien. Cras eget nisl a nulla sagittis interdum ac non dolor. Integer vitae ante at est consequat facilisis. Aliquam at tortor nec velit placerat rhoncus.</a:t>
            </a:r>
          </a:p>
        </p:txBody>
      </p:sp>
      <p:sp>
        <p:nvSpPr>
          <p:cNvPr name="TextBox 20" id="20"/>
          <p:cNvSpPr txBox="true"/>
          <p:nvPr/>
        </p:nvSpPr>
        <p:spPr>
          <a:xfrm rot="0">
            <a:off x="9336493" y="5199420"/>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Current Challenges</a:t>
            </a:r>
          </a:p>
        </p:txBody>
      </p:sp>
      <p:sp>
        <p:nvSpPr>
          <p:cNvPr name="TextBox 21" id="21"/>
          <p:cNvSpPr txBox="true"/>
          <p:nvPr/>
        </p:nvSpPr>
        <p:spPr>
          <a:xfrm rot="0">
            <a:off x="10058395" y="6215774"/>
            <a:ext cx="3141217"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Incre</a:t>
            </a:r>
            <a:r>
              <a:rPr lang="en-US" sz="1492" spc="-116">
                <a:solidFill>
                  <a:srgbClr val="2150B9"/>
                </a:solidFill>
                <a:latin typeface="Knockout Cruiserweight Bold"/>
                <a:ea typeface="Knockout Cruiserweight Bold"/>
                <a:cs typeface="Knockout Cruiserweight Bold"/>
                <a:sym typeface="Knockout Cruiserweight Bold"/>
              </a:rPr>
              <a:t>asing competition in digital platforms</a:t>
            </a:r>
          </a:p>
        </p:txBody>
      </p:sp>
      <p:sp>
        <p:nvSpPr>
          <p:cNvPr name="TextBox 22" id="22"/>
          <p:cNvSpPr txBox="true"/>
          <p:nvPr/>
        </p:nvSpPr>
        <p:spPr>
          <a:xfrm rot="0">
            <a:off x="9563541" y="6215774"/>
            <a:ext cx="254570"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01</a:t>
            </a:r>
          </a:p>
        </p:txBody>
      </p:sp>
      <p:sp>
        <p:nvSpPr>
          <p:cNvPr name="TextBox 23" id="23"/>
          <p:cNvSpPr txBox="true"/>
          <p:nvPr/>
        </p:nvSpPr>
        <p:spPr>
          <a:xfrm rot="0">
            <a:off x="10058395" y="6924950"/>
            <a:ext cx="1871092"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D</a:t>
            </a:r>
            <a:r>
              <a:rPr lang="en-US" sz="1492" spc="-116">
                <a:solidFill>
                  <a:srgbClr val="2150B9"/>
                </a:solidFill>
                <a:latin typeface="Knockout Cruiserweight Bold"/>
                <a:ea typeface="Knockout Cruiserweight Bold"/>
                <a:cs typeface="Knockout Cruiserweight Bold"/>
                <a:sym typeface="Knockout Cruiserweight Bold"/>
              </a:rPr>
              <a:t>eclining organic reach</a:t>
            </a:r>
          </a:p>
        </p:txBody>
      </p:sp>
      <p:sp>
        <p:nvSpPr>
          <p:cNvPr name="TextBox 24" id="24"/>
          <p:cNvSpPr txBox="true"/>
          <p:nvPr/>
        </p:nvSpPr>
        <p:spPr>
          <a:xfrm rot="0">
            <a:off x="9563541" y="6924950"/>
            <a:ext cx="296899"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02</a:t>
            </a:r>
          </a:p>
        </p:txBody>
      </p:sp>
      <p:sp>
        <p:nvSpPr>
          <p:cNvPr name="TextBox 25" id="25"/>
          <p:cNvSpPr txBox="true"/>
          <p:nvPr/>
        </p:nvSpPr>
        <p:spPr>
          <a:xfrm rot="0">
            <a:off x="10058395" y="7646515"/>
            <a:ext cx="2737086"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Incons</a:t>
            </a:r>
            <a:r>
              <a:rPr lang="en-US" sz="1492" spc="-116">
                <a:solidFill>
                  <a:srgbClr val="2150B9"/>
                </a:solidFill>
                <a:latin typeface="Knockout Cruiserweight Bold"/>
                <a:ea typeface="Knockout Cruiserweight Bold"/>
                <a:cs typeface="Knockout Cruiserweight Bold"/>
                <a:sym typeface="Knockout Cruiserweight Bold"/>
              </a:rPr>
              <a:t>istent content performance</a:t>
            </a:r>
          </a:p>
        </p:txBody>
      </p:sp>
      <p:sp>
        <p:nvSpPr>
          <p:cNvPr name="TextBox 26" id="26"/>
          <p:cNvSpPr txBox="true"/>
          <p:nvPr/>
        </p:nvSpPr>
        <p:spPr>
          <a:xfrm rot="0">
            <a:off x="9563541" y="7646515"/>
            <a:ext cx="324305"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03</a:t>
            </a:r>
          </a:p>
        </p:txBody>
      </p:sp>
      <p:sp>
        <p:nvSpPr>
          <p:cNvPr name="TextBox 27" id="27"/>
          <p:cNvSpPr txBox="true"/>
          <p:nvPr/>
        </p:nvSpPr>
        <p:spPr>
          <a:xfrm rot="0">
            <a:off x="10058395" y="8369585"/>
            <a:ext cx="3050493"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Need </a:t>
            </a:r>
            <a:r>
              <a:rPr lang="en-US" sz="1492" spc="-116">
                <a:solidFill>
                  <a:srgbClr val="2150B9"/>
                </a:solidFill>
                <a:latin typeface="Knockout Cruiserweight Bold"/>
                <a:ea typeface="Knockout Cruiserweight Bold"/>
                <a:cs typeface="Knockout Cruiserweight Bold"/>
                <a:sym typeface="Knockout Cruiserweight Bold"/>
              </a:rPr>
              <a:t>for stronger audience connection</a:t>
            </a:r>
          </a:p>
        </p:txBody>
      </p:sp>
      <p:sp>
        <p:nvSpPr>
          <p:cNvPr name="TextBox 28" id="28"/>
          <p:cNvSpPr txBox="true"/>
          <p:nvPr/>
        </p:nvSpPr>
        <p:spPr>
          <a:xfrm rot="0">
            <a:off x="9563541" y="8369585"/>
            <a:ext cx="269910" cy="189178"/>
          </a:xfrm>
          <a:prstGeom prst="rect">
            <a:avLst/>
          </a:prstGeom>
        </p:spPr>
        <p:txBody>
          <a:bodyPr anchor="t" rtlCol="false" tIns="0" lIns="0" bIns="0" rIns="0">
            <a:spAutoFit/>
          </a:bodyPr>
          <a:lstStyle/>
          <a:p>
            <a:pPr algn="l">
              <a:lnSpc>
                <a:spcPts val="1328"/>
              </a:lnSpc>
            </a:pPr>
            <a:r>
              <a:rPr lang="en-US" sz="1492" spc="-116">
                <a:solidFill>
                  <a:srgbClr val="2150B9"/>
                </a:solidFill>
                <a:latin typeface="Knockout Cruiserweight Bold"/>
                <a:ea typeface="Knockout Cruiserweight Bold"/>
                <a:cs typeface="Knockout Cruiserweight Bold"/>
                <a:sym typeface="Knockout Cruiserweight Bold"/>
              </a:rPr>
              <a:t>04</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2150B9"/>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4870721"/>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3" id="3"/>
          <p:cNvSpPr/>
          <p:nvPr/>
        </p:nvSpPr>
        <p:spPr>
          <a:xfrm flipH="false" flipV="false" rot="0">
            <a:off x="9115425" y="4870721"/>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4" id="4"/>
          <p:cNvSpPr/>
          <p:nvPr/>
        </p:nvSpPr>
        <p:spPr>
          <a:xfrm flipH="false" flipV="false" rot="0">
            <a:off x="1028700" y="6017985"/>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5" id="5"/>
          <p:cNvSpPr/>
          <p:nvPr/>
        </p:nvSpPr>
        <p:spPr>
          <a:xfrm flipH="false" flipV="false" rot="0">
            <a:off x="9115425" y="6017985"/>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6" id="6"/>
          <p:cNvSpPr/>
          <p:nvPr/>
        </p:nvSpPr>
        <p:spPr>
          <a:xfrm flipH="false" flipV="false" rot="0">
            <a:off x="4761116" y="4870721"/>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7" id="7"/>
          <p:cNvSpPr/>
          <p:nvPr/>
        </p:nvSpPr>
        <p:spPr>
          <a:xfrm flipH="false" flipV="false" rot="0">
            <a:off x="12847841" y="4870721"/>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8" id="8"/>
          <p:cNvSpPr/>
          <p:nvPr/>
        </p:nvSpPr>
        <p:spPr>
          <a:xfrm flipH="false" flipV="false" rot="0">
            <a:off x="5766557" y="4870721"/>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9" id="9"/>
          <p:cNvSpPr/>
          <p:nvPr/>
        </p:nvSpPr>
        <p:spPr>
          <a:xfrm flipH="false" flipV="false" rot="0">
            <a:off x="13853282" y="4870721"/>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0" id="10"/>
          <p:cNvSpPr/>
          <p:nvPr/>
        </p:nvSpPr>
        <p:spPr>
          <a:xfrm flipH="false" flipV="false" rot="0">
            <a:off x="4761116" y="6017985"/>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1" id="11"/>
          <p:cNvSpPr/>
          <p:nvPr/>
        </p:nvSpPr>
        <p:spPr>
          <a:xfrm flipH="false" flipV="false" rot="0">
            <a:off x="12847841" y="6017985"/>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2" id="12"/>
          <p:cNvSpPr/>
          <p:nvPr/>
        </p:nvSpPr>
        <p:spPr>
          <a:xfrm flipH="false" flipV="false" rot="0">
            <a:off x="5766557" y="6017985"/>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3" id="13"/>
          <p:cNvSpPr/>
          <p:nvPr/>
        </p:nvSpPr>
        <p:spPr>
          <a:xfrm flipH="false" flipV="false" rot="0">
            <a:off x="13853282" y="6017985"/>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4" id="14"/>
          <p:cNvSpPr/>
          <p:nvPr/>
        </p:nvSpPr>
        <p:spPr>
          <a:xfrm flipH="false" flipV="false" rot="0">
            <a:off x="1028700" y="7161400"/>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5" id="15"/>
          <p:cNvSpPr/>
          <p:nvPr/>
        </p:nvSpPr>
        <p:spPr>
          <a:xfrm flipH="false" flipV="false" rot="0">
            <a:off x="9115425" y="7161400"/>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16" id="16"/>
          <p:cNvSpPr/>
          <p:nvPr/>
        </p:nvSpPr>
        <p:spPr>
          <a:xfrm flipH="false" flipV="false" rot="0">
            <a:off x="4761116" y="7161400"/>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7" id="17"/>
          <p:cNvSpPr/>
          <p:nvPr/>
        </p:nvSpPr>
        <p:spPr>
          <a:xfrm flipH="false" flipV="false" rot="0">
            <a:off x="12847841" y="7161400"/>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8" id="18"/>
          <p:cNvSpPr/>
          <p:nvPr/>
        </p:nvSpPr>
        <p:spPr>
          <a:xfrm flipH="false" flipV="false" rot="0">
            <a:off x="5766557" y="7161400"/>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9" id="19"/>
          <p:cNvSpPr/>
          <p:nvPr/>
        </p:nvSpPr>
        <p:spPr>
          <a:xfrm flipH="false" flipV="false" rot="0">
            <a:off x="13853282" y="7161400"/>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0" id="20"/>
          <p:cNvSpPr/>
          <p:nvPr/>
        </p:nvSpPr>
        <p:spPr>
          <a:xfrm flipH="false" flipV="false" rot="0">
            <a:off x="1028700" y="8291048"/>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21" id="21"/>
          <p:cNvSpPr/>
          <p:nvPr/>
        </p:nvSpPr>
        <p:spPr>
          <a:xfrm flipH="false" flipV="false" rot="0">
            <a:off x="9115425" y="8291048"/>
            <a:ext cx="4538740" cy="967252"/>
          </a:xfrm>
          <a:custGeom>
            <a:avLst/>
            <a:gdLst/>
            <a:ahLst/>
            <a:cxnLst/>
            <a:rect r="r" b="b" t="t" l="l"/>
            <a:pathLst>
              <a:path h="967252" w="4538740">
                <a:moveTo>
                  <a:pt x="0" y="0"/>
                </a:moveTo>
                <a:lnTo>
                  <a:pt x="4538740" y="0"/>
                </a:lnTo>
                <a:lnTo>
                  <a:pt x="4538740"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22" id="22"/>
          <p:cNvSpPr/>
          <p:nvPr/>
        </p:nvSpPr>
        <p:spPr>
          <a:xfrm flipH="false" flipV="false" rot="0">
            <a:off x="4761116" y="8291048"/>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3" id="23"/>
          <p:cNvSpPr/>
          <p:nvPr/>
        </p:nvSpPr>
        <p:spPr>
          <a:xfrm flipH="false" flipV="false" rot="0">
            <a:off x="12847841" y="8291048"/>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4" id="24"/>
          <p:cNvSpPr/>
          <p:nvPr/>
        </p:nvSpPr>
        <p:spPr>
          <a:xfrm flipH="false" flipV="false" rot="0">
            <a:off x="5766557" y="8291048"/>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5" id="25"/>
          <p:cNvSpPr/>
          <p:nvPr/>
        </p:nvSpPr>
        <p:spPr>
          <a:xfrm flipH="false" flipV="false" rot="0">
            <a:off x="13853282" y="8291048"/>
            <a:ext cx="2672058" cy="967252"/>
          </a:xfrm>
          <a:custGeom>
            <a:avLst/>
            <a:gdLst/>
            <a:ahLst/>
            <a:cxnLst/>
            <a:rect r="r" b="b" t="t" l="l"/>
            <a:pathLst>
              <a:path h="967252" w="2672058">
                <a:moveTo>
                  <a:pt x="0" y="0"/>
                </a:moveTo>
                <a:lnTo>
                  <a:pt x="2672059" y="0"/>
                </a:lnTo>
                <a:lnTo>
                  <a:pt x="2672059" y="967252"/>
                </a:lnTo>
                <a:lnTo>
                  <a:pt x="0" y="96725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26" id="26"/>
          <p:cNvSpPr/>
          <p:nvPr/>
        </p:nvSpPr>
        <p:spPr>
          <a:xfrm flipH="false" flipV="false" rot="0">
            <a:off x="7534971" y="1204102"/>
            <a:ext cx="6895774" cy="1717675"/>
          </a:xfrm>
          <a:custGeom>
            <a:avLst/>
            <a:gdLst/>
            <a:ahLst/>
            <a:cxnLst/>
            <a:rect r="r" b="b" t="t" l="l"/>
            <a:pathLst>
              <a:path h="1717675" w="6895774">
                <a:moveTo>
                  <a:pt x="0" y="0"/>
                </a:moveTo>
                <a:lnTo>
                  <a:pt x="6895775" y="0"/>
                </a:lnTo>
                <a:lnTo>
                  <a:pt x="6895775" y="1717675"/>
                </a:lnTo>
                <a:lnTo>
                  <a:pt x="0" y="17176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7182566" y="2714982"/>
            <a:ext cx="3852949" cy="4114800"/>
          </a:xfrm>
          <a:custGeom>
            <a:avLst/>
            <a:gdLst/>
            <a:ahLst/>
            <a:cxnLst/>
            <a:rect r="r" b="b" t="t" l="l"/>
            <a:pathLst>
              <a:path h="4114800" w="3852949">
                <a:moveTo>
                  <a:pt x="0" y="0"/>
                </a:moveTo>
                <a:lnTo>
                  <a:pt x="3852949" y="0"/>
                </a:lnTo>
                <a:lnTo>
                  <a:pt x="3852949"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FFF8ED"/>
                </a:solidFill>
                <a:latin typeface="Knockout Cruiserweight Bold"/>
                <a:ea typeface="Knockout Cruiserweight Bold"/>
                <a:cs typeface="Knockout Cruiserweight Bold"/>
                <a:sym typeface="Knockout Cruiserweight Bold"/>
              </a:rPr>
              <a:t>Paucek &amp; Lage</a:t>
            </a:r>
          </a:p>
        </p:txBody>
      </p:sp>
      <p:sp>
        <p:nvSpPr>
          <p:cNvPr name="TextBox 29" id="29"/>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FFF8ED"/>
                </a:solidFill>
                <a:latin typeface="Knockout Cruiserweight"/>
                <a:ea typeface="Knockout Cruiserweight"/>
                <a:cs typeface="Knockout Cruiserweight"/>
                <a:sym typeface="Knockout Cruiserweight"/>
              </a:rPr>
              <a:t>Since 2026</a:t>
            </a:r>
          </a:p>
        </p:txBody>
      </p:sp>
      <p:sp>
        <p:nvSpPr>
          <p:cNvPr name="TextBox 30" id="30"/>
          <p:cNvSpPr txBox="true"/>
          <p:nvPr/>
        </p:nvSpPr>
        <p:spPr>
          <a:xfrm rot="0">
            <a:off x="1028700" y="1020008"/>
            <a:ext cx="6020547" cy="2572314"/>
          </a:xfrm>
          <a:prstGeom prst="rect">
            <a:avLst/>
          </a:prstGeom>
        </p:spPr>
        <p:txBody>
          <a:bodyPr anchor="t" rtlCol="false" tIns="0" lIns="0" bIns="0" rIns="0">
            <a:spAutoFit/>
          </a:bodyPr>
          <a:lstStyle/>
          <a:p>
            <a:pPr algn="l">
              <a:lnSpc>
                <a:spcPts val="9700"/>
              </a:lnSpc>
            </a:pPr>
            <a:r>
              <a:rPr lang="en-US" sz="10899" spc="-850">
                <a:solidFill>
                  <a:srgbClr val="FFF8ED"/>
                </a:solidFill>
                <a:latin typeface="Knockout Cruiserweight Bold"/>
                <a:ea typeface="Knockout Cruiserweight Bold"/>
                <a:cs typeface="Knockout Cruiserweight Bold"/>
                <a:sym typeface="Knockout Cruiserweight Bold"/>
              </a:rPr>
              <a:t>Goals &amp; Objectives</a:t>
            </a:r>
          </a:p>
        </p:txBody>
      </p:sp>
      <p:sp>
        <p:nvSpPr>
          <p:cNvPr name="TextBox 31" id="31"/>
          <p:cNvSpPr txBox="true"/>
          <p:nvPr/>
        </p:nvSpPr>
        <p:spPr>
          <a:xfrm rot="0">
            <a:off x="1028700" y="4064893"/>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Pri</a:t>
            </a:r>
            <a:r>
              <a:rPr lang="en-US" sz="3416" spc="-266">
                <a:solidFill>
                  <a:srgbClr val="FFF8ED"/>
                </a:solidFill>
                <a:latin typeface="Knockout Cruiserweight Bold"/>
                <a:ea typeface="Knockout Cruiserweight Bold"/>
                <a:cs typeface="Knockout Cruiserweight Bold"/>
                <a:sym typeface="Knockout Cruiserweight Bold"/>
              </a:rPr>
              <a:t>mary Goals</a:t>
            </a:r>
          </a:p>
        </p:txBody>
      </p:sp>
      <p:sp>
        <p:nvSpPr>
          <p:cNvPr name="TextBox 32" id="32"/>
          <p:cNvSpPr txBox="true"/>
          <p:nvPr/>
        </p:nvSpPr>
        <p:spPr>
          <a:xfrm rot="0">
            <a:off x="9115425" y="4064893"/>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Ke</a:t>
            </a:r>
            <a:r>
              <a:rPr lang="en-US" sz="3416" spc="-266">
                <a:solidFill>
                  <a:srgbClr val="FFF8ED"/>
                </a:solidFill>
                <a:latin typeface="Knockout Cruiserweight Bold"/>
                <a:ea typeface="Knockout Cruiserweight Bold"/>
                <a:cs typeface="Knockout Cruiserweight Bold"/>
                <a:sym typeface="Knockout Cruiserweight Bold"/>
              </a:rPr>
              <a:t>y Objectives</a:t>
            </a:r>
          </a:p>
        </p:txBody>
      </p:sp>
      <p:sp>
        <p:nvSpPr>
          <p:cNvPr name="TextBox 33" id="33"/>
          <p:cNvSpPr txBox="true"/>
          <p:nvPr/>
        </p:nvSpPr>
        <p:spPr>
          <a:xfrm rot="0">
            <a:off x="2097942" y="5262625"/>
            <a:ext cx="6028367"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Incre</a:t>
            </a:r>
            <a:r>
              <a:rPr lang="en-US" sz="2352" spc="-183">
                <a:solidFill>
                  <a:srgbClr val="2150B9"/>
                </a:solidFill>
                <a:latin typeface="Knockout Cruiserweight Bold"/>
                <a:ea typeface="Knockout Cruiserweight Bold"/>
                <a:cs typeface="Knockout Cruiserweight Bold"/>
                <a:sym typeface="Knockout Cruiserweight Bold"/>
              </a:rPr>
              <a:t>ase brand awareness across social platforms</a:t>
            </a:r>
          </a:p>
        </p:txBody>
      </p:sp>
      <p:sp>
        <p:nvSpPr>
          <p:cNvPr name="TextBox 34" id="34"/>
          <p:cNvSpPr txBox="true"/>
          <p:nvPr/>
        </p:nvSpPr>
        <p:spPr>
          <a:xfrm rot="0">
            <a:off x="10184667" y="5262625"/>
            <a:ext cx="6028367"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Est</a:t>
            </a:r>
            <a:r>
              <a:rPr lang="en-US" sz="2352" spc="-183">
                <a:solidFill>
                  <a:srgbClr val="2150B9"/>
                </a:solidFill>
                <a:latin typeface="Knockout Cruiserweight Bold"/>
                <a:ea typeface="Knockout Cruiserweight Bold"/>
                <a:cs typeface="Knockout Cruiserweight Bold"/>
                <a:sym typeface="Knockout Cruiserweight Bold"/>
              </a:rPr>
              <a:t>ablish a consistent brand voice and visual identity</a:t>
            </a:r>
          </a:p>
        </p:txBody>
      </p:sp>
      <p:sp>
        <p:nvSpPr>
          <p:cNvPr name="TextBox 35" id="35"/>
          <p:cNvSpPr txBox="true"/>
          <p:nvPr/>
        </p:nvSpPr>
        <p:spPr>
          <a:xfrm rot="0">
            <a:off x="1404807" y="5262625"/>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01</a:t>
            </a:r>
          </a:p>
        </p:txBody>
      </p:sp>
      <p:sp>
        <p:nvSpPr>
          <p:cNvPr name="TextBox 36" id="36"/>
          <p:cNvSpPr txBox="true"/>
          <p:nvPr/>
        </p:nvSpPr>
        <p:spPr>
          <a:xfrm rot="0">
            <a:off x="9491532" y="5262625"/>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01</a:t>
            </a:r>
          </a:p>
        </p:txBody>
      </p:sp>
      <p:sp>
        <p:nvSpPr>
          <p:cNvPr name="TextBox 37" id="37"/>
          <p:cNvSpPr txBox="true"/>
          <p:nvPr/>
        </p:nvSpPr>
        <p:spPr>
          <a:xfrm rot="0">
            <a:off x="1404807" y="6389177"/>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02</a:t>
            </a:r>
          </a:p>
        </p:txBody>
      </p:sp>
      <p:sp>
        <p:nvSpPr>
          <p:cNvPr name="TextBox 38" id="38"/>
          <p:cNvSpPr txBox="true"/>
          <p:nvPr/>
        </p:nvSpPr>
        <p:spPr>
          <a:xfrm rot="0">
            <a:off x="9491532" y="6389177"/>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02</a:t>
            </a:r>
          </a:p>
        </p:txBody>
      </p:sp>
      <p:sp>
        <p:nvSpPr>
          <p:cNvPr name="TextBox 39" id="39"/>
          <p:cNvSpPr txBox="true"/>
          <p:nvPr/>
        </p:nvSpPr>
        <p:spPr>
          <a:xfrm rot="0">
            <a:off x="2097942" y="6389177"/>
            <a:ext cx="5431925"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Improve </a:t>
            </a:r>
            <a:r>
              <a:rPr lang="en-US" sz="2352" spc="-183">
                <a:solidFill>
                  <a:srgbClr val="2150B9"/>
                </a:solidFill>
                <a:latin typeface="Knockout Cruiserweight Bold"/>
                <a:ea typeface="Knockout Cruiserweight Bold"/>
                <a:cs typeface="Knockout Cruiserweight Bold"/>
                <a:sym typeface="Knockout Cruiserweight Bold"/>
              </a:rPr>
              <a:t>audience engagement and interaction</a:t>
            </a:r>
          </a:p>
        </p:txBody>
      </p:sp>
      <p:sp>
        <p:nvSpPr>
          <p:cNvPr name="TextBox 40" id="40"/>
          <p:cNvSpPr txBox="true"/>
          <p:nvPr/>
        </p:nvSpPr>
        <p:spPr>
          <a:xfrm rot="0">
            <a:off x="10184667" y="6389177"/>
            <a:ext cx="5431925"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P</a:t>
            </a:r>
            <a:r>
              <a:rPr lang="en-US" sz="2352" spc="-183">
                <a:solidFill>
                  <a:srgbClr val="2150B9"/>
                </a:solidFill>
                <a:latin typeface="Knockout Cruiserweight Bold"/>
                <a:ea typeface="Knockout Cruiserweight Bold"/>
                <a:cs typeface="Knockout Cruiserweight Bold"/>
                <a:sym typeface="Knockout Cruiserweight Bold"/>
              </a:rPr>
              <a:t>ublish high-quality, relevant content</a:t>
            </a:r>
          </a:p>
        </p:txBody>
      </p:sp>
      <p:sp>
        <p:nvSpPr>
          <p:cNvPr name="TextBox 41" id="41"/>
          <p:cNvSpPr txBox="true"/>
          <p:nvPr/>
        </p:nvSpPr>
        <p:spPr>
          <a:xfrm rot="0">
            <a:off x="2097942" y="7531407"/>
            <a:ext cx="371195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D</a:t>
            </a:r>
            <a:r>
              <a:rPr lang="en-US" sz="2352" spc="-183">
                <a:solidFill>
                  <a:srgbClr val="2150B9"/>
                </a:solidFill>
                <a:latin typeface="Knockout Cruiserweight Bold"/>
                <a:ea typeface="Knockout Cruiserweight Bold"/>
                <a:cs typeface="Knockout Cruiserweight Bold"/>
                <a:sym typeface="Knockout Cruiserweight Bold"/>
              </a:rPr>
              <a:t>rive traffic to digital channels</a:t>
            </a:r>
          </a:p>
        </p:txBody>
      </p:sp>
      <p:sp>
        <p:nvSpPr>
          <p:cNvPr name="TextBox 42" id="42"/>
          <p:cNvSpPr txBox="true"/>
          <p:nvPr/>
        </p:nvSpPr>
        <p:spPr>
          <a:xfrm rot="0">
            <a:off x="10184667" y="7531407"/>
            <a:ext cx="5972884"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Optim</a:t>
            </a:r>
            <a:r>
              <a:rPr lang="en-US" sz="2352" spc="-183">
                <a:solidFill>
                  <a:srgbClr val="2150B9"/>
                </a:solidFill>
                <a:latin typeface="Knockout Cruiserweight Bold"/>
                <a:ea typeface="Knockout Cruiserweight Bold"/>
                <a:cs typeface="Knockout Cruiserweight Bold"/>
                <a:sym typeface="Knockout Cruiserweight Bold"/>
              </a:rPr>
              <a:t>ize performance through data-driven insights</a:t>
            </a:r>
          </a:p>
        </p:txBody>
      </p:sp>
      <p:sp>
        <p:nvSpPr>
          <p:cNvPr name="TextBox 43" id="43"/>
          <p:cNvSpPr txBox="true"/>
          <p:nvPr/>
        </p:nvSpPr>
        <p:spPr>
          <a:xfrm rot="0">
            <a:off x="2097942" y="8662240"/>
            <a:ext cx="5112897"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Support lead gener</a:t>
            </a:r>
            <a:r>
              <a:rPr lang="en-US" sz="2352" spc="-183">
                <a:solidFill>
                  <a:srgbClr val="2150B9"/>
                </a:solidFill>
                <a:latin typeface="Knockout Cruiserweight Bold"/>
                <a:ea typeface="Knockout Cruiserweight Bold"/>
                <a:cs typeface="Knockout Cruiserweight Bold"/>
                <a:sym typeface="Knockout Cruiserweight Bold"/>
              </a:rPr>
              <a:t>ation or sales objectives</a:t>
            </a:r>
          </a:p>
        </p:txBody>
      </p:sp>
      <p:sp>
        <p:nvSpPr>
          <p:cNvPr name="TextBox 44" id="44"/>
          <p:cNvSpPr txBox="true"/>
          <p:nvPr/>
        </p:nvSpPr>
        <p:spPr>
          <a:xfrm rot="0">
            <a:off x="10184667" y="8662240"/>
            <a:ext cx="5112897"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Build long-term audience rel</a:t>
            </a:r>
            <a:r>
              <a:rPr lang="en-US" sz="2352" spc="-183">
                <a:solidFill>
                  <a:srgbClr val="2150B9"/>
                </a:solidFill>
                <a:latin typeface="Knockout Cruiserweight Bold"/>
                <a:ea typeface="Knockout Cruiserweight Bold"/>
                <a:cs typeface="Knockout Cruiserweight Bold"/>
                <a:sym typeface="Knockout Cruiserweight Bold"/>
              </a:rPr>
              <a:t>ationships</a:t>
            </a:r>
          </a:p>
        </p:txBody>
      </p:sp>
      <p:sp>
        <p:nvSpPr>
          <p:cNvPr name="TextBox 45" id="45"/>
          <p:cNvSpPr txBox="true"/>
          <p:nvPr/>
        </p:nvSpPr>
        <p:spPr>
          <a:xfrm rot="0">
            <a:off x="1404807" y="7525709"/>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03</a:t>
            </a:r>
          </a:p>
        </p:txBody>
      </p:sp>
      <p:sp>
        <p:nvSpPr>
          <p:cNvPr name="TextBox 46" id="46"/>
          <p:cNvSpPr txBox="true"/>
          <p:nvPr/>
        </p:nvSpPr>
        <p:spPr>
          <a:xfrm rot="0">
            <a:off x="9491532" y="7525709"/>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03</a:t>
            </a:r>
          </a:p>
        </p:txBody>
      </p:sp>
      <p:sp>
        <p:nvSpPr>
          <p:cNvPr name="TextBox 47" id="47"/>
          <p:cNvSpPr txBox="true"/>
          <p:nvPr/>
        </p:nvSpPr>
        <p:spPr>
          <a:xfrm rot="0">
            <a:off x="1404807" y="8662052"/>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04</a:t>
            </a:r>
          </a:p>
        </p:txBody>
      </p:sp>
      <p:sp>
        <p:nvSpPr>
          <p:cNvPr name="TextBox 48" id="48"/>
          <p:cNvSpPr txBox="true"/>
          <p:nvPr/>
        </p:nvSpPr>
        <p:spPr>
          <a:xfrm rot="0">
            <a:off x="9491532" y="8662052"/>
            <a:ext cx="403531" cy="291542"/>
          </a:xfrm>
          <a:prstGeom prst="rect">
            <a:avLst/>
          </a:prstGeom>
        </p:spPr>
        <p:txBody>
          <a:bodyPr anchor="t" rtlCol="false" tIns="0" lIns="0" bIns="0" rIns="0">
            <a:spAutoFit/>
          </a:bodyPr>
          <a:lstStyle/>
          <a:p>
            <a:pPr algn="l">
              <a:lnSpc>
                <a:spcPts val="2094"/>
              </a:lnSpc>
            </a:pPr>
            <a:r>
              <a:rPr lang="en-US" sz="2352" spc="-183">
                <a:solidFill>
                  <a:srgbClr val="2150B9"/>
                </a:solidFill>
                <a:latin typeface="Knockout Cruiserweight Bold"/>
                <a:ea typeface="Knockout Cruiserweight Bold"/>
                <a:cs typeface="Knockout Cruiserweight Bold"/>
                <a:sym typeface="Knockout Cruiserweight Bold"/>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8678972" y="5456868"/>
            <a:ext cx="5255644" cy="1120031"/>
          </a:xfrm>
          <a:custGeom>
            <a:avLst/>
            <a:gdLst/>
            <a:ahLst/>
            <a:cxnLst/>
            <a:rect r="r" b="b" t="t" l="l"/>
            <a:pathLst>
              <a:path h="1120031" w="5255644">
                <a:moveTo>
                  <a:pt x="0" y="0"/>
                </a:moveTo>
                <a:lnTo>
                  <a:pt x="5255644" y="0"/>
                </a:lnTo>
                <a:lnTo>
                  <a:pt x="5255644"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3" id="3"/>
          <p:cNvSpPr/>
          <p:nvPr/>
        </p:nvSpPr>
        <p:spPr>
          <a:xfrm flipH="false" flipV="false" rot="0">
            <a:off x="8678972" y="6797647"/>
            <a:ext cx="5255644" cy="1120031"/>
          </a:xfrm>
          <a:custGeom>
            <a:avLst/>
            <a:gdLst/>
            <a:ahLst/>
            <a:cxnLst/>
            <a:rect r="r" b="b" t="t" l="l"/>
            <a:pathLst>
              <a:path h="1120031" w="5255644">
                <a:moveTo>
                  <a:pt x="0" y="0"/>
                </a:moveTo>
                <a:lnTo>
                  <a:pt x="5255644" y="0"/>
                </a:lnTo>
                <a:lnTo>
                  <a:pt x="5255644"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4" id="4"/>
          <p:cNvSpPr/>
          <p:nvPr/>
        </p:nvSpPr>
        <p:spPr>
          <a:xfrm flipH="false" flipV="false" rot="0">
            <a:off x="8678972" y="8138269"/>
            <a:ext cx="5255644" cy="1120031"/>
          </a:xfrm>
          <a:custGeom>
            <a:avLst/>
            <a:gdLst/>
            <a:ahLst/>
            <a:cxnLst/>
            <a:rect r="r" b="b" t="t" l="l"/>
            <a:pathLst>
              <a:path h="1120031" w="5255644">
                <a:moveTo>
                  <a:pt x="0" y="0"/>
                </a:moveTo>
                <a:lnTo>
                  <a:pt x="5255644" y="0"/>
                </a:lnTo>
                <a:lnTo>
                  <a:pt x="5255644" y="1120031"/>
                </a:lnTo>
                <a:lnTo>
                  <a:pt x="0" y="1120031"/>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5" id="5"/>
          <p:cNvSpPr/>
          <p:nvPr/>
        </p:nvSpPr>
        <p:spPr>
          <a:xfrm flipH="false" flipV="false" rot="0">
            <a:off x="13000931" y="5456868"/>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6" id="6"/>
          <p:cNvSpPr/>
          <p:nvPr/>
        </p:nvSpPr>
        <p:spPr>
          <a:xfrm flipH="false" flipV="false" rot="0">
            <a:off x="13000931" y="6797647"/>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7" id="7"/>
          <p:cNvSpPr/>
          <p:nvPr/>
        </p:nvSpPr>
        <p:spPr>
          <a:xfrm flipH="false" flipV="false" rot="0">
            <a:off x="13000931" y="8138269"/>
            <a:ext cx="3094116" cy="1120031"/>
          </a:xfrm>
          <a:custGeom>
            <a:avLst/>
            <a:gdLst/>
            <a:ahLst/>
            <a:cxnLst/>
            <a:rect r="r" b="b" t="t" l="l"/>
            <a:pathLst>
              <a:path h="1120031" w="3094116">
                <a:moveTo>
                  <a:pt x="0" y="0"/>
                </a:moveTo>
                <a:lnTo>
                  <a:pt x="3094116" y="0"/>
                </a:lnTo>
                <a:lnTo>
                  <a:pt x="3094116" y="1120031"/>
                </a:lnTo>
                <a:lnTo>
                  <a:pt x="0" y="1120031"/>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8" id="8"/>
          <p:cNvSpPr/>
          <p:nvPr/>
        </p:nvSpPr>
        <p:spPr>
          <a:xfrm flipH="false" flipV="false" rot="0">
            <a:off x="14165184" y="5456868"/>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9" id="9"/>
          <p:cNvSpPr/>
          <p:nvPr/>
        </p:nvSpPr>
        <p:spPr>
          <a:xfrm flipH="false" flipV="false" rot="0">
            <a:off x="14165184" y="6797647"/>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0" id="10"/>
          <p:cNvSpPr/>
          <p:nvPr/>
        </p:nvSpPr>
        <p:spPr>
          <a:xfrm flipH="false" flipV="false" rot="0">
            <a:off x="14165184" y="8138269"/>
            <a:ext cx="3094116" cy="1120031"/>
          </a:xfrm>
          <a:custGeom>
            <a:avLst/>
            <a:gdLst/>
            <a:ahLst/>
            <a:cxnLst/>
            <a:rect r="r" b="b" t="t" l="l"/>
            <a:pathLst>
              <a:path h="1120031" w="3094116">
                <a:moveTo>
                  <a:pt x="0" y="0"/>
                </a:moveTo>
                <a:lnTo>
                  <a:pt x="3094116" y="0"/>
                </a:lnTo>
                <a:lnTo>
                  <a:pt x="3094116" y="1120031"/>
                </a:lnTo>
                <a:lnTo>
                  <a:pt x="0" y="1120031"/>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1" id="11"/>
          <p:cNvSpPr/>
          <p:nvPr/>
        </p:nvSpPr>
        <p:spPr>
          <a:xfrm flipH="false" flipV="false" rot="0">
            <a:off x="11434908" y="1448577"/>
            <a:ext cx="3233316" cy="2980529"/>
          </a:xfrm>
          <a:custGeom>
            <a:avLst/>
            <a:gdLst/>
            <a:ahLst/>
            <a:cxnLst/>
            <a:rect r="r" b="b" t="t" l="l"/>
            <a:pathLst>
              <a:path h="2980529" w="3233316">
                <a:moveTo>
                  <a:pt x="0" y="0"/>
                </a:moveTo>
                <a:lnTo>
                  <a:pt x="3233316" y="0"/>
                </a:lnTo>
                <a:lnTo>
                  <a:pt x="3233316" y="2980529"/>
                </a:lnTo>
                <a:lnTo>
                  <a:pt x="0" y="2980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15555998" y="3090197"/>
            <a:ext cx="1107761" cy="1107761"/>
          </a:xfrm>
          <a:custGeom>
            <a:avLst/>
            <a:gdLst/>
            <a:ahLst/>
            <a:cxnLst/>
            <a:rect r="r" b="b" t="t" l="l"/>
            <a:pathLst>
              <a:path h="1107761" w="1107761">
                <a:moveTo>
                  <a:pt x="0" y="0"/>
                </a:moveTo>
                <a:lnTo>
                  <a:pt x="1107762" y="0"/>
                </a:lnTo>
                <a:lnTo>
                  <a:pt x="1107762" y="1107762"/>
                </a:lnTo>
                <a:lnTo>
                  <a:pt x="0" y="11077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Paucek &amp; Lage</a:t>
            </a:r>
          </a:p>
        </p:txBody>
      </p:sp>
      <p:sp>
        <p:nvSpPr>
          <p:cNvPr name="TextBox 14" id="14"/>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Since 2026</a:t>
            </a:r>
          </a:p>
        </p:txBody>
      </p:sp>
      <p:sp>
        <p:nvSpPr>
          <p:cNvPr name="TextBox 15" id="15"/>
          <p:cNvSpPr txBox="true"/>
          <p:nvPr/>
        </p:nvSpPr>
        <p:spPr>
          <a:xfrm rot="0">
            <a:off x="1028700" y="1020008"/>
            <a:ext cx="9263517" cy="2572314"/>
          </a:xfrm>
          <a:prstGeom prst="rect">
            <a:avLst/>
          </a:prstGeom>
        </p:spPr>
        <p:txBody>
          <a:bodyPr anchor="t" rtlCol="false" tIns="0" lIns="0" bIns="0" rIns="0">
            <a:spAutoFit/>
          </a:bodyPr>
          <a:lstStyle/>
          <a:p>
            <a:pPr algn="l">
              <a:lnSpc>
                <a:spcPts val="9700"/>
              </a:lnSpc>
            </a:pPr>
            <a:r>
              <a:rPr lang="en-US" sz="10899" spc="-850">
                <a:solidFill>
                  <a:srgbClr val="2150B9"/>
                </a:solidFill>
                <a:latin typeface="Knockout Cruiserweight Bold"/>
                <a:ea typeface="Knockout Cruiserweight Bold"/>
                <a:cs typeface="Knockout Cruiserweight Bold"/>
                <a:sym typeface="Knockout Cruiserweight Bold"/>
              </a:rPr>
              <a:t>Target Audience Analysis</a:t>
            </a:r>
          </a:p>
        </p:txBody>
      </p:sp>
      <p:sp>
        <p:nvSpPr>
          <p:cNvPr name="TextBox 16" id="16"/>
          <p:cNvSpPr txBox="true"/>
          <p:nvPr/>
        </p:nvSpPr>
        <p:spPr>
          <a:xfrm rot="0">
            <a:off x="1028700" y="4660292"/>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Aud</a:t>
            </a:r>
            <a:r>
              <a:rPr lang="en-US" sz="3416" spc="-266">
                <a:solidFill>
                  <a:srgbClr val="2150B9"/>
                </a:solidFill>
                <a:latin typeface="Knockout Cruiserweight Bold"/>
                <a:ea typeface="Knockout Cruiserweight Bold"/>
                <a:cs typeface="Knockout Cruiserweight Bold"/>
                <a:sym typeface="Knockout Cruiserweight Bold"/>
              </a:rPr>
              <a:t>ience Profile</a:t>
            </a:r>
          </a:p>
        </p:txBody>
      </p:sp>
      <p:sp>
        <p:nvSpPr>
          <p:cNvPr name="TextBox 17" id="17"/>
          <p:cNvSpPr txBox="true"/>
          <p:nvPr/>
        </p:nvSpPr>
        <p:spPr>
          <a:xfrm rot="0">
            <a:off x="1028700" y="5406619"/>
            <a:ext cx="6855429" cy="3851681"/>
          </a:xfrm>
          <a:prstGeom prst="rect">
            <a:avLst/>
          </a:prstGeom>
        </p:spPr>
        <p:txBody>
          <a:bodyPr anchor="t" rtlCol="false" tIns="0" lIns="0" bIns="0" rIns="0">
            <a:spAutoFit/>
          </a:bodyPr>
          <a:lstStyle/>
          <a:p>
            <a:pPr algn="l">
              <a:lnSpc>
                <a:spcPts val="2336"/>
              </a:lnSpc>
            </a:pPr>
            <a:r>
              <a:rPr lang="en-US" sz="1996" spc="-155">
                <a:solidFill>
                  <a:srgbClr val="2150B9"/>
                </a:solidFill>
                <a:latin typeface="Knockout Cruiserweight"/>
                <a:ea typeface="Knockout Cruiserweight"/>
                <a:cs typeface="Knockout Cruiserweight"/>
                <a:sym typeface="Knockout Cruiserweight"/>
              </a:rPr>
              <a:t>Lorem ipsum dolor sit amet, consectetur adipiscing elit. Donec sodales magna risus, a feugiat leo tristique in. Fusce purus orci, porttitor a porttitor at, lacinia a mauris. Nullam eu enim lacus. Nulla luctus orci eget odio maximus dictum. Sed condimentum augue et arcu euismod, vel congue neque tincidunt. Praesent orci purus, congue eget tincidunt in, egestas vitae turpis. Proin ut pellentesque dolor, nec dignissim massa. Donec id urna a erat eleifend tincidunt a a arcu. Mauris venenatis, justo ac dictum fermentum, dolor tortor maximus magna, vel pharetra urna sapien eu nulla. Aliquam tempor nibh a aliquet blandit. Curabitur efficitur efficitur aliquet. Maecenas posuere tempor enim sed tincidunt. Quisque at erat non enim aliquet semper vitae sed sapien. Cras eget nisl a nulla sagittis interdum ac non dolor. Integer vitae ante at est consequat facilisis. Aliquam at tortor nec velit placerat rhoncus.</a:t>
            </a:r>
          </a:p>
        </p:txBody>
      </p:sp>
      <p:sp>
        <p:nvSpPr>
          <p:cNvPr name="TextBox 18" id="18"/>
          <p:cNvSpPr txBox="true"/>
          <p:nvPr/>
        </p:nvSpPr>
        <p:spPr>
          <a:xfrm rot="0">
            <a:off x="8678972" y="4718672"/>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Audienc</a:t>
            </a:r>
            <a:r>
              <a:rPr lang="en-US" sz="3416" spc="-266">
                <a:solidFill>
                  <a:srgbClr val="2150B9"/>
                </a:solidFill>
                <a:latin typeface="Knockout Cruiserweight Bold"/>
                <a:ea typeface="Knockout Cruiserweight Bold"/>
                <a:cs typeface="Knockout Cruiserweight Bold"/>
                <a:sym typeface="Knockout Cruiserweight Bold"/>
              </a:rPr>
              <a:t>e Needs</a:t>
            </a:r>
          </a:p>
        </p:txBody>
      </p:sp>
      <p:sp>
        <p:nvSpPr>
          <p:cNvPr name="TextBox 19" id="19"/>
          <p:cNvSpPr txBox="true"/>
          <p:nvPr/>
        </p:nvSpPr>
        <p:spPr>
          <a:xfrm rot="0">
            <a:off x="9917103" y="5909668"/>
            <a:ext cx="6980561"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I</a:t>
            </a:r>
            <a:r>
              <a:rPr lang="en-US" sz="2724" spc="-212">
                <a:solidFill>
                  <a:srgbClr val="FFF8ED"/>
                </a:solidFill>
                <a:latin typeface="Knockout Cruiserweight Bold"/>
                <a:ea typeface="Knockout Cruiserweight Bold"/>
                <a:cs typeface="Knockout Cruiserweight Bold"/>
                <a:sym typeface="Knockout Cruiserweight Bold"/>
              </a:rPr>
              <a:t>nformative and engaging content</a:t>
            </a:r>
          </a:p>
        </p:txBody>
      </p:sp>
      <p:sp>
        <p:nvSpPr>
          <p:cNvPr name="TextBox 20" id="20"/>
          <p:cNvSpPr txBox="true"/>
          <p:nvPr/>
        </p:nvSpPr>
        <p:spPr>
          <a:xfrm rot="0">
            <a:off x="9917103" y="7250447"/>
            <a:ext cx="6980561"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Au</a:t>
            </a:r>
            <a:r>
              <a:rPr lang="en-US" sz="2724" spc="-212">
                <a:solidFill>
                  <a:srgbClr val="FFF8ED"/>
                </a:solidFill>
                <a:latin typeface="Knockout Cruiserweight Bold"/>
                <a:ea typeface="Knockout Cruiserweight Bold"/>
                <a:cs typeface="Knockout Cruiserweight Bold"/>
                <a:sym typeface="Knockout Cruiserweight Bold"/>
              </a:rPr>
              <a:t>thentic brand communication</a:t>
            </a:r>
          </a:p>
        </p:txBody>
      </p:sp>
      <p:sp>
        <p:nvSpPr>
          <p:cNvPr name="TextBox 21" id="21"/>
          <p:cNvSpPr txBox="true"/>
          <p:nvPr/>
        </p:nvSpPr>
        <p:spPr>
          <a:xfrm rot="0">
            <a:off x="9917103" y="8591069"/>
            <a:ext cx="6980561"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Vi</a:t>
            </a:r>
            <a:r>
              <a:rPr lang="en-US" sz="2724" spc="-212">
                <a:solidFill>
                  <a:srgbClr val="FFF8ED"/>
                </a:solidFill>
                <a:latin typeface="Knockout Cruiserweight Bold"/>
                <a:ea typeface="Knockout Cruiserweight Bold"/>
                <a:cs typeface="Knockout Cruiserweight Bold"/>
                <a:sym typeface="Knockout Cruiserweight Bold"/>
              </a:rPr>
              <a:t>sually appealing and easy-to-consume formats</a:t>
            </a:r>
          </a:p>
        </p:txBody>
      </p:sp>
      <p:sp>
        <p:nvSpPr>
          <p:cNvPr name="TextBox 22" id="22"/>
          <p:cNvSpPr txBox="true"/>
          <p:nvPr/>
        </p:nvSpPr>
        <p:spPr>
          <a:xfrm rot="0">
            <a:off x="9114486" y="5909668"/>
            <a:ext cx="467269"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01</a:t>
            </a:r>
          </a:p>
        </p:txBody>
      </p:sp>
      <p:sp>
        <p:nvSpPr>
          <p:cNvPr name="TextBox 23" id="23"/>
          <p:cNvSpPr txBox="true"/>
          <p:nvPr/>
        </p:nvSpPr>
        <p:spPr>
          <a:xfrm rot="0">
            <a:off x="9114486" y="7250447"/>
            <a:ext cx="467269"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02</a:t>
            </a:r>
          </a:p>
        </p:txBody>
      </p:sp>
      <p:sp>
        <p:nvSpPr>
          <p:cNvPr name="TextBox 24" id="24"/>
          <p:cNvSpPr txBox="true"/>
          <p:nvPr/>
        </p:nvSpPr>
        <p:spPr>
          <a:xfrm rot="0">
            <a:off x="9114486" y="8591069"/>
            <a:ext cx="467269" cy="338599"/>
          </a:xfrm>
          <a:prstGeom prst="rect">
            <a:avLst/>
          </a:prstGeom>
        </p:spPr>
        <p:txBody>
          <a:bodyPr anchor="t" rtlCol="false" tIns="0" lIns="0" bIns="0" rIns="0">
            <a:spAutoFit/>
          </a:bodyPr>
          <a:lstStyle/>
          <a:p>
            <a:pPr algn="l">
              <a:lnSpc>
                <a:spcPts val="2424"/>
              </a:lnSpc>
            </a:pPr>
            <a:r>
              <a:rPr lang="en-US" sz="2724" spc="-212">
                <a:solidFill>
                  <a:srgbClr val="FFF8ED"/>
                </a:solidFill>
                <a:latin typeface="Knockout Cruiserweight Bold"/>
                <a:ea typeface="Knockout Cruiserweight Bold"/>
                <a:cs typeface="Knockout Cruiserweight Bold"/>
                <a:sym typeface="Knockout Cruiserweight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2150B9"/>
        </a:solidFill>
      </p:bgPr>
    </p:bg>
    <p:spTree>
      <p:nvGrpSpPr>
        <p:cNvPr id="1" name=""/>
        <p:cNvGrpSpPr/>
        <p:nvPr/>
      </p:nvGrpSpPr>
      <p:grpSpPr>
        <a:xfrm>
          <a:off x="0" y="0"/>
          <a:ext cx="0" cy="0"/>
          <a:chOff x="0" y="0"/>
          <a:chExt cx="0" cy="0"/>
        </a:xfrm>
      </p:grpSpPr>
      <p:sp>
        <p:nvSpPr>
          <p:cNvPr name="AutoShape 2" id="2"/>
          <p:cNvSpPr/>
          <p:nvPr/>
        </p:nvSpPr>
        <p:spPr>
          <a:xfrm>
            <a:off x="9191625" y="3761260"/>
            <a:ext cx="5118866" cy="0"/>
          </a:xfrm>
          <a:prstGeom prst="line">
            <a:avLst/>
          </a:prstGeom>
          <a:ln cap="flat" w="9525">
            <a:solidFill>
              <a:srgbClr val="FFFFFF"/>
            </a:solidFill>
            <a:prstDash val="solid"/>
            <a:headEnd type="none" len="sm" w="sm"/>
            <a:tailEnd type="none" len="sm" w="sm"/>
          </a:ln>
        </p:spPr>
      </p:sp>
      <p:sp>
        <p:nvSpPr>
          <p:cNvPr name="AutoShape 3" id="3"/>
          <p:cNvSpPr/>
          <p:nvPr/>
        </p:nvSpPr>
        <p:spPr>
          <a:xfrm>
            <a:off x="9191625" y="7643935"/>
            <a:ext cx="5118866" cy="0"/>
          </a:xfrm>
          <a:prstGeom prst="line">
            <a:avLst/>
          </a:prstGeom>
          <a:ln cap="flat" w="9525">
            <a:solidFill>
              <a:srgbClr val="FFFFFF"/>
            </a:solidFill>
            <a:prstDash val="solid"/>
            <a:headEnd type="none" len="sm" w="sm"/>
            <a:tailEnd type="none" len="sm" w="sm"/>
          </a:ln>
        </p:spPr>
      </p:sp>
      <p:sp>
        <p:nvSpPr>
          <p:cNvPr name="AutoShape 4" id="4"/>
          <p:cNvSpPr/>
          <p:nvPr/>
        </p:nvSpPr>
        <p:spPr>
          <a:xfrm>
            <a:off x="9191625" y="4566062"/>
            <a:ext cx="5118866" cy="0"/>
          </a:xfrm>
          <a:prstGeom prst="line">
            <a:avLst/>
          </a:prstGeom>
          <a:ln cap="flat" w="9525">
            <a:solidFill>
              <a:srgbClr val="FFFFFF"/>
            </a:solidFill>
            <a:prstDash val="solid"/>
            <a:headEnd type="none" len="sm" w="sm"/>
            <a:tailEnd type="none" len="sm" w="sm"/>
          </a:ln>
        </p:spPr>
      </p:sp>
      <p:sp>
        <p:nvSpPr>
          <p:cNvPr name="AutoShape 5" id="5"/>
          <p:cNvSpPr/>
          <p:nvPr/>
        </p:nvSpPr>
        <p:spPr>
          <a:xfrm>
            <a:off x="9191625" y="8448736"/>
            <a:ext cx="5118866" cy="0"/>
          </a:xfrm>
          <a:prstGeom prst="line">
            <a:avLst/>
          </a:prstGeom>
          <a:ln cap="flat" w="9525">
            <a:solidFill>
              <a:srgbClr val="FFFFFF"/>
            </a:solidFill>
            <a:prstDash val="solid"/>
            <a:headEnd type="none" len="sm" w="sm"/>
            <a:tailEnd type="none" len="sm" w="sm"/>
          </a:ln>
        </p:spPr>
      </p:sp>
      <p:sp>
        <p:nvSpPr>
          <p:cNvPr name="Freeform 6" id="6"/>
          <p:cNvSpPr/>
          <p:nvPr/>
        </p:nvSpPr>
        <p:spPr>
          <a:xfrm flipH="false" flipV="false" rot="0">
            <a:off x="9191625" y="3264611"/>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9191625" y="7147286"/>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9191625" y="4069413"/>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191625" y="7952087"/>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10" id="10"/>
          <p:cNvSpPr/>
          <p:nvPr/>
        </p:nvSpPr>
        <p:spPr>
          <a:xfrm>
            <a:off x="9191625" y="5370863"/>
            <a:ext cx="5118866" cy="0"/>
          </a:xfrm>
          <a:prstGeom prst="line">
            <a:avLst/>
          </a:prstGeom>
          <a:ln cap="flat" w="9525">
            <a:solidFill>
              <a:srgbClr val="FFFFFF"/>
            </a:solidFill>
            <a:prstDash val="solid"/>
            <a:headEnd type="none" len="sm" w="sm"/>
            <a:tailEnd type="none" len="sm" w="sm"/>
          </a:ln>
        </p:spPr>
      </p:sp>
      <p:sp>
        <p:nvSpPr>
          <p:cNvPr name="AutoShape 11" id="11"/>
          <p:cNvSpPr/>
          <p:nvPr/>
        </p:nvSpPr>
        <p:spPr>
          <a:xfrm>
            <a:off x="9191625" y="9253538"/>
            <a:ext cx="5118866" cy="0"/>
          </a:xfrm>
          <a:prstGeom prst="line">
            <a:avLst/>
          </a:prstGeom>
          <a:ln cap="flat" w="9525">
            <a:solidFill>
              <a:srgbClr val="FFFFFF"/>
            </a:solidFill>
            <a:prstDash val="solid"/>
            <a:headEnd type="none" len="sm" w="sm"/>
            <a:tailEnd type="none" len="sm" w="sm"/>
          </a:ln>
        </p:spPr>
      </p:sp>
      <p:sp>
        <p:nvSpPr>
          <p:cNvPr name="Freeform 12" id="12"/>
          <p:cNvSpPr/>
          <p:nvPr/>
        </p:nvSpPr>
        <p:spPr>
          <a:xfrm flipH="false" flipV="false" rot="0">
            <a:off x="9191625" y="4874214"/>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9191625" y="8756889"/>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5400000">
            <a:off x="15808971" y="5566486"/>
            <a:ext cx="3733916" cy="3987677"/>
          </a:xfrm>
          <a:custGeom>
            <a:avLst/>
            <a:gdLst/>
            <a:ahLst/>
            <a:cxnLst/>
            <a:rect r="r" b="b" t="t" l="l"/>
            <a:pathLst>
              <a:path h="3987677" w="3733916">
                <a:moveTo>
                  <a:pt x="0" y="0"/>
                </a:moveTo>
                <a:lnTo>
                  <a:pt x="3733916" y="0"/>
                </a:lnTo>
                <a:lnTo>
                  <a:pt x="3733916" y="3987677"/>
                </a:lnTo>
                <a:lnTo>
                  <a:pt x="0" y="39876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9144000" y="-2433567"/>
            <a:ext cx="3526311" cy="3526311"/>
          </a:xfrm>
          <a:custGeom>
            <a:avLst/>
            <a:gdLst/>
            <a:ahLst/>
            <a:cxnLst/>
            <a:rect r="r" b="b" t="t" l="l"/>
            <a:pathLst>
              <a:path h="3526311" w="3526311">
                <a:moveTo>
                  <a:pt x="0" y="0"/>
                </a:moveTo>
                <a:lnTo>
                  <a:pt x="3526311" y="0"/>
                </a:lnTo>
                <a:lnTo>
                  <a:pt x="3526311" y="3526311"/>
                </a:lnTo>
                <a:lnTo>
                  <a:pt x="0" y="35263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15222908" y="1168944"/>
            <a:ext cx="2140140" cy="329231"/>
          </a:xfrm>
          <a:prstGeom prst="rect">
            <a:avLst/>
          </a:prstGeom>
        </p:spPr>
        <p:txBody>
          <a:bodyPr anchor="t" rtlCol="false" tIns="0" lIns="0" bIns="0" rIns="0">
            <a:spAutoFit/>
          </a:bodyPr>
          <a:lstStyle/>
          <a:p>
            <a:pPr algn="l">
              <a:lnSpc>
                <a:spcPts val="2370"/>
              </a:lnSpc>
            </a:pPr>
            <a:r>
              <a:rPr lang="en-US" sz="2663" spc="-207">
                <a:solidFill>
                  <a:srgbClr val="FFF8ED"/>
                </a:solidFill>
                <a:latin typeface="Knockout Cruiserweight Bold"/>
                <a:ea typeface="Knockout Cruiserweight Bold"/>
                <a:cs typeface="Knockout Cruiserweight Bold"/>
                <a:sym typeface="Knockout Cruiserweight Bold"/>
              </a:rPr>
              <a:t>Paucek &amp; Lage</a:t>
            </a:r>
          </a:p>
        </p:txBody>
      </p:sp>
      <p:sp>
        <p:nvSpPr>
          <p:cNvPr name="TextBox 17" id="17"/>
          <p:cNvSpPr txBox="true"/>
          <p:nvPr/>
        </p:nvSpPr>
        <p:spPr>
          <a:xfrm rot="0">
            <a:off x="15222908" y="1673217"/>
            <a:ext cx="1089964" cy="203469"/>
          </a:xfrm>
          <a:prstGeom prst="rect">
            <a:avLst/>
          </a:prstGeom>
        </p:spPr>
        <p:txBody>
          <a:bodyPr anchor="t" rtlCol="false" tIns="0" lIns="0" bIns="0" rIns="0">
            <a:spAutoFit/>
          </a:bodyPr>
          <a:lstStyle/>
          <a:p>
            <a:pPr algn="l">
              <a:lnSpc>
                <a:spcPts val="1431"/>
              </a:lnSpc>
            </a:pPr>
            <a:r>
              <a:rPr lang="en-US" sz="1607" spc="-125">
                <a:solidFill>
                  <a:srgbClr val="FFF8ED"/>
                </a:solidFill>
                <a:latin typeface="Knockout Cruiserweight"/>
                <a:ea typeface="Knockout Cruiserweight"/>
                <a:cs typeface="Knockout Cruiserweight"/>
                <a:sym typeface="Knockout Cruiserweight"/>
              </a:rPr>
              <a:t>Since 2026</a:t>
            </a:r>
          </a:p>
        </p:txBody>
      </p:sp>
      <p:sp>
        <p:nvSpPr>
          <p:cNvPr name="TextBox 18" id="18"/>
          <p:cNvSpPr txBox="true"/>
          <p:nvPr/>
        </p:nvSpPr>
        <p:spPr>
          <a:xfrm rot="0">
            <a:off x="1028700" y="1020008"/>
            <a:ext cx="6020547" cy="2572314"/>
          </a:xfrm>
          <a:prstGeom prst="rect">
            <a:avLst/>
          </a:prstGeom>
        </p:spPr>
        <p:txBody>
          <a:bodyPr anchor="t" rtlCol="false" tIns="0" lIns="0" bIns="0" rIns="0">
            <a:spAutoFit/>
          </a:bodyPr>
          <a:lstStyle/>
          <a:p>
            <a:pPr algn="l">
              <a:lnSpc>
                <a:spcPts val="9700"/>
              </a:lnSpc>
            </a:pPr>
            <a:r>
              <a:rPr lang="en-US" sz="10899" spc="-850">
                <a:solidFill>
                  <a:srgbClr val="FFF8ED"/>
                </a:solidFill>
                <a:latin typeface="Knockout Cruiserweight Bold"/>
                <a:ea typeface="Knockout Cruiserweight Bold"/>
                <a:cs typeface="Knockout Cruiserweight Bold"/>
                <a:sym typeface="Knockout Cruiserweight Bold"/>
              </a:rPr>
              <a:t>Platform Strategy</a:t>
            </a:r>
          </a:p>
        </p:txBody>
      </p:sp>
      <p:sp>
        <p:nvSpPr>
          <p:cNvPr name="TextBox 19" id="19"/>
          <p:cNvSpPr txBox="true"/>
          <p:nvPr/>
        </p:nvSpPr>
        <p:spPr>
          <a:xfrm rot="0">
            <a:off x="1028700" y="4660292"/>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Pr</a:t>
            </a:r>
            <a:r>
              <a:rPr lang="en-US" sz="3416" spc="-266">
                <a:solidFill>
                  <a:srgbClr val="FFF8ED"/>
                </a:solidFill>
                <a:latin typeface="Knockout Cruiserweight Bold"/>
                <a:ea typeface="Knockout Cruiserweight Bold"/>
                <a:cs typeface="Knockout Cruiserweight Bold"/>
                <a:sym typeface="Knockout Cruiserweight Bold"/>
              </a:rPr>
              <a:t>imary Platforms</a:t>
            </a:r>
          </a:p>
        </p:txBody>
      </p:sp>
      <p:sp>
        <p:nvSpPr>
          <p:cNvPr name="TextBox 20" id="20"/>
          <p:cNvSpPr txBox="true"/>
          <p:nvPr/>
        </p:nvSpPr>
        <p:spPr>
          <a:xfrm rot="0">
            <a:off x="9191625" y="2282353"/>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Platform Approach</a:t>
            </a:r>
          </a:p>
        </p:txBody>
      </p:sp>
      <p:sp>
        <p:nvSpPr>
          <p:cNvPr name="TextBox 21" id="21"/>
          <p:cNvSpPr txBox="true"/>
          <p:nvPr/>
        </p:nvSpPr>
        <p:spPr>
          <a:xfrm rot="0">
            <a:off x="9191625" y="6165027"/>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Conten</a:t>
            </a:r>
            <a:r>
              <a:rPr lang="en-US" sz="3416" spc="-266">
                <a:solidFill>
                  <a:srgbClr val="FFF8ED"/>
                </a:solidFill>
                <a:latin typeface="Knockout Cruiserweight Bold"/>
                <a:ea typeface="Knockout Cruiserweight Bold"/>
                <a:cs typeface="Knockout Cruiserweight Bold"/>
                <a:sym typeface="Knockout Cruiserweight Bold"/>
              </a:rPr>
              <a:t>t Distribution</a:t>
            </a:r>
          </a:p>
        </p:txBody>
      </p:sp>
      <p:sp>
        <p:nvSpPr>
          <p:cNvPr name="TextBox 22" id="22"/>
          <p:cNvSpPr txBox="true"/>
          <p:nvPr/>
        </p:nvSpPr>
        <p:spPr>
          <a:xfrm rot="0">
            <a:off x="1028700" y="5406619"/>
            <a:ext cx="6855429" cy="3851681"/>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Lorem ipsum dolor sit amet, consectetur adipiscing elit. Donec sodales magna risus, a feugiat leo tristique in. Fusce purus orci, porttitor a porttitor at, lacinia a mauris. Nullam eu enim lacus. Nulla luctus orci eget odio maximus dictum. Sed condimentum augue et arcu euismod, vel congue neque tincidunt. Praesent orci purus, congue eget tincidunt in, egestas vitae turpis. Proin ut pellentesque dolor, nec dignissim massa. Donec id urna a erat eleifend tincidunt a a arcu. Mauris venenatis, justo ac dictum fermentum, dolor tortor maximus magna, vel pharetra urna sapien eu nulla. Aliquam tempor nibh a aliquet blandit. Curabitur efficitur efficitur aliquet. Maecenas posuere tempor enim sed tincidunt. Quisque at erat non enim aliquet semper vitae sed sapien. Cras eget nisl a nulla sagittis interdum ac non dolor. Integer vitae ante at est consequat facilisis. Aliquam at tortor nec velit placerat rhoncus.</a:t>
            </a:r>
          </a:p>
        </p:txBody>
      </p:sp>
      <p:sp>
        <p:nvSpPr>
          <p:cNvPr name="TextBox 23" id="23"/>
          <p:cNvSpPr txBox="true"/>
          <p:nvPr/>
        </p:nvSpPr>
        <p:spPr>
          <a:xfrm rot="0">
            <a:off x="9604139" y="3238628"/>
            <a:ext cx="3507922"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T</a:t>
            </a:r>
            <a:r>
              <a:rPr lang="en-US" sz="1996" spc="-155">
                <a:solidFill>
                  <a:srgbClr val="FFF8ED"/>
                </a:solidFill>
                <a:latin typeface="Knockout Cruiserweight"/>
                <a:ea typeface="Knockout Cruiserweight"/>
                <a:cs typeface="Knockout Cruiserweight"/>
                <a:sym typeface="Knockout Cruiserweight"/>
              </a:rPr>
              <a:t>ailored content for each platform</a:t>
            </a:r>
          </a:p>
        </p:txBody>
      </p:sp>
      <p:sp>
        <p:nvSpPr>
          <p:cNvPr name="TextBox 24" id="24"/>
          <p:cNvSpPr txBox="true"/>
          <p:nvPr/>
        </p:nvSpPr>
        <p:spPr>
          <a:xfrm rot="0">
            <a:off x="9604139" y="7121303"/>
            <a:ext cx="3507922"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Org</a:t>
            </a:r>
            <a:r>
              <a:rPr lang="en-US" sz="1996" spc="-155">
                <a:solidFill>
                  <a:srgbClr val="FFF8ED"/>
                </a:solidFill>
                <a:latin typeface="Knockout Cruiserweight"/>
                <a:ea typeface="Knockout Cruiserweight"/>
                <a:cs typeface="Knockout Cruiserweight"/>
                <a:sym typeface="Knockout Cruiserweight"/>
              </a:rPr>
              <a:t>anic posts</a:t>
            </a:r>
          </a:p>
        </p:txBody>
      </p:sp>
      <p:sp>
        <p:nvSpPr>
          <p:cNvPr name="TextBox 25" id="25"/>
          <p:cNvSpPr txBox="true"/>
          <p:nvPr/>
        </p:nvSpPr>
        <p:spPr>
          <a:xfrm rot="0">
            <a:off x="9604139" y="4043430"/>
            <a:ext cx="3799516"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C</a:t>
            </a:r>
            <a:r>
              <a:rPr lang="en-US" sz="1996" spc="-155">
                <a:solidFill>
                  <a:srgbClr val="FFF8ED"/>
                </a:solidFill>
                <a:latin typeface="Knockout Cruiserweight"/>
                <a:ea typeface="Knockout Cruiserweight"/>
                <a:cs typeface="Knockout Cruiserweight"/>
                <a:sym typeface="Knockout Cruiserweight"/>
              </a:rPr>
              <a:t>onsistent branding across channels</a:t>
            </a:r>
          </a:p>
        </p:txBody>
      </p:sp>
      <p:sp>
        <p:nvSpPr>
          <p:cNvPr name="TextBox 26" id="26"/>
          <p:cNvSpPr txBox="true"/>
          <p:nvPr/>
        </p:nvSpPr>
        <p:spPr>
          <a:xfrm rot="0">
            <a:off x="9604139" y="7926104"/>
            <a:ext cx="3799516"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St</a:t>
            </a:r>
            <a:r>
              <a:rPr lang="en-US" sz="1996" spc="-155">
                <a:solidFill>
                  <a:srgbClr val="FFF8ED"/>
                </a:solidFill>
                <a:latin typeface="Knockout Cruiserweight"/>
                <a:ea typeface="Knockout Cruiserweight"/>
                <a:cs typeface="Knockout Cruiserweight"/>
                <a:sym typeface="Knockout Cruiserweight"/>
              </a:rPr>
              <a:t>ories and short-form videos</a:t>
            </a:r>
          </a:p>
        </p:txBody>
      </p:sp>
      <p:sp>
        <p:nvSpPr>
          <p:cNvPr name="TextBox 27" id="27"/>
          <p:cNvSpPr txBox="true"/>
          <p:nvPr/>
        </p:nvSpPr>
        <p:spPr>
          <a:xfrm rot="0">
            <a:off x="9604139" y="4848231"/>
            <a:ext cx="4942568"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Optim</a:t>
            </a:r>
            <a:r>
              <a:rPr lang="en-US" sz="1996" spc="-155">
                <a:solidFill>
                  <a:srgbClr val="FFF8ED"/>
                </a:solidFill>
                <a:latin typeface="Knockout Cruiserweight"/>
                <a:ea typeface="Knockout Cruiserweight"/>
                <a:cs typeface="Knockout Cruiserweight"/>
                <a:sym typeface="Knockout Cruiserweight"/>
              </a:rPr>
              <a:t>ized formats based on platform algorithms</a:t>
            </a:r>
          </a:p>
        </p:txBody>
      </p:sp>
      <p:sp>
        <p:nvSpPr>
          <p:cNvPr name="TextBox 28" id="28"/>
          <p:cNvSpPr txBox="true"/>
          <p:nvPr/>
        </p:nvSpPr>
        <p:spPr>
          <a:xfrm rot="0">
            <a:off x="9604139" y="8730906"/>
            <a:ext cx="3682879"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Pa</a:t>
            </a:r>
            <a:r>
              <a:rPr lang="en-US" sz="1996" spc="-155">
                <a:solidFill>
                  <a:srgbClr val="FFF8ED"/>
                </a:solidFill>
                <a:latin typeface="Knockout Cruiserweight"/>
                <a:ea typeface="Knockout Cruiserweight"/>
                <a:cs typeface="Knockout Cruiserweight"/>
                <a:sym typeface="Knockout Cruiserweight"/>
              </a:rPr>
              <a:t>id promotions for extended reach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331204" y="4951217"/>
            <a:ext cx="4004578" cy="4609587"/>
          </a:xfrm>
          <a:custGeom>
            <a:avLst/>
            <a:gdLst/>
            <a:ahLst/>
            <a:cxnLst/>
            <a:rect r="r" b="b" t="t" l="l"/>
            <a:pathLst>
              <a:path h="4609587" w="4004578">
                <a:moveTo>
                  <a:pt x="0" y="0"/>
                </a:moveTo>
                <a:lnTo>
                  <a:pt x="4004579" y="0"/>
                </a:lnTo>
                <a:lnTo>
                  <a:pt x="4004579" y="4609587"/>
                </a:lnTo>
                <a:lnTo>
                  <a:pt x="0" y="4609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6557488" y="5366190"/>
            <a:ext cx="4004578" cy="3779642"/>
          </a:xfrm>
          <a:custGeom>
            <a:avLst/>
            <a:gdLst/>
            <a:ahLst/>
            <a:cxnLst/>
            <a:rect r="r" b="b" t="t" l="l"/>
            <a:pathLst>
              <a:path h="3779642" w="4004578">
                <a:moveTo>
                  <a:pt x="0" y="0"/>
                </a:moveTo>
                <a:lnTo>
                  <a:pt x="4004578" y="0"/>
                </a:lnTo>
                <a:lnTo>
                  <a:pt x="4004578" y="3779642"/>
                </a:lnTo>
                <a:lnTo>
                  <a:pt x="0" y="3779642"/>
                </a:lnTo>
                <a:lnTo>
                  <a:pt x="0" y="0"/>
                </a:lnTo>
                <a:close/>
              </a:path>
            </a:pathLst>
          </a:custGeom>
          <a:blipFill>
            <a:blip r:embed="rId2">
              <a:extLst>
                <a:ext uri="{96DAC541-7B7A-43D3-8B79-37D633B846F1}">
                  <asvg:svgBlip xmlns:asvg="http://schemas.microsoft.com/office/drawing/2016/SVG/main" r:embed="rId3"/>
                </a:ext>
              </a:extLst>
            </a:blip>
            <a:stretch>
              <a:fillRect l="0" t="0" r="0" b="-21958"/>
            </a:stretch>
          </a:blipFill>
        </p:spPr>
      </p:sp>
      <p:sp>
        <p:nvSpPr>
          <p:cNvPr name="Freeform 4" id="4"/>
          <p:cNvSpPr/>
          <p:nvPr/>
        </p:nvSpPr>
        <p:spPr>
          <a:xfrm flipH="false" flipV="false" rot="-5400000">
            <a:off x="11171202" y="4951217"/>
            <a:ext cx="4004578" cy="4609587"/>
          </a:xfrm>
          <a:custGeom>
            <a:avLst/>
            <a:gdLst/>
            <a:ahLst/>
            <a:cxnLst/>
            <a:rect r="r" b="b" t="t" l="l"/>
            <a:pathLst>
              <a:path h="4609587" w="4004578">
                <a:moveTo>
                  <a:pt x="0" y="0"/>
                </a:moveTo>
                <a:lnTo>
                  <a:pt x="4004579" y="0"/>
                </a:lnTo>
                <a:lnTo>
                  <a:pt x="4004579" y="4609587"/>
                </a:lnTo>
                <a:lnTo>
                  <a:pt x="0" y="4609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5400000">
            <a:off x="12666467" y="4951217"/>
            <a:ext cx="4004578" cy="4609587"/>
          </a:xfrm>
          <a:custGeom>
            <a:avLst/>
            <a:gdLst/>
            <a:ahLst/>
            <a:cxnLst/>
            <a:rect r="r" b="b" t="t" l="l"/>
            <a:pathLst>
              <a:path h="4609587" w="4004578">
                <a:moveTo>
                  <a:pt x="0" y="0"/>
                </a:moveTo>
                <a:lnTo>
                  <a:pt x="4004578" y="0"/>
                </a:lnTo>
                <a:lnTo>
                  <a:pt x="4004578" y="4609587"/>
                </a:lnTo>
                <a:lnTo>
                  <a:pt x="0" y="46095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5400000">
            <a:off x="2471790" y="5478777"/>
            <a:ext cx="4004578" cy="3554467"/>
          </a:xfrm>
          <a:custGeom>
            <a:avLst/>
            <a:gdLst/>
            <a:ahLst/>
            <a:cxnLst/>
            <a:rect r="r" b="b" t="t" l="l"/>
            <a:pathLst>
              <a:path h="3554467" w="4004578">
                <a:moveTo>
                  <a:pt x="0" y="0"/>
                </a:moveTo>
                <a:lnTo>
                  <a:pt x="4004579" y="0"/>
                </a:lnTo>
                <a:lnTo>
                  <a:pt x="4004579" y="3554468"/>
                </a:lnTo>
                <a:lnTo>
                  <a:pt x="0" y="3554468"/>
                </a:lnTo>
                <a:lnTo>
                  <a:pt x="0" y="0"/>
                </a:lnTo>
                <a:close/>
              </a:path>
            </a:pathLst>
          </a:custGeom>
          <a:blipFill>
            <a:blip r:embed="rId2">
              <a:extLst>
                <a:ext uri="{96DAC541-7B7A-43D3-8B79-37D633B846F1}">
                  <asvg:svgBlip xmlns:asvg="http://schemas.microsoft.com/office/drawing/2016/SVG/main" r:embed="rId3"/>
                </a:ext>
              </a:extLst>
            </a:blip>
            <a:stretch>
              <a:fillRect l="0" t="0" r="0" b="-29684"/>
            </a:stretch>
          </a:blipFill>
        </p:spPr>
      </p:sp>
      <p:sp>
        <p:nvSpPr>
          <p:cNvPr name="AutoShape 7" id="7"/>
          <p:cNvSpPr/>
          <p:nvPr/>
        </p:nvSpPr>
        <p:spPr>
          <a:xfrm>
            <a:off x="1586796" y="6336909"/>
            <a:ext cx="4058070" cy="0"/>
          </a:xfrm>
          <a:prstGeom prst="line">
            <a:avLst/>
          </a:prstGeom>
          <a:ln cap="flat" w="9525">
            <a:solidFill>
              <a:srgbClr val="FFFFFF"/>
            </a:solidFill>
            <a:prstDash val="solid"/>
            <a:headEnd type="none" len="sm" w="sm"/>
            <a:tailEnd type="none" len="sm" w="sm"/>
          </a:ln>
        </p:spPr>
      </p:sp>
      <p:sp>
        <p:nvSpPr>
          <p:cNvPr name="AutoShape 8" id="8"/>
          <p:cNvSpPr/>
          <p:nvPr/>
        </p:nvSpPr>
        <p:spPr>
          <a:xfrm>
            <a:off x="7228052" y="6336909"/>
            <a:ext cx="2635997" cy="0"/>
          </a:xfrm>
          <a:prstGeom prst="line">
            <a:avLst/>
          </a:prstGeom>
          <a:ln cap="flat" w="9525">
            <a:solidFill>
              <a:srgbClr val="FFFFFF"/>
            </a:solidFill>
            <a:prstDash val="solid"/>
            <a:headEnd type="none" len="sm" w="sm"/>
            <a:tailEnd type="none" len="sm" w="sm"/>
          </a:ln>
        </p:spPr>
      </p:sp>
      <p:sp>
        <p:nvSpPr>
          <p:cNvPr name="AutoShape 9" id="9"/>
          <p:cNvSpPr/>
          <p:nvPr/>
        </p:nvSpPr>
        <p:spPr>
          <a:xfrm>
            <a:off x="11426795" y="6336909"/>
            <a:ext cx="4959570" cy="0"/>
          </a:xfrm>
          <a:prstGeom prst="line">
            <a:avLst/>
          </a:prstGeom>
          <a:ln cap="flat" w="9525">
            <a:solidFill>
              <a:srgbClr val="FFFFFF"/>
            </a:solidFill>
            <a:prstDash val="solid"/>
            <a:headEnd type="none" len="sm" w="sm"/>
            <a:tailEnd type="none" len="sm" w="sm"/>
          </a:ln>
        </p:spPr>
      </p:sp>
      <p:sp>
        <p:nvSpPr>
          <p:cNvPr name="AutoShape 10" id="10"/>
          <p:cNvSpPr/>
          <p:nvPr/>
        </p:nvSpPr>
        <p:spPr>
          <a:xfrm>
            <a:off x="1586796" y="7141711"/>
            <a:ext cx="4058070" cy="0"/>
          </a:xfrm>
          <a:prstGeom prst="line">
            <a:avLst/>
          </a:prstGeom>
          <a:ln cap="flat" w="9525">
            <a:solidFill>
              <a:srgbClr val="FFFFFF"/>
            </a:solidFill>
            <a:prstDash val="solid"/>
            <a:headEnd type="none" len="sm" w="sm"/>
            <a:tailEnd type="none" len="sm" w="sm"/>
          </a:ln>
        </p:spPr>
      </p:sp>
      <p:sp>
        <p:nvSpPr>
          <p:cNvPr name="AutoShape 11" id="11"/>
          <p:cNvSpPr/>
          <p:nvPr/>
        </p:nvSpPr>
        <p:spPr>
          <a:xfrm>
            <a:off x="7228052" y="7141711"/>
            <a:ext cx="2635997" cy="0"/>
          </a:xfrm>
          <a:prstGeom prst="line">
            <a:avLst/>
          </a:prstGeom>
          <a:ln cap="flat" w="9525">
            <a:solidFill>
              <a:srgbClr val="FFFFFF"/>
            </a:solidFill>
            <a:prstDash val="solid"/>
            <a:headEnd type="none" len="sm" w="sm"/>
            <a:tailEnd type="none" len="sm" w="sm"/>
          </a:ln>
        </p:spPr>
      </p:sp>
      <p:sp>
        <p:nvSpPr>
          <p:cNvPr name="AutoShape 12" id="12"/>
          <p:cNvSpPr/>
          <p:nvPr/>
        </p:nvSpPr>
        <p:spPr>
          <a:xfrm>
            <a:off x="11426795" y="7141711"/>
            <a:ext cx="4959570" cy="0"/>
          </a:xfrm>
          <a:prstGeom prst="line">
            <a:avLst/>
          </a:prstGeom>
          <a:ln cap="flat" w="9525">
            <a:solidFill>
              <a:srgbClr val="FFFFFF"/>
            </a:solidFill>
            <a:prstDash val="solid"/>
            <a:headEnd type="none" len="sm" w="sm"/>
            <a:tailEnd type="none" len="sm" w="sm"/>
          </a:ln>
        </p:spPr>
      </p:sp>
      <p:sp>
        <p:nvSpPr>
          <p:cNvPr name="Freeform 13" id="13"/>
          <p:cNvSpPr/>
          <p:nvPr/>
        </p:nvSpPr>
        <p:spPr>
          <a:xfrm flipH="false" flipV="false" rot="0">
            <a:off x="1586796" y="5840260"/>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7228052" y="5840260"/>
            <a:ext cx="275589" cy="277322"/>
          </a:xfrm>
          <a:custGeom>
            <a:avLst/>
            <a:gdLst/>
            <a:ahLst/>
            <a:cxnLst/>
            <a:rect r="r" b="b" t="t" l="l"/>
            <a:pathLst>
              <a:path h="277322" w="275589">
                <a:moveTo>
                  <a:pt x="0" y="0"/>
                </a:moveTo>
                <a:lnTo>
                  <a:pt x="275590" y="0"/>
                </a:lnTo>
                <a:lnTo>
                  <a:pt x="275590"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1426795" y="5840260"/>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586796" y="6645062"/>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7228052" y="6645062"/>
            <a:ext cx="275589" cy="277322"/>
          </a:xfrm>
          <a:custGeom>
            <a:avLst/>
            <a:gdLst/>
            <a:ahLst/>
            <a:cxnLst/>
            <a:rect r="r" b="b" t="t" l="l"/>
            <a:pathLst>
              <a:path h="277322" w="275589">
                <a:moveTo>
                  <a:pt x="0" y="0"/>
                </a:moveTo>
                <a:lnTo>
                  <a:pt x="275590" y="0"/>
                </a:lnTo>
                <a:lnTo>
                  <a:pt x="275590"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11426795" y="6645062"/>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9" id="19"/>
          <p:cNvSpPr/>
          <p:nvPr/>
        </p:nvSpPr>
        <p:spPr>
          <a:xfrm>
            <a:off x="1586796" y="7946512"/>
            <a:ext cx="4058070" cy="0"/>
          </a:xfrm>
          <a:prstGeom prst="line">
            <a:avLst/>
          </a:prstGeom>
          <a:ln cap="flat" w="9525">
            <a:solidFill>
              <a:srgbClr val="FFFFFF"/>
            </a:solidFill>
            <a:prstDash val="solid"/>
            <a:headEnd type="none" len="sm" w="sm"/>
            <a:tailEnd type="none" len="sm" w="sm"/>
          </a:ln>
        </p:spPr>
      </p:sp>
      <p:sp>
        <p:nvSpPr>
          <p:cNvPr name="AutoShape 20" id="20"/>
          <p:cNvSpPr/>
          <p:nvPr/>
        </p:nvSpPr>
        <p:spPr>
          <a:xfrm>
            <a:off x="7228052" y="7946512"/>
            <a:ext cx="2635997" cy="0"/>
          </a:xfrm>
          <a:prstGeom prst="line">
            <a:avLst/>
          </a:prstGeom>
          <a:ln cap="flat" w="9525">
            <a:solidFill>
              <a:srgbClr val="FFFFFF"/>
            </a:solidFill>
            <a:prstDash val="solid"/>
            <a:headEnd type="none" len="sm" w="sm"/>
            <a:tailEnd type="none" len="sm" w="sm"/>
          </a:ln>
        </p:spPr>
      </p:sp>
      <p:sp>
        <p:nvSpPr>
          <p:cNvPr name="AutoShape 21" id="21"/>
          <p:cNvSpPr/>
          <p:nvPr/>
        </p:nvSpPr>
        <p:spPr>
          <a:xfrm>
            <a:off x="11426795" y="7946512"/>
            <a:ext cx="4959570" cy="0"/>
          </a:xfrm>
          <a:prstGeom prst="line">
            <a:avLst/>
          </a:prstGeom>
          <a:ln cap="flat" w="9525">
            <a:solidFill>
              <a:srgbClr val="FFFFFF"/>
            </a:solidFill>
            <a:prstDash val="solid"/>
            <a:headEnd type="none" len="sm" w="sm"/>
            <a:tailEnd type="none" len="sm" w="sm"/>
          </a:ln>
        </p:spPr>
      </p:sp>
      <p:sp>
        <p:nvSpPr>
          <p:cNvPr name="AutoShape 22" id="22"/>
          <p:cNvSpPr/>
          <p:nvPr/>
        </p:nvSpPr>
        <p:spPr>
          <a:xfrm>
            <a:off x="1586796" y="8692982"/>
            <a:ext cx="4058070" cy="0"/>
          </a:xfrm>
          <a:prstGeom prst="line">
            <a:avLst/>
          </a:prstGeom>
          <a:ln cap="flat" w="9525">
            <a:solidFill>
              <a:srgbClr val="FFFFFF"/>
            </a:solidFill>
            <a:prstDash val="solid"/>
            <a:headEnd type="none" len="sm" w="sm"/>
            <a:tailEnd type="none" len="sm" w="sm"/>
          </a:ln>
        </p:spPr>
      </p:sp>
      <p:sp>
        <p:nvSpPr>
          <p:cNvPr name="AutoShape 23" id="23"/>
          <p:cNvSpPr/>
          <p:nvPr/>
        </p:nvSpPr>
        <p:spPr>
          <a:xfrm>
            <a:off x="7228052" y="8692982"/>
            <a:ext cx="2635997" cy="0"/>
          </a:xfrm>
          <a:prstGeom prst="line">
            <a:avLst/>
          </a:prstGeom>
          <a:ln cap="flat" w="9525">
            <a:solidFill>
              <a:srgbClr val="FFFFFF"/>
            </a:solidFill>
            <a:prstDash val="solid"/>
            <a:headEnd type="none" len="sm" w="sm"/>
            <a:tailEnd type="none" len="sm" w="sm"/>
          </a:ln>
        </p:spPr>
      </p:sp>
      <p:sp>
        <p:nvSpPr>
          <p:cNvPr name="AutoShape 24" id="24"/>
          <p:cNvSpPr/>
          <p:nvPr/>
        </p:nvSpPr>
        <p:spPr>
          <a:xfrm>
            <a:off x="11426795" y="8692982"/>
            <a:ext cx="4959570" cy="0"/>
          </a:xfrm>
          <a:prstGeom prst="line">
            <a:avLst/>
          </a:prstGeom>
          <a:ln cap="flat" w="9525">
            <a:solidFill>
              <a:srgbClr val="FFFFFF"/>
            </a:solidFill>
            <a:prstDash val="solid"/>
            <a:headEnd type="none" len="sm" w="sm"/>
            <a:tailEnd type="none" len="sm" w="sm"/>
          </a:ln>
        </p:spPr>
      </p:sp>
      <p:sp>
        <p:nvSpPr>
          <p:cNvPr name="Freeform 25" id="25"/>
          <p:cNvSpPr/>
          <p:nvPr/>
        </p:nvSpPr>
        <p:spPr>
          <a:xfrm flipH="false" flipV="false" rot="0">
            <a:off x="1586796" y="7449863"/>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7228052" y="7449863"/>
            <a:ext cx="275589" cy="277322"/>
          </a:xfrm>
          <a:custGeom>
            <a:avLst/>
            <a:gdLst/>
            <a:ahLst/>
            <a:cxnLst/>
            <a:rect r="r" b="b" t="t" l="l"/>
            <a:pathLst>
              <a:path h="277322" w="275589">
                <a:moveTo>
                  <a:pt x="0" y="0"/>
                </a:moveTo>
                <a:lnTo>
                  <a:pt x="275590" y="0"/>
                </a:lnTo>
                <a:lnTo>
                  <a:pt x="275590"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11426795" y="7449863"/>
            <a:ext cx="275589" cy="277322"/>
          </a:xfrm>
          <a:custGeom>
            <a:avLst/>
            <a:gdLst/>
            <a:ahLst/>
            <a:cxnLst/>
            <a:rect r="r" b="b" t="t" l="l"/>
            <a:pathLst>
              <a:path h="277322" w="275589">
                <a:moveTo>
                  <a:pt x="0" y="0"/>
                </a:moveTo>
                <a:lnTo>
                  <a:pt x="275589" y="0"/>
                </a:lnTo>
                <a:lnTo>
                  <a:pt x="275589" y="277323"/>
                </a:lnTo>
                <a:lnTo>
                  <a:pt x="0" y="2773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586796" y="8196333"/>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9" id="29"/>
          <p:cNvSpPr/>
          <p:nvPr/>
        </p:nvSpPr>
        <p:spPr>
          <a:xfrm flipH="false" flipV="false" rot="0">
            <a:off x="7228052" y="8196333"/>
            <a:ext cx="275589" cy="277322"/>
          </a:xfrm>
          <a:custGeom>
            <a:avLst/>
            <a:gdLst/>
            <a:ahLst/>
            <a:cxnLst/>
            <a:rect r="r" b="b" t="t" l="l"/>
            <a:pathLst>
              <a:path h="277322" w="275589">
                <a:moveTo>
                  <a:pt x="0" y="0"/>
                </a:moveTo>
                <a:lnTo>
                  <a:pt x="275590" y="0"/>
                </a:lnTo>
                <a:lnTo>
                  <a:pt x="275590"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0" id="30"/>
          <p:cNvSpPr/>
          <p:nvPr/>
        </p:nvSpPr>
        <p:spPr>
          <a:xfrm flipH="false" flipV="false" rot="0">
            <a:off x="11426795" y="8196333"/>
            <a:ext cx="275589" cy="277322"/>
          </a:xfrm>
          <a:custGeom>
            <a:avLst/>
            <a:gdLst/>
            <a:ahLst/>
            <a:cxnLst/>
            <a:rect r="r" b="b" t="t" l="l"/>
            <a:pathLst>
              <a:path h="277322" w="275589">
                <a:moveTo>
                  <a:pt x="0" y="0"/>
                </a:moveTo>
                <a:lnTo>
                  <a:pt x="275589" y="0"/>
                </a:lnTo>
                <a:lnTo>
                  <a:pt x="275589" y="277322"/>
                </a:lnTo>
                <a:lnTo>
                  <a:pt x="0" y="2773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31" id="31"/>
          <p:cNvSpPr/>
          <p:nvPr/>
        </p:nvSpPr>
        <p:spPr>
          <a:xfrm flipH="false" flipV="false" rot="832981">
            <a:off x="11531131" y="1707872"/>
            <a:ext cx="4764642" cy="2070453"/>
          </a:xfrm>
          <a:custGeom>
            <a:avLst/>
            <a:gdLst/>
            <a:ahLst/>
            <a:cxnLst/>
            <a:rect r="r" b="b" t="t" l="l"/>
            <a:pathLst>
              <a:path h="2070453" w="4764642">
                <a:moveTo>
                  <a:pt x="0" y="0"/>
                </a:moveTo>
                <a:lnTo>
                  <a:pt x="4764642" y="0"/>
                </a:lnTo>
                <a:lnTo>
                  <a:pt x="4764642" y="2070454"/>
                </a:lnTo>
                <a:lnTo>
                  <a:pt x="0" y="20704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32" id="32"/>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Paucek &amp; Lage</a:t>
            </a:r>
          </a:p>
        </p:txBody>
      </p:sp>
      <p:sp>
        <p:nvSpPr>
          <p:cNvPr name="TextBox 33" id="33"/>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Since 2026</a:t>
            </a:r>
          </a:p>
        </p:txBody>
      </p:sp>
      <p:sp>
        <p:nvSpPr>
          <p:cNvPr name="TextBox 34" id="34"/>
          <p:cNvSpPr txBox="true"/>
          <p:nvPr/>
        </p:nvSpPr>
        <p:spPr>
          <a:xfrm rot="0">
            <a:off x="1028700" y="1020008"/>
            <a:ext cx="9263517" cy="2572314"/>
          </a:xfrm>
          <a:prstGeom prst="rect">
            <a:avLst/>
          </a:prstGeom>
        </p:spPr>
        <p:txBody>
          <a:bodyPr anchor="t" rtlCol="false" tIns="0" lIns="0" bIns="0" rIns="0">
            <a:spAutoFit/>
          </a:bodyPr>
          <a:lstStyle/>
          <a:p>
            <a:pPr algn="l">
              <a:lnSpc>
                <a:spcPts val="9700"/>
              </a:lnSpc>
            </a:pPr>
            <a:r>
              <a:rPr lang="en-US" sz="10899" spc="-850">
                <a:solidFill>
                  <a:srgbClr val="2150B9"/>
                </a:solidFill>
                <a:latin typeface="Knockout Cruiserweight Bold"/>
                <a:ea typeface="Knockout Cruiserweight Bold"/>
                <a:cs typeface="Knockout Cruiserweight Bold"/>
                <a:sym typeface="Knockout Cruiserweight Bold"/>
              </a:rPr>
              <a:t>Target Audience Analysis</a:t>
            </a:r>
          </a:p>
        </p:txBody>
      </p:sp>
      <p:sp>
        <p:nvSpPr>
          <p:cNvPr name="TextBox 35" id="35"/>
          <p:cNvSpPr txBox="true"/>
          <p:nvPr/>
        </p:nvSpPr>
        <p:spPr>
          <a:xfrm rot="0">
            <a:off x="1028700" y="4414949"/>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Cont</a:t>
            </a:r>
            <a:r>
              <a:rPr lang="en-US" sz="3416" spc="-266">
                <a:solidFill>
                  <a:srgbClr val="2150B9"/>
                </a:solidFill>
                <a:latin typeface="Knockout Cruiserweight Bold"/>
                <a:ea typeface="Knockout Cruiserweight Bold"/>
                <a:cs typeface="Knockout Cruiserweight Bold"/>
                <a:sym typeface="Knockout Cruiserweight Bold"/>
              </a:rPr>
              <a:t>ent Pillars</a:t>
            </a:r>
          </a:p>
        </p:txBody>
      </p:sp>
      <p:sp>
        <p:nvSpPr>
          <p:cNvPr name="TextBox 36" id="36"/>
          <p:cNvSpPr txBox="true"/>
          <p:nvPr/>
        </p:nvSpPr>
        <p:spPr>
          <a:xfrm rot="0">
            <a:off x="6669956" y="4414949"/>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Cont</a:t>
            </a:r>
            <a:r>
              <a:rPr lang="en-US" sz="3416" spc="-266">
                <a:solidFill>
                  <a:srgbClr val="2150B9"/>
                </a:solidFill>
                <a:latin typeface="Knockout Cruiserweight Bold"/>
                <a:ea typeface="Knockout Cruiserweight Bold"/>
                <a:cs typeface="Knockout Cruiserweight Bold"/>
                <a:sym typeface="Knockout Cruiserweight Bold"/>
              </a:rPr>
              <a:t>ent Formats</a:t>
            </a:r>
          </a:p>
        </p:txBody>
      </p:sp>
      <p:sp>
        <p:nvSpPr>
          <p:cNvPr name="TextBox 37" id="37"/>
          <p:cNvSpPr txBox="true"/>
          <p:nvPr/>
        </p:nvSpPr>
        <p:spPr>
          <a:xfrm rot="0">
            <a:off x="10868698" y="4414949"/>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Creativ</a:t>
            </a:r>
            <a:r>
              <a:rPr lang="en-US" sz="3416" spc="-266">
                <a:solidFill>
                  <a:srgbClr val="2150B9"/>
                </a:solidFill>
                <a:latin typeface="Knockout Cruiserweight Bold"/>
                <a:ea typeface="Knockout Cruiserweight Bold"/>
                <a:cs typeface="Knockout Cruiserweight Bold"/>
                <a:sym typeface="Knockout Cruiserweight Bold"/>
              </a:rPr>
              <a:t>e Direction</a:t>
            </a:r>
          </a:p>
        </p:txBody>
      </p:sp>
      <p:sp>
        <p:nvSpPr>
          <p:cNvPr name="TextBox 38" id="38"/>
          <p:cNvSpPr txBox="true"/>
          <p:nvPr/>
        </p:nvSpPr>
        <p:spPr>
          <a:xfrm rot="0">
            <a:off x="1999310" y="5814277"/>
            <a:ext cx="3507922"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Br</a:t>
            </a:r>
            <a:r>
              <a:rPr lang="en-US" sz="1996" spc="-155">
                <a:solidFill>
                  <a:srgbClr val="FFF8ED"/>
                </a:solidFill>
                <a:latin typeface="Knockout Cruiserweight"/>
                <a:ea typeface="Knockout Cruiserweight"/>
                <a:cs typeface="Knockout Cruiserweight"/>
                <a:sym typeface="Knockout Cruiserweight"/>
              </a:rPr>
              <a:t>and Awareness Content</a:t>
            </a:r>
          </a:p>
        </p:txBody>
      </p:sp>
      <p:sp>
        <p:nvSpPr>
          <p:cNvPr name="TextBox 39" id="39"/>
          <p:cNvSpPr txBox="true"/>
          <p:nvPr/>
        </p:nvSpPr>
        <p:spPr>
          <a:xfrm rot="0">
            <a:off x="7640566" y="5814277"/>
            <a:ext cx="1447043"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St</a:t>
            </a:r>
            <a:r>
              <a:rPr lang="en-US" sz="1996" spc="-155">
                <a:solidFill>
                  <a:srgbClr val="FFF8ED"/>
                </a:solidFill>
                <a:latin typeface="Knockout Cruiserweight"/>
                <a:ea typeface="Knockout Cruiserweight"/>
                <a:cs typeface="Knockout Cruiserweight"/>
                <a:sym typeface="Knockout Cruiserweight"/>
              </a:rPr>
              <a:t>atic posts</a:t>
            </a:r>
          </a:p>
        </p:txBody>
      </p:sp>
      <p:sp>
        <p:nvSpPr>
          <p:cNvPr name="TextBox 40" id="40"/>
          <p:cNvSpPr txBox="true"/>
          <p:nvPr/>
        </p:nvSpPr>
        <p:spPr>
          <a:xfrm rot="0">
            <a:off x="11839308" y="5814277"/>
            <a:ext cx="3528859"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Clean </a:t>
            </a:r>
            <a:r>
              <a:rPr lang="en-US" sz="1996" spc="-155">
                <a:solidFill>
                  <a:srgbClr val="FFF8ED"/>
                </a:solidFill>
                <a:latin typeface="Knockout Cruiserweight"/>
                <a:ea typeface="Knockout Cruiserweight"/>
                <a:cs typeface="Knockout Cruiserweight"/>
                <a:sym typeface="Knockout Cruiserweight"/>
              </a:rPr>
              <a:t>and modern visual style</a:t>
            </a:r>
          </a:p>
        </p:txBody>
      </p:sp>
      <p:sp>
        <p:nvSpPr>
          <p:cNvPr name="TextBox 41" id="41"/>
          <p:cNvSpPr txBox="true"/>
          <p:nvPr/>
        </p:nvSpPr>
        <p:spPr>
          <a:xfrm rot="0">
            <a:off x="1999310" y="6619079"/>
            <a:ext cx="3799516"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Educati</a:t>
            </a:r>
            <a:r>
              <a:rPr lang="en-US" sz="1996" spc="-155">
                <a:solidFill>
                  <a:srgbClr val="FFF8ED"/>
                </a:solidFill>
                <a:latin typeface="Knockout Cruiserweight"/>
                <a:ea typeface="Knockout Cruiserweight"/>
                <a:cs typeface="Knockout Cruiserweight"/>
                <a:sym typeface="Knockout Cruiserweight"/>
              </a:rPr>
              <a:t>onal &amp; Informative Posts</a:t>
            </a:r>
          </a:p>
        </p:txBody>
      </p:sp>
      <p:sp>
        <p:nvSpPr>
          <p:cNvPr name="TextBox 42" id="42"/>
          <p:cNvSpPr txBox="true"/>
          <p:nvPr/>
        </p:nvSpPr>
        <p:spPr>
          <a:xfrm rot="0">
            <a:off x="7640566" y="6619079"/>
            <a:ext cx="1218511"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Ca</a:t>
            </a:r>
            <a:r>
              <a:rPr lang="en-US" sz="1996" spc="-155">
                <a:solidFill>
                  <a:srgbClr val="FFF8ED"/>
                </a:solidFill>
                <a:latin typeface="Knockout Cruiserweight"/>
                <a:ea typeface="Knockout Cruiserweight"/>
                <a:cs typeface="Knockout Cruiserweight"/>
                <a:sym typeface="Knockout Cruiserweight"/>
              </a:rPr>
              <a:t>rousels</a:t>
            </a:r>
          </a:p>
        </p:txBody>
      </p:sp>
      <p:sp>
        <p:nvSpPr>
          <p:cNvPr name="TextBox 43" id="43"/>
          <p:cNvSpPr txBox="true"/>
          <p:nvPr/>
        </p:nvSpPr>
        <p:spPr>
          <a:xfrm rot="0">
            <a:off x="11839308" y="6619079"/>
            <a:ext cx="4766994"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Brand-c</a:t>
            </a:r>
            <a:r>
              <a:rPr lang="en-US" sz="1996" spc="-155">
                <a:solidFill>
                  <a:srgbClr val="FFF8ED"/>
                </a:solidFill>
                <a:latin typeface="Knockout Cruiserweight"/>
                <a:ea typeface="Knockout Cruiserweight"/>
                <a:cs typeface="Knockout Cruiserweight"/>
                <a:sym typeface="Knockout Cruiserweight"/>
              </a:rPr>
              <a:t>onsistent color palette and typography</a:t>
            </a:r>
          </a:p>
        </p:txBody>
      </p:sp>
      <p:sp>
        <p:nvSpPr>
          <p:cNvPr name="TextBox 44" id="44"/>
          <p:cNvSpPr txBox="true"/>
          <p:nvPr/>
        </p:nvSpPr>
        <p:spPr>
          <a:xfrm rot="0">
            <a:off x="1999310" y="7423880"/>
            <a:ext cx="4942568"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P</a:t>
            </a:r>
            <a:r>
              <a:rPr lang="en-US" sz="1996" spc="-155">
                <a:solidFill>
                  <a:srgbClr val="FFF8ED"/>
                </a:solidFill>
                <a:latin typeface="Knockout Cruiserweight"/>
                <a:ea typeface="Knockout Cruiserweight"/>
                <a:cs typeface="Knockout Cruiserweight"/>
                <a:sym typeface="Knockout Cruiserweight"/>
              </a:rPr>
              <a:t>romotional &amp; Campaign Content</a:t>
            </a:r>
          </a:p>
        </p:txBody>
      </p:sp>
      <p:sp>
        <p:nvSpPr>
          <p:cNvPr name="TextBox 45" id="45"/>
          <p:cNvSpPr txBox="true"/>
          <p:nvPr/>
        </p:nvSpPr>
        <p:spPr>
          <a:xfrm rot="0">
            <a:off x="7640566" y="7423880"/>
            <a:ext cx="2076965"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Sho</a:t>
            </a:r>
            <a:r>
              <a:rPr lang="en-US" sz="1996" spc="-155">
                <a:solidFill>
                  <a:srgbClr val="FFF8ED"/>
                </a:solidFill>
                <a:latin typeface="Knockout Cruiserweight"/>
                <a:ea typeface="Knockout Cruiserweight"/>
                <a:cs typeface="Knockout Cruiserweight"/>
                <a:sym typeface="Knockout Cruiserweight"/>
              </a:rPr>
              <a:t>rt-form videos</a:t>
            </a:r>
          </a:p>
        </p:txBody>
      </p:sp>
      <p:sp>
        <p:nvSpPr>
          <p:cNvPr name="TextBox 46" id="46"/>
          <p:cNvSpPr txBox="true"/>
          <p:nvPr/>
        </p:nvSpPr>
        <p:spPr>
          <a:xfrm rot="0">
            <a:off x="11839308" y="7423880"/>
            <a:ext cx="4148288"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Clea</a:t>
            </a:r>
            <a:r>
              <a:rPr lang="en-US" sz="1996" spc="-155">
                <a:solidFill>
                  <a:srgbClr val="FFF8ED"/>
                </a:solidFill>
                <a:latin typeface="Knockout Cruiserweight"/>
                <a:ea typeface="Knockout Cruiserweight"/>
                <a:cs typeface="Knockout Cruiserweight"/>
                <a:sym typeface="Knockout Cruiserweight"/>
              </a:rPr>
              <a:t>r messaging and strong call-to-action</a:t>
            </a:r>
          </a:p>
        </p:txBody>
      </p:sp>
      <p:sp>
        <p:nvSpPr>
          <p:cNvPr name="TextBox 47" id="47"/>
          <p:cNvSpPr txBox="true"/>
          <p:nvPr/>
        </p:nvSpPr>
        <p:spPr>
          <a:xfrm rot="0">
            <a:off x="1999310" y="8170350"/>
            <a:ext cx="2945515"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Us</a:t>
            </a:r>
            <a:r>
              <a:rPr lang="en-US" sz="1996" spc="-155">
                <a:solidFill>
                  <a:srgbClr val="FFF8ED"/>
                </a:solidFill>
                <a:latin typeface="Knockout Cruiserweight"/>
                <a:ea typeface="Knockout Cruiserweight"/>
                <a:cs typeface="Knockout Cruiserweight"/>
                <a:sym typeface="Knockout Cruiserweight"/>
              </a:rPr>
              <a:t>er Engagement Content</a:t>
            </a:r>
          </a:p>
        </p:txBody>
      </p:sp>
      <p:sp>
        <p:nvSpPr>
          <p:cNvPr name="TextBox 48" id="48"/>
          <p:cNvSpPr txBox="true"/>
          <p:nvPr/>
        </p:nvSpPr>
        <p:spPr>
          <a:xfrm rot="0">
            <a:off x="7640566" y="8170350"/>
            <a:ext cx="1856193"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Sto</a:t>
            </a:r>
            <a:r>
              <a:rPr lang="en-US" sz="1996" spc="-155">
                <a:solidFill>
                  <a:srgbClr val="FFF8ED"/>
                </a:solidFill>
                <a:latin typeface="Knockout Cruiserweight"/>
                <a:ea typeface="Knockout Cruiserweight"/>
                <a:cs typeface="Knockout Cruiserweight"/>
                <a:sym typeface="Knockout Cruiserweight"/>
              </a:rPr>
              <a:t>ries and reels</a:t>
            </a:r>
          </a:p>
        </p:txBody>
      </p:sp>
      <p:sp>
        <p:nvSpPr>
          <p:cNvPr name="TextBox 49" id="49"/>
          <p:cNvSpPr txBox="true"/>
          <p:nvPr/>
        </p:nvSpPr>
        <p:spPr>
          <a:xfrm rot="0">
            <a:off x="11839308" y="8170350"/>
            <a:ext cx="1856193" cy="303305"/>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Sto</a:t>
            </a:r>
            <a:r>
              <a:rPr lang="en-US" sz="1996" spc="-155">
                <a:solidFill>
                  <a:srgbClr val="FFF8ED"/>
                </a:solidFill>
                <a:latin typeface="Knockout Cruiserweight"/>
                <a:ea typeface="Knockout Cruiserweight"/>
                <a:cs typeface="Knockout Cruiserweight"/>
                <a:sym typeface="Knockout Cruiserweight"/>
              </a:rPr>
              <a:t>ries and reels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2150B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925162" y="5675226"/>
            <a:ext cx="3686612" cy="3479536"/>
          </a:xfrm>
          <a:custGeom>
            <a:avLst/>
            <a:gdLst/>
            <a:ahLst/>
            <a:cxnLst/>
            <a:rect r="r" b="b" t="t" l="l"/>
            <a:pathLst>
              <a:path h="3479536" w="3686612">
                <a:moveTo>
                  <a:pt x="0" y="0"/>
                </a:moveTo>
                <a:lnTo>
                  <a:pt x="3686612" y="0"/>
                </a:lnTo>
                <a:lnTo>
                  <a:pt x="3686612" y="3479536"/>
                </a:lnTo>
                <a:lnTo>
                  <a:pt x="0" y="3479536"/>
                </a:lnTo>
                <a:lnTo>
                  <a:pt x="0" y="0"/>
                </a:lnTo>
                <a:close/>
              </a:path>
            </a:pathLst>
          </a:custGeom>
          <a:blipFill>
            <a:blip r:embed="rId2">
              <a:extLst>
                <a:ext uri="{96DAC541-7B7A-43D3-8B79-37D633B846F1}">
                  <asvg:svgBlip xmlns:asvg="http://schemas.microsoft.com/office/drawing/2016/SVG/main" r:embed="rId3"/>
                </a:ext>
              </a:extLst>
            </a:blip>
            <a:stretch>
              <a:fillRect l="0" t="0" r="0" b="-21958"/>
            </a:stretch>
          </a:blipFill>
        </p:spPr>
      </p:sp>
      <p:sp>
        <p:nvSpPr>
          <p:cNvPr name="Freeform 3" id="3"/>
          <p:cNvSpPr/>
          <p:nvPr/>
        </p:nvSpPr>
        <p:spPr>
          <a:xfrm flipH="false" flipV="false" rot="-5400000">
            <a:off x="4735663" y="5675226"/>
            <a:ext cx="3686612" cy="3479536"/>
          </a:xfrm>
          <a:custGeom>
            <a:avLst/>
            <a:gdLst/>
            <a:ahLst/>
            <a:cxnLst/>
            <a:rect r="r" b="b" t="t" l="l"/>
            <a:pathLst>
              <a:path h="3479536" w="3686612">
                <a:moveTo>
                  <a:pt x="0" y="0"/>
                </a:moveTo>
                <a:lnTo>
                  <a:pt x="3686612" y="0"/>
                </a:lnTo>
                <a:lnTo>
                  <a:pt x="3686612" y="3479536"/>
                </a:lnTo>
                <a:lnTo>
                  <a:pt x="0" y="3479536"/>
                </a:lnTo>
                <a:lnTo>
                  <a:pt x="0" y="0"/>
                </a:lnTo>
                <a:close/>
              </a:path>
            </a:pathLst>
          </a:custGeom>
          <a:blipFill>
            <a:blip r:embed="rId2">
              <a:extLst>
                <a:ext uri="{96DAC541-7B7A-43D3-8B79-37D633B846F1}">
                  <asvg:svgBlip xmlns:asvg="http://schemas.microsoft.com/office/drawing/2016/SVG/main" r:embed="rId3"/>
                </a:ext>
              </a:extLst>
            </a:blip>
            <a:stretch>
              <a:fillRect l="0" t="0" r="0" b="-21958"/>
            </a:stretch>
          </a:blipFill>
        </p:spPr>
      </p:sp>
      <p:sp>
        <p:nvSpPr>
          <p:cNvPr name="Freeform 4" id="4"/>
          <p:cNvSpPr/>
          <p:nvPr/>
        </p:nvSpPr>
        <p:spPr>
          <a:xfrm flipH="false" flipV="false" rot="0">
            <a:off x="9052162" y="5456868"/>
            <a:ext cx="5255644" cy="1120031"/>
          </a:xfrm>
          <a:custGeom>
            <a:avLst/>
            <a:gdLst/>
            <a:ahLst/>
            <a:cxnLst/>
            <a:rect r="r" b="b" t="t" l="l"/>
            <a:pathLst>
              <a:path h="1120031" w="5255644">
                <a:moveTo>
                  <a:pt x="0" y="0"/>
                </a:moveTo>
                <a:lnTo>
                  <a:pt x="5255644" y="0"/>
                </a:lnTo>
                <a:lnTo>
                  <a:pt x="5255644"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5" id="5"/>
          <p:cNvSpPr/>
          <p:nvPr/>
        </p:nvSpPr>
        <p:spPr>
          <a:xfrm flipH="false" flipV="false" rot="0">
            <a:off x="9052162" y="6797647"/>
            <a:ext cx="5255644" cy="1120031"/>
          </a:xfrm>
          <a:custGeom>
            <a:avLst/>
            <a:gdLst/>
            <a:ahLst/>
            <a:cxnLst/>
            <a:rect r="r" b="b" t="t" l="l"/>
            <a:pathLst>
              <a:path h="1120031" w="5255644">
                <a:moveTo>
                  <a:pt x="0" y="0"/>
                </a:moveTo>
                <a:lnTo>
                  <a:pt x="5255644" y="0"/>
                </a:lnTo>
                <a:lnTo>
                  <a:pt x="5255644"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6" id="6"/>
          <p:cNvSpPr/>
          <p:nvPr/>
        </p:nvSpPr>
        <p:spPr>
          <a:xfrm flipH="false" flipV="false" rot="0">
            <a:off x="9052162" y="8138269"/>
            <a:ext cx="5255644" cy="1120031"/>
          </a:xfrm>
          <a:custGeom>
            <a:avLst/>
            <a:gdLst/>
            <a:ahLst/>
            <a:cxnLst/>
            <a:rect r="r" b="b" t="t" l="l"/>
            <a:pathLst>
              <a:path h="1120031" w="5255644">
                <a:moveTo>
                  <a:pt x="0" y="0"/>
                </a:moveTo>
                <a:lnTo>
                  <a:pt x="5255644" y="0"/>
                </a:lnTo>
                <a:lnTo>
                  <a:pt x="5255644" y="1120031"/>
                </a:lnTo>
                <a:lnTo>
                  <a:pt x="0" y="1120031"/>
                </a:lnTo>
                <a:lnTo>
                  <a:pt x="0" y="0"/>
                </a:lnTo>
                <a:close/>
              </a:path>
            </a:pathLst>
          </a:custGeom>
          <a:blipFill>
            <a:blip r:embed="rId4">
              <a:extLst>
                <a:ext uri="{96DAC541-7B7A-43D3-8B79-37D633B846F1}">
                  <asvg:svgBlip xmlns:asvg="http://schemas.microsoft.com/office/drawing/2016/SVG/main" r:embed="rId5"/>
                </a:ext>
              </a:extLst>
            </a:blip>
            <a:stretch>
              <a:fillRect l="0" t="0" r="0" b="-348711"/>
            </a:stretch>
          </a:blipFill>
        </p:spPr>
      </p:sp>
      <p:sp>
        <p:nvSpPr>
          <p:cNvPr name="Freeform 7" id="7"/>
          <p:cNvSpPr/>
          <p:nvPr/>
        </p:nvSpPr>
        <p:spPr>
          <a:xfrm flipH="false" flipV="false" rot="0">
            <a:off x="13374121" y="5456868"/>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8" id="8"/>
          <p:cNvSpPr/>
          <p:nvPr/>
        </p:nvSpPr>
        <p:spPr>
          <a:xfrm flipH="false" flipV="false" rot="0">
            <a:off x="13374121" y="6797647"/>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9" id="9"/>
          <p:cNvSpPr/>
          <p:nvPr/>
        </p:nvSpPr>
        <p:spPr>
          <a:xfrm flipH="false" flipV="false" rot="0">
            <a:off x="13374121" y="8138269"/>
            <a:ext cx="3094116" cy="1120031"/>
          </a:xfrm>
          <a:custGeom>
            <a:avLst/>
            <a:gdLst/>
            <a:ahLst/>
            <a:cxnLst/>
            <a:rect r="r" b="b" t="t" l="l"/>
            <a:pathLst>
              <a:path h="1120031" w="3094116">
                <a:moveTo>
                  <a:pt x="0" y="0"/>
                </a:moveTo>
                <a:lnTo>
                  <a:pt x="3094116" y="0"/>
                </a:lnTo>
                <a:lnTo>
                  <a:pt x="3094116" y="1120031"/>
                </a:lnTo>
                <a:lnTo>
                  <a:pt x="0" y="1120031"/>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10" id="10"/>
          <p:cNvSpPr/>
          <p:nvPr/>
        </p:nvSpPr>
        <p:spPr>
          <a:xfrm flipH="false" flipV="false" rot="0">
            <a:off x="14155183" y="5456868"/>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11" id="11"/>
          <p:cNvSpPr/>
          <p:nvPr/>
        </p:nvSpPr>
        <p:spPr>
          <a:xfrm flipH="false" flipV="false" rot="0">
            <a:off x="14155183" y="6797647"/>
            <a:ext cx="3094116" cy="1120031"/>
          </a:xfrm>
          <a:custGeom>
            <a:avLst/>
            <a:gdLst/>
            <a:ahLst/>
            <a:cxnLst/>
            <a:rect r="r" b="b" t="t" l="l"/>
            <a:pathLst>
              <a:path h="1120031" w="3094116">
                <a:moveTo>
                  <a:pt x="0" y="0"/>
                </a:moveTo>
                <a:lnTo>
                  <a:pt x="3094116" y="0"/>
                </a:lnTo>
                <a:lnTo>
                  <a:pt x="3094116" y="1120032"/>
                </a:lnTo>
                <a:lnTo>
                  <a:pt x="0" y="1120032"/>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Freeform 12" id="12"/>
          <p:cNvSpPr/>
          <p:nvPr/>
        </p:nvSpPr>
        <p:spPr>
          <a:xfrm flipH="false" flipV="false" rot="0">
            <a:off x="14155183" y="8138269"/>
            <a:ext cx="3094116" cy="1120031"/>
          </a:xfrm>
          <a:custGeom>
            <a:avLst/>
            <a:gdLst/>
            <a:ahLst/>
            <a:cxnLst/>
            <a:rect r="r" b="b" t="t" l="l"/>
            <a:pathLst>
              <a:path h="1120031" w="3094116">
                <a:moveTo>
                  <a:pt x="0" y="0"/>
                </a:moveTo>
                <a:lnTo>
                  <a:pt x="3094116" y="0"/>
                </a:lnTo>
                <a:lnTo>
                  <a:pt x="3094116" y="1120031"/>
                </a:lnTo>
                <a:lnTo>
                  <a:pt x="0" y="1120031"/>
                </a:lnTo>
                <a:lnTo>
                  <a:pt x="0" y="0"/>
                </a:lnTo>
                <a:close/>
              </a:path>
            </a:pathLst>
          </a:custGeom>
          <a:blipFill>
            <a:blip r:embed="rId4">
              <a:extLst>
                <a:ext uri="{96DAC541-7B7A-43D3-8B79-37D633B846F1}">
                  <asvg:svgBlip xmlns:asvg="http://schemas.microsoft.com/office/drawing/2016/SVG/main" r:embed="rId5"/>
                </a:ext>
              </a:extLst>
            </a:blip>
            <a:stretch>
              <a:fillRect l="-69859" t="0" r="0" b="-348711"/>
            </a:stretch>
          </a:blipFill>
        </p:spPr>
      </p:sp>
      <p:sp>
        <p:nvSpPr>
          <p:cNvPr name="TextBox 13" id="13"/>
          <p:cNvSpPr txBox="true"/>
          <p:nvPr/>
        </p:nvSpPr>
        <p:spPr>
          <a:xfrm rot="0">
            <a:off x="15222908" y="1168944"/>
            <a:ext cx="2140140" cy="329231"/>
          </a:xfrm>
          <a:prstGeom prst="rect">
            <a:avLst/>
          </a:prstGeom>
        </p:spPr>
        <p:txBody>
          <a:bodyPr anchor="t" rtlCol="false" tIns="0" lIns="0" bIns="0" rIns="0">
            <a:spAutoFit/>
          </a:bodyPr>
          <a:lstStyle/>
          <a:p>
            <a:pPr algn="l">
              <a:lnSpc>
                <a:spcPts val="2370"/>
              </a:lnSpc>
            </a:pPr>
            <a:r>
              <a:rPr lang="en-US" sz="2663" spc="-207">
                <a:solidFill>
                  <a:srgbClr val="FFF8ED"/>
                </a:solidFill>
                <a:latin typeface="Knockout Cruiserweight Bold"/>
                <a:ea typeface="Knockout Cruiserweight Bold"/>
                <a:cs typeface="Knockout Cruiserweight Bold"/>
                <a:sym typeface="Knockout Cruiserweight Bold"/>
              </a:rPr>
              <a:t>Paucek &amp; Lage</a:t>
            </a:r>
          </a:p>
        </p:txBody>
      </p:sp>
      <p:sp>
        <p:nvSpPr>
          <p:cNvPr name="TextBox 14" id="14"/>
          <p:cNvSpPr txBox="true"/>
          <p:nvPr/>
        </p:nvSpPr>
        <p:spPr>
          <a:xfrm rot="0">
            <a:off x="15222908" y="1673217"/>
            <a:ext cx="1089964" cy="203469"/>
          </a:xfrm>
          <a:prstGeom prst="rect">
            <a:avLst/>
          </a:prstGeom>
        </p:spPr>
        <p:txBody>
          <a:bodyPr anchor="t" rtlCol="false" tIns="0" lIns="0" bIns="0" rIns="0">
            <a:spAutoFit/>
          </a:bodyPr>
          <a:lstStyle/>
          <a:p>
            <a:pPr algn="l">
              <a:lnSpc>
                <a:spcPts val="1431"/>
              </a:lnSpc>
            </a:pPr>
            <a:r>
              <a:rPr lang="en-US" sz="1607" spc="-125">
                <a:solidFill>
                  <a:srgbClr val="FFF8ED"/>
                </a:solidFill>
                <a:latin typeface="Knockout Cruiserweight"/>
                <a:ea typeface="Knockout Cruiserweight"/>
                <a:cs typeface="Knockout Cruiserweight"/>
                <a:sym typeface="Knockout Cruiserweight"/>
              </a:rPr>
              <a:t>Since 2026</a:t>
            </a:r>
          </a:p>
        </p:txBody>
      </p:sp>
      <p:sp>
        <p:nvSpPr>
          <p:cNvPr name="TextBox 15" id="15"/>
          <p:cNvSpPr txBox="true"/>
          <p:nvPr/>
        </p:nvSpPr>
        <p:spPr>
          <a:xfrm rot="0">
            <a:off x="1028700" y="1020008"/>
            <a:ext cx="10832870" cy="2572314"/>
          </a:xfrm>
          <a:prstGeom prst="rect">
            <a:avLst/>
          </a:prstGeom>
        </p:spPr>
        <p:txBody>
          <a:bodyPr anchor="t" rtlCol="false" tIns="0" lIns="0" bIns="0" rIns="0">
            <a:spAutoFit/>
          </a:bodyPr>
          <a:lstStyle/>
          <a:p>
            <a:pPr algn="l">
              <a:lnSpc>
                <a:spcPts val="9700"/>
              </a:lnSpc>
            </a:pPr>
            <a:r>
              <a:rPr lang="en-US" sz="10899" spc="-850">
                <a:solidFill>
                  <a:srgbClr val="FFF8ED"/>
                </a:solidFill>
                <a:latin typeface="Knockout Cruiserweight Bold"/>
                <a:ea typeface="Knockout Cruiserweight Bold"/>
                <a:cs typeface="Knockout Cruiserweight Bold"/>
                <a:sym typeface="Knockout Cruiserweight Bold"/>
              </a:rPr>
              <a:t>Posting Plan &amp; Campaign Timeline</a:t>
            </a:r>
          </a:p>
        </p:txBody>
      </p:sp>
      <p:sp>
        <p:nvSpPr>
          <p:cNvPr name="TextBox 16" id="16"/>
          <p:cNvSpPr txBox="true"/>
          <p:nvPr/>
        </p:nvSpPr>
        <p:spPr>
          <a:xfrm rot="0">
            <a:off x="1028700" y="4660292"/>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Post</a:t>
            </a:r>
            <a:r>
              <a:rPr lang="en-US" sz="3416" spc="-266">
                <a:solidFill>
                  <a:srgbClr val="FFF8ED"/>
                </a:solidFill>
                <a:latin typeface="Knockout Cruiserweight Bold"/>
                <a:ea typeface="Knockout Cruiserweight Bold"/>
                <a:cs typeface="Knockout Cruiserweight Bold"/>
                <a:sym typeface="Knockout Cruiserweight Bold"/>
              </a:rPr>
              <a:t>ing Frequency</a:t>
            </a:r>
          </a:p>
        </p:txBody>
      </p:sp>
      <p:sp>
        <p:nvSpPr>
          <p:cNvPr name="TextBox 17" id="17"/>
          <p:cNvSpPr txBox="true"/>
          <p:nvPr/>
        </p:nvSpPr>
        <p:spPr>
          <a:xfrm rot="0">
            <a:off x="1462376" y="7616615"/>
            <a:ext cx="2219202" cy="1196000"/>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3–5 posts per week per platform</a:t>
            </a:r>
          </a:p>
        </p:txBody>
      </p:sp>
      <p:sp>
        <p:nvSpPr>
          <p:cNvPr name="TextBox 18" id="18"/>
          <p:cNvSpPr txBox="true"/>
          <p:nvPr/>
        </p:nvSpPr>
        <p:spPr>
          <a:xfrm rot="0">
            <a:off x="1462376" y="6067450"/>
            <a:ext cx="915433" cy="778927"/>
          </a:xfrm>
          <a:prstGeom prst="rect">
            <a:avLst/>
          </a:prstGeom>
        </p:spPr>
        <p:txBody>
          <a:bodyPr anchor="t" rtlCol="false" tIns="0" lIns="0" bIns="0" rIns="0">
            <a:spAutoFit/>
          </a:bodyPr>
          <a:lstStyle/>
          <a:p>
            <a:pPr algn="l">
              <a:lnSpc>
                <a:spcPts val="5611"/>
              </a:lnSpc>
            </a:pPr>
            <a:r>
              <a:rPr lang="en-US" sz="6305" spc="-491">
                <a:solidFill>
                  <a:srgbClr val="2150B9"/>
                </a:solidFill>
                <a:latin typeface="Knockout Cruiserweight Bold"/>
                <a:ea typeface="Knockout Cruiserweight Bold"/>
                <a:cs typeface="Knockout Cruiserweight Bold"/>
                <a:sym typeface="Knockout Cruiserweight Bold"/>
              </a:rPr>
              <a:t>01</a:t>
            </a:r>
          </a:p>
        </p:txBody>
      </p:sp>
      <p:sp>
        <p:nvSpPr>
          <p:cNvPr name="TextBox 19" id="19"/>
          <p:cNvSpPr txBox="true"/>
          <p:nvPr/>
        </p:nvSpPr>
        <p:spPr>
          <a:xfrm rot="0">
            <a:off x="5249200" y="7616615"/>
            <a:ext cx="2219202" cy="1196000"/>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Daily</a:t>
            </a:r>
            <a:r>
              <a:rPr lang="en-US" sz="3416" spc="-266">
                <a:solidFill>
                  <a:srgbClr val="2150B9"/>
                </a:solidFill>
                <a:latin typeface="Knockout Cruiserweight Bold"/>
                <a:ea typeface="Knockout Cruiserweight Bold"/>
                <a:cs typeface="Knockout Cruiserweight Bold"/>
                <a:sym typeface="Knockout Cruiserweight Bold"/>
              </a:rPr>
              <a:t> stories for active engagement</a:t>
            </a:r>
          </a:p>
        </p:txBody>
      </p:sp>
      <p:sp>
        <p:nvSpPr>
          <p:cNvPr name="TextBox 20" id="20"/>
          <p:cNvSpPr txBox="true"/>
          <p:nvPr/>
        </p:nvSpPr>
        <p:spPr>
          <a:xfrm rot="0">
            <a:off x="5249200" y="6067450"/>
            <a:ext cx="915433" cy="778927"/>
          </a:xfrm>
          <a:prstGeom prst="rect">
            <a:avLst/>
          </a:prstGeom>
        </p:spPr>
        <p:txBody>
          <a:bodyPr anchor="t" rtlCol="false" tIns="0" lIns="0" bIns="0" rIns="0">
            <a:spAutoFit/>
          </a:bodyPr>
          <a:lstStyle/>
          <a:p>
            <a:pPr algn="l">
              <a:lnSpc>
                <a:spcPts val="5611"/>
              </a:lnSpc>
            </a:pPr>
            <a:r>
              <a:rPr lang="en-US" sz="6305" spc="-491">
                <a:solidFill>
                  <a:srgbClr val="2150B9"/>
                </a:solidFill>
                <a:latin typeface="Knockout Cruiserweight Bold"/>
                <a:ea typeface="Knockout Cruiserweight Bold"/>
                <a:cs typeface="Knockout Cruiserweight Bold"/>
                <a:sym typeface="Knockout Cruiserweight Bold"/>
              </a:rPr>
              <a:t>02</a:t>
            </a:r>
          </a:p>
        </p:txBody>
      </p:sp>
      <p:sp>
        <p:nvSpPr>
          <p:cNvPr name="TextBox 21" id="21"/>
          <p:cNvSpPr txBox="true"/>
          <p:nvPr/>
        </p:nvSpPr>
        <p:spPr>
          <a:xfrm rot="0">
            <a:off x="9052162" y="4718672"/>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Campa</a:t>
            </a:r>
            <a:r>
              <a:rPr lang="en-US" sz="3416" spc="-266">
                <a:solidFill>
                  <a:srgbClr val="FFF8ED"/>
                </a:solidFill>
                <a:latin typeface="Knockout Cruiserweight Bold"/>
                <a:ea typeface="Knockout Cruiserweight Bold"/>
                <a:cs typeface="Knockout Cruiserweight Bold"/>
                <a:sym typeface="Knockout Cruiserweight Bold"/>
              </a:rPr>
              <a:t>ign Phases</a:t>
            </a:r>
          </a:p>
        </p:txBody>
      </p:sp>
      <p:sp>
        <p:nvSpPr>
          <p:cNvPr name="TextBox 22" id="22"/>
          <p:cNvSpPr txBox="true"/>
          <p:nvPr/>
        </p:nvSpPr>
        <p:spPr>
          <a:xfrm rot="0">
            <a:off x="10290293" y="5909668"/>
            <a:ext cx="4640361"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Informative and engaging content</a:t>
            </a:r>
          </a:p>
        </p:txBody>
      </p:sp>
      <p:sp>
        <p:nvSpPr>
          <p:cNvPr name="TextBox 23" id="23"/>
          <p:cNvSpPr txBox="true"/>
          <p:nvPr/>
        </p:nvSpPr>
        <p:spPr>
          <a:xfrm rot="0">
            <a:off x="10290293" y="7250447"/>
            <a:ext cx="4918655"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Authentic brand communication</a:t>
            </a:r>
          </a:p>
        </p:txBody>
      </p:sp>
      <p:sp>
        <p:nvSpPr>
          <p:cNvPr name="TextBox 24" id="24"/>
          <p:cNvSpPr txBox="true"/>
          <p:nvPr/>
        </p:nvSpPr>
        <p:spPr>
          <a:xfrm rot="0">
            <a:off x="10290293" y="8591069"/>
            <a:ext cx="6676967"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Visually appealing and easy-to-consume formats</a:t>
            </a:r>
          </a:p>
        </p:txBody>
      </p:sp>
      <p:sp>
        <p:nvSpPr>
          <p:cNvPr name="TextBox 25" id="25"/>
          <p:cNvSpPr txBox="true"/>
          <p:nvPr/>
        </p:nvSpPr>
        <p:spPr>
          <a:xfrm rot="0">
            <a:off x="9487676" y="5909668"/>
            <a:ext cx="467269"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01</a:t>
            </a:r>
          </a:p>
        </p:txBody>
      </p:sp>
      <p:sp>
        <p:nvSpPr>
          <p:cNvPr name="TextBox 26" id="26"/>
          <p:cNvSpPr txBox="true"/>
          <p:nvPr/>
        </p:nvSpPr>
        <p:spPr>
          <a:xfrm rot="0">
            <a:off x="9487676" y="7250447"/>
            <a:ext cx="467269"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02</a:t>
            </a:r>
          </a:p>
        </p:txBody>
      </p:sp>
      <p:sp>
        <p:nvSpPr>
          <p:cNvPr name="TextBox 27" id="27"/>
          <p:cNvSpPr txBox="true"/>
          <p:nvPr/>
        </p:nvSpPr>
        <p:spPr>
          <a:xfrm rot="0">
            <a:off x="9487676" y="8591069"/>
            <a:ext cx="467269" cy="338599"/>
          </a:xfrm>
          <a:prstGeom prst="rect">
            <a:avLst/>
          </a:prstGeom>
        </p:spPr>
        <p:txBody>
          <a:bodyPr anchor="t" rtlCol="false" tIns="0" lIns="0" bIns="0" rIns="0">
            <a:spAutoFit/>
          </a:bodyPr>
          <a:lstStyle/>
          <a:p>
            <a:pPr algn="l">
              <a:lnSpc>
                <a:spcPts val="2424"/>
              </a:lnSpc>
            </a:pPr>
            <a:r>
              <a:rPr lang="en-US" sz="2724" spc="-212">
                <a:solidFill>
                  <a:srgbClr val="2150B9"/>
                </a:solidFill>
                <a:latin typeface="Knockout Cruiserweight Bold"/>
                <a:ea typeface="Knockout Cruiserweight Bold"/>
                <a:cs typeface="Knockout Cruiserweight Bold"/>
                <a:sym typeface="Knockout Cruiserweight Bold"/>
              </a:rPr>
              <a:t>03</a:t>
            </a:r>
          </a:p>
        </p:txBody>
      </p:sp>
      <p:sp>
        <p:nvSpPr>
          <p:cNvPr name="Freeform 28" id="28"/>
          <p:cNvSpPr/>
          <p:nvPr/>
        </p:nvSpPr>
        <p:spPr>
          <a:xfrm flipH="true" flipV="false" rot="0">
            <a:off x="13290033" y="2787635"/>
            <a:ext cx="5414447" cy="1624334"/>
          </a:xfrm>
          <a:custGeom>
            <a:avLst/>
            <a:gdLst/>
            <a:ahLst/>
            <a:cxnLst/>
            <a:rect r="r" b="b" t="t" l="l"/>
            <a:pathLst>
              <a:path h="1624334" w="5414447">
                <a:moveTo>
                  <a:pt x="5414447" y="0"/>
                </a:moveTo>
                <a:lnTo>
                  <a:pt x="0" y="0"/>
                </a:lnTo>
                <a:lnTo>
                  <a:pt x="0" y="1624334"/>
                </a:lnTo>
                <a:lnTo>
                  <a:pt x="5414447" y="1624334"/>
                </a:lnTo>
                <a:lnTo>
                  <a:pt x="541444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8ED"/>
        </a:solidFill>
      </p:bgPr>
    </p:bg>
    <p:spTree>
      <p:nvGrpSpPr>
        <p:cNvPr id="1" name=""/>
        <p:cNvGrpSpPr/>
        <p:nvPr/>
      </p:nvGrpSpPr>
      <p:grpSpPr>
        <a:xfrm>
          <a:off x="0" y="0"/>
          <a:ext cx="0" cy="0"/>
          <a:chOff x="0" y="0"/>
          <a:chExt cx="0" cy="0"/>
        </a:xfrm>
      </p:grpSpPr>
      <p:sp>
        <p:nvSpPr>
          <p:cNvPr name="Freeform 2" id="2"/>
          <p:cNvSpPr/>
          <p:nvPr/>
        </p:nvSpPr>
        <p:spPr>
          <a:xfrm flipH="false" flipV="false" rot="0">
            <a:off x="10089782" y="1105225"/>
            <a:ext cx="3327212" cy="2341147"/>
          </a:xfrm>
          <a:custGeom>
            <a:avLst/>
            <a:gdLst/>
            <a:ahLst/>
            <a:cxnLst/>
            <a:rect r="r" b="b" t="t" l="l"/>
            <a:pathLst>
              <a:path h="2341147" w="3327212">
                <a:moveTo>
                  <a:pt x="0" y="0"/>
                </a:moveTo>
                <a:lnTo>
                  <a:pt x="3327212" y="0"/>
                </a:lnTo>
                <a:lnTo>
                  <a:pt x="3327212" y="2341147"/>
                </a:lnTo>
                <a:lnTo>
                  <a:pt x="0" y="234114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00000">
            <a:off x="16260799" y="2371922"/>
            <a:ext cx="2631286" cy="2810112"/>
          </a:xfrm>
          <a:custGeom>
            <a:avLst/>
            <a:gdLst/>
            <a:ahLst/>
            <a:cxnLst/>
            <a:rect r="r" b="b" t="t" l="l"/>
            <a:pathLst>
              <a:path h="2810112" w="2631286">
                <a:moveTo>
                  <a:pt x="0" y="0"/>
                </a:moveTo>
                <a:lnTo>
                  <a:pt x="2631286" y="0"/>
                </a:lnTo>
                <a:lnTo>
                  <a:pt x="2631286" y="2810111"/>
                </a:lnTo>
                <a:lnTo>
                  <a:pt x="0" y="2810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890908" y="6293713"/>
            <a:ext cx="3045298" cy="648984"/>
          </a:xfrm>
          <a:custGeom>
            <a:avLst/>
            <a:gdLst/>
            <a:ahLst/>
            <a:cxnLst/>
            <a:rect r="r" b="b" t="t" l="l"/>
            <a:pathLst>
              <a:path h="648984" w="3045298">
                <a:moveTo>
                  <a:pt x="0" y="0"/>
                </a:moveTo>
                <a:lnTo>
                  <a:pt x="3045298" y="0"/>
                </a:lnTo>
                <a:lnTo>
                  <a:pt x="30452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0" t="0" r="0" b="-348711"/>
            </a:stretch>
          </a:blipFill>
        </p:spPr>
      </p:sp>
      <p:sp>
        <p:nvSpPr>
          <p:cNvPr name="Freeform 5" id="5"/>
          <p:cNvSpPr/>
          <p:nvPr/>
        </p:nvSpPr>
        <p:spPr>
          <a:xfrm flipH="false" flipV="false" rot="0">
            <a:off x="6890908" y="7065581"/>
            <a:ext cx="3045298" cy="648984"/>
          </a:xfrm>
          <a:custGeom>
            <a:avLst/>
            <a:gdLst/>
            <a:ahLst/>
            <a:cxnLst/>
            <a:rect r="r" b="b" t="t" l="l"/>
            <a:pathLst>
              <a:path h="648984" w="3045298">
                <a:moveTo>
                  <a:pt x="0" y="0"/>
                </a:moveTo>
                <a:lnTo>
                  <a:pt x="3045298" y="0"/>
                </a:lnTo>
                <a:lnTo>
                  <a:pt x="30452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0" t="0" r="0" b="-348711"/>
            </a:stretch>
          </a:blipFill>
        </p:spPr>
      </p:sp>
      <p:sp>
        <p:nvSpPr>
          <p:cNvPr name="Freeform 6" id="6"/>
          <p:cNvSpPr/>
          <p:nvPr/>
        </p:nvSpPr>
        <p:spPr>
          <a:xfrm flipH="false" flipV="false" rot="0">
            <a:off x="9683846" y="6293713"/>
            <a:ext cx="1605797" cy="648984"/>
          </a:xfrm>
          <a:custGeom>
            <a:avLst/>
            <a:gdLst/>
            <a:ahLst/>
            <a:cxnLst/>
            <a:rect r="r" b="b" t="t" l="l"/>
            <a:pathLst>
              <a:path h="648984" w="1605797">
                <a:moveTo>
                  <a:pt x="0" y="0"/>
                </a:moveTo>
                <a:lnTo>
                  <a:pt x="1605798" y="0"/>
                </a:lnTo>
                <a:lnTo>
                  <a:pt x="16057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89643" t="0" r="0" b="-348711"/>
            </a:stretch>
          </a:blipFill>
        </p:spPr>
      </p:sp>
      <p:sp>
        <p:nvSpPr>
          <p:cNvPr name="Freeform 7" id="7"/>
          <p:cNvSpPr/>
          <p:nvPr/>
        </p:nvSpPr>
        <p:spPr>
          <a:xfrm flipH="false" flipV="false" rot="0">
            <a:off x="9683846" y="7065581"/>
            <a:ext cx="1605797" cy="648984"/>
          </a:xfrm>
          <a:custGeom>
            <a:avLst/>
            <a:gdLst/>
            <a:ahLst/>
            <a:cxnLst/>
            <a:rect r="r" b="b" t="t" l="l"/>
            <a:pathLst>
              <a:path h="648984" w="1605797">
                <a:moveTo>
                  <a:pt x="0" y="0"/>
                </a:moveTo>
                <a:lnTo>
                  <a:pt x="1605798" y="0"/>
                </a:lnTo>
                <a:lnTo>
                  <a:pt x="16057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89643" t="0" r="0" b="-348711"/>
            </a:stretch>
          </a:blipFill>
        </p:spPr>
      </p:sp>
      <p:sp>
        <p:nvSpPr>
          <p:cNvPr name="Freeform 8" id="8"/>
          <p:cNvSpPr/>
          <p:nvPr/>
        </p:nvSpPr>
        <p:spPr>
          <a:xfrm flipH="false" flipV="false" rot="0">
            <a:off x="6890908" y="7837448"/>
            <a:ext cx="3045298" cy="648984"/>
          </a:xfrm>
          <a:custGeom>
            <a:avLst/>
            <a:gdLst/>
            <a:ahLst/>
            <a:cxnLst/>
            <a:rect r="r" b="b" t="t" l="l"/>
            <a:pathLst>
              <a:path h="648984" w="3045298">
                <a:moveTo>
                  <a:pt x="0" y="0"/>
                </a:moveTo>
                <a:lnTo>
                  <a:pt x="3045298" y="0"/>
                </a:lnTo>
                <a:lnTo>
                  <a:pt x="30452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0" t="0" r="0" b="-348711"/>
            </a:stretch>
          </a:blipFill>
        </p:spPr>
      </p:sp>
      <p:sp>
        <p:nvSpPr>
          <p:cNvPr name="Freeform 9" id="9"/>
          <p:cNvSpPr/>
          <p:nvPr/>
        </p:nvSpPr>
        <p:spPr>
          <a:xfrm flipH="false" flipV="false" rot="0">
            <a:off x="9683846" y="7837448"/>
            <a:ext cx="1605797" cy="648984"/>
          </a:xfrm>
          <a:custGeom>
            <a:avLst/>
            <a:gdLst/>
            <a:ahLst/>
            <a:cxnLst/>
            <a:rect r="r" b="b" t="t" l="l"/>
            <a:pathLst>
              <a:path h="648984" w="1605797">
                <a:moveTo>
                  <a:pt x="0" y="0"/>
                </a:moveTo>
                <a:lnTo>
                  <a:pt x="1605798" y="0"/>
                </a:lnTo>
                <a:lnTo>
                  <a:pt x="16057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89643" t="0" r="0" b="-348711"/>
            </a:stretch>
          </a:blipFill>
        </p:spPr>
      </p:sp>
      <p:sp>
        <p:nvSpPr>
          <p:cNvPr name="Freeform 10" id="10"/>
          <p:cNvSpPr/>
          <p:nvPr/>
        </p:nvSpPr>
        <p:spPr>
          <a:xfrm flipH="false" flipV="false" rot="0">
            <a:off x="6890908" y="8609316"/>
            <a:ext cx="3045298" cy="648984"/>
          </a:xfrm>
          <a:custGeom>
            <a:avLst/>
            <a:gdLst/>
            <a:ahLst/>
            <a:cxnLst/>
            <a:rect r="r" b="b" t="t" l="l"/>
            <a:pathLst>
              <a:path h="648984" w="3045298">
                <a:moveTo>
                  <a:pt x="0" y="0"/>
                </a:moveTo>
                <a:lnTo>
                  <a:pt x="3045298" y="0"/>
                </a:lnTo>
                <a:lnTo>
                  <a:pt x="30452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0" t="0" r="0" b="-348711"/>
            </a:stretch>
          </a:blipFill>
        </p:spPr>
      </p:sp>
      <p:sp>
        <p:nvSpPr>
          <p:cNvPr name="TextBox 11" id="11"/>
          <p:cNvSpPr txBox="true"/>
          <p:nvPr/>
        </p:nvSpPr>
        <p:spPr>
          <a:xfrm rot="0">
            <a:off x="7606358" y="8836235"/>
            <a:ext cx="2930983"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Cli</a:t>
            </a:r>
            <a:r>
              <a:rPr lang="en-US" sz="1567" spc="-122">
                <a:solidFill>
                  <a:srgbClr val="FFF8ED"/>
                </a:solidFill>
                <a:latin typeface="Knockout Cruiserweight"/>
                <a:ea typeface="Knockout Cruiserweight"/>
                <a:cs typeface="Knockout Cruiserweight"/>
                <a:sym typeface="Knockout Cruiserweight"/>
              </a:rPr>
              <a:t>ck-through rate &amp; Conversion rate</a:t>
            </a:r>
          </a:p>
        </p:txBody>
      </p:sp>
      <p:sp>
        <p:nvSpPr>
          <p:cNvPr name="Freeform 12" id="12"/>
          <p:cNvSpPr/>
          <p:nvPr/>
        </p:nvSpPr>
        <p:spPr>
          <a:xfrm flipH="false" flipV="false" rot="0">
            <a:off x="9683846" y="8609316"/>
            <a:ext cx="1605797" cy="648984"/>
          </a:xfrm>
          <a:custGeom>
            <a:avLst/>
            <a:gdLst/>
            <a:ahLst/>
            <a:cxnLst/>
            <a:rect r="r" b="b" t="t" l="l"/>
            <a:pathLst>
              <a:path h="648984" w="1605797">
                <a:moveTo>
                  <a:pt x="0" y="0"/>
                </a:moveTo>
                <a:lnTo>
                  <a:pt x="1605798" y="0"/>
                </a:lnTo>
                <a:lnTo>
                  <a:pt x="1605798" y="648984"/>
                </a:lnTo>
                <a:lnTo>
                  <a:pt x="0" y="648984"/>
                </a:lnTo>
                <a:lnTo>
                  <a:pt x="0" y="0"/>
                </a:lnTo>
                <a:close/>
              </a:path>
            </a:pathLst>
          </a:custGeom>
          <a:blipFill>
            <a:blip r:embed="rId6">
              <a:extLst>
                <a:ext uri="{96DAC541-7B7A-43D3-8B79-37D633B846F1}">
                  <asvg:svgBlip xmlns:asvg="http://schemas.microsoft.com/office/drawing/2016/SVG/main" r:embed="rId7"/>
                </a:ext>
              </a:extLst>
            </a:blip>
            <a:stretch>
              <a:fillRect l="-89643" t="0" r="0" b="-348711"/>
            </a:stretch>
          </a:blipFill>
        </p:spPr>
      </p:sp>
      <p:sp>
        <p:nvSpPr>
          <p:cNvPr name="Freeform 13" id="13"/>
          <p:cNvSpPr/>
          <p:nvPr/>
        </p:nvSpPr>
        <p:spPr>
          <a:xfrm flipH="false" flipV="false" rot="-5400000">
            <a:off x="11475170" y="6977398"/>
            <a:ext cx="2964587" cy="1597216"/>
          </a:xfrm>
          <a:custGeom>
            <a:avLst/>
            <a:gdLst/>
            <a:ahLst/>
            <a:cxnLst/>
            <a:rect r="r" b="b" t="t" l="l"/>
            <a:pathLst>
              <a:path h="1597216" w="2964587">
                <a:moveTo>
                  <a:pt x="0" y="0"/>
                </a:moveTo>
                <a:lnTo>
                  <a:pt x="2964587" y="0"/>
                </a:lnTo>
                <a:lnTo>
                  <a:pt x="2964587" y="1597217"/>
                </a:lnTo>
                <a:lnTo>
                  <a:pt x="0" y="1597217"/>
                </a:lnTo>
                <a:lnTo>
                  <a:pt x="0" y="0"/>
                </a:lnTo>
                <a:close/>
              </a:path>
            </a:pathLst>
          </a:custGeom>
          <a:blipFill>
            <a:blip r:embed="rId8">
              <a:extLst>
                <a:ext uri="{96DAC541-7B7A-43D3-8B79-37D633B846F1}">
                  <asvg:svgBlip xmlns:asvg="http://schemas.microsoft.com/office/drawing/2016/SVG/main" r:embed="rId9"/>
                </a:ext>
              </a:extLst>
            </a:blip>
            <a:stretch>
              <a:fillRect l="0" t="0" r="0" b="-113651"/>
            </a:stretch>
          </a:blipFill>
        </p:spPr>
      </p:sp>
      <p:sp>
        <p:nvSpPr>
          <p:cNvPr name="Freeform 14" id="14"/>
          <p:cNvSpPr/>
          <p:nvPr/>
        </p:nvSpPr>
        <p:spPr>
          <a:xfrm flipH="false" flipV="false" rot="-5400000">
            <a:off x="13233056" y="6977398"/>
            <a:ext cx="2964587" cy="1597216"/>
          </a:xfrm>
          <a:custGeom>
            <a:avLst/>
            <a:gdLst/>
            <a:ahLst/>
            <a:cxnLst/>
            <a:rect r="r" b="b" t="t" l="l"/>
            <a:pathLst>
              <a:path h="1597216" w="2964587">
                <a:moveTo>
                  <a:pt x="0" y="0"/>
                </a:moveTo>
                <a:lnTo>
                  <a:pt x="2964586" y="0"/>
                </a:lnTo>
                <a:lnTo>
                  <a:pt x="2964586" y="1597217"/>
                </a:lnTo>
                <a:lnTo>
                  <a:pt x="0" y="1597217"/>
                </a:lnTo>
                <a:lnTo>
                  <a:pt x="0" y="0"/>
                </a:lnTo>
                <a:close/>
              </a:path>
            </a:pathLst>
          </a:custGeom>
          <a:blipFill>
            <a:blip r:embed="rId8">
              <a:extLst>
                <a:ext uri="{96DAC541-7B7A-43D3-8B79-37D633B846F1}">
                  <asvg:svgBlip xmlns:asvg="http://schemas.microsoft.com/office/drawing/2016/SVG/main" r:embed="rId9"/>
                </a:ext>
              </a:extLst>
            </a:blip>
            <a:stretch>
              <a:fillRect l="0" t="0" r="0" b="-113651"/>
            </a:stretch>
          </a:blipFill>
        </p:spPr>
      </p:sp>
      <p:sp>
        <p:nvSpPr>
          <p:cNvPr name="Freeform 15" id="15"/>
          <p:cNvSpPr/>
          <p:nvPr/>
        </p:nvSpPr>
        <p:spPr>
          <a:xfrm flipH="false" flipV="false" rot="-5400000">
            <a:off x="14990941" y="6977398"/>
            <a:ext cx="2964587" cy="1597216"/>
          </a:xfrm>
          <a:custGeom>
            <a:avLst/>
            <a:gdLst/>
            <a:ahLst/>
            <a:cxnLst/>
            <a:rect r="r" b="b" t="t" l="l"/>
            <a:pathLst>
              <a:path h="1597216" w="2964587">
                <a:moveTo>
                  <a:pt x="0" y="0"/>
                </a:moveTo>
                <a:lnTo>
                  <a:pt x="2964587" y="0"/>
                </a:lnTo>
                <a:lnTo>
                  <a:pt x="2964587" y="1597217"/>
                </a:lnTo>
                <a:lnTo>
                  <a:pt x="0" y="1597217"/>
                </a:lnTo>
                <a:lnTo>
                  <a:pt x="0" y="0"/>
                </a:lnTo>
                <a:close/>
              </a:path>
            </a:pathLst>
          </a:custGeom>
          <a:blipFill>
            <a:blip r:embed="rId8">
              <a:extLst>
                <a:ext uri="{96DAC541-7B7A-43D3-8B79-37D633B846F1}">
                  <asvg:svgBlip xmlns:asvg="http://schemas.microsoft.com/office/drawing/2016/SVG/main" r:embed="rId9"/>
                </a:ext>
              </a:extLst>
            </a:blip>
            <a:stretch>
              <a:fillRect l="0" t="0" r="0" b="-113651"/>
            </a:stretch>
          </a:blipFill>
        </p:spPr>
      </p:sp>
      <p:sp>
        <p:nvSpPr>
          <p:cNvPr name="Freeform 16" id="16"/>
          <p:cNvSpPr/>
          <p:nvPr/>
        </p:nvSpPr>
        <p:spPr>
          <a:xfrm flipH="false" flipV="false" rot="-5400000">
            <a:off x="14321957" y="2808810"/>
            <a:ext cx="944466" cy="538346"/>
          </a:xfrm>
          <a:custGeom>
            <a:avLst/>
            <a:gdLst/>
            <a:ahLst/>
            <a:cxnLst/>
            <a:rect r="r" b="b" t="t" l="l"/>
            <a:pathLst>
              <a:path h="538346" w="944466">
                <a:moveTo>
                  <a:pt x="0" y="0"/>
                </a:moveTo>
                <a:lnTo>
                  <a:pt x="944466" y="0"/>
                </a:lnTo>
                <a:lnTo>
                  <a:pt x="944466" y="538346"/>
                </a:lnTo>
                <a:lnTo>
                  <a:pt x="0" y="5383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15222908" y="1104900"/>
            <a:ext cx="2140140" cy="329231"/>
          </a:xfrm>
          <a:prstGeom prst="rect">
            <a:avLst/>
          </a:prstGeom>
        </p:spPr>
        <p:txBody>
          <a:bodyPr anchor="t" rtlCol="false" tIns="0" lIns="0" bIns="0" rIns="0">
            <a:spAutoFit/>
          </a:bodyPr>
          <a:lstStyle/>
          <a:p>
            <a:pPr algn="l">
              <a:lnSpc>
                <a:spcPts val="2370"/>
              </a:lnSpc>
            </a:pPr>
            <a:r>
              <a:rPr lang="en-US" sz="2663" spc="-207">
                <a:solidFill>
                  <a:srgbClr val="2150B9"/>
                </a:solidFill>
                <a:latin typeface="Knockout Cruiserweight Bold"/>
                <a:ea typeface="Knockout Cruiserweight Bold"/>
                <a:cs typeface="Knockout Cruiserweight Bold"/>
                <a:sym typeface="Knockout Cruiserweight Bold"/>
              </a:rPr>
              <a:t>Paucek &amp; Lage</a:t>
            </a:r>
          </a:p>
        </p:txBody>
      </p:sp>
      <p:sp>
        <p:nvSpPr>
          <p:cNvPr name="TextBox 18" id="18"/>
          <p:cNvSpPr txBox="true"/>
          <p:nvPr/>
        </p:nvSpPr>
        <p:spPr>
          <a:xfrm rot="0">
            <a:off x="15222908" y="1472231"/>
            <a:ext cx="1089964" cy="203469"/>
          </a:xfrm>
          <a:prstGeom prst="rect">
            <a:avLst/>
          </a:prstGeom>
        </p:spPr>
        <p:txBody>
          <a:bodyPr anchor="t" rtlCol="false" tIns="0" lIns="0" bIns="0" rIns="0">
            <a:spAutoFit/>
          </a:bodyPr>
          <a:lstStyle/>
          <a:p>
            <a:pPr algn="l">
              <a:lnSpc>
                <a:spcPts val="1431"/>
              </a:lnSpc>
            </a:pPr>
            <a:r>
              <a:rPr lang="en-US" sz="1607" spc="-125">
                <a:solidFill>
                  <a:srgbClr val="2150B9"/>
                </a:solidFill>
                <a:latin typeface="Knockout Cruiserweight"/>
                <a:ea typeface="Knockout Cruiserweight"/>
                <a:cs typeface="Knockout Cruiserweight"/>
                <a:sym typeface="Knockout Cruiserweight"/>
              </a:rPr>
              <a:t>Since 2026</a:t>
            </a:r>
          </a:p>
        </p:txBody>
      </p:sp>
      <p:sp>
        <p:nvSpPr>
          <p:cNvPr name="TextBox 19" id="19"/>
          <p:cNvSpPr txBox="true"/>
          <p:nvPr/>
        </p:nvSpPr>
        <p:spPr>
          <a:xfrm rot="0">
            <a:off x="1028700" y="1020008"/>
            <a:ext cx="8008334" cy="3801076"/>
          </a:xfrm>
          <a:prstGeom prst="rect">
            <a:avLst/>
          </a:prstGeom>
        </p:spPr>
        <p:txBody>
          <a:bodyPr anchor="t" rtlCol="false" tIns="0" lIns="0" bIns="0" rIns="0">
            <a:spAutoFit/>
          </a:bodyPr>
          <a:lstStyle/>
          <a:p>
            <a:pPr algn="l">
              <a:lnSpc>
                <a:spcPts val="9700"/>
              </a:lnSpc>
            </a:pPr>
            <a:r>
              <a:rPr lang="en-US" sz="10899" spc="-850">
                <a:solidFill>
                  <a:srgbClr val="2150B9"/>
                </a:solidFill>
                <a:latin typeface="Knockout Cruiserweight Bold"/>
                <a:ea typeface="Knockout Cruiserweight Bold"/>
                <a:cs typeface="Knockout Cruiserweight Bold"/>
                <a:sym typeface="Knockout Cruiserweight Bold"/>
              </a:rPr>
              <a:t>Paid Media &amp; Performance Metrics</a:t>
            </a:r>
          </a:p>
        </p:txBody>
      </p:sp>
      <p:sp>
        <p:nvSpPr>
          <p:cNvPr name="TextBox 20" id="20"/>
          <p:cNvSpPr txBox="true"/>
          <p:nvPr/>
        </p:nvSpPr>
        <p:spPr>
          <a:xfrm rot="0">
            <a:off x="1028700" y="5547386"/>
            <a:ext cx="3739824"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P</a:t>
            </a:r>
            <a:r>
              <a:rPr lang="en-US" sz="3416" spc="-266">
                <a:solidFill>
                  <a:srgbClr val="2150B9"/>
                </a:solidFill>
                <a:latin typeface="Knockout Cruiserweight Bold"/>
                <a:ea typeface="Knockout Cruiserweight Bold"/>
                <a:cs typeface="Knockout Cruiserweight Bold"/>
                <a:sym typeface="Knockout Cruiserweight Bold"/>
              </a:rPr>
              <a:t>aid Media Strategy</a:t>
            </a:r>
          </a:p>
        </p:txBody>
      </p:sp>
      <p:sp>
        <p:nvSpPr>
          <p:cNvPr name="TextBox 21" id="21"/>
          <p:cNvSpPr txBox="true"/>
          <p:nvPr/>
        </p:nvSpPr>
        <p:spPr>
          <a:xfrm rot="0">
            <a:off x="6890908" y="5547386"/>
            <a:ext cx="4941549"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Key Perform</a:t>
            </a:r>
            <a:r>
              <a:rPr lang="en-US" sz="3416" spc="-266">
                <a:solidFill>
                  <a:srgbClr val="2150B9"/>
                </a:solidFill>
                <a:latin typeface="Knockout Cruiserweight Bold"/>
                <a:ea typeface="Knockout Cruiserweight Bold"/>
                <a:cs typeface="Knockout Cruiserweight Bold"/>
                <a:sym typeface="Knockout Cruiserweight Bold"/>
              </a:rPr>
              <a:t>ance Indicators</a:t>
            </a:r>
          </a:p>
        </p:txBody>
      </p:sp>
      <p:sp>
        <p:nvSpPr>
          <p:cNvPr name="TextBox 22" id="22"/>
          <p:cNvSpPr txBox="true"/>
          <p:nvPr/>
        </p:nvSpPr>
        <p:spPr>
          <a:xfrm rot="0">
            <a:off x="12158856" y="5547386"/>
            <a:ext cx="4063579" cy="424828"/>
          </a:xfrm>
          <a:prstGeom prst="rect">
            <a:avLst/>
          </a:prstGeom>
        </p:spPr>
        <p:txBody>
          <a:bodyPr anchor="t" rtlCol="false" tIns="0" lIns="0" bIns="0" rIns="0">
            <a:spAutoFit/>
          </a:bodyPr>
          <a:lstStyle/>
          <a:p>
            <a:pPr algn="l">
              <a:lnSpc>
                <a:spcPts val="3040"/>
              </a:lnSpc>
            </a:pPr>
            <a:r>
              <a:rPr lang="en-US" sz="3416" spc="-266">
                <a:solidFill>
                  <a:srgbClr val="2150B9"/>
                </a:solidFill>
                <a:latin typeface="Knockout Cruiserweight Bold"/>
                <a:ea typeface="Knockout Cruiserweight Bold"/>
                <a:cs typeface="Knockout Cruiserweight Bold"/>
                <a:sym typeface="Knockout Cruiserweight Bold"/>
              </a:rPr>
              <a:t>Optim</a:t>
            </a:r>
            <a:r>
              <a:rPr lang="en-US" sz="3416" spc="-266">
                <a:solidFill>
                  <a:srgbClr val="2150B9"/>
                </a:solidFill>
                <a:latin typeface="Knockout Cruiserweight Bold"/>
                <a:ea typeface="Knockout Cruiserweight Bold"/>
                <a:cs typeface="Knockout Cruiserweight Bold"/>
                <a:sym typeface="Knockout Cruiserweight Bold"/>
              </a:rPr>
              <a:t>ization Approach</a:t>
            </a:r>
          </a:p>
        </p:txBody>
      </p:sp>
      <p:sp>
        <p:nvSpPr>
          <p:cNvPr name="TextBox 23" id="23"/>
          <p:cNvSpPr txBox="true"/>
          <p:nvPr/>
        </p:nvSpPr>
        <p:spPr>
          <a:xfrm rot="0">
            <a:off x="1028700" y="6293713"/>
            <a:ext cx="5275099" cy="2964587"/>
          </a:xfrm>
          <a:prstGeom prst="rect">
            <a:avLst/>
          </a:prstGeom>
        </p:spPr>
        <p:txBody>
          <a:bodyPr anchor="t" rtlCol="false" tIns="0" lIns="0" bIns="0" rIns="0">
            <a:spAutoFit/>
          </a:bodyPr>
          <a:lstStyle/>
          <a:p>
            <a:pPr algn="l">
              <a:lnSpc>
                <a:spcPts val="2336"/>
              </a:lnSpc>
            </a:pPr>
            <a:r>
              <a:rPr lang="en-US" sz="1996" spc="-155">
                <a:solidFill>
                  <a:srgbClr val="2150B9"/>
                </a:solidFill>
                <a:latin typeface="Knockout Cruiserweight"/>
                <a:ea typeface="Knockout Cruiserweight"/>
                <a:cs typeface="Knockout Cruiserweight"/>
                <a:sym typeface="Knockout Cruiserweight"/>
              </a:rPr>
              <a:t>Lorem ipsum dolor sit amet, consectetur adipiscing elit. Donec sodales magna risus, a feugiat leo tristique in. Fusce purus orci, porttitor a porttitor at, lacinia a mauris. Nullam eu enim lacus. Nulla luctus orci eget odio maximus dictum. Sed condimentum augue et arcu euismod, vel congue neque tincidunt. Praesent orci purus, congue eget tincidunt in, egestas vitae turpis. Proin ut pellentesque dolor, nec dignissim massa. Donec id urna a erat eleifend tincidunt a a arcu. Mauris venenatis, justo ac dictum fermentum.</a:t>
            </a:r>
          </a:p>
        </p:txBody>
      </p:sp>
      <p:sp>
        <p:nvSpPr>
          <p:cNvPr name="TextBox 24" id="24"/>
          <p:cNvSpPr txBox="true"/>
          <p:nvPr/>
        </p:nvSpPr>
        <p:spPr>
          <a:xfrm rot="0">
            <a:off x="7606358" y="6518355"/>
            <a:ext cx="2036512"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Reach and impressions</a:t>
            </a:r>
          </a:p>
        </p:txBody>
      </p:sp>
      <p:sp>
        <p:nvSpPr>
          <p:cNvPr name="TextBox 25" id="25"/>
          <p:cNvSpPr txBox="true"/>
          <p:nvPr/>
        </p:nvSpPr>
        <p:spPr>
          <a:xfrm rot="0">
            <a:off x="7606358" y="7292073"/>
            <a:ext cx="2036512"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Engagem</a:t>
            </a:r>
            <a:r>
              <a:rPr lang="en-US" sz="1567" spc="-122">
                <a:solidFill>
                  <a:srgbClr val="FFF8ED"/>
                </a:solidFill>
                <a:latin typeface="Knockout Cruiserweight"/>
                <a:ea typeface="Knockout Cruiserweight"/>
                <a:cs typeface="Knockout Cruiserweight"/>
                <a:sym typeface="Knockout Cruiserweight"/>
              </a:rPr>
              <a:t>ent rate</a:t>
            </a:r>
          </a:p>
        </p:txBody>
      </p:sp>
      <p:sp>
        <p:nvSpPr>
          <p:cNvPr name="TextBox 26" id="26"/>
          <p:cNvSpPr txBox="true"/>
          <p:nvPr/>
        </p:nvSpPr>
        <p:spPr>
          <a:xfrm rot="0">
            <a:off x="7145705" y="6518355"/>
            <a:ext cx="164474"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01</a:t>
            </a:r>
          </a:p>
        </p:txBody>
      </p:sp>
      <p:sp>
        <p:nvSpPr>
          <p:cNvPr name="TextBox 27" id="27"/>
          <p:cNvSpPr txBox="true"/>
          <p:nvPr/>
        </p:nvSpPr>
        <p:spPr>
          <a:xfrm rot="0">
            <a:off x="7145705" y="7292073"/>
            <a:ext cx="265459"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02</a:t>
            </a:r>
          </a:p>
        </p:txBody>
      </p:sp>
      <p:sp>
        <p:nvSpPr>
          <p:cNvPr name="TextBox 28" id="28"/>
          <p:cNvSpPr txBox="true"/>
          <p:nvPr/>
        </p:nvSpPr>
        <p:spPr>
          <a:xfrm rot="0">
            <a:off x="7606358" y="8066990"/>
            <a:ext cx="2036512"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Follow</a:t>
            </a:r>
            <a:r>
              <a:rPr lang="en-US" sz="1567" spc="-122">
                <a:solidFill>
                  <a:srgbClr val="FFF8ED"/>
                </a:solidFill>
                <a:latin typeface="Knockout Cruiserweight"/>
                <a:ea typeface="Knockout Cruiserweight"/>
                <a:cs typeface="Knockout Cruiserweight"/>
                <a:sym typeface="Knockout Cruiserweight"/>
              </a:rPr>
              <a:t>er growth</a:t>
            </a:r>
          </a:p>
        </p:txBody>
      </p:sp>
      <p:sp>
        <p:nvSpPr>
          <p:cNvPr name="TextBox 29" id="29"/>
          <p:cNvSpPr txBox="true"/>
          <p:nvPr/>
        </p:nvSpPr>
        <p:spPr>
          <a:xfrm rot="0">
            <a:off x="7145705" y="8066990"/>
            <a:ext cx="260987"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03</a:t>
            </a:r>
          </a:p>
        </p:txBody>
      </p:sp>
      <p:sp>
        <p:nvSpPr>
          <p:cNvPr name="TextBox 30" id="30"/>
          <p:cNvSpPr txBox="true"/>
          <p:nvPr/>
        </p:nvSpPr>
        <p:spPr>
          <a:xfrm rot="0">
            <a:off x="7145705" y="8836235"/>
            <a:ext cx="265459" cy="238086"/>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04</a:t>
            </a:r>
          </a:p>
        </p:txBody>
      </p:sp>
      <p:sp>
        <p:nvSpPr>
          <p:cNvPr name="TextBox 31" id="31"/>
          <p:cNvSpPr txBox="true"/>
          <p:nvPr/>
        </p:nvSpPr>
        <p:spPr>
          <a:xfrm rot="0">
            <a:off x="12411244" y="8318856"/>
            <a:ext cx="1120281" cy="702313"/>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W</a:t>
            </a:r>
            <a:r>
              <a:rPr lang="en-US" sz="1567" spc="-122">
                <a:solidFill>
                  <a:srgbClr val="FFF8ED"/>
                </a:solidFill>
                <a:latin typeface="Knockout Cruiserweight"/>
                <a:ea typeface="Knockout Cruiserweight"/>
                <a:cs typeface="Knockout Cruiserweight"/>
                <a:sym typeface="Knockout Cruiserweight"/>
              </a:rPr>
              <a:t>eekly performance review</a:t>
            </a:r>
          </a:p>
        </p:txBody>
      </p:sp>
      <p:sp>
        <p:nvSpPr>
          <p:cNvPr name="TextBox 32" id="32"/>
          <p:cNvSpPr txBox="true"/>
          <p:nvPr/>
        </p:nvSpPr>
        <p:spPr>
          <a:xfrm rot="0">
            <a:off x="14155209" y="8318856"/>
            <a:ext cx="1003088" cy="702313"/>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Cr</a:t>
            </a:r>
            <a:r>
              <a:rPr lang="en-US" sz="1567" spc="-122">
                <a:solidFill>
                  <a:srgbClr val="FFF8ED"/>
                </a:solidFill>
                <a:latin typeface="Knockout Cruiserweight"/>
                <a:ea typeface="Knockout Cruiserweight"/>
                <a:cs typeface="Knockout Cruiserweight"/>
                <a:sym typeface="Knockout Cruiserweight"/>
              </a:rPr>
              <a:t>eative</a:t>
            </a:r>
          </a:p>
          <a:p>
            <a:pPr algn="l">
              <a:lnSpc>
                <a:spcPts val="1833"/>
              </a:lnSpc>
            </a:pPr>
            <a:r>
              <a:rPr lang="en-US" sz="1567" spc="-122">
                <a:solidFill>
                  <a:srgbClr val="FFF8ED"/>
                </a:solidFill>
                <a:latin typeface="Knockout Cruiserweight"/>
                <a:ea typeface="Knockout Cruiserweight"/>
                <a:cs typeface="Knockout Cruiserweight"/>
                <a:sym typeface="Knockout Cruiserweight"/>
              </a:rPr>
              <a:t>and copy adjustments</a:t>
            </a:r>
          </a:p>
        </p:txBody>
      </p:sp>
      <p:sp>
        <p:nvSpPr>
          <p:cNvPr name="TextBox 33" id="33"/>
          <p:cNvSpPr txBox="true"/>
          <p:nvPr/>
        </p:nvSpPr>
        <p:spPr>
          <a:xfrm rot="0">
            <a:off x="12411244" y="6489780"/>
            <a:ext cx="447165" cy="387768"/>
          </a:xfrm>
          <a:prstGeom prst="rect">
            <a:avLst/>
          </a:prstGeom>
        </p:spPr>
        <p:txBody>
          <a:bodyPr anchor="t" rtlCol="false" tIns="0" lIns="0" bIns="0" rIns="0">
            <a:spAutoFit/>
          </a:bodyPr>
          <a:lstStyle/>
          <a:p>
            <a:pPr algn="l">
              <a:lnSpc>
                <a:spcPts val="3060"/>
              </a:lnSpc>
            </a:pPr>
            <a:r>
              <a:rPr lang="en-US" sz="2615" spc="-204">
                <a:solidFill>
                  <a:srgbClr val="FFF8ED"/>
                </a:solidFill>
                <a:latin typeface="Knockout Cruiserweight"/>
                <a:ea typeface="Knockout Cruiserweight"/>
                <a:cs typeface="Knockout Cruiserweight"/>
                <a:sym typeface="Knockout Cruiserweight"/>
              </a:rPr>
              <a:t>01</a:t>
            </a:r>
          </a:p>
        </p:txBody>
      </p:sp>
      <p:sp>
        <p:nvSpPr>
          <p:cNvPr name="TextBox 34" id="34"/>
          <p:cNvSpPr txBox="true"/>
          <p:nvPr/>
        </p:nvSpPr>
        <p:spPr>
          <a:xfrm rot="0">
            <a:off x="14155209" y="6489780"/>
            <a:ext cx="447165" cy="387768"/>
          </a:xfrm>
          <a:prstGeom prst="rect">
            <a:avLst/>
          </a:prstGeom>
        </p:spPr>
        <p:txBody>
          <a:bodyPr anchor="t" rtlCol="false" tIns="0" lIns="0" bIns="0" rIns="0">
            <a:spAutoFit/>
          </a:bodyPr>
          <a:lstStyle/>
          <a:p>
            <a:pPr algn="l">
              <a:lnSpc>
                <a:spcPts val="3060"/>
              </a:lnSpc>
            </a:pPr>
            <a:r>
              <a:rPr lang="en-US" sz="2615" spc="-204">
                <a:solidFill>
                  <a:srgbClr val="FFF8ED"/>
                </a:solidFill>
                <a:latin typeface="Knockout Cruiserweight"/>
                <a:ea typeface="Knockout Cruiserweight"/>
                <a:cs typeface="Knockout Cruiserweight"/>
                <a:sym typeface="Knockout Cruiserweight"/>
              </a:rPr>
              <a:t>02</a:t>
            </a:r>
          </a:p>
        </p:txBody>
      </p:sp>
      <p:sp>
        <p:nvSpPr>
          <p:cNvPr name="TextBox 35" id="35"/>
          <p:cNvSpPr txBox="true"/>
          <p:nvPr/>
        </p:nvSpPr>
        <p:spPr>
          <a:xfrm rot="0">
            <a:off x="15914007" y="8086742"/>
            <a:ext cx="1057639" cy="934427"/>
          </a:xfrm>
          <a:prstGeom prst="rect">
            <a:avLst/>
          </a:prstGeom>
        </p:spPr>
        <p:txBody>
          <a:bodyPr anchor="t" rtlCol="false" tIns="0" lIns="0" bIns="0" rIns="0">
            <a:spAutoFit/>
          </a:bodyPr>
          <a:lstStyle/>
          <a:p>
            <a:pPr algn="l">
              <a:lnSpc>
                <a:spcPts val="1833"/>
              </a:lnSpc>
            </a:pPr>
            <a:r>
              <a:rPr lang="en-US" sz="1567" spc="-122">
                <a:solidFill>
                  <a:srgbClr val="FFF8ED"/>
                </a:solidFill>
                <a:latin typeface="Knockout Cruiserweight"/>
                <a:ea typeface="Knockout Cruiserweight"/>
                <a:cs typeface="Knockout Cruiserweight"/>
                <a:sym typeface="Knockout Cruiserweight"/>
              </a:rPr>
              <a:t>Budg</a:t>
            </a:r>
            <a:r>
              <a:rPr lang="en-US" sz="1567" spc="-122">
                <a:solidFill>
                  <a:srgbClr val="FFF8ED"/>
                </a:solidFill>
                <a:latin typeface="Knockout Cruiserweight"/>
                <a:ea typeface="Knockout Cruiserweight"/>
                <a:cs typeface="Knockout Cruiserweight"/>
                <a:sym typeface="Knockout Cruiserweight"/>
              </a:rPr>
              <a:t>et optimization based on results</a:t>
            </a:r>
          </a:p>
        </p:txBody>
      </p:sp>
      <p:sp>
        <p:nvSpPr>
          <p:cNvPr name="TextBox 36" id="36"/>
          <p:cNvSpPr txBox="true"/>
          <p:nvPr/>
        </p:nvSpPr>
        <p:spPr>
          <a:xfrm rot="0">
            <a:off x="15914007" y="6489780"/>
            <a:ext cx="447165" cy="387768"/>
          </a:xfrm>
          <a:prstGeom prst="rect">
            <a:avLst/>
          </a:prstGeom>
        </p:spPr>
        <p:txBody>
          <a:bodyPr anchor="t" rtlCol="false" tIns="0" lIns="0" bIns="0" rIns="0">
            <a:spAutoFit/>
          </a:bodyPr>
          <a:lstStyle/>
          <a:p>
            <a:pPr algn="l">
              <a:lnSpc>
                <a:spcPts val="3060"/>
              </a:lnSpc>
            </a:pPr>
            <a:r>
              <a:rPr lang="en-US" sz="2615" spc="-204">
                <a:solidFill>
                  <a:srgbClr val="FFF8ED"/>
                </a:solidFill>
                <a:latin typeface="Knockout Cruiserweight"/>
                <a:ea typeface="Knockout Cruiserweight"/>
                <a:cs typeface="Knockout Cruiserweight"/>
                <a:sym typeface="Knockout Cruiserweight"/>
              </a:rPr>
              <a:t>03</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2150B9"/>
        </a:solidFill>
      </p:bgPr>
    </p:bg>
    <p:spTree>
      <p:nvGrpSpPr>
        <p:cNvPr id="1" name=""/>
        <p:cNvGrpSpPr/>
        <p:nvPr/>
      </p:nvGrpSpPr>
      <p:grpSpPr>
        <a:xfrm>
          <a:off x="0" y="0"/>
          <a:ext cx="0" cy="0"/>
          <a:chOff x="0" y="0"/>
          <a:chExt cx="0" cy="0"/>
        </a:xfrm>
      </p:grpSpPr>
      <p:sp>
        <p:nvSpPr>
          <p:cNvPr name="Freeform 2" id="2"/>
          <p:cNvSpPr/>
          <p:nvPr/>
        </p:nvSpPr>
        <p:spPr>
          <a:xfrm flipH="false" flipV="false" rot="0">
            <a:off x="8510280" y="5406619"/>
            <a:ext cx="3587698" cy="764575"/>
          </a:xfrm>
          <a:custGeom>
            <a:avLst/>
            <a:gdLst/>
            <a:ahLst/>
            <a:cxnLst/>
            <a:rect r="r" b="b" t="t" l="l"/>
            <a:pathLst>
              <a:path h="764575" w="3587698">
                <a:moveTo>
                  <a:pt x="0" y="0"/>
                </a:moveTo>
                <a:lnTo>
                  <a:pt x="3587698" y="0"/>
                </a:lnTo>
                <a:lnTo>
                  <a:pt x="3587698" y="764576"/>
                </a:lnTo>
                <a:lnTo>
                  <a:pt x="0" y="764576"/>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3" id="3"/>
          <p:cNvSpPr/>
          <p:nvPr/>
        </p:nvSpPr>
        <p:spPr>
          <a:xfrm flipH="false" flipV="false" rot="0">
            <a:off x="8510280" y="6435655"/>
            <a:ext cx="3587698" cy="764575"/>
          </a:xfrm>
          <a:custGeom>
            <a:avLst/>
            <a:gdLst/>
            <a:ahLst/>
            <a:cxnLst/>
            <a:rect r="r" b="b" t="t" l="l"/>
            <a:pathLst>
              <a:path h="764575" w="3587698">
                <a:moveTo>
                  <a:pt x="0" y="0"/>
                </a:moveTo>
                <a:lnTo>
                  <a:pt x="3587698" y="0"/>
                </a:lnTo>
                <a:lnTo>
                  <a:pt x="3587698"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4" id="4"/>
          <p:cNvSpPr/>
          <p:nvPr/>
        </p:nvSpPr>
        <p:spPr>
          <a:xfrm flipH="false" flipV="false" rot="0">
            <a:off x="11460610" y="5406619"/>
            <a:ext cx="2112158" cy="764575"/>
          </a:xfrm>
          <a:custGeom>
            <a:avLst/>
            <a:gdLst/>
            <a:ahLst/>
            <a:cxnLst/>
            <a:rect r="r" b="b" t="t" l="l"/>
            <a:pathLst>
              <a:path h="764575" w="2112158">
                <a:moveTo>
                  <a:pt x="0" y="0"/>
                </a:moveTo>
                <a:lnTo>
                  <a:pt x="2112159" y="0"/>
                </a:lnTo>
                <a:lnTo>
                  <a:pt x="2112159" y="764576"/>
                </a:lnTo>
                <a:lnTo>
                  <a:pt x="0" y="764576"/>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5" id="5"/>
          <p:cNvSpPr/>
          <p:nvPr/>
        </p:nvSpPr>
        <p:spPr>
          <a:xfrm flipH="false" flipV="false" rot="0">
            <a:off x="11460610" y="6435655"/>
            <a:ext cx="2112158" cy="764575"/>
          </a:xfrm>
          <a:custGeom>
            <a:avLst/>
            <a:gdLst/>
            <a:ahLst/>
            <a:cxnLst/>
            <a:rect r="r" b="b" t="t" l="l"/>
            <a:pathLst>
              <a:path h="764575" w="2112158">
                <a:moveTo>
                  <a:pt x="0" y="0"/>
                </a:moveTo>
                <a:lnTo>
                  <a:pt x="2112159" y="0"/>
                </a:lnTo>
                <a:lnTo>
                  <a:pt x="2112159"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6" id="6"/>
          <p:cNvSpPr/>
          <p:nvPr/>
        </p:nvSpPr>
        <p:spPr>
          <a:xfrm flipH="false" flipV="false" rot="0">
            <a:off x="8510280" y="7464690"/>
            <a:ext cx="3587698" cy="764575"/>
          </a:xfrm>
          <a:custGeom>
            <a:avLst/>
            <a:gdLst/>
            <a:ahLst/>
            <a:cxnLst/>
            <a:rect r="r" b="b" t="t" l="l"/>
            <a:pathLst>
              <a:path h="764575" w="3587698">
                <a:moveTo>
                  <a:pt x="0" y="0"/>
                </a:moveTo>
                <a:lnTo>
                  <a:pt x="3587698" y="0"/>
                </a:lnTo>
                <a:lnTo>
                  <a:pt x="3587698"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7" id="7"/>
          <p:cNvSpPr/>
          <p:nvPr/>
        </p:nvSpPr>
        <p:spPr>
          <a:xfrm flipH="false" flipV="false" rot="0">
            <a:off x="11460610" y="7464690"/>
            <a:ext cx="2112158" cy="764575"/>
          </a:xfrm>
          <a:custGeom>
            <a:avLst/>
            <a:gdLst/>
            <a:ahLst/>
            <a:cxnLst/>
            <a:rect r="r" b="b" t="t" l="l"/>
            <a:pathLst>
              <a:path h="764575" w="2112158">
                <a:moveTo>
                  <a:pt x="0" y="0"/>
                </a:moveTo>
                <a:lnTo>
                  <a:pt x="2112159" y="0"/>
                </a:lnTo>
                <a:lnTo>
                  <a:pt x="2112159"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8" id="8"/>
          <p:cNvSpPr/>
          <p:nvPr/>
        </p:nvSpPr>
        <p:spPr>
          <a:xfrm flipH="false" flipV="false" rot="0">
            <a:off x="8510280" y="8493725"/>
            <a:ext cx="3587698" cy="764575"/>
          </a:xfrm>
          <a:custGeom>
            <a:avLst/>
            <a:gdLst/>
            <a:ahLst/>
            <a:cxnLst/>
            <a:rect r="r" b="b" t="t" l="l"/>
            <a:pathLst>
              <a:path h="764575" w="3587698">
                <a:moveTo>
                  <a:pt x="0" y="0"/>
                </a:moveTo>
                <a:lnTo>
                  <a:pt x="3587698" y="0"/>
                </a:lnTo>
                <a:lnTo>
                  <a:pt x="3587698"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0" t="0" r="0" b="-348711"/>
            </a:stretch>
          </a:blipFill>
        </p:spPr>
      </p:sp>
      <p:sp>
        <p:nvSpPr>
          <p:cNvPr name="Freeform 9" id="9"/>
          <p:cNvSpPr/>
          <p:nvPr/>
        </p:nvSpPr>
        <p:spPr>
          <a:xfrm flipH="false" flipV="false" rot="0">
            <a:off x="11460610" y="8493725"/>
            <a:ext cx="2112158" cy="764575"/>
          </a:xfrm>
          <a:custGeom>
            <a:avLst/>
            <a:gdLst/>
            <a:ahLst/>
            <a:cxnLst/>
            <a:rect r="r" b="b" t="t" l="l"/>
            <a:pathLst>
              <a:path h="764575" w="2112158">
                <a:moveTo>
                  <a:pt x="0" y="0"/>
                </a:moveTo>
                <a:lnTo>
                  <a:pt x="2112159" y="0"/>
                </a:lnTo>
                <a:lnTo>
                  <a:pt x="2112159" y="764575"/>
                </a:lnTo>
                <a:lnTo>
                  <a:pt x="0" y="764575"/>
                </a:lnTo>
                <a:lnTo>
                  <a:pt x="0" y="0"/>
                </a:lnTo>
                <a:close/>
              </a:path>
            </a:pathLst>
          </a:custGeom>
          <a:blipFill>
            <a:blip r:embed="rId2">
              <a:extLst>
                <a:ext uri="{96DAC541-7B7A-43D3-8B79-37D633B846F1}">
                  <asvg:svgBlip xmlns:asvg="http://schemas.microsoft.com/office/drawing/2016/SVG/main" r:embed="rId3"/>
                </a:ext>
              </a:extLst>
            </a:blip>
            <a:stretch>
              <a:fillRect l="-69859" t="0" r="0" b="-348711"/>
            </a:stretch>
          </a:blipFill>
        </p:spPr>
      </p:sp>
      <p:sp>
        <p:nvSpPr>
          <p:cNvPr name="Freeform 10" id="10"/>
          <p:cNvSpPr/>
          <p:nvPr/>
        </p:nvSpPr>
        <p:spPr>
          <a:xfrm flipH="false" flipV="false" rot="0">
            <a:off x="13997199" y="8810646"/>
            <a:ext cx="373017" cy="373017"/>
          </a:xfrm>
          <a:custGeom>
            <a:avLst/>
            <a:gdLst/>
            <a:ahLst/>
            <a:cxnLst/>
            <a:rect r="r" b="b" t="t" l="l"/>
            <a:pathLst>
              <a:path h="373017" w="373017">
                <a:moveTo>
                  <a:pt x="0" y="0"/>
                </a:moveTo>
                <a:lnTo>
                  <a:pt x="373017" y="0"/>
                </a:lnTo>
                <a:lnTo>
                  <a:pt x="373017" y="373017"/>
                </a:lnTo>
                <a:lnTo>
                  <a:pt x="0" y="3730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3997199" y="8012847"/>
            <a:ext cx="373017" cy="373017"/>
          </a:xfrm>
          <a:custGeom>
            <a:avLst/>
            <a:gdLst/>
            <a:ahLst/>
            <a:cxnLst/>
            <a:rect r="r" b="b" t="t" l="l"/>
            <a:pathLst>
              <a:path h="373017" w="373017">
                <a:moveTo>
                  <a:pt x="0" y="0"/>
                </a:moveTo>
                <a:lnTo>
                  <a:pt x="373017" y="0"/>
                </a:lnTo>
                <a:lnTo>
                  <a:pt x="373017" y="373017"/>
                </a:lnTo>
                <a:lnTo>
                  <a:pt x="0" y="3730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3997199" y="7215048"/>
            <a:ext cx="373017" cy="373017"/>
          </a:xfrm>
          <a:custGeom>
            <a:avLst/>
            <a:gdLst/>
            <a:ahLst/>
            <a:cxnLst/>
            <a:rect r="r" b="b" t="t" l="l"/>
            <a:pathLst>
              <a:path h="373017" w="373017">
                <a:moveTo>
                  <a:pt x="0" y="0"/>
                </a:moveTo>
                <a:lnTo>
                  <a:pt x="373017" y="0"/>
                </a:lnTo>
                <a:lnTo>
                  <a:pt x="373017" y="373017"/>
                </a:lnTo>
                <a:lnTo>
                  <a:pt x="0" y="3730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13997199" y="6369827"/>
            <a:ext cx="1570861" cy="487079"/>
            <a:chOff x="0" y="0"/>
            <a:chExt cx="1310667" cy="406400"/>
          </a:xfrm>
        </p:grpSpPr>
        <p:sp>
          <p:nvSpPr>
            <p:cNvPr name="Freeform 14" id="14"/>
            <p:cNvSpPr/>
            <p:nvPr/>
          </p:nvSpPr>
          <p:spPr>
            <a:xfrm flipH="false" flipV="false" rot="0">
              <a:off x="0" y="0"/>
              <a:ext cx="1310667" cy="406400"/>
            </a:xfrm>
            <a:custGeom>
              <a:avLst/>
              <a:gdLst/>
              <a:ahLst/>
              <a:cxnLst/>
              <a:rect r="r" b="b" t="t" l="l"/>
              <a:pathLst>
                <a:path h="406400" w="1310667">
                  <a:moveTo>
                    <a:pt x="1107467" y="0"/>
                  </a:moveTo>
                  <a:cubicBezTo>
                    <a:pt x="1219691" y="0"/>
                    <a:pt x="1310667" y="90976"/>
                    <a:pt x="1310667" y="203200"/>
                  </a:cubicBezTo>
                  <a:cubicBezTo>
                    <a:pt x="1310667" y="315424"/>
                    <a:pt x="1219691" y="406400"/>
                    <a:pt x="1107467" y="406400"/>
                  </a:cubicBezTo>
                  <a:lnTo>
                    <a:pt x="203200" y="406400"/>
                  </a:lnTo>
                  <a:cubicBezTo>
                    <a:pt x="90976" y="406400"/>
                    <a:pt x="0" y="315424"/>
                    <a:pt x="0" y="203200"/>
                  </a:cubicBezTo>
                  <a:cubicBezTo>
                    <a:pt x="0" y="90976"/>
                    <a:pt x="90976" y="0"/>
                    <a:pt x="203200" y="0"/>
                  </a:cubicBezTo>
                  <a:close/>
                </a:path>
              </a:pathLst>
            </a:custGeom>
            <a:ln w="19050" cap="sq">
              <a:solidFill>
                <a:srgbClr val="FFFFFF"/>
              </a:solidFill>
              <a:prstDash val="solid"/>
              <a:miter/>
            </a:ln>
          </p:spPr>
        </p:sp>
        <p:sp>
          <p:nvSpPr>
            <p:cNvPr name="TextBox 15" id="15"/>
            <p:cNvSpPr txBox="true"/>
            <p:nvPr/>
          </p:nvSpPr>
          <p:spPr>
            <a:xfrm>
              <a:off x="0" y="19050"/>
              <a:ext cx="1310667" cy="387350"/>
            </a:xfrm>
            <a:prstGeom prst="rect">
              <a:avLst/>
            </a:prstGeom>
          </p:spPr>
          <p:txBody>
            <a:bodyPr anchor="ctr" rtlCol="false" tIns="50800" lIns="50800" bIns="50800" rIns="50800"/>
            <a:lstStyle/>
            <a:p>
              <a:pPr algn="ctr">
                <a:lnSpc>
                  <a:spcPts val="2349"/>
                </a:lnSpc>
              </a:pPr>
            </a:p>
          </p:txBody>
        </p:sp>
      </p:grpSp>
      <p:sp>
        <p:nvSpPr>
          <p:cNvPr name="Freeform 16" id="16"/>
          <p:cNvSpPr/>
          <p:nvPr/>
        </p:nvSpPr>
        <p:spPr>
          <a:xfrm flipH="false" flipV="false" rot="-10800000">
            <a:off x="9931388" y="1028700"/>
            <a:ext cx="2610303" cy="2619830"/>
          </a:xfrm>
          <a:custGeom>
            <a:avLst/>
            <a:gdLst/>
            <a:ahLst/>
            <a:cxnLst/>
            <a:rect r="r" b="b" t="t" l="l"/>
            <a:pathLst>
              <a:path h="2619830" w="2610303">
                <a:moveTo>
                  <a:pt x="0" y="0"/>
                </a:moveTo>
                <a:lnTo>
                  <a:pt x="2610303" y="0"/>
                </a:lnTo>
                <a:lnTo>
                  <a:pt x="2610303" y="2619830"/>
                </a:lnTo>
                <a:lnTo>
                  <a:pt x="0" y="261983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13997199" y="3123310"/>
            <a:ext cx="3262101" cy="1933536"/>
          </a:xfrm>
          <a:custGeom>
            <a:avLst/>
            <a:gdLst/>
            <a:ahLst/>
            <a:cxnLst/>
            <a:rect r="r" b="b" t="t" l="l"/>
            <a:pathLst>
              <a:path h="1933536" w="3262101">
                <a:moveTo>
                  <a:pt x="0" y="0"/>
                </a:moveTo>
                <a:lnTo>
                  <a:pt x="3262101" y="0"/>
                </a:lnTo>
                <a:lnTo>
                  <a:pt x="3262101" y="1933537"/>
                </a:lnTo>
                <a:lnTo>
                  <a:pt x="0" y="193353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8" id="18"/>
          <p:cNvSpPr txBox="true"/>
          <p:nvPr/>
        </p:nvSpPr>
        <p:spPr>
          <a:xfrm rot="0">
            <a:off x="15222908" y="1168944"/>
            <a:ext cx="2140140" cy="329231"/>
          </a:xfrm>
          <a:prstGeom prst="rect">
            <a:avLst/>
          </a:prstGeom>
        </p:spPr>
        <p:txBody>
          <a:bodyPr anchor="t" rtlCol="false" tIns="0" lIns="0" bIns="0" rIns="0">
            <a:spAutoFit/>
          </a:bodyPr>
          <a:lstStyle/>
          <a:p>
            <a:pPr algn="l">
              <a:lnSpc>
                <a:spcPts val="2370"/>
              </a:lnSpc>
            </a:pPr>
            <a:r>
              <a:rPr lang="en-US" sz="2663" spc="-207">
                <a:solidFill>
                  <a:srgbClr val="FFF8ED"/>
                </a:solidFill>
                <a:latin typeface="Knockout Cruiserweight Bold"/>
                <a:ea typeface="Knockout Cruiserweight Bold"/>
                <a:cs typeface="Knockout Cruiserweight Bold"/>
                <a:sym typeface="Knockout Cruiserweight Bold"/>
              </a:rPr>
              <a:t>Paucek &amp; Lage</a:t>
            </a:r>
          </a:p>
        </p:txBody>
      </p:sp>
      <p:sp>
        <p:nvSpPr>
          <p:cNvPr name="TextBox 19" id="19"/>
          <p:cNvSpPr txBox="true"/>
          <p:nvPr/>
        </p:nvSpPr>
        <p:spPr>
          <a:xfrm rot="0">
            <a:off x="15222908" y="1673217"/>
            <a:ext cx="1089964" cy="203469"/>
          </a:xfrm>
          <a:prstGeom prst="rect">
            <a:avLst/>
          </a:prstGeom>
        </p:spPr>
        <p:txBody>
          <a:bodyPr anchor="t" rtlCol="false" tIns="0" lIns="0" bIns="0" rIns="0">
            <a:spAutoFit/>
          </a:bodyPr>
          <a:lstStyle/>
          <a:p>
            <a:pPr algn="l">
              <a:lnSpc>
                <a:spcPts val="1431"/>
              </a:lnSpc>
            </a:pPr>
            <a:r>
              <a:rPr lang="en-US" sz="1607" spc="-125">
                <a:solidFill>
                  <a:srgbClr val="FFF8ED"/>
                </a:solidFill>
                <a:latin typeface="Knockout Cruiserweight"/>
                <a:ea typeface="Knockout Cruiserweight"/>
                <a:cs typeface="Knockout Cruiserweight"/>
                <a:sym typeface="Knockout Cruiserweight"/>
              </a:rPr>
              <a:t>Since 2026</a:t>
            </a:r>
          </a:p>
        </p:txBody>
      </p:sp>
      <p:sp>
        <p:nvSpPr>
          <p:cNvPr name="TextBox 20" id="20"/>
          <p:cNvSpPr txBox="true"/>
          <p:nvPr/>
        </p:nvSpPr>
        <p:spPr>
          <a:xfrm rot="0">
            <a:off x="1028700" y="1020008"/>
            <a:ext cx="8115880" cy="2572314"/>
          </a:xfrm>
          <a:prstGeom prst="rect">
            <a:avLst/>
          </a:prstGeom>
        </p:spPr>
        <p:txBody>
          <a:bodyPr anchor="t" rtlCol="false" tIns="0" lIns="0" bIns="0" rIns="0">
            <a:spAutoFit/>
          </a:bodyPr>
          <a:lstStyle/>
          <a:p>
            <a:pPr algn="l">
              <a:lnSpc>
                <a:spcPts val="9700"/>
              </a:lnSpc>
            </a:pPr>
            <a:r>
              <a:rPr lang="en-US" sz="10899" spc="-850">
                <a:solidFill>
                  <a:srgbClr val="FFF8ED"/>
                </a:solidFill>
                <a:latin typeface="Knockout Cruiserweight Bold"/>
                <a:ea typeface="Knockout Cruiserweight Bold"/>
                <a:cs typeface="Knockout Cruiserweight Bold"/>
                <a:sym typeface="Knockout Cruiserweight Bold"/>
              </a:rPr>
              <a:t>Conclusion &amp; Next Steps</a:t>
            </a:r>
          </a:p>
        </p:txBody>
      </p:sp>
      <p:sp>
        <p:nvSpPr>
          <p:cNvPr name="TextBox 21" id="21"/>
          <p:cNvSpPr txBox="true"/>
          <p:nvPr/>
        </p:nvSpPr>
        <p:spPr>
          <a:xfrm rot="0">
            <a:off x="1028700" y="4660292"/>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Campaign Summary</a:t>
            </a:r>
          </a:p>
        </p:txBody>
      </p:sp>
      <p:sp>
        <p:nvSpPr>
          <p:cNvPr name="TextBox 22" id="22"/>
          <p:cNvSpPr txBox="true"/>
          <p:nvPr/>
        </p:nvSpPr>
        <p:spPr>
          <a:xfrm rot="0">
            <a:off x="8510280" y="4660292"/>
            <a:ext cx="3739824" cy="424828"/>
          </a:xfrm>
          <a:prstGeom prst="rect">
            <a:avLst/>
          </a:prstGeom>
        </p:spPr>
        <p:txBody>
          <a:bodyPr anchor="t" rtlCol="false" tIns="0" lIns="0" bIns="0" rIns="0">
            <a:spAutoFit/>
          </a:bodyPr>
          <a:lstStyle/>
          <a:p>
            <a:pPr algn="l">
              <a:lnSpc>
                <a:spcPts val="3040"/>
              </a:lnSpc>
            </a:pPr>
            <a:r>
              <a:rPr lang="en-US" sz="3416" spc="-266">
                <a:solidFill>
                  <a:srgbClr val="FFF8ED"/>
                </a:solidFill>
                <a:latin typeface="Knockout Cruiserweight Bold"/>
                <a:ea typeface="Knockout Cruiserweight Bold"/>
                <a:cs typeface="Knockout Cruiserweight Bold"/>
                <a:sym typeface="Knockout Cruiserweight Bold"/>
              </a:rPr>
              <a:t>Campaign Summary</a:t>
            </a:r>
          </a:p>
        </p:txBody>
      </p:sp>
      <p:sp>
        <p:nvSpPr>
          <p:cNvPr name="TextBox 23" id="23"/>
          <p:cNvSpPr txBox="true"/>
          <p:nvPr/>
        </p:nvSpPr>
        <p:spPr>
          <a:xfrm rot="0">
            <a:off x="1028700" y="5406619"/>
            <a:ext cx="6855429" cy="3851681"/>
          </a:xfrm>
          <a:prstGeom prst="rect">
            <a:avLst/>
          </a:prstGeom>
        </p:spPr>
        <p:txBody>
          <a:bodyPr anchor="t" rtlCol="false" tIns="0" lIns="0" bIns="0" rIns="0">
            <a:spAutoFit/>
          </a:bodyPr>
          <a:lstStyle/>
          <a:p>
            <a:pPr algn="l">
              <a:lnSpc>
                <a:spcPts val="2336"/>
              </a:lnSpc>
            </a:pPr>
            <a:r>
              <a:rPr lang="en-US" sz="1996" spc="-155">
                <a:solidFill>
                  <a:srgbClr val="FFF8ED"/>
                </a:solidFill>
                <a:latin typeface="Knockout Cruiserweight"/>
                <a:ea typeface="Knockout Cruiserweight"/>
                <a:cs typeface="Knockout Cruiserweight"/>
                <a:sym typeface="Knockout Cruiserweight"/>
              </a:rPr>
              <a:t>Lorem ipsum dolor sit amet, consectetur adipiscing elit. Donec sodales magna risus, a feugiat leo tristique in. Fusce purus orci, porttitor a porttitor at, lacinia a mauris. Nullam eu enim lacus. Nulla luctus orci eget odio maximus dictum. Sed condimentum augue et arcu euismod, vel congue neque tincidunt. Praesent orci purus, congue eget tincidunt in, egestas vitae turpis. Proin ut pellentesque dolor, nec dignissim massa. Donec id urna a erat eleifend tincidunt a a arcu. Mauris venenatis, justo ac dictum fermentum, dolor tortor maximus magna, vel pharetra urna sapien eu nulla. Aliquam tempor nibh a aliquet blandit. Curabitur efficitur efficitur aliquet. Maecenas posuere tempor enim sed tincidunt. Quisque at erat non enim aliquet semper vitae sed sapien. Cras eget nisl a nulla sagittis interdum ac non dolor. Integer vitae ante at est consequat facilisis. Aliquam at tortor nec velit placerat rhoncus.</a:t>
            </a:r>
          </a:p>
        </p:txBody>
      </p:sp>
      <p:sp>
        <p:nvSpPr>
          <p:cNvPr name="TextBox 24" id="24"/>
          <p:cNvSpPr txBox="true"/>
          <p:nvPr/>
        </p:nvSpPr>
        <p:spPr>
          <a:xfrm rot="0">
            <a:off x="8806163" y="5652402"/>
            <a:ext cx="2334421" cy="309260"/>
          </a:xfrm>
          <a:prstGeom prst="rect">
            <a:avLst/>
          </a:prstGeom>
        </p:spPr>
        <p:txBody>
          <a:bodyPr anchor="t" rtlCol="false" tIns="0" lIns="0" bIns="0" rIns="0">
            <a:spAutoFit/>
          </a:bodyPr>
          <a:lstStyle/>
          <a:p>
            <a:pPr algn="l">
              <a:lnSpc>
                <a:spcPts val="2385"/>
              </a:lnSpc>
            </a:pPr>
            <a:r>
              <a:rPr lang="en-US" sz="2038" spc="-159">
                <a:solidFill>
                  <a:srgbClr val="2150B9"/>
                </a:solidFill>
                <a:latin typeface="Knockout Cruiserweight"/>
                <a:ea typeface="Knockout Cruiserweight"/>
                <a:cs typeface="Knockout Cruiserweight"/>
                <a:sym typeface="Knockout Cruiserweight"/>
              </a:rPr>
              <a:t>S</a:t>
            </a:r>
            <a:r>
              <a:rPr lang="en-US" sz="2038" spc="-159">
                <a:solidFill>
                  <a:srgbClr val="2150B9"/>
                </a:solidFill>
                <a:latin typeface="Knockout Cruiserweight"/>
                <a:ea typeface="Knockout Cruiserweight"/>
                <a:cs typeface="Knockout Cruiserweight"/>
                <a:sym typeface="Knockout Cruiserweight"/>
              </a:rPr>
              <a:t>trategy approval</a:t>
            </a:r>
          </a:p>
        </p:txBody>
      </p:sp>
      <p:sp>
        <p:nvSpPr>
          <p:cNvPr name="TextBox 25" id="25"/>
          <p:cNvSpPr txBox="true"/>
          <p:nvPr/>
        </p:nvSpPr>
        <p:spPr>
          <a:xfrm rot="0">
            <a:off x="8806163" y="6681437"/>
            <a:ext cx="4418800" cy="309260"/>
          </a:xfrm>
          <a:prstGeom prst="rect">
            <a:avLst/>
          </a:prstGeom>
        </p:spPr>
        <p:txBody>
          <a:bodyPr anchor="t" rtlCol="false" tIns="0" lIns="0" bIns="0" rIns="0">
            <a:spAutoFit/>
          </a:bodyPr>
          <a:lstStyle/>
          <a:p>
            <a:pPr algn="l">
              <a:lnSpc>
                <a:spcPts val="2385"/>
              </a:lnSpc>
            </a:pPr>
            <a:r>
              <a:rPr lang="en-US" sz="2038" spc="-159">
                <a:solidFill>
                  <a:srgbClr val="2150B9"/>
                </a:solidFill>
                <a:latin typeface="Knockout Cruiserweight"/>
                <a:ea typeface="Knockout Cruiserweight"/>
                <a:cs typeface="Knockout Cruiserweight"/>
                <a:sym typeface="Knockout Cruiserweight"/>
              </a:rPr>
              <a:t>Conten</a:t>
            </a:r>
            <a:r>
              <a:rPr lang="en-US" sz="2038" spc="-159">
                <a:solidFill>
                  <a:srgbClr val="2150B9"/>
                </a:solidFill>
                <a:latin typeface="Knockout Cruiserweight"/>
                <a:ea typeface="Knockout Cruiserweight"/>
                <a:cs typeface="Knockout Cruiserweight"/>
                <a:sym typeface="Knockout Cruiserweight"/>
              </a:rPr>
              <a:t>t planning and design development</a:t>
            </a:r>
          </a:p>
        </p:txBody>
      </p:sp>
      <p:sp>
        <p:nvSpPr>
          <p:cNvPr name="TextBox 26" id="26"/>
          <p:cNvSpPr txBox="true"/>
          <p:nvPr/>
        </p:nvSpPr>
        <p:spPr>
          <a:xfrm rot="0">
            <a:off x="8806163" y="7710472"/>
            <a:ext cx="2334421" cy="309260"/>
          </a:xfrm>
          <a:prstGeom prst="rect">
            <a:avLst/>
          </a:prstGeom>
        </p:spPr>
        <p:txBody>
          <a:bodyPr anchor="t" rtlCol="false" tIns="0" lIns="0" bIns="0" rIns="0">
            <a:spAutoFit/>
          </a:bodyPr>
          <a:lstStyle/>
          <a:p>
            <a:pPr algn="l">
              <a:lnSpc>
                <a:spcPts val="2385"/>
              </a:lnSpc>
            </a:pPr>
            <a:r>
              <a:rPr lang="en-US" sz="2038" spc="-159">
                <a:solidFill>
                  <a:srgbClr val="2150B9"/>
                </a:solidFill>
                <a:latin typeface="Knockout Cruiserweight"/>
                <a:ea typeface="Knockout Cruiserweight"/>
                <a:cs typeface="Knockout Cruiserweight"/>
                <a:sym typeface="Knockout Cruiserweight"/>
              </a:rPr>
              <a:t>C</a:t>
            </a:r>
            <a:r>
              <a:rPr lang="en-US" sz="2038" spc="-159">
                <a:solidFill>
                  <a:srgbClr val="2150B9"/>
                </a:solidFill>
                <a:latin typeface="Knockout Cruiserweight"/>
                <a:ea typeface="Knockout Cruiserweight"/>
                <a:cs typeface="Knockout Cruiserweight"/>
                <a:sym typeface="Knockout Cruiserweight"/>
              </a:rPr>
              <a:t>ampaign launch</a:t>
            </a:r>
          </a:p>
        </p:txBody>
      </p:sp>
      <p:sp>
        <p:nvSpPr>
          <p:cNvPr name="TextBox 27" id="27"/>
          <p:cNvSpPr txBox="true"/>
          <p:nvPr/>
        </p:nvSpPr>
        <p:spPr>
          <a:xfrm rot="0">
            <a:off x="8806163" y="8739507"/>
            <a:ext cx="4143124" cy="309260"/>
          </a:xfrm>
          <a:prstGeom prst="rect">
            <a:avLst/>
          </a:prstGeom>
        </p:spPr>
        <p:txBody>
          <a:bodyPr anchor="t" rtlCol="false" tIns="0" lIns="0" bIns="0" rIns="0">
            <a:spAutoFit/>
          </a:bodyPr>
          <a:lstStyle/>
          <a:p>
            <a:pPr algn="l">
              <a:lnSpc>
                <a:spcPts val="2385"/>
              </a:lnSpc>
            </a:pPr>
            <a:r>
              <a:rPr lang="en-US" sz="2038" spc="-159">
                <a:solidFill>
                  <a:srgbClr val="2150B9"/>
                </a:solidFill>
                <a:latin typeface="Knockout Cruiserweight"/>
                <a:ea typeface="Knockout Cruiserweight"/>
                <a:cs typeface="Knockout Cruiserweight"/>
                <a:sym typeface="Knockout Cruiserweight"/>
              </a:rPr>
              <a:t>Ongoing moni</a:t>
            </a:r>
            <a:r>
              <a:rPr lang="en-US" sz="2038" spc="-159">
                <a:solidFill>
                  <a:srgbClr val="2150B9"/>
                </a:solidFill>
                <a:latin typeface="Knockout Cruiserweight"/>
                <a:ea typeface="Knockout Cruiserweight"/>
                <a:cs typeface="Knockout Cruiserweight"/>
                <a:sym typeface="Knockout Cruiserweight"/>
              </a:rPr>
              <a:t>toring and optimization</a:t>
            </a:r>
          </a:p>
        </p:txBody>
      </p:sp>
      <p:sp>
        <p:nvSpPr>
          <p:cNvPr name="TextBox 28" id="28"/>
          <p:cNvSpPr txBox="true"/>
          <p:nvPr/>
        </p:nvSpPr>
        <p:spPr>
          <a:xfrm rot="0">
            <a:off x="14612063" y="8936231"/>
            <a:ext cx="2784580" cy="326317"/>
          </a:xfrm>
          <a:prstGeom prst="rect">
            <a:avLst/>
          </a:prstGeom>
        </p:spPr>
        <p:txBody>
          <a:bodyPr anchor="t" rtlCol="false" tIns="0" lIns="0" bIns="0" rIns="0">
            <a:spAutoFit/>
          </a:bodyPr>
          <a:lstStyle/>
          <a:p>
            <a:pPr algn="l">
              <a:lnSpc>
                <a:spcPts val="2566"/>
              </a:lnSpc>
            </a:pPr>
            <a:r>
              <a:rPr lang="en-US" sz="2036" spc="-122">
                <a:solidFill>
                  <a:srgbClr val="FFFFFF"/>
                </a:solidFill>
                <a:latin typeface="Knockout Cruiserweight"/>
                <a:ea typeface="Knockout Cruiserweight"/>
                <a:cs typeface="Knockout Cruiserweight"/>
                <a:sym typeface="Knockout Cruiserweight"/>
              </a:rPr>
              <a:t>www.reallygreatsite.com</a:t>
            </a:r>
          </a:p>
        </p:txBody>
      </p:sp>
      <p:sp>
        <p:nvSpPr>
          <p:cNvPr name="TextBox 29" id="29"/>
          <p:cNvSpPr txBox="true"/>
          <p:nvPr/>
        </p:nvSpPr>
        <p:spPr>
          <a:xfrm rot="0">
            <a:off x="14612063" y="8173416"/>
            <a:ext cx="2784580" cy="326317"/>
          </a:xfrm>
          <a:prstGeom prst="rect">
            <a:avLst/>
          </a:prstGeom>
        </p:spPr>
        <p:txBody>
          <a:bodyPr anchor="t" rtlCol="false" tIns="0" lIns="0" bIns="0" rIns="0">
            <a:spAutoFit/>
          </a:bodyPr>
          <a:lstStyle/>
          <a:p>
            <a:pPr algn="l">
              <a:lnSpc>
                <a:spcPts val="2566"/>
              </a:lnSpc>
            </a:pPr>
            <a:r>
              <a:rPr lang="en-US" sz="2036" spc="-122">
                <a:solidFill>
                  <a:srgbClr val="FFFFFF"/>
                </a:solidFill>
                <a:latin typeface="Knockout Cruiserweight"/>
                <a:ea typeface="Knockout Cruiserweight"/>
                <a:cs typeface="Knockout Cruiserweight"/>
                <a:sym typeface="Knockout Cruiserweight"/>
              </a:rPr>
              <a:t>hello@reallygreatsite.com</a:t>
            </a:r>
          </a:p>
        </p:txBody>
      </p:sp>
      <p:sp>
        <p:nvSpPr>
          <p:cNvPr name="TextBox 30" id="30"/>
          <p:cNvSpPr txBox="true"/>
          <p:nvPr/>
        </p:nvSpPr>
        <p:spPr>
          <a:xfrm rot="0">
            <a:off x="14610677" y="8709679"/>
            <a:ext cx="1172203" cy="188279"/>
          </a:xfrm>
          <a:prstGeom prst="rect">
            <a:avLst/>
          </a:prstGeom>
        </p:spPr>
        <p:txBody>
          <a:bodyPr anchor="t" rtlCol="false" tIns="0" lIns="0" bIns="0" rIns="0">
            <a:spAutoFit/>
          </a:bodyPr>
          <a:lstStyle/>
          <a:p>
            <a:pPr algn="l">
              <a:lnSpc>
                <a:spcPts val="1591"/>
              </a:lnSpc>
            </a:pPr>
            <a:r>
              <a:rPr lang="en-US" sz="1263" spc="-75">
                <a:solidFill>
                  <a:srgbClr val="FFFFFF"/>
                </a:solidFill>
                <a:latin typeface="Knockout Cruiserweight"/>
                <a:ea typeface="Knockout Cruiserweight"/>
                <a:cs typeface="Knockout Cruiserweight"/>
                <a:sym typeface="Knockout Cruiserweight"/>
              </a:rPr>
              <a:t>Website:</a:t>
            </a:r>
          </a:p>
        </p:txBody>
      </p:sp>
      <p:sp>
        <p:nvSpPr>
          <p:cNvPr name="TextBox 31" id="31"/>
          <p:cNvSpPr txBox="true"/>
          <p:nvPr/>
        </p:nvSpPr>
        <p:spPr>
          <a:xfrm rot="0">
            <a:off x="14610677" y="7932473"/>
            <a:ext cx="1172203" cy="188279"/>
          </a:xfrm>
          <a:prstGeom prst="rect">
            <a:avLst/>
          </a:prstGeom>
        </p:spPr>
        <p:txBody>
          <a:bodyPr anchor="t" rtlCol="false" tIns="0" lIns="0" bIns="0" rIns="0">
            <a:spAutoFit/>
          </a:bodyPr>
          <a:lstStyle/>
          <a:p>
            <a:pPr algn="l">
              <a:lnSpc>
                <a:spcPts val="1591"/>
              </a:lnSpc>
            </a:pPr>
            <a:r>
              <a:rPr lang="en-US" sz="1263" spc="-75">
                <a:solidFill>
                  <a:srgbClr val="FFFFFF"/>
                </a:solidFill>
                <a:latin typeface="Knockout Cruiserweight"/>
                <a:ea typeface="Knockout Cruiserweight"/>
                <a:cs typeface="Knockout Cruiserweight"/>
                <a:sym typeface="Knockout Cruiserweight"/>
              </a:rPr>
              <a:t>Email Address:</a:t>
            </a:r>
          </a:p>
        </p:txBody>
      </p:sp>
      <p:sp>
        <p:nvSpPr>
          <p:cNvPr name="TextBox 32" id="32"/>
          <p:cNvSpPr txBox="true"/>
          <p:nvPr/>
        </p:nvSpPr>
        <p:spPr>
          <a:xfrm rot="0">
            <a:off x="14608378" y="7355023"/>
            <a:ext cx="2108929" cy="326346"/>
          </a:xfrm>
          <a:prstGeom prst="rect">
            <a:avLst/>
          </a:prstGeom>
        </p:spPr>
        <p:txBody>
          <a:bodyPr anchor="t" rtlCol="false" tIns="0" lIns="0" bIns="0" rIns="0">
            <a:spAutoFit/>
          </a:bodyPr>
          <a:lstStyle/>
          <a:p>
            <a:pPr algn="l">
              <a:lnSpc>
                <a:spcPts val="2561"/>
              </a:lnSpc>
            </a:pPr>
            <a:r>
              <a:rPr lang="en-US" sz="2033" spc="-121">
                <a:solidFill>
                  <a:srgbClr val="FFFFFF"/>
                </a:solidFill>
                <a:latin typeface="Knockout Cruiserweight"/>
                <a:ea typeface="Knockout Cruiserweight"/>
                <a:cs typeface="Knockout Cruiserweight"/>
                <a:sym typeface="Knockout Cruiserweight"/>
              </a:rPr>
              <a:t>+123-456-7890</a:t>
            </a:r>
          </a:p>
        </p:txBody>
      </p:sp>
      <p:sp>
        <p:nvSpPr>
          <p:cNvPr name="TextBox 33" id="33"/>
          <p:cNvSpPr txBox="true"/>
          <p:nvPr/>
        </p:nvSpPr>
        <p:spPr>
          <a:xfrm rot="0">
            <a:off x="14608378" y="7114080"/>
            <a:ext cx="1351529" cy="188304"/>
          </a:xfrm>
          <a:prstGeom prst="rect">
            <a:avLst/>
          </a:prstGeom>
        </p:spPr>
        <p:txBody>
          <a:bodyPr anchor="t" rtlCol="false" tIns="0" lIns="0" bIns="0" rIns="0">
            <a:spAutoFit/>
          </a:bodyPr>
          <a:lstStyle/>
          <a:p>
            <a:pPr algn="l">
              <a:lnSpc>
                <a:spcPts val="1587"/>
              </a:lnSpc>
            </a:pPr>
            <a:r>
              <a:rPr lang="en-US" sz="1259" spc="-75">
                <a:solidFill>
                  <a:srgbClr val="FFFFFF"/>
                </a:solidFill>
                <a:latin typeface="Knockout Cruiserweight"/>
                <a:ea typeface="Knockout Cruiserweight"/>
                <a:cs typeface="Knockout Cruiserweight"/>
                <a:sym typeface="Knockout Cruiserweight"/>
              </a:rPr>
              <a:t>Phone Number:</a:t>
            </a:r>
          </a:p>
        </p:txBody>
      </p:sp>
      <p:sp>
        <p:nvSpPr>
          <p:cNvPr name="TextBox 34" id="34"/>
          <p:cNvSpPr txBox="true"/>
          <p:nvPr/>
        </p:nvSpPr>
        <p:spPr>
          <a:xfrm rot="0">
            <a:off x="14066572" y="6477075"/>
            <a:ext cx="1399420" cy="263884"/>
          </a:xfrm>
          <a:prstGeom prst="rect">
            <a:avLst/>
          </a:prstGeom>
        </p:spPr>
        <p:txBody>
          <a:bodyPr anchor="t" rtlCol="false" tIns="0" lIns="0" bIns="0" rIns="0">
            <a:spAutoFit/>
          </a:bodyPr>
          <a:lstStyle/>
          <a:p>
            <a:pPr algn="ctr">
              <a:lnSpc>
                <a:spcPts val="2029"/>
              </a:lnSpc>
            </a:pPr>
            <a:r>
              <a:rPr lang="en-US" sz="1845" spc="-110">
                <a:solidFill>
                  <a:srgbClr val="FFFFFF"/>
                </a:solidFill>
                <a:latin typeface="Knockout Cruiserweight"/>
                <a:ea typeface="Knockout Cruiserweight"/>
                <a:cs typeface="Knockout Cruiserweight"/>
                <a:sym typeface="Knockout Cruiserweight"/>
              </a:rPr>
              <a:t>Contact 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DAHTRM6KoLQ</dc:identifier>
  <dcterms:modified xsi:type="dcterms:W3CDTF">2011-08-01T06:04:30Z</dcterms:modified>
  <cp:revision>1</cp:revision>
  <dc:title>Blue Modern Social Media Campaign Strategy Presentation</dc:title>
</cp:coreProperties>
</file>